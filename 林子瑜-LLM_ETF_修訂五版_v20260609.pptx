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553" r:id="rId9"/>
    <p:sldId id="566" r:id="rId10"/>
    <p:sldId id="565" r:id="rId11"/>
    <p:sldId id="567" r:id="rId12"/>
    <p:sldId id="568" r:id="rId13"/>
    <p:sldId id="556" r:id="rId14"/>
    <p:sldId id="557" r:id="rId15"/>
    <p:sldId id="555" r:id="rId16"/>
    <p:sldId id="265" r:id="rId17"/>
    <p:sldId id="558" r:id="rId18"/>
    <p:sldId id="266" r:id="rId19"/>
    <p:sldId id="267" r:id="rId20"/>
    <p:sldId id="268" r:id="rId21"/>
    <p:sldId id="564" r:id="rId22"/>
    <p:sldId id="563" r:id="rId23"/>
    <p:sldId id="562" r:id="rId24"/>
    <p:sldId id="270" r:id="rId25"/>
    <p:sldId id="272" r:id="rId26"/>
    <p:sldId id="273" r:id="rId27"/>
    <p:sldId id="275" r:id="rId28"/>
  </p:sldIdLst>
  <p:sldSz cx="12192000" cy="6858000"/>
  <p:notesSz cx="6858000" cy="9144000"/>
  <p:embeddedFontLst>
    <p:embeddedFont>
      <p:font typeface="Amasis MT Pro Medium" panose="02040604050005020304" pitchFamily="18" charset="0"/>
      <p:regular r:id="rId30"/>
      <p:italic r:id="rId31"/>
    </p:embeddedFont>
    <p:embeddedFont>
      <p:font typeface="DM Sans" pitchFamily="2" charset="0"/>
      <p:regular r:id="rId32"/>
      <p:bold r:id="rId33"/>
      <p:italic r:id="rId34"/>
      <p:boldItalic r:id="rId35"/>
    </p:embeddedFont>
    <p:embeddedFont>
      <p:font typeface="Merriweather" panose="00000500000000000000" pitchFamily="2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5013" autoAdjust="0"/>
  </p:normalViewPr>
  <p:slideViewPr>
    <p:cSldViewPr snapToGrid="0">
      <p:cViewPr>
        <p:scale>
          <a:sx n="50" d="100"/>
          <a:sy n="50" d="100"/>
        </p:scale>
        <p:origin x="29" y="61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這頁用預測曲線把上面的數字視覺化。黑色是實際收盤價</a:t>
            </a:r>
            <a:r>
              <a:rPr lang="en-US" altLang="zh-TW" dirty="0"/>
              <a:t>,</a:t>
            </a:r>
            <a:r>
              <a:rPr lang="zh-TW" altLang="en-US" dirty="0"/>
              <a:t>綠色 </a:t>
            </a:r>
            <a:r>
              <a:rPr lang="en-US" altLang="zh-TW" dirty="0"/>
              <a:t>ARIMA </a:t>
            </a:r>
            <a:r>
              <a:rPr lang="zh-TW" altLang="en-US" dirty="0"/>
              <a:t>幾乎完全貼合、看不太出來</a:t>
            </a:r>
            <a:r>
              <a:rPr lang="en-US" altLang="zh-TW" dirty="0"/>
              <a:t>,</a:t>
            </a:r>
            <a:r>
              <a:rPr lang="zh-TW" altLang="en-US" dirty="0"/>
              <a:t>所以它誤差最小。橘色 </a:t>
            </a:r>
            <a:r>
              <a:rPr lang="en-US" altLang="zh-TW" dirty="0"/>
              <a:t>Random Forest </a:t>
            </a:r>
            <a:r>
              <a:rPr lang="zh-TW" altLang="en-US" dirty="0"/>
              <a:t>整條躺平</a:t>
            </a:r>
            <a:r>
              <a:rPr lang="en-US" altLang="zh-TW" dirty="0"/>
              <a:t>——</a:t>
            </a:r>
            <a:r>
              <a:rPr lang="zh-TW" altLang="en-US" dirty="0"/>
              <a:t>因為樹模型無法預測超出訓練範圍的新高價</a:t>
            </a:r>
            <a:r>
              <a:rPr lang="en-US" altLang="zh-TW" dirty="0"/>
              <a:t>,</a:t>
            </a:r>
            <a:r>
              <a:rPr lang="zh-TW" altLang="en-US" dirty="0"/>
              <a:t>測試期一突破就卡住了。藍色 </a:t>
            </a:r>
            <a:r>
              <a:rPr lang="en-US" altLang="zh-TW" dirty="0"/>
              <a:t>LSTM </a:t>
            </a:r>
            <a:r>
              <a:rPr lang="zh-TW" altLang="en-US" dirty="0"/>
              <a:t>能跟上趨勢</a:t>
            </a:r>
            <a:r>
              <a:rPr lang="en-US" altLang="zh-TW" dirty="0"/>
              <a:t>,</a:t>
            </a:r>
            <a:r>
              <a:rPr lang="zh-TW" altLang="en-US" dirty="0"/>
              <a:t>但有一段落差。這張圖直觀說明</a:t>
            </a:r>
            <a:r>
              <a:rPr lang="en-US" altLang="zh-TW" dirty="0"/>
              <a:t>:</a:t>
            </a:r>
            <a:r>
              <a:rPr lang="zh-TW" altLang="en-US" dirty="0"/>
              <a:t>在價格預測上</a:t>
            </a:r>
            <a:r>
              <a:rPr lang="en-US" altLang="zh-TW" dirty="0"/>
              <a:t>,</a:t>
            </a:r>
            <a:r>
              <a:rPr lang="zh-TW" altLang="en-US" dirty="0"/>
              <a:t>簡單的 </a:t>
            </a:r>
            <a:r>
              <a:rPr lang="en-US" altLang="zh-TW" dirty="0"/>
              <a:t>ARIMA </a:t>
            </a:r>
            <a:r>
              <a:rPr lang="zh-TW" altLang="en-US" dirty="0"/>
              <a:t>反而比複雜的樹模型穩定</a:t>
            </a:r>
            <a:r>
              <a:rPr lang="en-US" altLang="zh-TW" dirty="0"/>
              <a:t>,</a:t>
            </a:r>
            <a:r>
              <a:rPr lang="zh-TW" altLang="en-US" dirty="0"/>
              <a:t>複雜不一定比較好。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7875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30818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8200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95500" y="44496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361807"/>
            <a:ext cx="5018259" cy="3939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由實作應用：建構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2000" dirty="0"/>
              <a:t>ARIMA(自迴歸整合移動平均)是時間序列預測中最常用的統計模型,本研究作為</a:t>
            </a:r>
            <a:r>
              <a:rPr lang="zh-TW" altLang="zh-TW" sz="2000" b="1" dirty="0"/>
              <a:t>基準模型(Baseline)</a:t>
            </a:r>
            <a:r>
              <a:rPr lang="zh-TW" altLang="zh-TW" sz="2000" dirty="0"/>
              <a:t>。對單變量時間序列進行建模與預測。</a:t>
            </a:r>
            <a:endParaRPr sz="16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09360" y="2675265"/>
            <a:ext cx="5162501" cy="150747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50706360-B23B-99AC-91C2-7F28D44AE618}"/>
              </a:ext>
            </a:extLst>
          </p:cNvPr>
          <p:cNvSpPr txBox="1"/>
          <p:nvPr/>
        </p:nvSpPr>
        <p:spPr>
          <a:xfrm>
            <a:off x="6309359" y="2805752"/>
            <a:ext cx="5162501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隨機森林在 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基礎上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,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額外在特徵選擇引入隨機性</a:t>
            </a:r>
            <a:endParaRPr lang="en-US" altLang="zh-TW" sz="1800" b="1" i="0" u="none" strike="noStrike" cap="none" spc="300" dirty="0">
              <a:solidFill>
                <a:srgbClr val="002147"/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每次分裂隨機選部分特徵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spc="300" dirty="0">
              <a:latin typeface="+mj-lt"/>
            </a:endParaRPr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68977"/>
              </p:ext>
            </p:extLst>
          </p:nvPr>
        </p:nvGraphicFramePr>
        <p:xfrm>
          <a:off x="565734" y="2262425"/>
          <a:ext cx="5530264" cy="3760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較穩定、泛化好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可解釋性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537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樣本權重隨輪次變化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44979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殘差逐步縮小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06793" y="1645951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830073" y="4054795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30816" y="3975409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63289" y="166700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27674" y="4005357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998065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17991" y="5188843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946582" y="209143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729038" y="258241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190395" y="459129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277333" y="52972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354042" y="2188537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698552" y="2701864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19057" y="4619430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354966" y="5334509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sz="1800" dirty="0"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2459" y="608577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5015359"/>
            <a:ext cx="5760363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</a:t>
            </a:r>
            <a:r>
              <a:rPr lang="zh-TW" altLang="en-US" dirty="0"/>
              <a:t>綠線</a:t>
            </a:r>
            <a:r>
              <a:rPr lang="en-US" altLang="zh-TW" dirty="0"/>
              <a:t>(ARIMA)</a:t>
            </a:r>
            <a:r>
              <a:rPr lang="zh-TW" altLang="en-US" dirty="0"/>
              <a:t>幾乎貼合實際值；</a:t>
            </a:r>
            <a:endParaRPr lang="en-US" altLang="zh-TW" dirty="0"/>
          </a:p>
          <a:p>
            <a:r>
              <a:rPr lang="zh-TW" altLang="en-US" dirty="0"/>
              <a:t>橘線</a:t>
            </a:r>
            <a:r>
              <a:rPr lang="en-US" altLang="zh-TW" dirty="0"/>
              <a:t>(Random Forest)</a:t>
            </a:r>
            <a:r>
              <a:rPr lang="zh-TW" altLang="en-US" dirty="0"/>
              <a:t>無法外推、預測躺平；</a:t>
            </a:r>
            <a:endParaRPr lang="en-US" altLang="zh-TW" dirty="0"/>
          </a:p>
          <a:p>
            <a:r>
              <a:rPr lang="zh-TW" altLang="en-US" dirty="0"/>
              <a:t>藍線</a:t>
            </a:r>
            <a:r>
              <a:rPr lang="en-US" altLang="zh-TW" dirty="0"/>
              <a:t>(LSTM)</a:t>
            </a:r>
            <a:r>
              <a:rPr lang="zh-TW" altLang="en-US" dirty="0"/>
              <a:t>能跟上趨勢但略有落差。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441960" y="4922520"/>
            <a:ext cx="5082540" cy="95821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本平台整合預測結果與 </a:t>
            </a:r>
            <a:r>
              <a:rPr lang="en-US" altLang="zh-TW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摘要，介面輕量、一般設備即可順暢執行，適合作為教學示範與個人投資研究的輔助參考工具。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3"/>
            <a:ext cx="8107681" cy="1432560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233892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（預測漲跌方向）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2879292"/>
            <a:ext cx="474345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預測次日「上漲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下跌」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RF 0.732 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單層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 0.694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但各模型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多貼近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Always-Up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基準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高分主要來自多頭期間的市場偏態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LLM(GPT-3.5) 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僅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方向看似可分，實則貼近基準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2343239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迴歸任務（預測收盤價）</a:t>
            </a:r>
            <a:endParaRPr sz="240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5" y="2879292"/>
            <a:ext cx="474345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8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(MAPE &lt;1.1%)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排序：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&lt; LSTM &lt;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集成模型無法外推、誤差最大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- LLM(GPT-4o-mini)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數值可預測，但複雜模型未必較佳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3" name="Google Shape;383;p30"/>
          <p:cNvSpPr txBox="1"/>
          <p:nvPr/>
        </p:nvSpPr>
        <p:spPr>
          <a:xfrm>
            <a:off x="840582" y="963495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分類與迴歸之抉擇</a:t>
            </a:r>
            <a:endParaRPr dirty="0"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270761" y="5175935"/>
            <a:ext cx="7879080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2000" b="1" dirty="0">
                <a:solidFill>
                  <a:srgbClr val="FFC000"/>
                </a:solidFill>
              </a:rPr>
              <a:t>三大關鍵發現 </a:t>
            </a:r>
            <a:endParaRPr lang="en-US" altLang="zh-TW" sz="2000" b="1" dirty="0">
              <a:solidFill>
                <a:srgbClr val="FFC000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無單一冠軍：不同市場、不同任務，最佳模型各異 </a:t>
            </a:r>
            <a:endParaRPr lang="en-US" altLang="zh-TW" sz="1800" dirty="0">
              <a:solidFill>
                <a:schemeClr val="bg1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價格 R² 高但輸基準：次日走勢難預測，分類與</a:t>
            </a:r>
            <a:endParaRPr lang="en-US" altLang="zh-TW" sz="1800" dirty="0">
              <a:solidFill>
                <a:schemeClr val="bg1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 LLM 為輔助 LLM 定位：適合作為「解釋型」輔助，而非純算力引擎</a:t>
            </a:r>
            <a:endParaRPr sz="1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6147619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043298"/>
            <a:ext cx="5334000" cy="1374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建立跨市場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(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台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/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美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預測基準比較。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揭示台股受國際連動影響之預測難點。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實作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2937168"/>
            <a:ext cx="5275897" cy="2260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導入新聞情緒與總經指標分析。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開發 </a:t>
            </a:r>
            <a:r>
              <a:rPr lang="en-US" altLang="zh-TW" dirty="0">
                <a:latin typeface="DM Sans"/>
              </a:rPr>
              <a:t>LSTM-ARIMA </a:t>
            </a:r>
            <a:r>
              <a:rPr lang="zh-TW" altLang="en-US" dirty="0">
                <a:latin typeface="DM Sans"/>
              </a:rPr>
              <a:t>混合模型。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進行正式使用者 </a:t>
            </a:r>
            <a:r>
              <a:rPr lang="en-US" altLang="zh-TW" dirty="0">
                <a:latin typeface="DM Sans"/>
              </a:rPr>
              <a:t>SUS </a:t>
            </a:r>
            <a:r>
              <a:rPr lang="zh-TW" altLang="en-US" dirty="0">
                <a:latin typeface="DM Sans"/>
              </a:rPr>
              <a:t>量表研究。</a:t>
            </a:r>
            <a:endParaRPr lang="en-US" altLang="zh-TW" dirty="0"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擴大 LLM 迴歸樣本至完整測試集 </a:t>
            </a:r>
            <a:endParaRPr lang="en-US" altLang="zh-TW" dirty="0"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比較多種 LLM（Gemini、Llama、Gemma）</a:t>
            </a:r>
            <a:endParaRPr lang="zh-TW" altLang="en-US" dirty="0">
              <a:latin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1681</TotalTime>
  <Words>5512</Words>
  <Application>Microsoft Office PowerPoint</Application>
  <PresentationFormat>寬螢幕</PresentationFormat>
  <Paragraphs>405</Paragraphs>
  <Slides>27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3" baseType="lpstr">
      <vt:lpstr>Amasis MT Pro Medium</vt:lpstr>
      <vt:lpstr>Merriweather</vt:lpstr>
      <vt:lpstr>Arial</vt:lpstr>
      <vt:lpstr>Calibri</vt:lpstr>
      <vt:lpstr>DM Sans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141</cp:revision>
  <dcterms:modified xsi:type="dcterms:W3CDTF">2026-06-09T10:29:36Z</dcterms:modified>
</cp:coreProperties>
</file>