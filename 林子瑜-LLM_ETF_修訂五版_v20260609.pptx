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553" r:id="rId9"/>
    <p:sldId id="566" r:id="rId10"/>
    <p:sldId id="565" r:id="rId11"/>
    <p:sldId id="567" r:id="rId12"/>
    <p:sldId id="568" r:id="rId13"/>
    <p:sldId id="556" r:id="rId14"/>
    <p:sldId id="557" r:id="rId15"/>
    <p:sldId id="555" r:id="rId16"/>
    <p:sldId id="265" r:id="rId17"/>
    <p:sldId id="558" r:id="rId18"/>
    <p:sldId id="266" r:id="rId19"/>
    <p:sldId id="267" r:id="rId20"/>
    <p:sldId id="268" r:id="rId21"/>
    <p:sldId id="564" r:id="rId22"/>
    <p:sldId id="563" r:id="rId23"/>
    <p:sldId id="562" r:id="rId24"/>
    <p:sldId id="270" r:id="rId25"/>
    <p:sldId id="272" r:id="rId26"/>
    <p:sldId id="273" r:id="rId27"/>
    <p:sldId id="274" r:id="rId28"/>
    <p:sldId id="275" r:id="rId29"/>
  </p:sldIdLst>
  <p:sldSz cx="12192000" cy="6858000"/>
  <p:notesSz cx="6858000" cy="9144000"/>
  <p:embeddedFontLst>
    <p:embeddedFont>
      <p:font typeface="Amasis MT Pro Medium" panose="02040604050005020304" pitchFamily="18" charset="0"/>
      <p:regular r:id="rId31"/>
      <p:italic r:id="rId32"/>
    </p:embeddedFont>
    <p:embeddedFont>
      <p:font typeface="DM Sans" pitchFamily="2" charset="0"/>
      <p:regular r:id="rId33"/>
      <p:bold r:id="rId34"/>
      <p:italic r:id="rId35"/>
      <p:boldItalic r:id="rId36"/>
    </p:embeddedFont>
    <p:embeddedFont>
      <p:font typeface="Merriweather" panose="000005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  <a:srgbClr val="FFFFFF"/>
    <a:srgbClr val="CED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63394A8-6561-4F67-BD20-A1EB724447CB}">
  <a:tblStyle styleId="{C63394A8-6561-4F67-BD20-A1EB724447C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5013" autoAdjust="0"/>
  </p:normalViewPr>
  <p:slideViewPr>
    <p:cSldViewPr snapToGrid="0">
      <p:cViewPr>
        <p:scale>
          <a:sx n="50" d="100"/>
          <a:sy n="50" d="100"/>
        </p:scale>
        <p:origin x="29" y="6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1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台美市場連動緊密，但缺乏直觀同步預測工具</a:t>
            </a:r>
            <a:endParaRPr lang="zh-TW" altLang="en-US" sz="12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跨市場數據處理複雜度高，一般投資者難以負擔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由於 SPY、QQQ 股價約數百美元，而 0050.TW 僅數十至百餘元台幣，若採用 MSE 等絕對誤差指標，會因股價數值大小不同而無法跨市場比較。故本研究採用 MAPE，以「百分比」衡量誤差，消除價格尺度與幣別差異，使三個市場的預測難度能在同一基準上公平比較。</a:t>
            </a:r>
            <a:br>
              <a:rPr lang="en-US" altLang="zh-TW" dirty="0"/>
            </a:br>
            <a:r>
              <a:rPr lang="zh-TW" altLang="en-US" dirty="0"/>
              <a:t>程式在</a:t>
            </a:r>
            <a:r>
              <a:rPr lang="en-US" altLang="zh-TW" dirty="0" err="1"/>
              <a:t>github</a:t>
            </a:r>
            <a:r>
              <a:rPr lang="en-US" altLang="zh-TW" dirty="0"/>
              <a:t>-&gt;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arima_baseline.py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run_regression.py</a:t>
            </a:r>
            <a:r>
              <a:rPr lang="zh-TW" altLang="zh-TW" dirty="0"/>
              <a:t>、</a:t>
            </a:r>
            <a:r>
              <a:rPr lang="zh-TW" altLang="zh-TW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run_lstm_regression.py</a:t>
            </a:r>
            <a:endParaRPr dirty="0"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ARIMA 是時間序列最常用的統計模型,我把它當作基準。它由三個元件組成,寫成 p、d、q:AR 自迴歸的 p,代表用過去 p 期的數值來預測,例如 AR(1) 就是今天主要受昨天影響;I 差分的 d,代表做 d 次差分把序列變成定態,這是 ARIMA 比 ARMA 多的地方;MA 移動平均的 q,是用過去的預測誤差來修正當期。我三個市場的最佳參數分別是 SPY(0,1,2)、QQQ(1,1,0)、0050(0,1,0),都是先用 ADF 檢定確認需要差分,再自動選參數定出來的。</a:t>
            </a:r>
            <a:endParaRPr dirty="0"/>
          </a:p>
        </p:txBody>
      </p:sp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959CDA8A-12C7-F967-4009-772F6F0C1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6D45493E-AB57-AFEA-FEE3-ADE1A46994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71ED5A95-C654-A2B5-0E09-0FFD28A5E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810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DBE726C1-8783-FCCE-AB55-61DDC167B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18DDC3C-0ADC-3044-D09C-3396B9D739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6392DE20-D2BD-EAEE-C450-C8A64B9FB4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226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CACF2C4B-08F9-B851-2B7B-EF5F71F7F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ED312822-6799-3309-7116-73C6B6AD6F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FC905F3E-C508-0E87-3151-F78AB4ABB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811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CF2B444-DD83-19A0-7993-80DF367C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50B81CC1-9CE1-B7CE-5829-63F62BE635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BB2EF076-75E3-F6D4-7D49-12FF377754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6491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CF0E9610-5BC8-CFB5-C70D-5110206AB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1A70CA79-6DB7-602D-9F9D-ABD381F80E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C44E2063-5D05-9CA7-E476-CDDE13F4E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0351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E4D6E503-A0DC-8D6D-E543-632E8D95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02C4EDFE-DC29-5B01-9729-6201EA8A4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LSTM 的內部結構。最上面那條貫穿的線是細胞狀態,可以想像成一條傳送帶,記憶在上面流動。它靠三個閘門控制:遺忘閘門決定丟掉哪些舊資訊、輸入閘門決定存入哪些新資訊、輸出閘門決定輸出什麼。圖中 σ 是 Sigmoid、tanh 是雙曲正切,負責非線性轉換;Xₜ 是輸入,Cₜ₋₁ 和 hₜ₋₁ 是上一個時點傳來的記憶和輸出。這個閘門設計讓 LSTM 能記住長期依賴,所以很適合股價這種時間序列。</a:t>
            </a: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63DD07D6-9217-DC52-0A51-E600B8F63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0725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6DC33C8D-1107-B90B-BBD0-170A6F87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56CAF279-6EAE-F736-5C9B-02FD99876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LSTM 的內部結構。最上面那條貫穿的線是細胞狀態,可以想像成一條傳送帶,記憶在上面流動。它靠三個閘門控制:遺忘閘門決定丟掉哪些舊資訊、輸入閘門決定存入哪些新資訊、輸出閘門決定輸出什麼。圖中 σ 是 Sigmoid、tanh 是雙曲正切,負責非線性轉換;Xₜ 是輸入,Cₜ₋₁ 和 hₜ₋₁ 是上一個時點傳來的記憶和輸出。這個閘門設計讓 LSTM 能記住長期依賴,所以很適合股價這種時間序列。</a:t>
            </a:r>
            <a:endParaRPr dirty="0"/>
          </a:p>
        </p:txBody>
      </p:sp>
      <p:sp>
        <p:nvSpPr>
          <p:cNvPr id="222" name="Google Shape;222;p9:notes">
            <a:extLst>
              <a:ext uri="{FF2B5EF4-FFF2-40B4-BE49-F238E27FC236}">
                <a16:creationId xmlns:a16="http://schemas.microsoft.com/office/drawing/2014/main" id="{015EF8DC-3E3F-A956-5AEA-B3F92ADF0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8732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8CBBD7EA-BA22-5FCB-98A3-B9B4AF6E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>
            <a:extLst>
              <a:ext uri="{FF2B5EF4-FFF2-40B4-BE49-F238E27FC236}">
                <a16:creationId xmlns:a16="http://schemas.microsoft.com/office/drawing/2014/main" id="{094B4CE2-E374-997C-29E2-955C7EF9F7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機器學習我用四個集成模型做迴歸：Random Forest 屬於 Bagging，降低變異數；XGBoost、AdaBoost、Gradient Boosting 屬於 Boosting，逐步修正前一棵樹的錯誤。這四個都需要人工特徵選擇，這點稍後會跟深度學習和 LLM 對比</a:t>
            </a:r>
            <a:br>
              <a:rPr lang="en-US" altLang="zh-TW" dirty="0"/>
            </a:br>
            <a:r>
              <a:rPr lang="zh-TW" altLang="zh-TW" dirty="0"/>
              <a:t>兩者都是 Boosting、都是循序修正錯誤，但修正方式不同。AdaBoost 是</a:t>
            </a:r>
            <a:r>
              <a:rPr lang="zh-TW" altLang="zh-TW" b="1" dirty="0"/>
              <a:t>調整樣本權重</a:t>
            </a:r>
            <a:r>
              <a:rPr lang="zh-TW" altLang="zh-TW" dirty="0"/>
              <a:t>——把上一輪預測錯比較多的樣本權重調高，讓下一棵樹更重視它；Gradient Boosting 則是</a:t>
            </a:r>
            <a:r>
              <a:rPr lang="zh-TW" altLang="zh-TW" b="1" dirty="0"/>
              <a:t>直接去擬合殘差</a:t>
            </a:r>
            <a:r>
              <a:rPr lang="zh-TW" altLang="zh-TW" dirty="0"/>
              <a:t>——沿著損失函數的梯度方向，讓下一棵樹補上前一棵的誤差。XGBoost 可以看成 Gradient Boosting 的進階版，多了正規化和系統層面的加速</a:t>
            </a:r>
            <a:endParaRPr dirty="0"/>
          </a:p>
        </p:txBody>
      </p:sp>
      <p:sp>
        <p:nvSpPr>
          <p:cNvPr id="203" name="Google Shape;203;p8:notes">
            <a:extLst>
              <a:ext uri="{FF2B5EF4-FFF2-40B4-BE49-F238E27FC236}">
                <a16:creationId xmlns:a16="http://schemas.microsoft.com/office/drawing/2014/main" id="{496954F9-106B-C699-2CF8-903C2857B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5598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LLM 我用兩個。GPT-3.5 做漲跌分類，F1 大約 0.48，明顯比傳統模型差——這其實是預期的，因為 LLM 不擅長純數值分類。另一個用 Gemini 做小樣本的數值迴歸探索，兩個都是免費額度。它們的定位是輔助解釋，不是主要預測引擎</a:t>
            </a:r>
            <a:endParaRPr dirty="0"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>
          <a:extLst>
            <a:ext uri="{FF2B5EF4-FFF2-40B4-BE49-F238E27FC236}">
              <a16:creationId xmlns:a16="http://schemas.microsoft.com/office/drawing/2014/main" id="{63BC11B1-CB7F-90B0-D6EA-568F13DF6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>
            <a:extLst>
              <a:ext uri="{FF2B5EF4-FFF2-40B4-BE49-F238E27FC236}">
                <a16:creationId xmlns:a16="http://schemas.microsoft.com/office/drawing/2014/main" id="{B16D19E2-87CD-CAE4-A0B6-30A661297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先說明機器學習的標準流程</a:t>
            </a:r>
            <a:r>
              <a:rPr lang="en-US" altLang="zh-TW" dirty="0"/>
              <a:t>,</a:t>
            </a:r>
            <a:r>
              <a:rPr lang="zh-TW" altLang="en-US" dirty="0"/>
              <a:t>從資料收集、預處理、特徵工程</a:t>
            </a:r>
            <a:r>
              <a:rPr lang="en-US" altLang="zh-TW" dirty="0"/>
              <a:t>,</a:t>
            </a:r>
            <a:r>
              <a:rPr lang="zh-TW" altLang="en-US" dirty="0"/>
              <a:t>到模型訓練、評估、部署。評估指標分類用 </a:t>
            </a:r>
            <a:r>
              <a:rPr lang="en-US" altLang="zh-TW" dirty="0"/>
              <a:t>F1</a:t>
            </a:r>
            <a:r>
              <a:rPr lang="zh-TW" altLang="en-US" dirty="0"/>
              <a:t>、</a:t>
            </a:r>
            <a:r>
              <a:rPr lang="en-US" altLang="zh-TW" dirty="0"/>
              <a:t>ROC-AUC,</a:t>
            </a:r>
            <a:r>
              <a:rPr lang="zh-TW" altLang="en-US" dirty="0"/>
              <a:t>迴歸用 </a:t>
            </a:r>
            <a:r>
              <a:rPr lang="en-US" altLang="zh-TW" dirty="0"/>
              <a:t>MSE</a:t>
            </a:r>
            <a:r>
              <a:rPr lang="zh-TW" altLang="en-US" dirty="0"/>
              <a:t>、</a:t>
            </a:r>
            <a:r>
              <a:rPr lang="en-US" altLang="zh-TW" dirty="0"/>
              <a:t>RMSE</a:t>
            </a:r>
            <a:r>
              <a:rPr lang="zh-TW" altLang="en-US" dirty="0"/>
              <a:t>、</a:t>
            </a:r>
            <a:r>
              <a:rPr lang="en-US" altLang="zh-TW" dirty="0"/>
              <a:t>MAE</a:t>
            </a:r>
            <a:r>
              <a:rPr lang="zh-TW" altLang="en-US" dirty="0"/>
              <a:t>、</a:t>
            </a:r>
            <a:r>
              <a:rPr lang="en-US" altLang="zh-TW" dirty="0"/>
              <a:t>R²</a:t>
            </a:r>
            <a:r>
              <a:rPr lang="zh-TW" altLang="en-US" dirty="0"/>
              <a:t>、</a:t>
            </a:r>
            <a:r>
              <a:rPr lang="en-US" altLang="zh-TW" dirty="0"/>
              <a:t>MAPE</a:t>
            </a:r>
            <a:r>
              <a:rPr lang="zh-TW" altLang="en-US" dirty="0"/>
              <a:t>。其中模型訓練階段要用交叉驗證確保穩定。</a:t>
            </a:r>
            <a:endParaRPr dirty="0"/>
          </a:p>
        </p:txBody>
      </p:sp>
      <p:sp>
        <p:nvSpPr>
          <p:cNvPr id="256" name="Google Shape;256;p11:notes">
            <a:extLst>
              <a:ext uri="{FF2B5EF4-FFF2-40B4-BE49-F238E27FC236}">
                <a16:creationId xmlns:a16="http://schemas.microsoft.com/office/drawing/2014/main" id="{62CAC9D2-2996-571F-259C-B2E1C4637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7469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TW" altLang="en-US" dirty="0"/>
              <a:t>這頁說明我的研究實驗流程</a:t>
            </a:r>
            <a:r>
              <a:rPr lang="en-US" altLang="zh-TW" dirty="0"/>
              <a:t>,</a:t>
            </a:r>
            <a:r>
              <a:rPr lang="zh-TW" altLang="en-US" dirty="0"/>
              <a:t>對應到標準的機器學習 </a:t>
            </a:r>
            <a:r>
              <a:rPr lang="en-US" altLang="zh-TW" dirty="0"/>
              <a:t>pipeline,</a:t>
            </a:r>
            <a:r>
              <a:rPr lang="zh-TW" altLang="en-US" dirty="0"/>
              <a:t>分五個階段。</a:t>
            </a:r>
          </a:p>
          <a:p>
            <a:r>
              <a:rPr lang="zh-TW" altLang="en-US" dirty="0"/>
              <a:t>第一</a:t>
            </a:r>
            <a:r>
              <a:rPr lang="en-US" altLang="zh-TW" dirty="0"/>
              <a:t>,</a:t>
            </a:r>
            <a:r>
              <a:rPr lang="zh-TW" altLang="en-US" b="1" dirty="0"/>
              <a:t>資料來源</a:t>
            </a:r>
            <a:r>
              <a:rPr lang="en-US" altLang="zh-TW" dirty="0"/>
              <a:t>:</a:t>
            </a:r>
            <a:r>
              <a:rPr lang="zh-TW" altLang="en-US" dirty="0"/>
              <a:t>用 </a:t>
            </a:r>
            <a:r>
              <a:rPr lang="en-US" altLang="zh-TW" dirty="0"/>
              <a:t>Yahoo Finance API </a:t>
            </a:r>
            <a:r>
              <a:rPr lang="zh-TW" altLang="en-US" dirty="0"/>
              <a:t>取得 </a:t>
            </a:r>
            <a:r>
              <a:rPr lang="en-US" altLang="zh-TW" dirty="0"/>
              <a:t>ETF </a:t>
            </a:r>
            <a:r>
              <a:rPr lang="zh-TW" altLang="en-US" dirty="0"/>
              <a:t>的歷史股價</a:t>
            </a:r>
            <a:r>
              <a:rPr lang="en-US" altLang="zh-TW" dirty="0"/>
              <a:t>,</a:t>
            </a:r>
            <a:r>
              <a:rPr lang="zh-TW" altLang="en-US" dirty="0"/>
              <a:t>透過 </a:t>
            </a:r>
            <a:r>
              <a:rPr lang="en-US" altLang="zh-TW" dirty="0"/>
              <a:t>update_database.py </a:t>
            </a:r>
            <a:r>
              <a:rPr lang="zh-TW" altLang="en-US" dirty="0"/>
              <a:t>這支程式抓取。</a:t>
            </a:r>
          </a:p>
          <a:p>
            <a:r>
              <a:rPr lang="zh-TW" altLang="en-US" dirty="0"/>
              <a:t>第二</a:t>
            </a:r>
            <a:r>
              <a:rPr lang="en-US" altLang="zh-TW" dirty="0"/>
              <a:t>,</a:t>
            </a:r>
            <a:r>
              <a:rPr lang="zh-TW" altLang="en-US" b="1" dirty="0"/>
              <a:t>資料前處理</a:t>
            </a:r>
            <a:r>
              <a:rPr lang="en-US" altLang="zh-TW" dirty="0"/>
              <a:t>:</a:t>
            </a:r>
            <a:r>
              <a:rPr lang="zh-TW" altLang="en-US" dirty="0"/>
              <a:t>做資料清洗、缺失值處理</a:t>
            </a:r>
            <a:r>
              <a:rPr lang="en-US" altLang="zh-TW" dirty="0"/>
              <a:t>,</a:t>
            </a:r>
            <a:r>
              <a:rPr lang="zh-TW" altLang="en-US" dirty="0"/>
              <a:t>然後存進 </a:t>
            </a:r>
            <a:r>
              <a:rPr lang="en-US" altLang="zh-TW" dirty="0" err="1"/>
              <a:t>etf_data.db</a:t>
            </a:r>
            <a:r>
              <a:rPr lang="en-US" altLang="zh-TW" dirty="0"/>
              <a:t> </a:t>
            </a:r>
            <a:r>
              <a:rPr lang="zh-TW" altLang="en-US" dirty="0"/>
              <a:t>這個本地資料庫。後面所有模型訓練都讀這個 </a:t>
            </a:r>
            <a:r>
              <a:rPr lang="en-US" altLang="zh-TW" dirty="0" err="1"/>
              <a:t>db</a:t>
            </a:r>
            <a:r>
              <a:rPr lang="en-US" altLang="zh-TW" dirty="0"/>
              <a:t>,</a:t>
            </a:r>
            <a:r>
              <a:rPr lang="zh-TW" altLang="en-US" dirty="0"/>
              <a:t>確保實驗可以重現</a:t>
            </a:r>
            <a:r>
              <a:rPr lang="en-US" altLang="zh-TW" dirty="0"/>
              <a:t>——</a:t>
            </a:r>
            <a:r>
              <a:rPr lang="zh-TW" altLang="en-US" dirty="0"/>
              <a:t>不會因為每天重抓 </a:t>
            </a:r>
            <a:r>
              <a:rPr lang="en-US" altLang="zh-TW" dirty="0"/>
              <a:t>API </a:t>
            </a:r>
            <a:r>
              <a:rPr lang="zh-TW" altLang="en-US" dirty="0"/>
              <a:t>而資料變動。</a:t>
            </a:r>
          </a:p>
          <a:p>
            <a:r>
              <a:rPr lang="zh-TW" altLang="en-US" dirty="0"/>
              <a:t>第三</a:t>
            </a:r>
            <a:r>
              <a:rPr lang="en-US" altLang="zh-TW" dirty="0"/>
              <a:t>,</a:t>
            </a:r>
            <a:r>
              <a:rPr lang="zh-TW" altLang="en-US" b="1" dirty="0"/>
              <a:t>特徵工程</a:t>
            </a:r>
            <a:r>
              <a:rPr lang="en-US" altLang="zh-TW" dirty="0"/>
              <a:t>:</a:t>
            </a:r>
            <a:r>
              <a:rPr lang="zh-TW" altLang="en-US" dirty="0"/>
              <a:t>建立 </a:t>
            </a:r>
            <a:r>
              <a:rPr lang="en-US" altLang="zh-TW" dirty="0"/>
              <a:t>Lag</a:t>
            </a:r>
            <a:r>
              <a:rPr lang="zh-TW" altLang="en-US" dirty="0"/>
              <a:t>、移動平均 </a:t>
            </a:r>
            <a:r>
              <a:rPr lang="en-US" altLang="zh-TW" dirty="0"/>
              <a:t>MA</a:t>
            </a:r>
            <a:r>
              <a:rPr lang="zh-TW" altLang="en-US" dirty="0"/>
              <a:t>、波動率 </a:t>
            </a:r>
            <a:r>
              <a:rPr lang="en-US" altLang="zh-TW" dirty="0"/>
              <a:t>Vol </a:t>
            </a:r>
            <a:r>
              <a:rPr lang="zh-TW" altLang="en-US" dirty="0"/>
              <a:t>等技術指標特徵</a:t>
            </a:r>
            <a:r>
              <a:rPr lang="en-US" altLang="zh-TW" dirty="0"/>
              <a:t>,</a:t>
            </a:r>
            <a:r>
              <a:rPr lang="zh-TW" altLang="en-US" dirty="0"/>
              <a:t>主要供樹模型使用</a:t>
            </a:r>
            <a:r>
              <a:rPr lang="en-US" altLang="zh-TW" dirty="0"/>
              <a:t>;ARIMA </a:t>
            </a:r>
            <a:r>
              <a:rPr lang="zh-TW" altLang="en-US" dirty="0"/>
              <a:t>和 </a:t>
            </a:r>
            <a:r>
              <a:rPr lang="en-US" altLang="zh-TW" dirty="0"/>
              <a:t>LSTM </a:t>
            </a:r>
            <a:r>
              <a:rPr lang="zh-TW" altLang="en-US" dirty="0"/>
              <a:t>則直接處理價格序列。</a:t>
            </a:r>
          </a:p>
          <a:p>
            <a:r>
              <a:rPr lang="zh-TW" altLang="en-US" dirty="0"/>
              <a:t>第四</a:t>
            </a:r>
            <a:r>
              <a:rPr lang="en-US" altLang="zh-TW" dirty="0"/>
              <a:t>,</a:t>
            </a:r>
            <a:r>
              <a:rPr lang="zh-TW" altLang="en-US" b="1" dirty="0"/>
              <a:t>模型訓練</a:t>
            </a:r>
            <a:r>
              <a:rPr lang="en-US" altLang="zh-TW" dirty="0"/>
              <a:t>:</a:t>
            </a:r>
            <a:r>
              <a:rPr lang="zh-TW" altLang="en-US" dirty="0"/>
              <a:t>這裡採用各模型領域的標準驗證方法</a:t>
            </a:r>
            <a:r>
              <a:rPr lang="en-US" altLang="zh-TW" dirty="0"/>
              <a:t>——</a:t>
            </a:r>
            <a:r>
              <a:rPr lang="zh-TW" altLang="en-US" dirty="0"/>
              <a:t>樹模型和 </a:t>
            </a:r>
            <a:r>
              <a:rPr lang="en-US" altLang="zh-TW" dirty="0"/>
              <a:t>LSTM </a:t>
            </a:r>
            <a:r>
              <a:rPr lang="zh-TW" altLang="en-US" dirty="0"/>
              <a:t>用 </a:t>
            </a:r>
            <a:r>
              <a:rPr lang="en-US" altLang="zh-TW" dirty="0"/>
              <a:t>TimeSeriesSplit </a:t>
            </a:r>
            <a:r>
              <a:rPr lang="zh-TW" altLang="en-US" dirty="0"/>
              <a:t>時序交叉驗證</a:t>
            </a:r>
            <a:r>
              <a:rPr lang="en-US" altLang="zh-TW" dirty="0"/>
              <a:t>,ARIMA </a:t>
            </a:r>
            <a:r>
              <a:rPr lang="zh-TW" altLang="en-US" dirty="0"/>
              <a:t>用 </a:t>
            </a:r>
            <a:r>
              <a:rPr lang="en-US" altLang="zh-TW" dirty="0"/>
              <a:t>rolling forecast </a:t>
            </a:r>
            <a:r>
              <a:rPr lang="zh-TW" altLang="en-US" dirty="0"/>
              <a:t>滾動預測。之所以不用一般的 </a:t>
            </a:r>
            <a:r>
              <a:rPr lang="en-US" altLang="zh-TW" dirty="0"/>
              <a:t>K-Fold,</a:t>
            </a:r>
            <a:r>
              <a:rPr lang="zh-TW" altLang="en-US" dirty="0"/>
              <a:t>是因為它會打亂時間順序、造成未來資料洩漏。</a:t>
            </a:r>
          </a:p>
          <a:p>
            <a:r>
              <a:rPr lang="zh-TW" altLang="en-US" dirty="0"/>
              <a:t>第五</a:t>
            </a:r>
            <a:r>
              <a:rPr lang="en-US" altLang="zh-TW" dirty="0"/>
              <a:t>,</a:t>
            </a:r>
            <a:r>
              <a:rPr lang="zh-TW" altLang="en-US" b="1" dirty="0"/>
              <a:t>性能評估</a:t>
            </a:r>
            <a:r>
              <a:rPr lang="en-US" altLang="zh-TW" dirty="0"/>
              <a:t>:</a:t>
            </a:r>
            <a:r>
              <a:rPr lang="zh-TW" altLang="en-US" dirty="0"/>
              <a:t>迴歸用 </a:t>
            </a:r>
            <a:r>
              <a:rPr lang="en-US" altLang="zh-TW" dirty="0"/>
              <a:t>MSE</a:t>
            </a:r>
            <a:r>
              <a:rPr lang="zh-TW" altLang="en-US" dirty="0"/>
              <a:t>、</a:t>
            </a:r>
            <a:r>
              <a:rPr lang="en-US" altLang="zh-TW" dirty="0"/>
              <a:t>MAPE,</a:t>
            </a:r>
            <a:r>
              <a:rPr lang="zh-TW" altLang="en-US" dirty="0"/>
              <a:t>分類用 </a:t>
            </a:r>
            <a:r>
              <a:rPr lang="en-US" altLang="zh-TW" dirty="0"/>
              <a:t>F1-score</a:t>
            </a:r>
            <a:r>
              <a:rPr lang="zh-TW" altLang="en-US" dirty="0"/>
              <a:t>。其中 </a:t>
            </a:r>
            <a:r>
              <a:rPr lang="en-US" altLang="zh-TW" dirty="0"/>
              <a:t>MAPE </a:t>
            </a:r>
            <a:r>
              <a:rPr lang="zh-TW" altLang="en-US" dirty="0"/>
              <a:t>是百分比</a:t>
            </a:r>
            <a:r>
              <a:rPr lang="en-US" altLang="zh-TW" dirty="0"/>
              <a:t>,</a:t>
            </a:r>
            <a:r>
              <a:rPr lang="zh-TW" altLang="en-US" dirty="0"/>
              <a:t>可以跨市場比較。</a:t>
            </a:r>
          </a:p>
        </p:txBody>
      </p:sp>
      <p:sp>
        <p:nvSpPr>
          <p:cNvPr id="256" name="Google Shape;2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資料是三檔 ETF：SPY、QQQ、0050，2016 到 2026 的日資料，特徵用 OHLCV 加上 MA、RSI、波動率，全部以 TimeSeriesSplit 驗證。</a:t>
            </a:r>
            <a:endParaRPr dirty="0"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這是 SPY 的分類結果。最左邊灰色是我加的『永遠猜漲』基準，F1 是 0.736，我用紅色虛線標出來。可以看到四個模型的 F1 全部貼著這條線、甚至更低——最好的雙層 LSTM 也只有 0.733，跟基準打平。這代表在多頭期間，分類的高 F1 主要來自市場本身上漲的偏態，模型並沒有真正超越無腦策略。這就是我把分類定位成輔助、把重心放到後面迴歸和 LLM 的原因。</a:t>
            </a:r>
            <a:endParaRPr dirty="0"/>
          </a:p>
        </p:txBody>
      </p:sp>
      <p:sp>
        <p:nvSpPr>
          <p:cNvPr id="303" name="Google Shape;3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0A7495C2-5F38-10B8-D21B-F38FA073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C955BF73-CCD7-CDD6-3E95-667AFF315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這是迴歸的誤差比較</a:t>
            </a:r>
            <a:r>
              <a:rPr lang="en-US" altLang="zh-TW" dirty="0"/>
              <a:t>,</a:t>
            </a:r>
            <a:r>
              <a:rPr lang="zh-TW" altLang="en-US" dirty="0"/>
              <a:t>左邊是 </a:t>
            </a:r>
            <a:r>
              <a:rPr lang="en-US" altLang="zh-TW" dirty="0"/>
              <a:t>MSE</a:t>
            </a:r>
            <a:r>
              <a:rPr lang="zh-TW" altLang="en-US" dirty="0"/>
              <a:t>、右邊是 </a:t>
            </a:r>
            <a:r>
              <a:rPr lang="en-US" altLang="zh-TW" dirty="0"/>
              <a:t>MAPE</a:t>
            </a:r>
            <a:r>
              <a:rPr lang="zh-TW" altLang="en-US" dirty="0"/>
              <a:t>。</a:t>
            </a:r>
            <a:r>
              <a:rPr lang="en-US" altLang="zh-TW" dirty="0"/>
              <a:t>MSE </a:t>
            </a:r>
            <a:r>
              <a:rPr lang="zh-TW" altLang="en-US" dirty="0"/>
              <a:t>受股價數值影響</a:t>
            </a:r>
            <a:r>
              <a:rPr lang="en-US" altLang="zh-TW" dirty="0"/>
              <a:t>,</a:t>
            </a:r>
            <a:r>
              <a:rPr lang="zh-TW" altLang="en-US" dirty="0"/>
              <a:t>只能在同一市場內比</a:t>
            </a:r>
            <a:r>
              <a:rPr lang="en-US" altLang="zh-TW" dirty="0"/>
              <a:t>;MAPE </a:t>
            </a:r>
            <a:r>
              <a:rPr lang="zh-TW" altLang="en-US" dirty="0"/>
              <a:t>是百分比</a:t>
            </a:r>
            <a:r>
              <a:rPr lang="en-US" altLang="zh-TW" dirty="0"/>
              <a:t>,</a:t>
            </a:r>
            <a:r>
              <a:rPr lang="zh-TW" altLang="en-US" dirty="0"/>
              <a:t>可以跨市場比。可以看到不管哪個指標</a:t>
            </a:r>
            <a:r>
              <a:rPr lang="en-US" altLang="zh-TW" dirty="0"/>
              <a:t>,</a:t>
            </a:r>
            <a:r>
              <a:rPr lang="zh-TW" altLang="en-US" dirty="0"/>
              <a:t>三個市場排序都一致</a:t>
            </a:r>
            <a:r>
              <a:rPr lang="en-US" altLang="zh-TW" dirty="0"/>
              <a:t>:ARIMA </a:t>
            </a:r>
            <a:r>
              <a:rPr lang="zh-TW" altLang="en-US" dirty="0"/>
              <a:t>誤差最小、</a:t>
            </a:r>
            <a:r>
              <a:rPr lang="en-US" altLang="zh-TW" dirty="0"/>
              <a:t>LSTM </a:t>
            </a:r>
            <a:r>
              <a:rPr lang="zh-TW" altLang="en-US" dirty="0"/>
              <a:t>次之、樹模型最大。特別是 </a:t>
            </a:r>
            <a:r>
              <a:rPr lang="en-US" altLang="zh-TW" dirty="0"/>
              <a:t>MAPE,ARIMA </a:t>
            </a:r>
            <a:r>
              <a:rPr lang="zh-TW" altLang="en-US" dirty="0"/>
              <a:t>不到 </a:t>
            </a:r>
            <a:r>
              <a:rPr lang="en-US" altLang="zh-TW" dirty="0"/>
              <a:t>1%</a:t>
            </a:r>
            <a:r>
              <a:rPr lang="zh-TW" altLang="en-US" dirty="0"/>
              <a:t>、</a:t>
            </a:r>
            <a:r>
              <a:rPr lang="en-US" altLang="zh-TW" dirty="0"/>
              <a:t>LSTM </a:t>
            </a:r>
            <a:r>
              <a:rPr lang="zh-TW" altLang="en-US" dirty="0"/>
              <a:t>約 </a:t>
            </a:r>
            <a:r>
              <a:rPr lang="en-US" altLang="zh-TW" dirty="0"/>
              <a:t>2 </a:t>
            </a:r>
            <a:r>
              <a:rPr lang="zh-TW" altLang="en-US" dirty="0"/>
              <a:t>到 </a:t>
            </a:r>
            <a:r>
              <a:rPr lang="en-US" altLang="zh-TW" dirty="0"/>
              <a:t>3%</a:t>
            </a:r>
            <a:r>
              <a:rPr lang="zh-TW" altLang="en-US" dirty="0"/>
              <a:t>、樹模型高達 </a:t>
            </a:r>
            <a:r>
              <a:rPr lang="en-US" altLang="zh-TW" dirty="0"/>
              <a:t>8 </a:t>
            </a:r>
            <a:r>
              <a:rPr lang="zh-TW" altLang="en-US" dirty="0"/>
              <a:t>到 </a:t>
            </a:r>
            <a:r>
              <a:rPr lang="en-US" altLang="zh-TW" dirty="0"/>
              <a:t>11%</a:t>
            </a:r>
            <a:r>
              <a:rPr lang="zh-TW" altLang="en-US" dirty="0"/>
              <a:t>。</a:t>
            </a:r>
            <a:endParaRPr dirty="0"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4238A708-6F60-564A-1257-7F2FB41080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94943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003B08ED-9F1C-18A5-270C-FF47A4087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6A4B20C4-067A-EC21-8C3A-666A0E269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這頁用預測曲線把上面的數字視覺化。黑色是實際收盤價</a:t>
            </a:r>
            <a:r>
              <a:rPr lang="en-US" altLang="zh-TW" dirty="0"/>
              <a:t>,</a:t>
            </a:r>
            <a:r>
              <a:rPr lang="zh-TW" altLang="en-US" dirty="0"/>
              <a:t>綠色 </a:t>
            </a:r>
            <a:r>
              <a:rPr lang="en-US" altLang="zh-TW" dirty="0"/>
              <a:t>ARIMA </a:t>
            </a:r>
            <a:r>
              <a:rPr lang="zh-TW" altLang="en-US" dirty="0"/>
              <a:t>幾乎完全貼合、看不太出來</a:t>
            </a:r>
            <a:r>
              <a:rPr lang="en-US" altLang="zh-TW" dirty="0"/>
              <a:t>,</a:t>
            </a:r>
            <a:r>
              <a:rPr lang="zh-TW" altLang="en-US" dirty="0"/>
              <a:t>所以它誤差最小。橘色 </a:t>
            </a:r>
            <a:r>
              <a:rPr lang="en-US" altLang="zh-TW" dirty="0"/>
              <a:t>Random Forest </a:t>
            </a:r>
            <a:r>
              <a:rPr lang="zh-TW" altLang="en-US" dirty="0"/>
              <a:t>整條躺平</a:t>
            </a:r>
            <a:r>
              <a:rPr lang="en-US" altLang="zh-TW" dirty="0"/>
              <a:t>——</a:t>
            </a:r>
            <a:r>
              <a:rPr lang="zh-TW" altLang="en-US" dirty="0"/>
              <a:t>因為樹模型無法預測超出訓練範圍的新高價</a:t>
            </a:r>
            <a:r>
              <a:rPr lang="en-US" altLang="zh-TW" dirty="0"/>
              <a:t>,</a:t>
            </a:r>
            <a:r>
              <a:rPr lang="zh-TW" altLang="en-US" dirty="0"/>
              <a:t>測試期一突破就卡住了。藍色 </a:t>
            </a:r>
            <a:r>
              <a:rPr lang="en-US" altLang="zh-TW" dirty="0"/>
              <a:t>LSTM </a:t>
            </a:r>
            <a:r>
              <a:rPr lang="zh-TW" altLang="en-US" dirty="0"/>
              <a:t>能跟上趨勢</a:t>
            </a:r>
            <a:r>
              <a:rPr lang="en-US" altLang="zh-TW" dirty="0"/>
              <a:t>,</a:t>
            </a:r>
            <a:r>
              <a:rPr lang="zh-TW" altLang="en-US" dirty="0"/>
              <a:t>但有一段落差。這張圖直觀說明</a:t>
            </a:r>
            <a:r>
              <a:rPr lang="en-US" altLang="zh-TW" dirty="0"/>
              <a:t>:</a:t>
            </a:r>
            <a:r>
              <a:rPr lang="zh-TW" altLang="en-US" dirty="0"/>
              <a:t>在價格預測上</a:t>
            </a:r>
            <a:r>
              <a:rPr lang="en-US" altLang="zh-TW" dirty="0"/>
              <a:t>,</a:t>
            </a:r>
            <a:r>
              <a:rPr lang="zh-TW" altLang="en-US" dirty="0"/>
              <a:t>簡單的 </a:t>
            </a:r>
            <a:r>
              <a:rPr lang="en-US" altLang="zh-TW" dirty="0"/>
              <a:t>ARIMA </a:t>
            </a:r>
            <a:r>
              <a:rPr lang="zh-TW" altLang="en-US" dirty="0"/>
              <a:t>反而比複雜的樹模型穩定</a:t>
            </a:r>
            <a:r>
              <a:rPr lang="en-US" altLang="zh-TW" dirty="0"/>
              <a:t>,</a:t>
            </a:r>
            <a:r>
              <a:rPr lang="zh-TW" altLang="en-US" dirty="0"/>
              <a:t>複雜不一定比較好。</a:t>
            </a:r>
            <a:endParaRPr dirty="0"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0DFA4B07-B505-0C77-FE8C-7B9091F41A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9556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>
          <a:extLst>
            <a:ext uri="{FF2B5EF4-FFF2-40B4-BE49-F238E27FC236}">
              <a16:creationId xmlns:a16="http://schemas.microsoft.com/office/drawing/2014/main" id="{F9DE7C20-BD57-C8ED-67ED-6D9672E2F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>
            <a:extLst>
              <a:ext uri="{FF2B5EF4-FFF2-40B4-BE49-F238E27FC236}">
                <a16:creationId xmlns:a16="http://schemas.microsoft.com/office/drawing/2014/main" id="{490899E8-C20F-7520-AF27-017310AA5B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:notes">
            <a:extLst>
              <a:ext uri="{FF2B5EF4-FFF2-40B4-BE49-F238E27FC236}">
                <a16:creationId xmlns:a16="http://schemas.microsoft.com/office/drawing/2014/main" id="{640B5A1F-1502-3303-674A-2BE5B10CE9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14295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迴歸的結論有三點。第一,用 MAPE 跨市場比較,三個市場的排序都一致:ARIMA 最好、LSTM 次之、樹模型最差,代表在價格預測上,簡單的統計模型反而比複雜模型穩定。第二,樹模型表現最差不是調參問題,是它無法預測超出訓練範圍的新高價,這是結構限制。第三,LLM 是亮點——GPT-4o-mini 在三個市場小樣本上 R² 都穩定在 0.80,不用訓練、只靠提示就能做到,展現它的潛力。整體來說,複雜不一定好,而 LLM 跨市場一致性高,值得後續擴大驗證。</a:t>
            </a:r>
            <a:endParaRPr dirty="0"/>
          </a:p>
        </p:txBody>
      </p:sp>
      <p:sp>
        <p:nvSpPr>
          <p:cNvPr id="333" name="Google Shape;3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zh-TW" altLang="zh-TW" dirty="0"/>
              <a:t>平台用 Streamlit 加 Plotly、SQLite，串接 GPT 或 Gemini 產生風險摘要，端對端延遲 840 毫秒，一般電腦、不用 GPU 就能跑。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zh-TW" dirty="0"/>
              <a:t>綜合發現有三點：沒有單一冠軍模型，不同市場最佳模型不同；迴歸顯示次日走勢本質難預測；所以 LLM 定位在解釋型輔助，而不是當主要算力引擎。</a:t>
            </a:r>
            <a:endParaRPr dirty="0"/>
          </a:p>
        </p:txBody>
      </p:sp>
      <p:sp>
        <p:nvSpPr>
          <p:cNvPr id="387" name="Google Shape;38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14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15402" y="1571922"/>
            <a:ext cx="9561195" cy="136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LLM-ETF：</a:t>
            </a: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基於大語言模型輔助之跨市場</a:t>
            </a:r>
            <a:r>
              <a:rPr lang="en-US" sz="2800" b="1" i="0" u="none" strike="noStrike" cap="none" dirty="0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 ETF </a:t>
            </a:r>
            <a:r>
              <a:rPr lang="en-US" sz="2800" b="1" i="0" u="none" strike="noStrike" cap="none" dirty="0" err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趨勢預測與模型比較研究</a:t>
            </a:r>
            <a:endParaRPr sz="28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0" y="3465314"/>
            <a:ext cx="1219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Graduate School of Information Engineering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D4AF37"/>
                </a:solidFill>
                <a:latin typeface="DM Sans"/>
                <a:ea typeface="DM Sans"/>
                <a:cs typeface="DM Sans"/>
                <a:sym typeface="DM Sans"/>
              </a:rPr>
              <a:t>Kun Shan University</a:t>
            </a:r>
          </a:p>
        </p:txBody>
      </p:sp>
      <p:sp>
        <p:nvSpPr>
          <p:cNvPr id="87" name="Google Shape;87;p13"/>
          <p:cNvSpPr txBox="1"/>
          <p:nvPr/>
        </p:nvSpPr>
        <p:spPr>
          <a:xfrm>
            <a:off x="-1" y="4644665"/>
            <a:ext cx="12192000" cy="190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研究生：林子瑜		 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Tzu-Yu Lin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指導教授：李冠榮	副教授　　　　</a:t>
            </a:r>
            <a:r>
              <a:rPr lang="en-US" sz="1650" b="0" i="0" u="none" strike="noStrike" cap="none" dirty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Kuan-Rong Lee</a:t>
            </a:r>
          </a:p>
          <a:p>
            <a:pPr marL="0" marR="0" lvl="0" indent="0" algn="ctr" rtl="0">
              <a:lnSpc>
                <a:spcPct val="183333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dirty="0">
                <a:solidFill>
                  <a:srgbClr val="F3F0DF"/>
                </a:solidFill>
                <a:latin typeface="DM Sans"/>
                <a:ea typeface="Calibri"/>
                <a:cs typeface="Calibri"/>
                <a:sym typeface="DM Sans"/>
              </a:rPr>
              <a:t>JUN ,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20303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0" y="4163913"/>
            <a:ext cx="35242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19312" y="2316063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83431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前言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背景、動機與研究問題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0" y="23160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4545806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分析主題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19625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分類問題與迴歸問題</a:t>
            </a:r>
            <a:endParaRPr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67875" y="231606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308181" y="30494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模型介紹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382000" y="34304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跨世代模型架構分析</a:t>
            </a:r>
            <a:endParaRPr dirty="0"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95500" y="444966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783431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研究流程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857250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數據處理與實驗設計</a:t>
            </a:r>
            <a:endParaRPr/>
          </a:p>
        </p:txBody>
      </p:sp>
      <p:pic>
        <p:nvPicPr>
          <p:cNvPr id="111" name="Google Shape;11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29312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4545806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實驗結果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619625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跨市場表現評估指標</a:t>
            </a:r>
            <a:endParaRPr/>
          </a:p>
        </p:txBody>
      </p:sp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1687" y="4449663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8308181" y="5183088"/>
            <a:ext cx="310038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結論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82000" y="5564088"/>
            <a:ext cx="2952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關鍵發現與未來方向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簡報大綱 Agenda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35327"/>
            <a:ext cx="4334870" cy="177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83711"/>
            <a:ext cx="4334870" cy="192961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66775" y="2330601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資訊不對稱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866775" y="4283467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AI </a:t>
            </a:r>
            <a:r>
              <a:rPr lang="en-US" sz="195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潛力</a:t>
            </a:r>
            <a:endParaRPr dirty="0"/>
          </a:p>
        </p:txBody>
      </p:sp>
      <p:sp>
        <p:nvSpPr>
          <p:cNvPr id="136" name="Google Shape;136;p15"/>
          <p:cNvSpPr txBox="1"/>
          <p:nvPr/>
        </p:nvSpPr>
        <p:spPr>
          <a:xfrm>
            <a:off x="809625" y="856727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研究背景與動機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不同模型與技術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==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&gt;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股票分析</a:t>
            </a:r>
            <a:endParaRPr dirty="0"/>
          </a:p>
        </p:txBody>
      </p:sp>
      <p:sp>
        <p:nvSpPr>
          <p:cNvPr id="137" name="Google Shape;137;p1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29;p15">
            <a:extLst>
              <a:ext uri="{FF2B5EF4-FFF2-40B4-BE49-F238E27FC236}">
                <a16:creationId xmlns:a16="http://schemas.microsoft.com/office/drawing/2014/main" id="{65B060A5-54F5-3C86-B612-950BF19D0DA0}"/>
              </a:ext>
            </a:extLst>
          </p:cNvPr>
          <p:cNvSpPr txBox="1"/>
          <p:nvPr/>
        </p:nvSpPr>
        <p:spPr>
          <a:xfrm>
            <a:off x="809625" y="4793514"/>
            <a:ext cx="319450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深度學習模型「黑箱」問題</a:t>
            </a:r>
            <a:endParaRPr lang="en-US" altLang="zh-TW" sz="15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5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提升模型預測可理解度</a:t>
            </a:r>
            <a:endParaRPr lang="zh-TW" altLang="en-US" sz="15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E6E3EEA-9ED6-CB95-60E9-A8F4B33BD9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3104" y="2035327"/>
            <a:ext cx="6682895" cy="3319798"/>
          </a:xfrm>
          <a:prstGeom prst="rect">
            <a:avLst/>
          </a:prstGeom>
        </p:spPr>
      </p:pic>
      <p:sp>
        <p:nvSpPr>
          <p:cNvPr id="6" name="Google Shape;129;p15">
            <a:extLst>
              <a:ext uri="{FF2B5EF4-FFF2-40B4-BE49-F238E27FC236}">
                <a16:creationId xmlns:a16="http://schemas.microsoft.com/office/drawing/2014/main" id="{60DCBED5-8FB8-058F-637C-3D539110F25A}"/>
              </a:ext>
            </a:extLst>
          </p:cNvPr>
          <p:cNvSpPr txBox="1"/>
          <p:nvPr/>
        </p:nvSpPr>
        <p:spPr>
          <a:xfrm>
            <a:off x="866775" y="2805111"/>
            <a:ext cx="3245566" cy="1058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缺乏直觀同步預測工具</a:t>
            </a:r>
            <a:endParaRPr lang="en-US" sz="15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跨市場數據處理複雜度高</a:t>
            </a:r>
            <a:endParaRPr lang="zh-TW" altLang="en-US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6564140" y="1361807"/>
            <a:ext cx="5018259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效能比較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：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統計（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ARIMA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）、機器學習（隨機森林等）、深度學習（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LSTM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）與大語言模型（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）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在 ETF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預測之優劣</a:t>
            </a:r>
            <a:endParaRPr lang="en-US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市場差異：分析 台股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(0050)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與美股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(SPY/QQQ)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之預測難度差異</a:t>
            </a:r>
            <a:endParaRPr lang="en-US" altLang="zh-TW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評估指標：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MAPE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（平均絕對百分比誤差）</a:t>
            </a:r>
            <a:endParaRPr lang="en-US" altLang="zh-TW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marR="0" lvl="0" indent="-3429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由實作應用：建構 </a:t>
            </a:r>
            <a:r>
              <a:rPr lang="en-US" altLang="zh-TW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sz="2000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輔助視覺化平台，提升預測理解度</a:t>
            </a:r>
            <a:endParaRPr lang="en-US" altLang="zh-TW" sz="20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05514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3685579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38650" y="431601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研究目的與問題</a:t>
            </a:r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F195BE5-5360-7552-27AD-915632A7EA06}"/>
              </a:ext>
            </a:extLst>
          </p:cNvPr>
          <p:cNvSpPr txBox="1"/>
          <p:nvPr/>
        </p:nvSpPr>
        <p:spPr>
          <a:xfrm>
            <a:off x="1029132" y="2733094"/>
            <a:ext cx="22906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ETF </a:t>
            </a:r>
            <a:r>
              <a:rPr lang="zh-TW" altLang="en-US" sz="3600" dirty="0"/>
              <a:t>預測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752DE00-75A1-607E-6CD2-7D64E8D1B8A1}"/>
              </a:ext>
            </a:extLst>
          </p:cNvPr>
          <p:cNvSpPr txBox="1"/>
          <p:nvPr/>
        </p:nvSpPr>
        <p:spPr>
          <a:xfrm>
            <a:off x="577273" y="3609409"/>
            <a:ext cx="7504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統計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90E60A7-743C-AA2A-F38C-54E26B12FA51}"/>
              </a:ext>
            </a:extLst>
          </p:cNvPr>
          <p:cNvSpPr txBox="1"/>
          <p:nvPr/>
        </p:nvSpPr>
        <p:spPr>
          <a:xfrm>
            <a:off x="1495425" y="3597928"/>
            <a:ext cx="5409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ML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7460C91-B43A-9268-9A4E-45B8D9FC3C76}"/>
              </a:ext>
            </a:extLst>
          </p:cNvPr>
          <p:cNvSpPr txBox="1"/>
          <p:nvPr/>
        </p:nvSpPr>
        <p:spPr>
          <a:xfrm>
            <a:off x="2374467" y="3641227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DL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B0A1F70-C9BC-1F33-411C-DC15FE38CDB9}"/>
              </a:ext>
            </a:extLst>
          </p:cNvPr>
          <p:cNvSpPr txBox="1"/>
          <p:nvPr/>
        </p:nvSpPr>
        <p:spPr>
          <a:xfrm>
            <a:off x="3306185" y="3592186"/>
            <a:ext cx="665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3C10410-E1B0-6091-054A-56873282B650}"/>
              </a:ext>
            </a:extLst>
          </p:cNvPr>
          <p:cNvSpPr txBox="1"/>
          <p:nvPr/>
        </p:nvSpPr>
        <p:spPr>
          <a:xfrm>
            <a:off x="609600" y="2140891"/>
            <a:ext cx="121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台股</a:t>
            </a:r>
            <a:r>
              <a:rPr lang="en-US" altLang="zh-TW" dirty="0"/>
              <a:t>(0050)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7D4ECBF-A024-9B70-8586-3A02DC6F0A3C}"/>
              </a:ext>
            </a:extLst>
          </p:cNvPr>
          <p:cNvSpPr txBox="1"/>
          <p:nvPr/>
        </p:nvSpPr>
        <p:spPr>
          <a:xfrm>
            <a:off x="2115848" y="2162628"/>
            <a:ext cx="14589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美股</a:t>
            </a:r>
            <a:r>
              <a:rPr lang="en-US" altLang="zh-TW" dirty="0"/>
              <a:t>(SPY/QQQ)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35FB4AB-E350-DF11-EFF1-E03CC5EACD10}"/>
              </a:ext>
            </a:extLst>
          </p:cNvPr>
          <p:cNvSpPr txBox="1"/>
          <p:nvPr/>
        </p:nvSpPr>
        <p:spPr>
          <a:xfrm>
            <a:off x="578211" y="4618653"/>
            <a:ext cx="3592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dirty="0"/>
              <a:t>LLM </a:t>
            </a:r>
            <a:r>
              <a:rPr lang="zh-TW" altLang="en-US" sz="3600" dirty="0"/>
              <a:t>視覺化平台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60668CD-1C81-E4CF-E95E-F0138CE135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8" b="10821"/>
          <a:stretch>
            <a:fillRect/>
          </a:stretch>
        </p:blipFill>
        <p:spPr>
          <a:xfrm>
            <a:off x="0" y="1794772"/>
            <a:ext cx="6485335" cy="42340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117" y="3749565"/>
            <a:ext cx="4051935" cy="112889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809624" y="1704158"/>
            <a:ext cx="5600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目標與任務</a:t>
            </a:r>
            <a:endParaRPr sz="2400"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942974" y="2399986"/>
            <a:ext cx="5334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預測次日收盤價相對於當日是「上漲」或「下跌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」，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定義為</a:t>
            </a:r>
            <a:r>
              <a:rPr lang="en-US" sz="18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二元分類任務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pic>
        <p:nvPicPr>
          <p:cNvPr id="168" name="Google Shape;16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125" y="3938765"/>
            <a:ext cx="3653920" cy="7504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分析主題1：分類問題 (Classification)</a:t>
            </a:r>
            <a:endParaRPr dirty="0"/>
          </a:p>
        </p:txBody>
      </p:sp>
      <p:sp>
        <p:nvSpPr>
          <p:cNvPr id="170" name="Google Shape;170;p1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C4606BA-515A-D20B-8E67-BD51C644A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407" y="3668549"/>
            <a:ext cx="4817243" cy="20414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CB251F2-E23F-D6CD-0E9C-E63D1AA065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3407" y="1888824"/>
            <a:ext cx="4817243" cy="15763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116A66DE-AFD6-D41C-BC7D-13978332FD52}"/>
              </a:ext>
            </a:extLst>
          </p:cNvPr>
          <p:cNvSpPr/>
          <p:nvPr/>
        </p:nvSpPr>
        <p:spPr>
          <a:xfrm>
            <a:off x="1629681" y="5454743"/>
            <a:ext cx="8775031" cy="9304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CEDC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3EDD7C6-4C3E-E637-982C-1054D9D2C16E}"/>
              </a:ext>
            </a:extLst>
          </p:cNvPr>
          <p:cNvSpPr/>
          <p:nvPr/>
        </p:nvSpPr>
        <p:spPr>
          <a:xfrm>
            <a:off x="8251658" y="2326103"/>
            <a:ext cx="3695700" cy="2871539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8A64044-FCD5-CA7A-3C88-016077592E5F}"/>
              </a:ext>
            </a:extLst>
          </p:cNvPr>
          <p:cNvSpPr/>
          <p:nvPr/>
        </p:nvSpPr>
        <p:spPr>
          <a:xfrm>
            <a:off x="4248150" y="2326103"/>
            <a:ext cx="3695700" cy="2871539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2CBCF95-932B-6112-249E-6962DC9877A2}"/>
              </a:ext>
            </a:extLst>
          </p:cNvPr>
          <p:cNvSpPr/>
          <p:nvPr/>
        </p:nvSpPr>
        <p:spPr>
          <a:xfrm>
            <a:off x="244642" y="2326103"/>
            <a:ext cx="3695700" cy="2871539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Google Shape;198;p19"/>
          <p:cNvSpPr txBox="1"/>
          <p:nvPr/>
        </p:nvSpPr>
        <p:spPr>
          <a:xfrm>
            <a:off x="5670754" y="550115"/>
            <a:ext cx="5949746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zh-TW" sz="2000" dirty="0"/>
              <a:t>ARIMA(自迴歸整合移動平均)是時間序列預測中最常用的統計模型,本研究作為</a:t>
            </a:r>
            <a:r>
              <a:rPr lang="zh-TW" altLang="zh-TW" sz="2000" b="1" dirty="0"/>
              <a:t>基準模型(Baseline)</a:t>
            </a:r>
            <a:r>
              <a:rPr lang="zh-TW" altLang="zh-TW" sz="2000" dirty="0"/>
              <a:t>。對單變量時間序列進行建模與預測。</a:t>
            </a:r>
            <a:endParaRPr sz="1600" dirty="0">
              <a:solidFill>
                <a:srgbClr val="FF0000"/>
              </a:solidFill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809625" y="919311"/>
            <a:ext cx="447294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統計模型：ARIMA</a:t>
            </a:r>
            <a:endParaRPr dirty="0"/>
          </a:p>
        </p:txBody>
      </p:sp>
      <p:sp>
        <p:nvSpPr>
          <p:cNvPr id="200" name="Google Shape;200;p19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637FA63-F862-6308-192D-61222ED55A55}"/>
              </a:ext>
            </a:extLst>
          </p:cNvPr>
          <p:cNvSpPr txBox="1"/>
          <p:nvPr/>
        </p:nvSpPr>
        <p:spPr>
          <a:xfrm>
            <a:off x="369971" y="2546154"/>
            <a:ext cx="3445042" cy="2431435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AR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(自迴歸,p)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假設當前值是過去 </a:t>
            </a:r>
            <a:r>
              <a:rPr lang="zh-TW" altLang="zh-TW" sz="1600" b="1" dirty="0">
                <a:solidFill>
                  <a:schemeClr val="tx1"/>
                </a:solidFill>
              </a:rPr>
              <a:t>p 期數值</a:t>
            </a:r>
            <a:r>
              <a:rPr lang="zh-TW" altLang="zh-TW" sz="1600" dirty="0">
                <a:solidFill>
                  <a:schemeClr val="tx1"/>
                </a:solidFill>
              </a:rPr>
              <a:t>的線性組合。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</a:rPr>
              <a:t> 例:AR(1) 代表今天的值主要受昨天影響。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E39DAF2-E36E-040C-5E48-ED9E894BB86E}"/>
              </a:ext>
            </a:extLst>
          </p:cNvPr>
          <p:cNvSpPr txBox="1"/>
          <p:nvPr/>
        </p:nvSpPr>
        <p:spPr>
          <a:xfrm>
            <a:off x="4426117" y="2433528"/>
            <a:ext cx="3339766" cy="2677656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I</a:t>
            </a:r>
          </a:p>
          <a:p>
            <a:pPr algn="ctr"/>
            <a:r>
              <a:rPr lang="en-US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差分整合</a:t>
            </a:r>
            <a:r>
              <a:rPr lang="en-US" altLang="zh-TW" sz="2800" b="1" dirty="0">
                <a:solidFill>
                  <a:schemeClr val="tx1"/>
                </a:solidFill>
              </a:rPr>
              <a:t>,d)</a:t>
            </a: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對原始序列做 </a:t>
            </a:r>
            <a:r>
              <a:rPr lang="en-US" altLang="zh-TW" sz="1600" dirty="0">
                <a:solidFill>
                  <a:schemeClr val="tx1"/>
                </a:solidFill>
              </a:rPr>
              <a:t>d </a:t>
            </a:r>
            <a:r>
              <a:rPr lang="zh-TW" altLang="en-US" sz="1600" dirty="0">
                <a:solidFill>
                  <a:schemeClr val="tx1"/>
                </a:solidFill>
              </a:rPr>
              <a:t>次差分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消除趨勢與單位根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讓序列變成定態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均值與變異不隨時間漂移</a:t>
            </a:r>
            <a:r>
              <a:rPr lang="en-US" altLang="zh-TW" sz="1600" dirty="0">
                <a:solidFill>
                  <a:schemeClr val="tx1"/>
                </a:solidFill>
              </a:rPr>
              <a:t>)</a:t>
            </a:r>
            <a:r>
              <a:rPr lang="zh-TW" altLang="en-US" sz="1600" dirty="0">
                <a:solidFill>
                  <a:schemeClr val="tx1"/>
                </a:solidFill>
              </a:rPr>
              <a:t>。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這是 </a:t>
            </a:r>
            <a:r>
              <a:rPr lang="en-US" altLang="zh-TW" sz="1600" dirty="0">
                <a:solidFill>
                  <a:schemeClr val="tx1"/>
                </a:solidFill>
              </a:rPr>
              <a:t>ARIMA </a:t>
            </a:r>
            <a:r>
              <a:rPr lang="zh-TW" altLang="en-US" sz="1600" dirty="0">
                <a:solidFill>
                  <a:schemeClr val="tx1"/>
                </a:solidFill>
              </a:rPr>
              <a:t>相較於 </a:t>
            </a:r>
            <a:r>
              <a:rPr lang="en-US" altLang="zh-TW" sz="1600" dirty="0">
                <a:solidFill>
                  <a:schemeClr val="tx1"/>
                </a:solidFill>
              </a:rPr>
              <a:t>ARMA </a:t>
            </a:r>
            <a:r>
              <a:rPr lang="zh-TW" altLang="en-US" sz="1600" dirty="0">
                <a:solidFill>
                  <a:schemeClr val="tx1"/>
                </a:solidFill>
              </a:rPr>
              <a:t>的關鍵擴充。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DB4866-CF74-1804-118B-53CD6E92464F}"/>
              </a:ext>
            </a:extLst>
          </p:cNvPr>
          <p:cNvSpPr txBox="1"/>
          <p:nvPr/>
        </p:nvSpPr>
        <p:spPr>
          <a:xfrm>
            <a:off x="8415087" y="2546154"/>
            <a:ext cx="3368842" cy="2215991"/>
          </a:xfrm>
          <a:prstGeom prst="rect">
            <a:avLst/>
          </a:prstGeom>
          <a:noFill/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6000" b="1" dirty="0">
                <a:solidFill>
                  <a:srgbClr val="002147"/>
                </a:solidFill>
                <a:latin typeface="Merriweather"/>
              </a:rPr>
              <a:t>MA</a:t>
            </a:r>
          </a:p>
          <a:p>
            <a:pPr algn="ctr"/>
            <a:r>
              <a:rPr lang="zh-TW" altLang="zh-TW" sz="2800" b="1" dirty="0">
                <a:solidFill>
                  <a:schemeClr val="tx1"/>
                </a:solidFill>
              </a:rPr>
              <a:t>(</a:t>
            </a:r>
            <a:r>
              <a:rPr lang="zh-TW" altLang="en-US" sz="2800" b="1" dirty="0">
                <a:solidFill>
                  <a:schemeClr val="tx1"/>
                </a:solidFill>
              </a:rPr>
              <a:t>移動平均</a:t>
            </a:r>
            <a:r>
              <a:rPr lang="en-US" altLang="zh-TW" sz="2800" b="1" dirty="0">
                <a:solidFill>
                  <a:schemeClr val="tx1"/>
                </a:solidFill>
              </a:rPr>
              <a:t>,q</a:t>
            </a:r>
            <a:r>
              <a:rPr lang="zh-TW" altLang="zh-TW" sz="2800" b="1" dirty="0">
                <a:solidFill>
                  <a:schemeClr val="tx1"/>
                </a:solidFill>
              </a:rPr>
              <a:t>)</a:t>
            </a:r>
            <a:endParaRPr lang="en-US" altLang="zh-TW" sz="2800" b="1" dirty="0">
              <a:solidFill>
                <a:schemeClr val="tx1"/>
              </a:solidFill>
            </a:endParaRPr>
          </a:p>
          <a:p>
            <a:pPr algn="ctr"/>
            <a:endParaRPr lang="en-US" altLang="zh-TW" sz="1800" dirty="0">
              <a:solidFill>
                <a:schemeClr val="tx1"/>
              </a:solidFill>
            </a:endParaRPr>
          </a:p>
          <a:p>
            <a:pPr algn="ctr"/>
            <a:r>
              <a:rPr lang="zh-TW" altLang="en-US" sz="1600" dirty="0">
                <a:solidFill>
                  <a:schemeClr val="tx1"/>
                </a:solidFill>
              </a:rPr>
              <a:t>用過去 </a:t>
            </a:r>
            <a:r>
              <a:rPr lang="en-US" altLang="zh-TW" sz="1600" dirty="0">
                <a:solidFill>
                  <a:schemeClr val="tx1"/>
                </a:solidFill>
              </a:rPr>
              <a:t>q </a:t>
            </a:r>
            <a:r>
              <a:rPr lang="zh-TW" altLang="en-US" sz="1600" dirty="0">
                <a:solidFill>
                  <a:schemeClr val="tx1"/>
                </a:solidFill>
              </a:rPr>
              <a:t>期的預測誤差</a:t>
            </a:r>
            <a:r>
              <a:rPr lang="en-US" altLang="zh-TW" sz="1600" dirty="0">
                <a:solidFill>
                  <a:schemeClr val="tx1"/>
                </a:solidFill>
              </a:rPr>
              <a:t>(</a:t>
            </a:r>
            <a:r>
              <a:rPr lang="zh-TW" altLang="en-US" sz="1600" dirty="0">
                <a:solidFill>
                  <a:schemeClr val="tx1"/>
                </a:solidFill>
              </a:rPr>
              <a:t>殘差</a:t>
            </a:r>
            <a:r>
              <a:rPr lang="en-US" altLang="zh-TW" sz="1600" dirty="0">
                <a:solidFill>
                  <a:schemeClr val="tx1"/>
                </a:solidFill>
              </a:rPr>
              <a:t>) </a:t>
            </a:r>
            <a:r>
              <a:rPr lang="zh-TW" altLang="en-US" sz="1600" dirty="0">
                <a:solidFill>
                  <a:schemeClr val="tx1"/>
                </a:solidFill>
              </a:rPr>
              <a:t>修正當期預測</a:t>
            </a:r>
            <a:r>
              <a:rPr lang="en-US" altLang="zh-TW" sz="1600" dirty="0">
                <a:solidFill>
                  <a:schemeClr val="tx1"/>
                </a:solidFill>
              </a:rPr>
              <a:t>,</a:t>
            </a:r>
            <a:r>
              <a:rPr lang="zh-TW" altLang="en-US" sz="1600" dirty="0">
                <a:solidFill>
                  <a:schemeClr val="tx1"/>
                </a:solidFill>
              </a:rPr>
              <a:t>捕捉短期衝擊的影響。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16" name="Google Shape;198;p19">
            <a:extLst>
              <a:ext uri="{FF2B5EF4-FFF2-40B4-BE49-F238E27FC236}">
                <a16:creationId xmlns:a16="http://schemas.microsoft.com/office/drawing/2014/main" id="{0C2EF6FE-834F-1DE6-BA3D-E75271998E3A}"/>
              </a:ext>
            </a:extLst>
          </p:cNvPr>
          <p:cNvSpPr txBox="1"/>
          <p:nvPr/>
        </p:nvSpPr>
        <p:spPr>
          <a:xfrm>
            <a:off x="1934883" y="5523190"/>
            <a:ext cx="81646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TW" altLang="en-US" sz="1800" dirty="0">
                <a:solidFill>
                  <a:schemeClr val="bg2"/>
                </a:solidFill>
              </a:rPr>
              <a:t>本研究三市場最佳參數</a:t>
            </a:r>
            <a:r>
              <a:rPr lang="en-US" altLang="zh-TW" sz="1800" dirty="0">
                <a:solidFill>
                  <a:schemeClr val="bg2"/>
                </a:solidFill>
              </a:rPr>
              <a:t> (</a:t>
            </a:r>
            <a:r>
              <a:rPr lang="zh-TW" altLang="en-US" sz="1800" dirty="0">
                <a:solidFill>
                  <a:schemeClr val="bg2"/>
                </a:solidFill>
              </a:rPr>
              <a:t>經 </a:t>
            </a:r>
            <a:r>
              <a:rPr lang="en-US" altLang="zh-TW" sz="1800" dirty="0">
                <a:solidFill>
                  <a:schemeClr val="bg2"/>
                </a:solidFill>
              </a:rPr>
              <a:t>ADF</a:t>
            </a:r>
            <a:r>
              <a:rPr lang="zh-TW" altLang="en-US" sz="1800" dirty="0">
                <a:solidFill>
                  <a:schemeClr val="bg2"/>
                </a:solidFill>
              </a:rPr>
              <a:t> 定態檢定確認須差分，</a:t>
            </a:r>
            <a:r>
              <a:rPr lang="en-US" altLang="zh-TW" sz="1800" dirty="0" err="1">
                <a:solidFill>
                  <a:schemeClr val="bg2"/>
                </a:solidFill>
              </a:rPr>
              <a:t>auto_arima</a:t>
            </a:r>
            <a:r>
              <a:rPr lang="en-US" altLang="zh-TW" sz="1800" dirty="0">
                <a:solidFill>
                  <a:schemeClr val="bg2"/>
                </a:solidFill>
              </a:rPr>
              <a:t> </a:t>
            </a:r>
            <a:r>
              <a:rPr lang="zh-TW" altLang="en-US" sz="1800" dirty="0">
                <a:solidFill>
                  <a:schemeClr val="bg2"/>
                </a:solidFill>
              </a:rPr>
              <a:t>自動選定</a:t>
            </a:r>
            <a:r>
              <a:rPr lang="en-US" altLang="zh-TW" sz="1800" dirty="0">
                <a:solidFill>
                  <a:schemeClr val="bg2"/>
                </a:solidFill>
              </a:rPr>
              <a:t>)</a:t>
            </a:r>
          </a:p>
          <a:p>
            <a:pPr lvl="0">
              <a:lnSpc>
                <a:spcPct val="150000"/>
              </a:lnSpc>
            </a:pPr>
            <a:r>
              <a:rPr lang="en-US" sz="1800" dirty="0">
                <a:solidFill>
                  <a:srgbClr val="FF0000"/>
                </a:solidFill>
              </a:rPr>
              <a:t>SPY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ARIMA(0,1,2)	QQQ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ARIMA(1,1,0)	0050.TW</a:t>
            </a:r>
            <a:r>
              <a:rPr lang="zh-TW" altLang="en-US" sz="1800" dirty="0">
                <a:solidFill>
                  <a:srgbClr val="FF0000"/>
                </a:solidFill>
              </a:rPr>
              <a:t>：</a:t>
            </a:r>
            <a:r>
              <a:rPr lang="en-US" altLang="zh-TW" sz="1800" dirty="0">
                <a:solidFill>
                  <a:srgbClr val="FF0000"/>
                </a:solidFill>
              </a:rPr>
              <a:t>ARIMA(0,1,0)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1780876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689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7457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1433951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24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en-US" dirty="0">
                <a:sym typeface="DM Sans"/>
              </a:rPr>
              <a:t>Random Forest</a:t>
            </a:r>
            <a:endParaRPr dirty="0"/>
          </a:p>
        </p:txBody>
      </p:sp>
      <p:sp>
        <p:nvSpPr>
          <p:cNvPr id="211" name="Google Shape;211;p20"/>
          <p:cNvSpPr txBox="1"/>
          <p:nvPr/>
        </p:nvSpPr>
        <p:spPr>
          <a:xfrm>
            <a:off x="1315453" y="3168752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Bagging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架構，多棵樹平均降低變異數，穩定且不易過擬合。</a:t>
            </a:r>
            <a:endParaRPr sz="1800" dirty="0"/>
          </a:p>
        </p:txBody>
      </p:sp>
      <p:pic>
        <p:nvPicPr>
          <p:cNvPr id="212" name="Google Shape;2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93968" y="206385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6510462" y="2797277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XGBoost</a:t>
            </a:r>
            <a:endParaRPr sz="2400" dirty="0">
              <a:latin typeface="+mj-lt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508143" y="3168752"/>
            <a:ext cx="364651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Boosting </a:t>
            </a: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經典模型，含正規化項抑制過擬合，速度快、精度高。</a:t>
            </a:r>
            <a:endParaRPr sz="1800" dirty="0"/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46032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510151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AdaBoost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1315453" y="5761791"/>
            <a:ext cx="370716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逐輪提高前一輪誤差較大樣本的權重，串聯弱學習器。</a:t>
            </a:r>
            <a:endParaRPr sz="1800" dirty="0"/>
          </a:p>
        </p:txBody>
      </p:sp>
      <p:sp>
        <p:nvSpPr>
          <p:cNvPr id="218" name="Google Shape;218;p20"/>
          <p:cNvSpPr txBox="1"/>
          <p:nvPr/>
        </p:nvSpPr>
        <p:spPr>
          <a:xfrm>
            <a:off x="832434" y="835493"/>
            <a:ext cx="473247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機器學習：</a:t>
            </a:r>
            <a:r>
              <a:rPr lang="en-US" sz="3300" b="1" i="0" u="none" strike="noStrike" cap="none" dirty="0" err="1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集成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迴歸模型</a:t>
            </a:r>
            <a:endParaRPr dirty="0"/>
          </a:p>
        </p:txBody>
      </p:sp>
      <p:sp>
        <p:nvSpPr>
          <p:cNvPr id="219" name="Google Shape;219;p20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8;p20" descr="image.png">
            <a:extLst>
              <a:ext uri="{FF2B5EF4-FFF2-40B4-BE49-F238E27FC236}">
                <a16:creationId xmlns:a16="http://schemas.microsoft.com/office/drawing/2014/main" id="{6254D067-F4C3-5AA7-BE00-F9A0E03556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3681" y="4373915"/>
            <a:ext cx="4267323" cy="231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15;p20" descr="image.png">
            <a:extLst>
              <a:ext uri="{FF2B5EF4-FFF2-40B4-BE49-F238E27FC236}">
                <a16:creationId xmlns:a16="http://schemas.microsoft.com/office/drawing/2014/main" id="{6DB968F0-3826-C4E2-4E40-283903EB7B0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44024" y="4656891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6;p20">
            <a:extLst>
              <a:ext uri="{FF2B5EF4-FFF2-40B4-BE49-F238E27FC236}">
                <a16:creationId xmlns:a16="http://schemas.microsoft.com/office/drawing/2014/main" id="{AEFD1A7D-548B-58B3-06D8-A867F1FBADEA}"/>
              </a:ext>
            </a:extLst>
          </p:cNvPr>
          <p:cNvSpPr txBox="1"/>
          <p:nvPr/>
        </p:nvSpPr>
        <p:spPr>
          <a:xfrm>
            <a:off x="6508143" y="5390316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Gradient </a:t>
            </a:r>
            <a:r>
              <a:rPr lang="en-US" sz="2400" b="1" dirty="0">
                <a:solidFill>
                  <a:srgbClr val="002147"/>
                </a:solidFill>
                <a:latin typeface="+mj-lt"/>
                <a:sym typeface="DM Sans"/>
              </a:rPr>
              <a:t>Boosting</a:t>
            </a:r>
            <a:endParaRPr sz="2400" b="1" dirty="0">
              <a:solidFill>
                <a:srgbClr val="002147"/>
              </a:solidFill>
              <a:latin typeface="+mj-lt"/>
            </a:endParaRPr>
          </a:p>
        </p:txBody>
      </p:sp>
      <p:sp>
        <p:nvSpPr>
          <p:cNvPr id="5" name="Google Shape;217;p20">
            <a:extLst>
              <a:ext uri="{FF2B5EF4-FFF2-40B4-BE49-F238E27FC236}">
                <a16:creationId xmlns:a16="http://schemas.microsoft.com/office/drawing/2014/main" id="{4BE8B93D-17F6-581C-C4EB-05036289E0DE}"/>
              </a:ext>
            </a:extLst>
          </p:cNvPr>
          <p:cNvSpPr txBox="1"/>
          <p:nvPr/>
        </p:nvSpPr>
        <p:spPr>
          <a:xfrm>
            <a:off x="6508143" y="5761791"/>
            <a:ext cx="364650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沿損失函數梯度方向逐步擬合殘差，降低偏差。</a:t>
            </a:r>
            <a:endParaRPr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104CB45F-3291-388C-47BE-8C43D9BB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29B28DC9-AD52-FCE7-AA5D-49C16255E2C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2441014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89FC139C-45A9-8DA5-FFB7-D57D68BADB1F}"/>
              </a:ext>
            </a:extLst>
          </p:cNvPr>
          <p:cNvSpPr txBox="1"/>
          <p:nvPr/>
        </p:nvSpPr>
        <p:spPr>
          <a:xfrm>
            <a:off x="5411665" y="256364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Bagging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(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裝袋法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94B0A77E-E627-AA55-A157-62E9AD6A68E4}"/>
              </a:ext>
            </a:extLst>
          </p:cNvPr>
          <p:cNvSpPr txBox="1"/>
          <p:nvPr/>
        </p:nvSpPr>
        <p:spPr>
          <a:xfrm>
            <a:off x="5608825" y="291701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zh-TW" dirty="0"/>
              <a:t>對訓練資料做隨機抽樣(Bootstrap)，產生多個子集，各自訓練一棵樹。</a:t>
            </a:r>
            <a:endParaRPr dirty="0"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42173FC-64A3-6D5C-A3E0-D0B0BB7D50E9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Random 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Forest：Bagging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集成學習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63585E88-D7E9-23B6-5033-766D3BE1CD99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CF8A16-0A41-07C7-B470-6DFAF21A927D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從訓練資料隨機抽取多個子集</a:t>
            </a:r>
            <a:r>
              <a:rPr lang="zh-TW" altLang="zh-TW" sz="8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zh-TW" altLang="zh-TW" sz="1600" b="1" dirty="0">
                <a:solidFill>
                  <a:schemeClr val="tx1"/>
                </a:solidFill>
                <a:latin typeface="+mn-lt"/>
              </a:rPr>
              <a:t>各自建立決策樹，再整合結果</a:t>
            </a:r>
            <a:endParaRPr lang="zh-TW" alt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86A15C1-028F-FDBF-B7F1-15ECD802F1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6597" r="58214" b="13667"/>
          <a:stretch>
            <a:fillRect/>
          </a:stretch>
        </p:blipFill>
        <p:spPr>
          <a:xfrm>
            <a:off x="287969" y="2010843"/>
            <a:ext cx="4869695" cy="4697269"/>
          </a:xfrm>
          <a:prstGeom prst="rect">
            <a:avLst/>
          </a:prstGeom>
        </p:spPr>
      </p:pic>
      <p:pic>
        <p:nvPicPr>
          <p:cNvPr id="12" name="Google Shape;207;p20" descr="image.png">
            <a:extLst>
              <a:ext uri="{FF2B5EF4-FFF2-40B4-BE49-F238E27FC236}">
                <a16:creationId xmlns:a16="http://schemas.microsoft.com/office/drawing/2014/main" id="{2B012AFD-D3B4-A67B-7394-E65D9D3774BF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3361756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3;p20">
            <a:extLst>
              <a:ext uri="{FF2B5EF4-FFF2-40B4-BE49-F238E27FC236}">
                <a16:creationId xmlns:a16="http://schemas.microsoft.com/office/drawing/2014/main" id="{A4C80218-B1B3-9476-2CDE-9ED35B523CC5}"/>
              </a:ext>
            </a:extLst>
          </p:cNvPr>
          <p:cNvSpPr txBox="1"/>
          <p:nvPr/>
        </p:nvSpPr>
        <p:spPr>
          <a:xfrm>
            <a:off x="5411665" y="348438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降低變異數</a:t>
            </a:r>
            <a:endParaRPr sz="1800" dirty="0">
              <a:latin typeface="+mj-lt"/>
            </a:endParaRPr>
          </a:p>
        </p:txBody>
      </p:sp>
      <p:sp>
        <p:nvSpPr>
          <p:cNvPr id="14" name="Google Shape;214;p20">
            <a:extLst>
              <a:ext uri="{FF2B5EF4-FFF2-40B4-BE49-F238E27FC236}">
                <a16:creationId xmlns:a16="http://schemas.microsoft.com/office/drawing/2014/main" id="{5C6C5CE7-D295-0DA8-1881-16A3C3B4F777}"/>
              </a:ext>
            </a:extLst>
          </p:cNvPr>
          <p:cNvSpPr txBox="1"/>
          <p:nvPr/>
        </p:nvSpPr>
        <p:spPr>
          <a:xfrm>
            <a:off x="5608825" y="383776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多棵獨立的樹取平均</a:t>
            </a:r>
            <a:r>
              <a:rPr lang="en-US" altLang="zh-TW" dirty="0"/>
              <a:t>(</a:t>
            </a:r>
            <a:r>
              <a:rPr lang="zh-TW" altLang="en-US" dirty="0"/>
              <a:t>或多數決</a:t>
            </a:r>
            <a:r>
              <a:rPr lang="en-US" altLang="zh-TW" dirty="0"/>
              <a:t>)</a:t>
            </a:r>
            <a:r>
              <a:rPr lang="zh-TW" altLang="en-US" dirty="0"/>
              <a:t>，抵消個別樹的過擬合，模型更穩定。</a:t>
            </a:r>
            <a:endParaRPr dirty="0"/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F630E5BE-B007-AFC2-8175-1319DA80B32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4295198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E9D7F9BC-B438-B050-2044-4895881166F9}"/>
              </a:ext>
            </a:extLst>
          </p:cNvPr>
          <p:cNvSpPr txBox="1"/>
          <p:nvPr/>
        </p:nvSpPr>
        <p:spPr>
          <a:xfrm>
            <a:off x="5411665" y="441783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整合決策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C3474797-9785-4447-DFC5-AB3E066174D8}"/>
              </a:ext>
            </a:extLst>
          </p:cNvPr>
          <p:cNvSpPr txBox="1"/>
          <p:nvPr/>
        </p:nvSpPr>
        <p:spPr>
          <a:xfrm>
            <a:off x="5608825" y="4771202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分類用多數決、迴歸取平均，結果優於單一決策樹。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D3821F06-9D20-20F9-4ADF-FB18CF5388C6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411664" y="5228640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86903EB2-5F47-DDEE-EE81-F7EA700F3565}"/>
              </a:ext>
            </a:extLst>
          </p:cNvPr>
          <p:cNvSpPr txBox="1"/>
          <p:nvPr/>
        </p:nvSpPr>
        <p:spPr>
          <a:xfrm>
            <a:off x="5411665" y="5351273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本研究角色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0B38FFA9-ED6C-08EC-6186-6AD1B966A2D6}"/>
              </a:ext>
            </a:extLst>
          </p:cNvPr>
          <p:cNvSpPr txBox="1"/>
          <p:nvPr/>
        </p:nvSpPr>
        <p:spPr>
          <a:xfrm>
            <a:off x="5608825" y="5704644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作為機器學習</a:t>
            </a:r>
            <a:r>
              <a:rPr lang="en-US" altLang="zh-TW" dirty="0"/>
              <a:t>(ML)</a:t>
            </a:r>
            <a:r>
              <a:rPr lang="zh-TW" altLang="en-US" dirty="0"/>
              <a:t>代表模型，與統計、深度學習、</a:t>
            </a:r>
            <a:r>
              <a:rPr lang="en-US" altLang="zh-TW" dirty="0"/>
              <a:t>LLM </a:t>
            </a:r>
            <a:r>
              <a:rPr lang="zh-TW" altLang="en-US" dirty="0"/>
              <a:t>比較。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356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EE3D88B7-B777-4F7D-87AF-6777B3034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5007B1C9-55DB-634F-55B2-84947DF4328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309360" y="2675265"/>
            <a:ext cx="5162501" cy="150747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50706360-B23B-99AC-91C2-7F28D44AE618}"/>
              </a:ext>
            </a:extLst>
          </p:cNvPr>
          <p:cNvSpPr txBox="1"/>
          <p:nvPr/>
        </p:nvSpPr>
        <p:spPr>
          <a:xfrm>
            <a:off x="6309359" y="2805752"/>
            <a:ext cx="5162501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隨機森林在 </a:t>
            </a:r>
            <a:r>
              <a:rPr lang="en-US" altLang="zh-TW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Bagging </a:t>
            </a:r>
            <a:r>
              <a:rPr lang="zh-TW" altLang="en-US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基礎上</a:t>
            </a:r>
            <a:r>
              <a:rPr lang="en-US" altLang="zh-TW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,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額外在特徵選擇引入隨機性</a:t>
            </a:r>
            <a:endParaRPr lang="en-US" altLang="zh-TW" sz="1800" b="1" i="0" u="none" strike="noStrike" cap="none" spc="300" dirty="0">
              <a:solidFill>
                <a:srgbClr val="002147"/>
              </a:solidFill>
              <a:latin typeface="+mj-lt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(</a:t>
            </a:r>
            <a:r>
              <a:rPr lang="zh-TW" altLang="en-US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每次分裂隨機選部分特徵</a:t>
            </a:r>
            <a:r>
              <a:rPr lang="en-US" altLang="zh-TW" sz="1800" b="1" i="0" u="none" strike="noStrike" cap="none" spc="300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spc="300" dirty="0">
              <a:latin typeface="+mj-lt"/>
            </a:endParaRPr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8D0C2472-4CB0-6AA4-AB5F-11B30E6FE6C0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決策樹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vs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隨機森林對照表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0841325-4E93-B25A-03CC-C809B54D8DBE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31EA80B-A3E3-AE00-1FD0-DCE2D6E201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568977"/>
              </p:ext>
            </p:extLst>
          </p:nvPr>
        </p:nvGraphicFramePr>
        <p:xfrm>
          <a:off x="565734" y="2262425"/>
          <a:ext cx="5530264" cy="3760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1798">
                  <a:extLst>
                    <a:ext uri="{9D8B030D-6E8A-4147-A177-3AD203B41FA5}">
                      <a16:colId xmlns:a16="http://schemas.microsoft.com/office/drawing/2014/main" val="1572107876"/>
                    </a:ext>
                  </a:extLst>
                </a:gridCol>
                <a:gridCol w="1991070">
                  <a:extLst>
                    <a:ext uri="{9D8B030D-6E8A-4147-A177-3AD203B41FA5}">
                      <a16:colId xmlns:a16="http://schemas.microsoft.com/office/drawing/2014/main" val="569532715"/>
                    </a:ext>
                  </a:extLst>
                </a:gridCol>
                <a:gridCol w="2067396">
                  <a:extLst>
                    <a:ext uri="{9D8B030D-6E8A-4147-A177-3AD203B41FA5}">
                      <a16:colId xmlns:a16="http://schemas.microsoft.com/office/drawing/2014/main" val="2506767000"/>
                    </a:ext>
                  </a:extLst>
                </a:gridCol>
              </a:tblGrid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/>
                        <a:t>比較項目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決策樹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1" dirty="0"/>
                        <a:t>隨機森林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2474487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模型性質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單一模型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多模型集成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3003923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穩定性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容易過擬合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較穩定、泛化好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323281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訓練方式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單棵樹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多棵樹隨機訓練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469601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可解釋性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較低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539851"/>
                  </a:ext>
                </a:extLst>
              </a:tr>
              <a:tr h="537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準確度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中等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/>
                        <a:t>通常較高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29969"/>
                  </a:ext>
                </a:extLst>
              </a:tr>
              <a:tr h="537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計算成本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600" b="0" dirty="0"/>
                        <a:t>高</a:t>
                      </a:r>
                      <a:r>
                        <a:rPr lang="en-US" altLang="zh-TW" sz="1600" b="0" dirty="0"/>
                        <a:t>(</a:t>
                      </a:r>
                      <a:r>
                        <a:rPr lang="zh-TW" altLang="en-US" sz="1600" b="0" dirty="0"/>
                        <a:t>需訓練多棵樹</a:t>
                      </a:r>
                      <a:r>
                        <a:rPr lang="en-US" altLang="zh-TW" sz="1600" b="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316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496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737C9D35-CC4A-7485-9975-BA9E59EA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>
            <a:extLst>
              <a:ext uri="{FF2B5EF4-FFF2-40B4-BE49-F238E27FC236}">
                <a16:creationId xmlns:a16="http://schemas.microsoft.com/office/drawing/2014/main" id="{770C55F3-5895-4C37-F449-01AB62CDFEC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9" y="211839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>
            <a:extLst>
              <a:ext uri="{FF2B5EF4-FFF2-40B4-BE49-F238E27FC236}">
                <a16:creationId xmlns:a16="http://schemas.microsoft.com/office/drawing/2014/main" id="{B8FECAB4-0D25-11A5-4768-C7D97EC3B898}"/>
              </a:ext>
            </a:extLst>
          </p:cNvPr>
          <p:cNvSpPr txBox="1"/>
          <p:nvPr/>
        </p:nvSpPr>
        <p:spPr>
          <a:xfrm>
            <a:off x="5639190" y="224102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以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GBM 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為基礎</a:t>
            </a:r>
            <a:endParaRPr sz="1800" dirty="0">
              <a:latin typeface="+mj-lt"/>
            </a:endParaRPr>
          </a:p>
        </p:txBody>
      </p:sp>
      <p:sp>
        <p:nvSpPr>
          <p:cNvPr id="214" name="Google Shape;214;p20">
            <a:extLst>
              <a:ext uri="{FF2B5EF4-FFF2-40B4-BE49-F238E27FC236}">
                <a16:creationId xmlns:a16="http://schemas.microsoft.com/office/drawing/2014/main" id="{4687F632-17EC-1ED0-EC53-726A2663EC91}"/>
              </a:ext>
            </a:extLst>
          </p:cNvPr>
          <p:cNvSpPr txBox="1"/>
          <p:nvPr/>
        </p:nvSpPr>
        <p:spPr>
          <a:xfrm>
            <a:off x="5836350" y="259439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同樣用 </a:t>
            </a:r>
            <a:r>
              <a:rPr lang="en-US" altLang="zh-TW" dirty="0"/>
              <a:t>Boosting </a:t>
            </a:r>
            <a:r>
              <a:rPr lang="zh-TW" altLang="en-US" dirty="0"/>
              <a:t>擬合殘差，但做了多項工程強化。</a:t>
            </a:r>
            <a:endParaRPr dirty="0"/>
          </a:p>
        </p:txBody>
      </p:sp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5B97C2B8-78A4-AC38-E683-CFC559DF8062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XGBoost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極限梯度提升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7AE272A2-076E-E2FF-1770-6BA6AF768953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8889EAE-4242-8A55-E671-70C85CC17C8A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Boosting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經典模型，含正規化抑制過擬合，速度快、精度高</a:t>
            </a:r>
          </a:p>
        </p:txBody>
      </p:sp>
      <p:pic>
        <p:nvPicPr>
          <p:cNvPr id="12" name="Google Shape;207;p20" descr="image.png">
            <a:extLst>
              <a:ext uri="{FF2B5EF4-FFF2-40B4-BE49-F238E27FC236}">
                <a16:creationId xmlns:a16="http://schemas.microsoft.com/office/drawing/2014/main" id="{64E5CE90-B119-FEC5-86AC-5D2983C1EA8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9" y="303913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13;p20">
            <a:extLst>
              <a:ext uri="{FF2B5EF4-FFF2-40B4-BE49-F238E27FC236}">
                <a16:creationId xmlns:a16="http://schemas.microsoft.com/office/drawing/2014/main" id="{25262BD1-2D43-A8DF-24FD-DB280D34614B}"/>
              </a:ext>
            </a:extLst>
          </p:cNvPr>
          <p:cNvSpPr txBox="1"/>
          <p:nvPr/>
        </p:nvSpPr>
        <p:spPr>
          <a:xfrm>
            <a:off x="5639190" y="316177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正規化抑制過擬合</a:t>
            </a:r>
            <a:endParaRPr sz="1800" dirty="0">
              <a:latin typeface="+mj-lt"/>
            </a:endParaRPr>
          </a:p>
        </p:txBody>
      </p:sp>
      <p:sp>
        <p:nvSpPr>
          <p:cNvPr id="14" name="Google Shape;214;p20">
            <a:extLst>
              <a:ext uri="{FF2B5EF4-FFF2-40B4-BE49-F238E27FC236}">
                <a16:creationId xmlns:a16="http://schemas.microsoft.com/office/drawing/2014/main" id="{CDE76F6D-EAD9-12EF-8DFB-B130E23C493F}"/>
              </a:ext>
            </a:extLst>
          </p:cNvPr>
          <p:cNvSpPr txBox="1"/>
          <p:nvPr/>
        </p:nvSpPr>
        <p:spPr>
          <a:xfrm>
            <a:off x="5836350" y="351514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目標函數加入正規化項</a:t>
            </a:r>
            <a:r>
              <a:rPr lang="en-US" altLang="zh-TW" dirty="0"/>
              <a:t>(L1/L2)</a:t>
            </a:r>
            <a:r>
              <a:rPr lang="zh-TW" altLang="en-US" dirty="0"/>
              <a:t>，控制複雜度。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46E4D3DE-F89F-B02F-17AB-F4AE317D57C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39188" y="3934592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B0186777-D49D-8D91-9835-9C9ADDA1E267}"/>
              </a:ext>
            </a:extLst>
          </p:cNvPr>
          <p:cNvSpPr txBox="1"/>
          <p:nvPr/>
        </p:nvSpPr>
        <p:spPr>
          <a:xfrm>
            <a:off x="5639189" y="4057225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速度與精度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40221D1D-80DD-DA2B-EE84-AC05CA160B82}"/>
              </a:ext>
            </a:extLst>
          </p:cNvPr>
          <p:cNvSpPr txBox="1"/>
          <p:nvPr/>
        </p:nvSpPr>
        <p:spPr>
          <a:xfrm>
            <a:off x="5836349" y="4410596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採二階梯度近似與平行運算，訓練快、預測準。</a:t>
            </a:r>
            <a:endParaRPr dirty="0"/>
          </a:p>
        </p:txBody>
      </p:sp>
      <p:pic>
        <p:nvPicPr>
          <p:cNvPr id="4" name="Google Shape;207;p20" descr="image.png">
            <a:extLst>
              <a:ext uri="{FF2B5EF4-FFF2-40B4-BE49-F238E27FC236}">
                <a16:creationId xmlns:a16="http://schemas.microsoft.com/office/drawing/2014/main" id="{AC0FF0D6-EE12-ACD7-A849-457BD473DF88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02927" y="5030133"/>
            <a:ext cx="5270919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13;p20">
            <a:extLst>
              <a:ext uri="{FF2B5EF4-FFF2-40B4-BE49-F238E27FC236}">
                <a16:creationId xmlns:a16="http://schemas.microsoft.com/office/drawing/2014/main" id="{DCB6B579-16B5-924F-5700-C3FC8A3C64DE}"/>
              </a:ext>
            </a:extLst>
          </p:cNvPr>
          <p:cNvSpPr txBox="1"/>
          <p:nvPr/>
        </p:nvSpPr>
        <p:spPr>
          <a:xfrm>
            <a:off x="5593973" y="511531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★ 本研究角色</a:t>
            </a:r>
            <a:endParaRPr sz="1800" dirty="0">
              <a:latin typeface="+mj-lt"/>
            </a:endParaRPr>
          </a:p>
        </p:txBody>
      </p:sp>
      <p:sp>
        <p:nvSpPr>
          <p:cNvPr id="6" name="Google Shape;214;p20">
            <a:extLst>
              <a:ext uri="{FF2B5EF4-FFF2-40B4-BE49-F238E27FC236}">
                <a16:creationId xmlns:a16="http://schemas.microsoft.com/office/drawing/2014/main" id="{977EAB23-C7D2-EB99-9335-DB3D5D16C166}"/>
              </a:ext>
            </a:extLst>
          </p:cNvPr>
          <p:cNvSpPr txBox="1"/>
          <p:nvPr/>
        </p:nvSpPr>
        <p:spPr>
          <a:xfrm>
            <a:off x="5791133" y="5468682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機器學習</a:t>
            </a:r>
            <a:r>
              <a:rPr lang="en-US" altLang="zh-TW" dirty="0"/>
              <a:t>(ML)</a:t>
            </a:r>
            <a:r>
              <a:rPr lang="zh-TW" altLang="en-US" dirty="0"/>
              <a:t>集成模型之一，與 </a:t>
            </a:r>
            <a:r>
              <a:rPr lang="en-US" altLang="zh-TW" dirty="0"/>
              <a:t>RF/AdaBoost/GBM </a:t>
            </a:r>
            <a:r>
              <a:rPr lang="zh-TW" altLang="en-US" dirty="0"/>
              <a:t>比較。</a:t>
            </a:r>
            <a:endParaRPr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A400044-D9E7-FFDF-CD18-993609C7F3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395" t="33917" r="60551" b="24019"/>
          <a:stretch>
            <a:fillRect/>
          </a:stretch>
        </p:blipFill>
        <p:spPr>
          <a:xfrm>
            <a:off x="508507" y="2277560"/>
            <a:ext cx="5010542" cy="419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989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53D7C8C2-3C69-45BB-2637-8E8E6A7E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69E9C90D-C2A5-0892-D403-FAEA1E263B83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AdaBoost (</a:t>
            </a:r>
            <a:r>
              <a:rPr lang="zh-TW" alt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適應性提升</a:t>
            </a:r>
            <a:r>
              <a:rPr lang="en-US" altLang="zh-TW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552D0A77-03A6-41CC-A730-FD4A4227E480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31B5B99-86E9-08FA-CF55-6F81D411F31B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逐輪提高「被分錯樣本」的權重，讓下一輪更專注難分的樣本</a:t>
            </a:r>
            <a:endParaRPr lang="zh-TW" altLang="en-US" sz="1600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1" name="Google Shape;207;p20" descr="image.png">
            <a:extLst>
              <a:ext uri="{FF2B5EF4-FFF2-40B4-BE49-F238E27FC236}">
                <a16:creationId xmlns:a16="http://schemas.microsoft.com/office/drawing/2014/main" id="{0C5FBA2B-A6DE-AD6E-1358-A4BACE2662C9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2174001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13;p20">
            <a:extLst>
              <a:ext uri="{FF2B5EF4-FFF2-40B4-BE49-F238E27FC236}">
                <a16:creationId xmlns:a16="http://schemas.microsoft.com/office/drawing/2014/main" id="{755E20B0-F0C8-FCC9-96FB-987CC69071E3}"/>
              </a:ext>
            </a:extLst>
          </p:cNvPr>
          <p:cNvSpPr txBox="1"/>
          <p:nvPr/>
        </p:nvSpPr>
        <p:spPr>
          <a:xfrm>
            <a:off x="5696112" y="240303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FF0000"/>
                </a:solidFill>
                <a:latin typeface="+mj-lt"/>
                <a:ea typeface="DM Sans"/>
                <a:cs typeface="DM Sans"/>
                <a:sym typeface="DM Sans"/>
              </a:rPr>
              <a:t>樣本權重隨輪次變化</a:t>
            </a:r>
            <a:endParaRPr sz="18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4" name="Google Shape;207;p20" descr="image.png">
            <a:extLst>
              <a:ext uri="{FF2B5EF4-FFF2-40B4-BE49-F238E27FC236}">
                <a16:creationId xmlns:a16="http://schemas.microsoft.com/office/drawing/2014/main" id="{8BEB7527-264F-822A-DA86-E107D5960B6D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3094743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13;p20">
            <a:extLst>
              <a:ext uri="{FF2B5EF4-FFF2-40B4-BE49-F238E27FC236}">
                <a16:creationId xmlns:a16="http://schemas.microsoft.com/office/drawing/2014/main" id="{3F4B17FD-6B93-CD77-A5F1-C318CAD5EBCE}"/>
              </a:ext>
            </a:extLst>
          </p:cNvPr>
          <p:cNvSpPr txBox="1"/>
          <p:nvPr/>
        </p:nvSpPr>
        <p:spPr>
          <a:xfrm>
            <a:off x="5669670" y="321737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樣本加權</a:t>
            </a:r>
            <a:endParaRPr sz="1800" dirty="0">
              <a:latin typeface="+mj-lt"/>
            </a:endParaRPr>
          </a:p>
        </p:txBody>
      </p:sp>
      <p:sp>
        <p:nvSpPr>
          <p:cNvPr id="46" name="Google Shape;214;p20">
            <a:extLst>
              <a:ext uri="{FF2B5EF4-FFF2-40B4-BE49-F238E27FC236}">
                <a16:creationId xmlns:a16="http://schemas.microsoft.com/office/drawing/2014/main" id="{E69DB1E3-7BA4-014D-0335-137D64FC7E98}"/>
              </a:ext>
            </a:extLst>
          </p:cNvPr>
          <p:cNvSpPr txBox="1"/>
          <p:nvPr/>
        </p:nvSpPr>
        <p:spPr>
          <a:xfrm>
            <a:off x="5866830" y="357074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每一輪結束後，提高「被分錯的樣本」權重，下一輪更專注它們。</a:t>
            </a:r>
            <a:endParaRPr dirty="0"/>
          </a:p>
        </p:txBody>
      </p:sp>
      <p:pic>
        <p:nvPicPr>
          <p:cNvPr id="47" name="Google Shape;207;p20" descr="image.png">
            <a:extLst>
              <a:ext uri="{FF2B5EF4-FFF2-40B4-BE49-F238E27FC236}">
                <a16:creationId xmlns:a16="http://schemas.microsoft.com/office/drawing/2014/main" id="{0516AF10-4329-1FA9-B232-FE129C9820E7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02818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13;p20">
            <a:extLst>
              <a:ext uri="{FF2B5EF4-FFF2-40B4-BE49-F238E27FC236}">
                <a16:creationId xmlns:a16="http://schemas.microsoft.com/office/drawing/2014/main" id="{38F59829-CAE8-30CF-D662-5C029F382AE5}"/>
              </a:ext>
            </a:extLst>
          </p:cNvPr>
          <p:cNvSpPr txBox="1"/>
          <p:nvPr/>
        </p:nvSpPr>
        <p:spPr>
          <a:xfrm>
            <a:off x="5669670" y="415081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串聯弱學習器</a:t>
            </a:r>
            <a:endParaRPr lang="zh-TW" altLang="en-US" sz="1800" dirty="0">
              <a:latin typeface="+mj-lt"/>
            </a:endParaRPr>
          </a:p>
        </p:txBody>
      </p:sp>
      <p:sp>
        <p:nvSpPr>
          <p:cNvPr id="49" name="Google Shape;214;p20">
            <a:extLst>
              <a:ext uri="{FF2B5EF4-FFF2-40B4-BE49-F238E27FC236}">
                <a16:creationId xmlns:a16="http://schemas.microsoft.com/office/drawing/2014/main" id="{3BCFC9B4-08C3-3158-AC02-6BD0B31FCE4A}"/>
              </a:ext>
            </a:extLst>
          </p:cNvPr>
          <p:cNvSpPr txBox="1"/>
          <p:nvPr/>
        </p:nvSpPr>
        <p:spPr>
          <a:xfrm>
            <a:off x="5866830" y="450418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串聯多個簡單模型</a:t>
            </a:r>
            <a:r>
              <a:rPr lang="en-US" altLang="zh-TW" dirty="0"/>
              <a:t>(</a:t>
            </a:r>
            <a:r>
              <a:rPr lang="zh-TW" altLang="en-US" dirty="0"/>
              <a:t>通常是淺決策樹</a:t>
            </a:r>
            <a:r>
              <a:rPr lang="en-US" altLang="zh-TW" dirty="0"/>
              <a:t>)</a:t>
            </a:r>
            <a:r>
              <a:rPr lang="zh-TW" altLang="en-US" dirty="0"/>
              <a:t>，逐步補強。</a:t>
            </a:r>
          </a:p>
        </p:txBody>
      </p:sp>
      <p:pic>
        <p:nvPicPr>
          <p:cNvPr id="50" name="Google Shape;207;p20" descr="image.png">
            <a:extLst>
              <a:ext uri="{FF2B5EF4-FFF2-40B4-BE49-F238E27FC236}">
                <a16:creationId xmlns:a16="http://schemas.microsoft.com/office/drawing/2014/main" id="{44478A32-A229-591C-BBFD-A5C45E9FA00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96162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13;p20">
            <a:extLst>
              <a:ext uri="{FF2B5EF4-FFF2-40B4-BE49-F238E27FC236}">
                <a16:creationId xmlns:a16="http://schemas.microsoft.com/office/drawing/2014/main" id="{5C5AA675-1FE6-9A77-C8E0-363CBC3E1903}"/>
              </a:ext>
            </a:extLst>
          </p:cNvPr>
          <p:cNvSpPr txBox="1"/>
          <p:nvPr/>
        </p:nvSpPr>
        <p:spPr>
          <a:xfrm>
            <a:off x="5669670" y="508426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加權</a:t>
            </a:r>
            <a:endParaRPr lang="zh-TW" altLang="en-US" sz="1800" dirty="0">
              <a:latin typeface="+mj-lt"/>
            </a:endParaRPr>
          </a:p>
        </p:txBody>
      </p:sp>
      <p:sp>
        <p:nvSpPr>
          <p:cNvPr id="52" name="Google Shape;214;p20">
            <a:extLst>
              <a:ext uri="{FF2B5EF4-FFF2-40B4-BE49-F238E27FC236}">
                <a16:creationId xmlns:a16="http://schemas.microsoft.com/office/drawing/2014/main" id="{61180968-69BC-18F6-16B3-B96623DF4DA8}"/>
              </a:ext>
            </a:extLst>
          </p:cNvPr>
          <p:cNvSpPr txBox="1"/>
          <p:nvPr/>
        </p:nvSpPr>
        <p:spPr>
          <a:xfrm>
            <a:off x="5866830" y="543763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最終依各學習器表現加權整合結果。</a:t>
            </a: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30B5E634-0F01-FA21-E9B9-E68343A261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54" t="27247" r="55726" b="16455"/>
          <a:stretch>
            <a:fillRect/>
          </a:stretch>
        </p:blipFill>
        <p:spPr>
          <a:xfrm>
            <a:off x="0" y="2002769"/>
            <a:ext cx="5669668" cy="447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69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4EBB6E27-D955-6486-A215-8FDC26A0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B9BEA063-9F1B-D281-C881-3205305DADEB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Gradient Boosting (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梯度提升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03979A1E-5C2B-33BE-3E4C-83A96D5AE945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1EBA8D-5F9D-4CC2-D80E-D0AB499DAAFF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沿損失函數梯度方向，逐步擬合殘差以降低偏差</a:t>
            </a:r>
          </a:p>
        </p:txBody>
      </p:sp>
      <p:pic>
        <p:nvPicPr>
          <p:cNvPr id="41" name="Google Shape;207;p20" descr="image.png">
            <a:extLst>
              <a:ext uri="{FF2B5EF4-FFF2-40B4-BE49-F238E27FC236}">
                <a16:creationId xmlns:a16="http://schemas.microsoft.com/office/drawing/2014/main" id="{D975F595-055B-A293-0514-EF2E1C25AAC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2174001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213;p20">
            <a:extLst>
              <a:ext uri="{FF2B5EF4-FFF2-40B4-BE49-F238E27FC236}">
                <a16:creationId xmlns:a16="http://schemas.microsoft.com/office/drawing/2014/main" id="{6FAD8A51-832E-9488-BE8C-8A777342682E}"/>
              </a:ext>
            </a:extLst>
          </p:cNvPr>
          <p:cNvSpPr txBox="1"/>
          <p:nvPr/>
        </p:nvSpPr>
        <p:spPr>
          <a:xfrm>
            <a:off x="5669669" y="2449795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FF0000"/>
                </a:solidFill>
                <a:latin typeface="+mj-lt"/>
                <a:ea typeface="DM Sans"/>
                <a:cs typeface="DM Sans"/>
                <a:sym typeface="DM Sans"/>
              </a:rPr>
              <a:t>殘差逐步縮小</a:t>
            </a:r>
            <a:endParaRPr sz="18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4" name="Google Shape;207;p20" descr="image.png">
            <a:extLst>
              <a:ext uri="{FF2B5EF4-FFF2-40B4-BE49-F238E27FC236}">
                <a16:creationId xmlns:a16="http://schemas.microsoft.com/office/drawing/2014/main" id="{637C54C3-8D18-2817-5765-C9A380780633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3094743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213;p20">
            <a:extLst>
              <a:ext uri="{FF2B5EF4-FFF2-40B4-BE49-F238E27FC236}">
                <a16:creationId xmlns:a16="http://schemas.microsoft.com/office/drawing/2014/main" id="{0A154196-2882-2ABE-117B-1BB9C5782EBB}"/>
              </a:ext>
            </a:extLst>
          </p:cNvPr>
          <p:cNvSpPr txBox="1"/>
          <p:nvPr/>
        </p:nvSpPr>
        <p:spPr>
          <a:xfrm>
            <a:off x="5669670" y="3217376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擬合殘差</a:t>
            </a:r>
            <a:endParaRPr sz="1800" dirty="0">
              <a:latin typeface="+mj-lt"/>
            </a:endParaRPr>
          </a:p>
        </p:txBody>
      </p:sp>
      <p:sp>
        <p:nvSpPr>
          <p:cNvPr id="46" name="Google Shape;214;p20">
            <a:extLst>
              <a:ext uri="{FF2B5EF4-FFF2-40B4-BE49-F238E27FC236}">
                <a16:creationId xmlns:a16="http://schemas.microsoft.com/office/drawing/2014/main" id="{67BFD05C-C995-375D-4D70-A041C4B10411}"/>
              </a:ext>
            </a:extLst>
          </p:cNvPr>
          <p:cNvSpPr txBox="1"/>
          <p:nvPr/>
        </p:nvSpPr>
        <p:spPr>
          <a:xfrm>
            <a:off x="5866830" y="3570747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每個新模型專門預測前面模型剩下的誤差</a:t>
            </a:r>
            <a:r>
              <a:rPr lang="en-US" altLang="zh-TW" dirty="0"/>
              <a:t>(</a:t>
            </a:r>
            <a:r>
              <a:rPr lang="zh-TW" altLang="en-US" dirty="0"/>
              <a:t>殘差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  <p:pic>
        <p:nvPicPr>
          <p:cNvPr id="47" name="Google Shape;207;p20" descr="image.png">
            <a:extLst>
              <a:ext uri="{FF2B5EF4-FFF2-40B4-BE49-F238E27FC236}">
                <a16:creationId xmlns:a16="http://schemas.microsoft.com/office/drawing/2014/main" id="{22964F1D-0906-3A4F-E767-98AB7655807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028185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213;p20">
            <a:extLst>
              <a:ext uri="{FF2B5EF4-FFF2-40B4-BE49-F238E27FC236}">
                <a16:creationId xmlns:a16="http://schemas.microsoft.com/office/drawing/2014/main" id="{A67332DD-05D4-E65E-39AC-F17CB34FC0B5}"/>
              </a:ext>
            </a:extLst>
          </p:cNvPr>
          <p:cNvSpPr txBox="1"/>
          <p:nvPr/>
        </p:nvSpPr>
        <p:spPr>
          <a:xfrm>
            <a:off x="5669670" y="4150818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梯度下降</a:t>
            </a:r>
            <a:endParaRPr sz="1800" dirty="0">
              <a:latin typeface="+mj-lt"/>
            </a:endParaRPr>
          </a:p>
        </p:txBody>
      </p:sp>
      <p:sp>
        <p:nvSpPr>
          <p:cNvPr id="49" name="Google Shape;214;p20">
            <a:extLst>
              <a:ext uri="{FF2B5EF4-FFF2-40B4-BE49-F238E27FC236}">
                <a16:creationId xmlns:a16="http://schemas.microsoft.com/office/drawing/2014/main" id="{426F1AE0-2129-C76D-6256-87B0B3561868}"/>
              </a:ext>
            </a:extLst>
          </p:cNvPr>
          <p:cNvSpPr txBox="1"/>
          <p:nvPr/>
        </p:nvSpPr>
        <p:spPr>
          <a:xfrm>
            <a:off x="5866830" y="4504189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沿損失函數梯度方向逐步優化，降低偏差。</a:t>
            </a:r>
            <a:endParaRPr dirty="0"/>
          </a:p>
        </p:txBody>
      </p:sp>
      <p:pic>
        <p:nvPicPr>
          <p:cNvPr id="50" name="Google Shape;207;p20" descr="image.png">
            <a:extLst>
              <a:ext uri="{FF2B5EF4-FFF2-40B4-BE49-F238E27FC236}">
                <a16:creationId xmlns:a16="http://schemas.microsoft.com/office/drawing/2014/main" id="{72F2DB45-626D-ED1E-2073-AC97C40E881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669669" y="4961627"/>
            <a:ext cx="577703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213;p20">
            <a:extLst>
              <a:ext uri="{FF2B5EF4-FFF2-40B4-BE49-F238E27FC236}">
                <a16:creationId xmlns:a16="http://schemas.microsoft.com/office/drawing/2014/main" id="{6FA5080E-5AB3-8F7F-EDD6-6BF67FBFE0AA}"/>
              </a:ext>
            </a:extLst>
          </p:cNvPr>
          <p:cNvSpPr txBox="1"/>
          <p:nvPr/>
        </p:nvSpPr>
        <p:spPr>
          <a:xfrm>
            <a:off x="5669670" y="5084260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逐步降低偏差</a:t>
            </a:r>
            <a:endParaRPr sz="1800" dirty="0">
              <a:latin typeface="+mj-lt"/>
            </a:endParaRPr>
          </a:p>
        </p:txBody>
      </p:sp>
      <p:sp>
        <p:nvSpPr>
          <p:cNvPr id="52" name="Google Shape;214;p20">
            <a:extLst>
              <a:ext uri="{FF2B5EF4-FFF2-40B4-BE49-F238E27FC236}">
                <a16:creationId xmlns:a16="http://schemas.microsoft.com/office/drawing/2014/main" id="{D7AF7F40-DAD0-E98F-4039-77ED443CC847}"/>
              </a:ext>
            </a:extLst>
          </p:cNvPr>
          <p:cNvSpPr txBox="1"/>
          <p:nvPr/>
        </p:nvSpPr>
        <p:spPr>
          <a:xfrm>
            <a:off x="5866830" y="5437631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zh-TW" altLang="en-US" dirty="0"/>
              <a:t>弱學習器累加，整體誤差越來越小。</a:t>
            </a:r>
            <a:endParaRPr dirty="0"/>
          </a:p>
        </p:txBody>
      </p:sp>
      <p:pic>
        <p:nvPicPr>
          <p:cNvPr id="54" name="圖片 53">
            <a:extLst>
              <a:ext uri="{FF2B5EF4-FFF2-40B4-BE49-F238E27FC236}">
                <a16:creationId xmlns:a16="http://schemas.microsoft.com/office/drawing/2014/main" id="{94DFFE4D-699B-1B00-527F-B5D7A16BCA1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43" t="25680" r="55555" b="42130"/>
          <a:stretch>
            <a:fillRect/>
          </a:stretch>
        </p:blipFill>
        <p:spPr>
          <a:xfrm>
            <a:off x="0" y="2304143"/>
            <a:ext cx="5670916" cy="265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954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70E3209B-3DA7-FC13-85AB-253E808F5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45FC5A74-C0C0-1B36-D344-D71ADB17479F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循環神經網路（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Recurrent Neural Network, RNN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55EA61FE-6E21-7D3C-CA87-F356838A189A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E77E59F-CD7C-AF7C-D7F7-AE14923BEC9B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處理序列資料的深度學習模型，是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LSTM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的前身</a:t>
            </a:r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C68A8ED9-AD55-8E91-D8DC-0095EEC1E34C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2485686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CA7511A7-4783-7EBA-1E81-D9A84300B166}"/>
              </a:ext>
            </a:extLst>
          </p:cNvPr>
          <p:cNvSpPr txBox="1"/>
          <p:nvPr/>
        </p:nvSpPr>
        <p:spPr>
          <a:xfrm>
            <a:off x="540483" y="260831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RNN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2A7E6B47-6C16-71FF-0BC0-D654F580A118}"/>
              </a:ext>
            </a:extLst>
          </p:cNvPr>
          <p:cNvSpPr txBox="1"/>
          <p:nvPr/>
        </p:nvSpPr>
        <p:spPr>
          <a:xfrm>
            <a:off x="737643" y="296169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專門處理序列資料</a:t>
            </a:r>
            <a:r>
              <a:rPr lang="en-US" altLang="zh-TW" dirty="0"/>
              <a:t>(Sequential Data)</a:t>
            </a:r>
            <a:r>
              <a:rPr lang="zh-TW" altLang="en-US" dirty="0"/>
              <a:t>的深度學習模型。</a:t>
            </a:r>
            <a:endParaRPr dirty="0"/>
          </a:p>
        </p:txBody>
      </p:sp>
      <p:pic>
        <p:nvPicPr>
          <p:cNvPr id="18" name="Google Shape;207;p20" descr="image.png">
            <a:extLst>
              <a:ext uri="{FF2B5EF4-FFF2-40B4-BE49-F238E27FC236}">
                <a16:creationId xmlns:a16="http://schemas.microsoft.com/office/drawing/2014/main" id="{19964A24-03E9-DEEA-3293-F21A352E68F4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3406428"/>
            <a:ext cx="6063915" cy="101611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13;p20">
            <a:extLst>
              <a:ext uri="{FF2B5EF4-FFF2-40B4-BE49-F238E27FC236}">
                <a16:creationId xmlns:a16="http://schemas.microsoft.com/office/drawing/2014/main" id="{DA3C7DEA-37C0-C573-160B-64EF4712EEC3}"/>
              </a:ext>
            </a:extLst>
          </p:cNvPr>
          <p:cNvSpPr txBox="1"/>
          <p:nvPr/>
        </p:nvSpPr>
        <p:spPr>
          <a:xfrm>
            <a:off x="540483" y="3529061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循環連結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= </a:t>
            </a: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記憶</a:t>
            </a:r>
            <a:endParaRPr sz="1800" dirty="0">
              <a:latin typeface="+mj-lt"/>
            </a:endParaRPr>
          </a:p>
        </p:txBody>
      </p:sp>
      <p:sp>
        <p:nvSpPr>
          <p:cNvPr id="20" name="Google Shape;214;p20">
            <a:extLst>
              <a:ext uri="{FF2B5EF4-FFF2-40B4-BE49-F238E27FC236}">
                <a16:creationId xmlns:a16="http://schemas.microsoft.com/office/drawing/2014/main" id="{241A2874-84EA-F71E-8606-6500C3A8DF9B}"/>
              </a:ext>
            </a:extLst>
          </p:cNvPr>
          <p:cNvSpPr txBox="1"/>
          <p:nvPr/>
        </p:nvSpPr>
        <p:spPr>
          <a:xfrm>
            <a:off x="737642" y="3882432"/>
            <a:ext cx="557987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神經元之間存在「循環連結」，能保留過去資訊的「記憶」，這是與前饋神經網路最大的不同。</a:t>
            </a:r>
            <a:endParaRPr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44C6E8CE-C866-9BB7-77F4-1EC6D545320B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4529204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13;p20">
            <a:extLst>
              <a:ext uri="{FF2B5EF4-FFF2-40B4-BE49-F238E27FC236}">
                <a16:creationId xmlns:a16="http://schemas.microsoft.com/office/drawing/2014/main" id="{1C3B3FED-FA0D-67B8-0FFB-3AA3EB71F1A0}"/>
              </a:ext>
            </a:extLst>
          </p:cNvPr>
          <p:cNvSpPr txBox="1"/>
          <p:nvPr/>
        </p:nvSpPr>
        <p:spPr>
          <a:xfrm>
            <a:off x="540483" y="4651837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 sz="1800" b="1">
                <a:solidFill>
                  <a:srgbClr val="002147"/>
                </a:solidFill>
                <a:latin typeface="+mj-lt"/>
                <a:ea typeface="DM Sans"/>
                <a:cs typeface="DM Sans"/>
              </a:defRPr>
            </a:lvl1pPr>
          </a:lstStyle>
          <a:p>
            <a:r>
              <a:rPr lang="zh-TW" altLang="en-US" dirty="0"/>
              <a:t>訓練方式</a:t>
            </a:r>
            <a:endParaRPr dirty="0"/>
          </a:p>
        </p:txBody>
      </p:sp>
      <p:sp>
        <p:nvSpPr>
          <p:cNvPr id="23" name="Google Shape;214;p20">
            <a:extLst>
              <a:ext uri="{FF2B5EF4-FFF2-40B4-BE49-F238E27FC236}">
                <a16:creationId xmlns:a16="http://schemas.microsoft.com/office/drawing/2014/main" id="{C2804BD9-3746-7389-2FE5-64413FB84FC1}"/>
              </a:ext>
            </a:extLst>
          </p:cNvPr>
          <p:cNvSpPr txBox="1"/>
          <p:nvPr/>
        </p:nvSpPr>
        <p:spPr>
          <a:xfrm>
            <a:off x="737643" y="5005208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透過時間的反向傳播 </a:t>
            </a:r>
            <a:r>
              <a:rPr lang="en-US" altLang="zh-TW" dirty="0"/>
              <a:t>Backpropagation Through Time (BPTT)</a:t>
            </a:r>
            <a:r>
              <a:rPr lang="zh-TW" altLang="en-US" dirty="0"/>
              <a:t>。</a:t>
            </a:r>
            <a:endParaRPr dirty="0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AE0F85A1-F440-9A6A-8FBF-B34C70BD9351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65999" y="5462646"/>
            <a:ext cx="6063915" cy="79810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13;p20">
            <a:extLst>
              <a:ext uri="{FF2B5EF4-FFF2-40B4-BE49-F238E27FC236}">
                <a16:creationId xmlns:a16="http://schemas.microsoft.com/office/drawing/2014/main" id="{2BD76BFF-0FE2-05B9-F657-42CE796EE373}"/>
              </a:ext>
            </a:extLst>
          </p:cNvPr>
          <p:cNvSpPr txBox="1"/>
          <p:nvPr/>
        </p:nvSpPr>
        <p:spPr>
          <a:xfrm>
            <a:off x="540483" y="5585279"/>
            <a:ext cx="577703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長期依賴問題</a:t>
            </a:r>
            <a:endParaRPr sz="1800" dirty="0">
              <a:latin typeface="+mj-lt"/>
            </a:endParaRPr>
          </a:p>
        </p:txBody>
      </p:sp>
      <p:sp>
        <p:nvSpPr>
          <p:cNvPr id="26" name="Google Shape;214;p20">
            <a:extLst>
              <a:ext uri="{FF2B5EF4-FFF2-40B4-BE49-F238E27FC236}">
                <a16:creationId xmlns:a16="http://schemas.microsoft.com/office/drawing/2014/main" id="{370524C5-274A-17DF-2050-7F1706BCEFB9}"/>
              </a:ext>
            </a:extLst>
          </p:cNvPr>
          <p:cNvSpPr txBox="1"/>
          <p:nvPr/>
        </p:nvSpPr>
        <p:spPr>
          <a:xfrm>
            <a:off x="737643" y="5938650"/>
            <a:ext cx="543559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標準 </a:t>
            </a:r>
            <a:r>
              <a:rPr lang="en-US" altLang="zh-TW" dirty="0"/>
              <a:t>RNN </a:t>
            </a:r>
            <a:r>
              <a:rPr lang="zh-TW" altLang="en-US" dirty="0"/>
              <a:t>難以記住長期資訊</a:t>
            </a:r>
            <a:r>
              <a:rPr lang="en-US" altLang="zh-TW" dirty="0"/>
              <a:t>(</a:t>
            </a:r>
            <a:r>
              <a:rPr lang="zh-TW" altLang="en-US" dirty="0"/>
              <a:t>梯度消失</a:t>
            </a:r>
            <a:r>
              <a:rPr lang="en-US" altLang="zh-TW" dirty="0"/>
              <a:t>) → </a:t>
            </a:r>
            <a:r>
              <a:rPr lang="zh-TW" altLang="en-US" dirty="0"/>
              <a:t>因此發展出 </a:t>
            </a:r>
            <a:r>
              <a:rPr lang="en-US" altLang="zh-TW" dirty="0"/>
              <a:t>LSTM</a:t>
            </a:r>
            <a:r>
              <a:rPr lang="zh-TW" altLang="en-US" dirty="0"/>
              <a:t>、</a:t>
            </a:r>
            <a:r>
              <a:rPr lang="en-US" altLang="zh-TW" dirty="0"/>
              <a:t>GRU</a:t>
            </a:r>
            <a:r>
              <a:rPr lang="zh-TW" altLang="en-US" dirty="0"/>
              <a:t>。</a:t>
            </a:r>
            <a:endParaRPr dirty="0"/>
          </a:p>
        </p:txBody>
      </p:sp>
      <p:pic>
        <p:nvPicPr>
          <p:cNvPr id="27" name="Google Shape;207;p20" descr="image.png">
            <a:extLst>
              <a:ext uri="{FF2B5EF4-FFF2-40B4-BE49-F238E27FC236}">
                <a16:creationId xmlns:a16="http://schemas.microsoft.com/office/drawing/2014/main" id="{B07F20A7-E3AA-B796-17F4-987E5E61A6A2}"/>
              </a:ext>
            </a:extLst>
          </p:cNvPr>
          <p:cNvPicPr preferRelativeResize="0"/>
          <p:nvPr/>
        </p:nvPicPr>
        <p:blipFill rotWithShape="1">
          <a:blip r:embed="rId3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721642" y="4934901"/>
            <a:ext cx="4716379" cy="14158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A81EA22F-AF41-D3BB-72FA-79083552CC3C}"/>
              </a:ext>
            </a:extLst>
          </p:cNvPr>
          <p:cNvSpPr txBox="1"/>
          <p:nvPr/>
        </p:nvSpPr>
        <p:spPr>
          <a:xfrm>
            <a:off x="6721642" y="5007783"/>
            <a:ext cx="4716379" cy="1252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1800" b="1" dirty="0">
                <a:solidFill>
                  <a:schemeClr val="bg2"/>
                </a:solidFill>
              </a:rPr>
              <a:t>家族演進</a:t>
            </a:r>
            <a:endParaRPr lang="en-US" altLang="zh-TW" sz="1800" b="1" dirty="0">
              <a:solidFill>
                <a:schemeClr val="bg2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TW" sz="2000" dirty="0">
                <a:solidFill>
                  <a:srgbClr val="00B0F0"/>
                </a:solidFill>
                <a:latin typeface="Amasis MT Pro Medium" panose="020F0502020204030204" pitchFamily="18" charset="0"/>
              </a:rPr>
              <a:t>RNN → LSTM → GRU</a:t>
            </a:r>
          </a:p>
          <a:p>
            <a:pPr algn="ctr">
              <a:lnSpc>
                <a:spcPct val="150000"/>
              </a:lnSpc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zh-TW" altLang="en-US" dirty="0">
                <a:solidFill>
                  <a:schemeClr val="bg1">
                    <a:lumMod val="50000"/>
                  </a:schemeClr>
                </a:solidFill>
              </a:rPr>
              <a:t>逐步解決長期依賴與梯度消失問題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59E725-7266-3445-5C2D-FA16180BCD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0016"/>
          <a:stretch>
            <a:fillRect/>
          </a:stretch>
        </p:blipFill>
        <p:spPr>
          <a:xfrm>
            <a:off x="6449110" y="1952359"/>
            <a:ext cx="5692269" cy="272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62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DF11792C-D066-47F3-4A1C-CB5C0433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1" descr="image.png">
            <a:extLst>
              <a:ext uri="{FF2B5EF4-FFF2-40B4-BE49-F238E27FC236}">
                <a16:creationId xmlns:a16="http://schemas.microsoft.com/office/drawing/2014/main" id="{8285B4AA-6081-30E6-6F28-6BE037292F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8140" y="2056791"/>
            <a:ext cx="6321399" cy="4801209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>
            <a:extLst>
              <a:ext uri="{FF2B5EF4-FFF2-40B4-BE49-F238E27FC236}">
                <a16:creationId xmlns:a16="http://schemas.microsoft.com/office/drawing/2014/main" id="{0F3484DC-F53E-9475-3C65-B918C4FAC321}"/>
              </a:ext>
            </a:extLst>
          </p:cNvPr>
          <p:cNvSpPr txBox="1"/>
          <p:nvPr/>
        </p:nvSpPr>
        <p:spPr>
          <a:xfrm>
            <a:off x="317236" y="2205561"/>
            <a:ext cx="5340904" cy="2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核心結構：細胞狀態（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Cell State）</a:t>
            </a:r>
            <a:endParaRPr lang="en-US" sz="2000" b="1" dirty="0">
              <a:latin typeface="+mn-lt"/>
              <a:sym typeface="DM Sans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1600" dirty="0"/>
              <a:t>LSTM </a:t>
            </a:r>
            <a:r>
              <a:rPr lang="zh-TW" altLang="en-US" sz="1600" dirty="0"/>
              <a:t>的關鍵在於細胞狀態，可想像成一條貫穿所有單元的「傳送帶」，資訊在上面流動而保持不變。</a:t>
            </a:r>
            <a:r>
              <a:rPr lang="en-US" altLang="zh-TW" sz="1600" dirty="0"/>
              <a:t>LSTM </a:t>
            </a:r>
            <a:r>
              <a:rPr lang="zh-TW" altLang="en-US" sz="1600" dirty="0"/>
              <a:t>透過三個閘門精細控制這條傳送帶上的資訊增減。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遺忘閘門</a:t>
            </a:r>
            <a:r>
              <a:rPr lang="zh-TW" altLang="en-US" sz="1600" dirty="0"/>
              <a:t>（</a:t>
            </a:r>
            <a:r>
              <a:rPr lang="en-US" altLang="zh-TW" sz="1600" dirty="0"/>
              <a:t>Forget Gate</a:t>
            </a:r>
            <a:r>
              <a:rPr lang="zh-TW" altLang="en-US" sz="1600" dirty="0"/>
              <a:t>）：用 </a:t>
            </a:r>
            <a:r>
              <a:rPr lang="en-US" altLang="zh-TW" sz="1600" dirty="0"/>
              <a:t>Sigmoid </a:t>
            </a:r>
            <a:r>
              <a:rPr lang="zh-TW" altLang="en-US" sz="1600" dirty="0"/>
              <a:t>決定丟棄哪些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資訊輸入閘門</a:t>
            </a:r>
            <a:r>
              <a:rPr lang="zh-TW" altLang="en-US" sz="1600" dirty="0"/>
              <a:t>（</a:t>
            </a:r>
            <a:r>
              <a:rPr lang="en-US" altLang="zh-TW" sz="1600" dirty="0"/>
              <a:t>Input Gate</a:t>
            </a:r>
            <a:r>
              <a:rPr lang="zh-TW" altLang="en-US" sz="1600" dirty="0"/>
              <a:t>）：決定哪些新資訊要寫入</a:t>
            </a:r>
            <a:endParaRPr lang="en-US" altLang="zh-TW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FF0000"/>
                </a:solidFill>
              </a:rPr>
              <a:t>胞狀態輸出閘門</a:t>
            </a:r>
            <a:r>
              <a:rPr lang="zh-TW" altLang="en-US" sz="1600" dirty="0"/>
              <a:t>（</a:t>
            </a:r>
            <a:r>
              <a:rPr lang="en-US" altLang="zh-TW" sz="1600" dirty="0"/>
              <a:t>Output Gate</a:t>
            </a:r>
            <a:r>
              <a:rPr lang="zh-TW" altLang="en-US" sz="1600" dirty="0"/>
              <a:t>）：依細胞狀態決定輸出，成為下一時點的隱藏狀態 </a:t>
            </a:r>
            <a:r>
              <a:rPr lang="en-US" altLang="zh-TW" sz="1600" dirty="0"/>
              <a:t>hₜ</a:t>
            </a:r>
            <a:endParaRPr sz="1600" dirty="0"/>
          </a:p>
        </p:txBody>
      </p:sp>
      <p:pic>
        <p:nvPicPr>
          <p:cNvPr id="227" name="Google Shape;227;p21" descr="image.png">
            <a:extLst>
              <a:ext uri="{FF2B5EF4-FFF2-40B4-BE49-F238E27FC236}">
                <a16:creationId xmlns:a16="http://schemas.microsoft.com/office/drawing/2014/main" id="{25649714-3A1D-1D11-3970-628D91B7B31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-2104" b="37628"/>
          <a:stretch>
            <a:fillRect/>
          </a:stretch>
        </p:blipFill>
        <p:spPr>
          <a:xfrm>
            <a:off x="5934417" y="2013313"/>
            <a:ext cx="5940347" cy="259678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>
            <a:extLst>
              <a:ext uri="{FF2B5EF4-FFF2-40B4-BE49-F238E27FC236}">
                <a16:creationId xmlns:a16="http://schemas.microsoft.com/office/drawing/2014/main" id="{ECF5FBA6-91F8-9084-814C-024B5BB0D23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長短期記憶網路（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Long Short-Term Memory, LSTM）</a:t>
            </a:r>
            <a:endParaRPr dirty="0"/>
          </a:p>
        </p:txBody>
      </p:sp>
      <p:sp>
        <p:nvSpPr>
          <p:cNvPr id="235" name="Google Shape;235;p21">
            <a:extLst>
              <a:ext uri="{FF2B5EF4-FFF2-40B4-BE49-F238E27FC236}">
                <a16:creationId xmlns:a16="http://schemas.microsoft.com/office/drawing/2014/main" id="{FA2A5BD9-AAFE-4B1F-97FC-EC22BDBFD063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C53EFE5-A78C-3D30-0BF9-5A16E9438FBA}"/>
              </a:ext>
            </a:extLst>
          </p:cNvPr>
          <p:cNvSpPr txBox="1"/>
          <p:nvPr/>
        </p:nvSpPr>
        <p:spPr>
          <a:xfrm>
            <a:off x="647700" y="1633484"/>
            <a:ext cx="8432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透過細胞狀態與三個閘門，記住長期依賴、解決傳統 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RNN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的梯度消失問題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E954576-151A-8287-FA61-C56B33B4C5DC}"/>
              </a:ext>
            </a:extLst>
          </p:cNvPr>
          <p:cNvSpPr txBox="1"/>
          <p:nvPr/>
        </p:nvSpPr>
        <p:spPr>
          <a:xfrm>
            <a:off x="317236" y="5589633"/>
            <a:ext cx="5027420" cy="584775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TW" altLang="zh-TW" sz="1600" dirty="0">
                <a:solidFill>
                  <a:schemeClr val="bg2"/>
                </a:solidFill>
              </a:rPr>
              <a:t>股價為典型時間序列，LSTM 能捕捉長短期價格依賴，</a:t>
            </a:r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zh-TW" sz="1600" dirty="0">
                <a:solidFill>
                  <a:schemeClr val="bg2"/>
                </a:solidFill>
              </a:rPr>
              <a:t>且端到端學習、不需手動特徵工程。</a:t>
            </a:r>
            <a:endParaRPr lang="zh-TW" altLang="en-US" sz="1600" dirty="0">
              <a:solidFill>
                <a:schemeClr val="bg2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1457589-0E05-8A65-0293-72CA42FFC3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524" y="4610100"/>
            <a:ext cx="5340904" cy="220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55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>
          <a:extLst>
            <a:ext uri="{FF2B5EF4-FFF2-40B4-BE49-F238E27FC236}">
              <a16:creationId xmlns:a16="http://schemas.microsoft.com/office/drawing/2014/main" id="{00CAD4E5-2108-78C9-8CE4-74DC8F533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>
            <a:extLst>
              <a:ext uri="{FF2B5EF4-FFF2-40B4-BE49-F238E27FC236}">
                <a16:creationId xmlns:a16="http://schemas.microsoft.com/office/drawing/2014/main" id="{15D33970-8974-323E-DD13-8E60C978BAFC}"/>
              </a:ext>
            </a:extLst>
          </p:cNvPr>
          <p:cNvSpPr txBox="1"/>
          <p:nvPr/>
        </p:nvSpPr>
        <p:spPr>
          <a:xfrm>
            <a:off x="832434" y="835493"/>
            <a:ext cx="8679866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各式各樣的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LSTM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：單向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vs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雙向</a:t>
            </a:r>
            <a:endParaRPr dirty="0"/>
          </a:p>
        </p:txBody>
      </p:sp>
      <p:sp>
        <p:nvSpPr>
          <p:cNvPr id="219" name="Google Shape;219;p20">
            <a:extLst>
              <a:ext uri="{FF2B5EF4-FFF2-40B4-BE49-F238E27FC236}">
                <a16:creationId xmlns:a16="http://schemas.microsoft.com/office/drawing/2014/main" id="{13CE3B2F-43D5-4464-33BB-EA391C3F144E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DF97BB5-8EB6-BD4B-DE3D-E616BB282160}"/>
              </a:ext>
            </a:extLst>
          </p:cNvPr>
          <p:cNvSpPr txBox="1"/>
          <p:nvPr/>
        </p:nvSpPr>
        <p:spPr>
          <a:xfrm>
            <a:off x="647700" y="16123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依資訊流動方向，</a:t>
            </a:r>
            <a:r>
              <a:rPr lang="en-US" altLang="zh-TW" sz="1600" b="1" dirty="0">
                <a:solidFill>
                  <a:schemeClr val="tx1"/>
                </a:solidFill>
                <a:latin typeface="+mn-lt"/>
              </a:rPr>
              <a:t>LSTM </a:t>
            </a:r>
            <a:r>
              <a:rPr lang="zh-TW" altLang="en-US" sz="1600" b="1" dirty="0">
                <a:solidFill>
                  <a:schemeClr val="tx1"/>
                </a:solidFill>
                <a:latin typeface="+mn-lt"/>
              </a:rPr>
              <a:t>可分為單向與雙向兩種</a:t>
            </a:r>
          </a:p>
        </p:txBody>
      </p:sp>
      <p:pic>
        <p:nvPicPr>
          <p:cNvPr id="15" name="Google Shape;207;p20" descr="image.png">
            <a:extLst>
              <a:ext uri="{FF2B5EF4-FFF2-40B4-BE49-F238E27FC236}">
                <a16:creationId xmlns:a16="http://schemas.microsoft.com/office/drawing/2014/main" id="{69CE7B00-EDE0-DEDD-BEA1-2A0A95DF397A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18966" y="4685668"/>
            <a:ext cx="514558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13;p20">
            <a:extLst>
              <a:ext uri="{FF2B5EF4-FFF2-40B4-BE49-F238E27FC236}">
                <a16:creationId xmlns:a16="http://schemas.microsoft.com/office/drawing/2014/main" id="{B4F2CE3A-702C-F985-2BFE-8BA519508C04}"/>
              </a:ext>
            </a:extLst>
          </p:cNvPr>
          <p:cNvSpPr txBox="1"/>
          <p:nvPr/>
        </p:nvSpPr>
        <p:spPr>
          <a:xfrm>
            <a:off x="647700" y="4808301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單向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</a:t>
            </a:r>
            <a:endParaRPr sz="1800" dirty="0">
              <a:latin typeface="+mj-lt"/>
            </a:endParaRPr>
          </a:p>
        </p:txBody>
      </p:sp>
      <p:sp>
        <p:nvSpPr>
          <p:cNvPr id="17" name="Google Shape;214;p20">
            <a:extLst>
              <a:ext uri="{FF2B5EF4-FFF2-40B4-BE49-F238E27FC236}">
                <a16:creationId xmlns:a16="http://schemas.microsoft.com/office/drawing/2014/main" id="{8D0746E8-13D5-132F-757F-7856CE31F02F}"/>
              </a:ext>
            </a:extLst>
          </p:cNvPr>
          <p:cNvSpPr txBox="1"/>
          <p:nvPr/>
        </p:nvSpPr>
        <p:spPr>
          <a:xfrm>
            <a:off x="647700" y="5269392"/>
            <a:ext cx="481685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只用「過去」資訊預測未來，</a:t>
            </a:r>
            <a:endParaRPr lang="en-US" altLang="zh-TW" dirty="0"/>
          </a:p>
          <a:p>
            <a:pPr lvl="0"/>
            <a:r>
              <a:rPr lang="zh-TW" altLang="en-US" dirty="0"/>
              <a:t>符合真實預測情境（不偷看未來）。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r>
              <a:rPr lang="zh-TW" altLang="en-US" dirty="0"/>
              <a:t>本研究分為單層、雙層兩種。</a:t>
            </a:r>
            <a:endParaRPr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AED718B-44AB-9344-142B-DD499DD50D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022" t="17954" r="57044" b="52534"/>
          <a:stretch>
            <a:fillRect/>
          </a:stretch>
        </p:blipFill>
        <p:spPr>
          <a:xfrm>
            <a:off x="194762" y="1935866"/>
            <a:ext cx="5722726" cy="2673431"/>
          </a:xfrm>
          <a:prstGeom prst="rect">
            <a:avLst/>
          </a:prstGeom>
        </p:spPr>
      </p:pic>
      <p:pic>
        <p:nvPicPr>
          <p:cNvPr id="3" name="Google Shape;207;p20" descr="image.png">
            <a:extLst>
              <a:ext uri="{FF2B5EF4-FFF2-40B4-BE49-F238E27FC236}">
                <a16:creationId xmlns:a16="http://schemas.microsoft.com/office/drawing/2014/main" id="{69BEE738-36C0-BFD6-2ECD-D69C3F49E13A}"/>
              </a:ext>
            </a:extLst>
          </p:cNvPr>
          <p:cNvPicPr preferRelativeResize="0"/>
          <p:nvPr/>
        </p:nvPicPr>
        <p:blipFill rotWithShape="1">
          <a:blip r:embed="rId6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917488" y="4650592"/>
            <a:ext cx="5145584" cy="167301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213;p20">
            <a:extLst>
              <a:ext uri="{FF2B5EF4-FFF2-40B4-BE49-F238E27FC236}">
                <a16:creationId xmlns:a16="http://schemas.microsoft.com/office/drawing/2014/main" id="{CD2A99BB-9CCF-54D1-9E2A-9233AECB2C82}"/>
              </a:ext>
            </a:extLst>
          </p:cNvPr>
          <p:cNvSpPr txBox="1"/>
          <p:nvPr/>
        </p:nvSpPr>
        <p:spPr>
          <a:xfrm>
            <a:off x="6246222" y="4773225"/>
            <a:ext cx="4816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雙向 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LSTM (</a:t>
            </a:r>
            <a:r>
              <a:rPr lang="en-US" altLang="zh-TW" sz="1800" b="1" i="0" u="none" strike="noStrike" cap="none" dirty="0" err="1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BiLSTM</a:t>
            </a:r>
            <a:r>
              <a:rPr lang="en-US" altLang="zh-TW" sz="1800" b="1" i="0" u="none" strike="noStrike" cap="none" dirty="0">
                <a:solidFill>
                  <a:srgbClr val="002147"/>
                </a:solidFill>
                <a:latin typeface="+mj-lt"/>
                <a:ea typeface="DM Sans"/>
                <a:cs typeface="DM Sans"/>
                <a:sym typeface="DM Sans"/>
              </a:rPr>
              <a:t>)</a:t>
            </a:r>
            <a:endParaRPr sz="1800" dirty="0">
              <a:latin typeface="+mj-lt"/>
            </a:endParaRPr>
          </a:p>
        </p:txBody>
      </p:sp>
      <p:sp>
        <p:nvSpPr>
          <p:cNvPr id="5" name="Google Shape;214;p20">
            <a:extLst>
              <a:ext uri="{FF2B5EF4-FFF2-40B4-BE49-F238E27FC236}">
                <a16:creationId xmlns:a16="http://schemas.microsoft.com/office/drawing/2014/main" id="{B726C9F3-4C04-743A-3E2B-F17C50797A64}"/>
              </a:ext>
            </a:extLst>
          </p:cNvPr>
          <p:cNvSpPr txBox="1"/>
          <p:nvPr/>
        </p:nvSpPr>
        <p:spPr>
          <a:xfrm>
            <a:off x="6246222" y="5269392"/>
            <a:ext cx="453407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en-US" dirty="0"/>
              <a:t>同時讀取前後文資訊。用於預測「未來」時等於偷看未來，造成資訊洩漏</a:t>
            </a:r>
            <a:r>
              <a:rPr lang="en-US" altLang="zh-TW" dirty="0"/>
              <a:t>——</a:t>
            </a:r>
            <a:r>
              <a:rPr lang="zh-TW" altLang="en-US" dirty="0"/>
              <a:t>這正是本研究中 </a:t>
            </a:r>
            <a:r>
              <a:rPr lang="en-US" altLang="zh-TW" dirty="0" err="1"/>
              <a:t>BiLSTM</a:t>
            </a:r>
            <a:r>
              <a:rPr lang="en-US" altLang="zh-TW" dirty="0"/>
              <a:t> </a:t>
            </a:r>
            <a:r>
              <a:rPr lang="zh-TW" altLang="en-US" dirty="0"/>
              <a:t>表現最差的原因。</a:t>
            </a:r>
            <a:endParaRPr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3C81FA-0A64-7C33-76A6-DE95CA65F7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741" t="17954" r="9758" b="52534"/>
          <a:stretch>
            <a:fillRect/>
          </a:stretch>
        </p:blipFill>
        <p:spPr>
          <a:xfrm>
            <a:off x="5767266" y="1939088"/>
            <a:ext cx="5302744" cy="250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30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99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316825" y="2924198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0.48</a:t>
            </a:r>
            <a:endParaRPr sz="3600" dirty="0"/>
          </a:p>
        </p:txBody>
      </p:sp>
      <p:sp>
        <p:nvSpPr>
          <p:cNvPr id="245" name="Google Shape;245;p22"/>
          <p:cNvSpPr txBox="1"/>
          <p:nvPr/>
        </p:nvSpPr>
        <p:spPr>
          <a:xfrm>
            <a:off x="571799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F1-score</a:t>
            </a:r>
            <a:endParaRPr sz="2000" b="1" dirty="0">
              <a:solidFill>
                <a:srgbClr val="FFFF00"/>
              </a:solidFill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809624" y="919311"/>
            <a:ext cx="10178415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分類任務：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GPT-3.5-turbo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（預測次日漲跌）</a:t>
            </a:r>
            <a:endParaRPr dirty="0"/>
          </a:p>
        </p:txBody>
      </p:sp>
      <p:sp>
        <p:nvSpPr>
          <p:cNvPr id="253" name="Google Shape;253;p2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40D1018-AA21-4EEE-9D71-FD9F72C1653F}"/>
              </a:ext>
            </a:extLst>
          </p:cNvPr>
          <p:cNvSpPr txBox="1"/>
          <p:nvPr/>
        </p:nvSpPr>
        <p:spPr>
          <a:xfrm>
            <a:off x="711814" y="159439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以提示詞讓 GPT-3.5 預測「上漲 / 下跌」，SPY 共 200 筆</a:t>
            </a:r>
          </a:p>
        </p:txBody>
      </p:sp>
      <p:pic>
        <p:nvPicPr>
          <p:cNvPr id="8" name="Google Shape;241;p22" descr="image.png">
            <a:extLst>
              <a:ext uri="{FF2B5EF4-FFF2-40B4-BE49-F238E27FC236}">
                <a16:creationId xmlns:a16="http://schemas.microsoft.com/office/drawing/2014/main" id="{6D2EC6A8-5B51-9A89-A7EA-D0620855B6B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3473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44;p22">
            <a:extLst>
              <a:ext uri="{FF2B5EF4-FFF2-40B4-BE49-F238E27FC236}">
                <a16:creationId xmlns:a16="http://schemas.microsoft.com/office/drawing/2014/main" id="{3175AD40-FC8F-30C2-6786-E9FF54E50345}"/>
              </a:ext>
            </a:extLst>
          </p:cNvPr>
          <p:cNvSpPr txBox="1"/>
          <p:nvPr/>
        </p:nvSpPr>
        <p:spPr>
          <a:xfrm>
            <a:off x="3218499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0.47</a:t>
            </a:r>
            <a:endParaRPr sz="3600" dirty="0"/>
          </a:p>
        </p:txBody>
      </p:sp>
      <p:sp>
        <p:nvSpPr>
          <p:cNvPr id="10" name="Google Shape;245;p22">
            <a:extLst>
              <a:ext uri="{FF2B5EF4-FFF2-40B4-BE49-F238E27FC236}">
                <a16:creationId xmlns:a16="http://schemas.microsoft.com/office/drawing/2014/main" id="{02484F4E-B9A1-AA5E-D696-99E0429ABD2D}"/>
              </a:ext>
            </a:extLst>
          </p:cNvPr>
          <p:cNvSpPr txBox="1"/>
          <p:nvPr/>
        </p:nvSpPr>
        <p:spPr>
          <a:xfrm>
            <a:off x="3473473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Accuracy</a:t>
            </a:r>
            <a:endParaRPr sz="2000" b="1" dirty="0">
              <a:solidFill>
                <a:srgbClr val="FFFF00"/>
              </a:solidFill>
            </a:endParaRPr>
          </a:p>
        </p:txBody>
      </p:sp>
      <p:pic>
        <p:nvPicPr>
          <p:cNvPr id="15" name="Google Shape;241;p22" descr="image.png">
            <a:extLst>
              <a:ext uri="{FF2B5EF4-FFF2-40B4-BE49-F238E27FC236}">
                <a16:creationId xmlns:a16="http://schemas.microsoft.com/office/drawing/2014/main" id="{138664F4-442C-9E57-7EB8-D87C690DC6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44913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44;p22">
            <a:extLst>
              <a:ext uri="{FF2B5EF4-FFF2-40B4-BE49-F238E27FC236}">
                <a16:creationId xmlns:a16="http://schemas.microsoft.com/office/drawing/2014/main" id="{CB030174-B7EB-0980-A188-183C76A215EE}"/>
              </a:ext>
            </a:extLst>
          </p:cNvPr>
          <p:cNvSpPr txBox="1"/>
          <p:nvPr/>
        </p:nvSpPr>
        <p:spPr>
          <a:xfrm>
            <a:off x="6189939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0.42</a:t>
            </a:r>
            <a:endParaRPr sz="3600" dirty="0"/>
          </a:p>
        </p:txBody>
      </p:sp>
      <p:sp>
        <p:nvSpPr>
          <p:cNvPr id="17" name="Google Shape;245;p22">
            <a:extLst>
              <a:ext uri="{FF2B5EF4-FFF2-40B4-BE49-F238E27FC236}">
                <a16:creationId xmlns:a16="http://schemas.microsoft.com/office/drawing/2014/main" id="{73D57E89-EF4B-BBEA-00B7-8BE060B6A52D}"/>
              </a:ext>
            </a:extLst>
          </p:cNvPr>
          <p:cNvSpPr txBox="1"/>
          <p:nvPr/>
        </p:nvSpPr>
        <p:spPr>
          <a:xfrm>
            <a:off x="6444913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Precision</a:t>
            </a:r>
            <a:endParaRPr sz="2000" b="1" dirty="0">
              <a:solidFill>
                <a:srgbClr val="FFFF00"/>
              </a:solidFill>
            </a:endParaRPr>
          </a:p>
        </p:txBody>
      </p:sp>
      <p:pic>
        <p:nvPicPr>
          <p:cNvPr id="18" name="Google Shape;241;p22" descr="image.png">
            <a:extLst>
              <a:ext uri="{FF2B5EF4-FFF2-40B4-BE49-F238E27FC236}">
                <a16:creationId xmlns:a16="http://schemas.microsoft.com/office/drawing/2014/main" id="{6E9FFBA6-1932-47A4-6F52-C73879F520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46587" y="2446675"/>
            <a:ext cx="26467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244;p22">
            <a:extLst>
              <a:ext uri="{FF2B5EF4-FFF2-40B4-BE49-F238E27FC236}">
                <a16:creationId xmlns:a16="http://schemas.microsoft.com/office/drawing/2014/main" id="{4B44F2C5-C6FA-4608-2CB3-7DAE61C6F09F}"/>
              </a:ext>
            </a:extLst>
          </p:cNvPr>
          <p:cNvSpPr txBox="1"/>
          <p:nvPr/>
        </p:nvSpPr>
        <p:spPr>
          <a:xfrm>
            <a:off x="9091613" y="2948876"/>
            <a:ext cx="31003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0.56</a:t>
            </a:r>
            <a:endParaRPr sz="3600" dirty="0"/>
          </a:p>
        </p:txBody>
      </p:sp>
      <p:sp>
        <p:nvSpPr>
          <p:cNvPr id="20" name="Google Shape;245;p22">
            <a:extLst>
              <a:ext uri="{FF2B5EF4-FFF2-40B4-BE49-F238E27FC236}">
                <a16:creationId xmlns:a16="http://schemas.microsoft.com/office/drawing/2014/main" id="{1BC4FA08-2CDC-D6A4-00E3-C8E98A4D9B0E}"/>
              </a:ext>
            </a:extLst>
          </p:cNvPr>
          <p:cNvSpPr txBox="1"/>
          <p:nvPr/>
        </p:nvSpPr>
        <p:spPr>
          <a:xfrm>
            <a:off x="9346587" y="3696796"/>
            <a:ext cx="2646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2000" b="1" i="0" u="none" strike="noStrike" cap="none" dirty="0">
                <a:solidFill>
                  <a:srgbClr val="FFFF00"/>
                </a:solidFill>
                <a:latin typeface="DM Sans"/>
                <a:ea typeface="DM Sans"/>
                <a:cs typeface="DM Sans"/>
                <a:sym typeface="DM Sans"/>
              </a:rPr>
              <a:t>Recall</a:t>
            </a:r>
            <a:endParaRPr sz="2000" b="1" dirty="0">
              <a:solidFill>
                <a:srgbClr val="FFFF00"/>
              </a:solidFill>
            </a:endParaRP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E915315-D050-1A7E-C08E-92479B4CCFAC}"/>
              </a:ext>
            </a:extLst>
          </p:cNvPr>
          <p:cNvSpPr/>
          <p:nvPr/>
        </p:nvSpPr>
        <p:spPr>
          <a:xfrm>
            <a:off x="571500" y="4691201"/>
            <a:ext cx="507662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chemeClr val="bg2"/>
                </a:solidFill>
              </a:rPr>
              <a:t>結果不如傳統模型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TW" dirty="0">
                <a:solidFill>
                  <a:schemeClr val="tx1"/>
                </a:solidFill>
              </a:rPr>
              <a:t>F1 </a:t>
            </a:r>
            <a:r>
              <a:rPr lang="zh-TW" altLang="en-US" dirty="0">
                <a:solidFill>
                  <a:schemeClr val="tx1"/>
                </a:solidFill>
              </a:rPr>
              <a:t>僅 </a:t>
            </a:r>
            <a:r>
              <a:rPr lang="en-US" altLang="zh-TW" dirty="0">
                <a:solidFill>
                  <a:schemeClr val="tx1"/>
                </a:solidFill>
              </a:rPr>
              <a:t>0.48</a:t>
            </a:r>
            <a:r>
              <a:rPr lang="zh-TW" altLang="en-US" dirty="0">
                <a:solidFill>
                  <a:schemeClr val="tx1"/>
                </a:solidFill>
              </a:rPr>
              <a:t>，明顯低於 </a:t>
            </a:r>
            <a:r>
              <a:rPr lang="en-US" altLang="zh-TW" dirty="0">
                <a:solidFill>
                  <a:schemeClr val="tx1"/>
                </a:solidFill>
              </a:rPr>
              <a:t>RF/LSTM </a:t>
            </a:r>
            <a:r>
              <a:rPr lang="zh-TW" altLang="en-US" dirty="0">
                <a:solidFill>
                  <a:schemeClr val="tx1"/>
                </a:solidFill>
              </a:rPr>
              <a:t>的 </a:t>
            </a:r>
            <a:r>
              <a:rPr lang="en-US" altLang="zh-TW" dirty="0">
                <a:solidFill>
                  <a:schemeClr val="tx1"/>
                </a:solidFill>
              </a:rPr>
              <a:t>0.69~0.73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A7D89640-2CA4-1239-7F85-36C0DF3A3764}"/>
              </a:ext>
            </a:extLst>
          </p:cNvPr>
          <p:cNvSpPr/>
          <p:nvPr/>
        </p:nvSpPr>
        <p:spPr>
          <a:xfrm>
            <a:off x="6096000" y="4691201"/>
            <a:ext cx="507662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chemeClr val="bg2"/>
                </a:solidFill>
              </a:rPr>
              <a:t>分類非 </a:t>
            </a:r>
            <a:r>
              <a:rPr lang="en-US" altLang="zh-TW" sz="1600" b="1" dirty="0">
                <a:solidFill>
                  <a:schemeClr val="bg2"/>
                </a:solidFill>
              </a:rPr>
              <a:t>LLM </a:t>
            </a:r>
            <a:r>
              <a:rPr lang="zh-TW" altLang="en-US" sz="1600" b="1" dirty="0">
                <a:solidFill>
                  <a:schemeClr val="bg2"/>
                </a:solidFill>
              </a:rPr>
              <a:t>強項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TW" dirty="0">
                <a:solidFill>
                  <a:schemeClr val="tx1"/>
                </a:solidFill>
              </a:rPr>
              <a:t>GPT-3.5 </a:t>
            </a:r>
            <a:r>
              <a:rPr lang="zh-TW" altLang="en-US" dirty="0">
                <a:solidFill>
                  <a:schemeClr val="tx1"/>
                </a:solidFill>
              </a:rPr>
              <a:t>以文字推理漲跌方向，缺乏穩定的數值判斷依據。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9079416A-1C34-627A-D99B-DC2832EC2F3F}"/>
              </a:ext>
            </a:extLst>
          </p:cNvPr>
          <p:cNvSpPr/>
          <p:nvPr/>
        </p:nvSpPr>
        <p:spPr>
          <a:xfrm>
            <a:off x="1610793" y="5777496"/>
            <a:ext cx="8576075" cy="74459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sz="1600" b="1" dirty="0">
                <a:solidFill>
                  <a:srgbClr val="FF0000"/>
                </a:solidFill>
              </a:rPr>
              <a:t>對比：</a:t>
            </a:r>
            <a:r>
              <a:rPr lang="en-US" altLang="zh-TW" sz="1600" b="1" dirty="0">
                <a:solidFill>
                  <a:srgbClr val="FF0000"/>
                </a:solidFill>
              </a:rPr>
              <a:t>LLM </a:t>
            </a:r>
            <a:r>
              <a:rPr lang="zh-TW" altLang="en-US" sz="1600" b="1" dirty="0">
                <a:solidFill>
                  <a:srgbClr val="FF0000"/>
                </a:solidFill>
              </a:rPr>
              <a:t>迴歸表現佳</a:t>
            </a:r>
            <a:endParaRPr lang="en-US" altLang="zh-TW" sz="1600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zh-TW" altLang="en-US" dirty="0">
                <a:solidFill>
                  <a:schemeClr val="tx1"/>
                </a:solidFill>
              </a:rPr>
              <a:t>同一 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改做數值迴歸</a:t>
            </a:r>
            <a:r>
              <a:rPr lang="en-US" altLang="zh-TW" dirty="0">
                <a:solidFill>
                  <a:schemeClr val="tx1"/>
                </a:solidFill>
              </a:rPr>
              <a:t>(GPT-4o-mini)</a:t>
            </a:r>
            <a:r>
              <a:rPr lang="zh-TW" altLang="en-US" dirty="0">
                <a:solidFill>
                  <a:schemeClr val="tx1"/>
                </a:solidFill>
              </a:rPr>
              <a:t>，</a:t>
            </a:r>
            <a:r>
              <a:rPr lang="en-US" altLang="zh-TW" dirty="0">
                <a:solidFill>
                  <a:schemeClr val="tx1"/>
                </a:solidFill>
              </a:rPr>
              <a:t>R² </a:t>
            </a:r>
            <a:r>
              <a:rPr lang="zh-TW" altLang="en-US" dirty="0">
                <a:solidFill>
                  <a:schemeClr val="tx1"/>
                </a:solidFill>
              </a:rPr>
              <a:t>達 </a:t>
            </a:r>
            <a:r>
              <a:rPr lang="en-US" altLang="zh-TW" dirty="0">
                <a:solidFill>
                  <a:schemeClr val="tx1"/>
                </a:solidFill>
              </a:rPr>
              <a:t>0.80 —— </a:t>
            </a:r>
            <a:r>
              <a:rPr lang="zh-TW" altLang="en-US" dirty="0">
                <a:solidFill>
                  <a:schemeClr val="tx1"/>
                </a:solidFill>
              </a:rPr>
              <a:t>顯示 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較擅長「數值預測」而非「漲跌分類」。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>
          <a:extLst>
            <a:ext uri="{FF2B5EF4-FFF2-40B4-BE49-F238E27FC236}">
              <a16:creationId xmlns:a16="http://schemas.microsoft.com/office/drawing/2014/main" id="{4ACDD218-367C-88BC-F6D5-C2E75395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">
            <a:extLst>
              <a:ext uri="{FF2B5EF4-FFF2-40B4-BE49-F238E27FC236}">
                <a16:creationId xmlns:a16="http://schemas.microsoft.com/office/drawing/2014/main" id="{160979E7-6E60-3AD2-673B-C0CAB6B2E477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機器學習的標準流程 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(Machine Learning Pipeline)</a:t>
            </a:r>
            <a:endParaRPr dirty="0"/>
          </a:p>
        </p:txBody>
      </p:sp>
      <p:sp>
        <p:nvSpPr>
          <p:cNvPr id="275" name="Google Shape;275;p23">
            <a:extLst>
              <a:ext uri="{FF2B5EF4-FFF2-40B4-BE49-F238E27FC236}">
                <a16:creationId xmlns:a16="http://schemas.microsoft.com/office/drawing/2014/main" id="{3881B20B-EDEE-DD24-99F3-BF8581C235B7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07;p20" descr="image.png">
            <a:extLst>
              <a:ext uri="{FF2B5EF4-FFF2-40B4-BE49-F238E27FC236}">
                <a16:creationId xmlns:a16="http://schemas.microsoft.com/office/drawing/2014/main" id="{039DCC1B-18C1-7818-7AA5-E0BF361CF55E}"/>
              </a:ext>
            </a:extLst>
          </p:cNvPr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48817" y="1976714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>
            <a:extLst>
              <a:ext uri="{FF2B5EF4-FFF2-40B4-BE49-F238E27FC236}">
                <a16:creationId xmlns:a16="http://schemas.microsoft.com/office/drawing/2014/main" id="{192E414F-5E2F-499E-871A-B62A15A2CBA5}"/>
              </a:ext>
            </a:extLst>
          </p:cNvPr>
          <p:cNvSpPr txBox="1"/>
          <p:nvPr/>
        </p:nvSpPr>
        <p:spPr>
          <a:xfrm>
            <a:off x="527778" y="2162693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資料收集</a:t>
            </a:r>
            <a:endParaRPr sz="1800" dirty="0"/>
          </a:p>
        </p:txBody>
      </p:sp>
      <p:pic>
        <p:nvPicPr>
          <p:cNvPr id="21" name="Google Shape;207;p20" descr="image.png">
            <a:extLst>
              <a:ext uri="{FF2B5EF4-FFF2-40B4-BE49-F238E27FC236}">
                <a16:creationId xmlns:a16="http://schemas.microsoft.com/office/drawing/2014/main" id="{CED82B38-D8D2-A18D-E7A6-8C4F28418751}"/>
              </a:ext>
            </a:extLst>
          </p:cNvPr>
          <p:cNvPicPr preferRelativeResize="0"/>
          <p:nvPr/>
        </p:nvPicPr>
        <p:blipFill rotWithShape="1">
          <a:blip r:embed="rId5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965182" y="1976969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59;p23">
            <a:extLst>
              <a:ext uri="{FF2B5EF4-FFF2-40B4-BE49-F238E27FC236}">
                <a16:creationId xmlns:a16="http://schemas.microsoft.com/office/drawing/2014/main" id="{A00B725A-FE08-75D9-8E68-A6716B713D1C}"/>
              </a:ext>
            </a:extLst>
          </p:cNvPr>
          <p:cNvSpPr txBox="1"/>
          <p:nvPr/>
        </p:nvSpPr>
        <p:spPr>
          <a:xfrm>
            <a:off x="2144143" y="2162948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資料前處理</a:t>
            </a:r>
            <a:endParaRPr sz="1800" dirty="0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638DAFA7-9A92-46AB-3C71-1965B10BFF98}"/>
              </a:ext>
            </a:extLst>
          </p:cNvPr>
          <p:cNvSpPr/>
          <p:nvPr/>
        </p:nvSpPr>
        <p:spPr>
          <a:xfrm>
            <a:off x="3465913" y="2301029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箭號: 向右 3">
            <a:extLst>
              <a:ext uri="{FF2B5EF4-FFF2-40B4-BE49-F238E27FC236}">
                <a16:creationId xmlns:a16="http://schemas.microsoft.com/office/drawing/2014/main" id="{4B33AFCD-C9AF-13E8-81AC-0F45D0FA2C7F}"/>
              </a:ext>
            </a:extLst>
          </p:cNvPr>
          <p:cNvSpPr/>
          <p:nvPr/>
        </p:nvSpPr>
        <p:spPr>
          <a:xfrm>
            <a:off x="1849548" y="2300774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Google Shape;207;p20" descr="image.png">
            <a:extLst>
              <a:ext uri="{FF2B5EF4-FFF2-40B4-BE49-F238E27FC236}">
                <a16:creationId xmlns:a16="http://schemas.microsoft.com/office/drawing/2014/main" id="{FFD8BB03-FF77-A74F-442D-8B89064D3C4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tx2">
                <a:lumMod val="9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581547" y="197353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9;p23">
            <a:extLst>
              <a:ext uri="{FF2B5EF4-FFF2-40B4-BE49-F238E27FC236}">
                <a16:creationId xmlns:a16="http://schemas.microsoft.com/office/drawing/2014/main" id="{8704E6A5-6ABC-67F6-0AF9-E6849894C1C6}"/>
              </a:ext>
            </a:extLst>
          </p:cNvPr>
          <p:cNvSpPr txBox="1"/>
          <p:nvPr/>
        </p:nvSpPr>
        <p:spPr>
          <a:xfrm>
            <a:off x="3760508" y="215951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特徵工程</a:t>
            </a:r>
            <a:endParaRPr sz="1800" dirty="0"/>
          </a:p>
        </p:txBody>
      </p:sp>
      <p:sp>
        <p:nvSpPr>
          <p:cNvPr id="26" name="箭號: 向右 25">
            <a:extLst>
              <a:ext uri="{FF2B5EF4-FFF2-40B4-BE49-F238E27FC236}">
                <a16:creationId xmlns:a16="http://schemas.microsoft.com/office/drawing/2014/main" id="{376AF579-6EC6-23F7-9AFC-EB236FFB7DEC}"/>
              </a:ext>
            </a:extLst>
          </p:cNvPr>
          <p:cNvSpPr/>
          <p:nvPr/>
        </p:nvSpPr>
        <p:spPr>
          <a:xfrm>
            <a:off x="5082278" y="229759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3217C314-97F1-3EE0-E645-DE1E58FD3B6E}"/>
              </a:ext>
            </a:extLst>
          </p:cNvPr>
          <p:cNvSpPr/>
          <p:nvPr/>
        </p:nvSpPr>
        <p:spPr>
          <a:xfrm>
            <a:off x="3465913" y="229734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Google Shape;207;p20" descr="image.png">
            <a:extLst>
              <a:ext uri="{FF2B5EF4-FFF2-40B4-BE49-F238E27FC236}">
                <a16:creationId xmlns:a16="http://schemas.microsoft.com/office/drawing/2014/main" id="{B017D1C0-5D59-FF6C-386D-D653DB71DA77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6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5197912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59;p23">
            <a:extLst>
              <a:ext uri="{FF2B5EF4-FFF2-40B4-BE49-F238E27FC236}">
                <a16:creationId xmlns:a16="http://schemas.microsoft.com/office/drawing/2014/main" id="{7610FD10-658A-F830-FD6C-0544E738B33B}"/>
              </a:ext>
            </a:extLst>
          </p:cNvPr>
          <p:cNvSpPr txBox="1"/>
          <p:nvPr/>
        </p:nvSpPr>
        <p:spPr>
          <a:xfrm>
            <a:off x="5376873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特徵選擇</a:t>
            </a:r>
            <a:endParaRPr sz="1800" dirty="0"/>
          </a:p>
        </p:txBody>
      </p:sp>
      <p:sp>
        <p:nvSpPr>
          <p:cNvPr id="30" name="箭號: 向右 29">
            <a:extLst>
              <a:ext uri="{FF2B5EF4-FFF2-40B4-BE49-F238E27FC236}">
                <a16:creationId xmlns:a16="http://schemas.microsoft.com/office/drawing/2014/main" id="{C2C3C4F4-B08B-F2E2-EC78-EFCE3AD19EEA}"/>
              </a:ext>
            </a:extLst>
          </p:cNvPr>
          <p:cNvSpPr/>
          <p:nvPr/>
        </p:nvSpPr>
        <p:spPr>
          <a:xfrm>
            <a:off x="6698643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E20DA94C-AAB4-F8DA-D259-BA4ADBF6A5AD}"/>
              </a:ext>
            </a:extLst>
          </p:cNvPr>
          <p:cNvSpPr/>
          <p:nvPr/>
        </p:nvSpPr>
        <p:spPr>
          <a:xfrm>
            <a:off x="5082278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2" name="Google Shape;207;p20" descr="image.png">
            <a:extLst>
              <a:ext uri="{FF2B5EF4-FFF2-40B4-BE49-F238E27FC236}">
                <a16:creationId xmlns:a16="http://schemas.microsoft.com/office/drawing/2014/main" id="{3E5091FA-1D37-DB23-EFD2-16EAE6A9588D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5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81427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259;p23">
            <a:extLst>
              <a:ext uri="{FF2B5EF4-FFF2-40B4-BE49-F238E27FC236}">
                <a16:creationId xmlns:a16="http://schemas.microsoft.com/office/drawing/2014/main" id="{227DE703-F0C3-19A0-DCA5-EE679C88BC48}"/>
              </a:ext>
            </a:extLst>
          </p:cNvPr>
          <p:cNvSpPr txBox="1"/>
          <p:nvPr/>
        </p:nvSpPr>
        <p:spPr>
          <a:xfrm>
            <a:off x="6993238" y="2013493"/>
            <a:ext cx="117335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訓練模型</a:t>
            </a:r>
            <a:endParaRPr lang="en-US" altLang="zh-TW" sz="1800" b="1" i="0" u="none" strike="noStrike" cap="none" dirty="0">
              <a:solidFill>
                <a:srgbClr val="00214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b="1" dirty="0">
                <a:solidFill>
                  <a:srgbClr val="002147"/>
                </a:solidFill>
                <a:latin typeface="DM Sans"/>
                <a:sym typeface="DM Sans"/>
              </a:rPr>
              <a:t>+</a:t>
            </a:r>
            <a:r>
              <a:rPr lang="zh-TW" altLang="en-US" sz="1800" b="1" dirty="0">
                <a:solidFill>
                  <a:srgbClr val="002147"/>
                </a:solidFill>
                <a:latin typeface="DM Sans"/>
                <a:sym typeface="DM Sans"/>
              </a:rPr>
              <a:t>交叉驗證</a:t>
            </a:r>
            <a:endParaRPr sz="1800" dirty="0"/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9BDCA237-7DC5-A4AA-E885-B6C9001914B6}"/>
              </a:ext>
            </a:extLst>
          </p:cNvPr>
          <p:cNvSpPr/>
          <p:nvPr/>
        </p:nvSpPr>
        <p:spPr>
          <a:xfrm>
            <a:off x="8315008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A889E5BE-2CF7-F1E3-A99F-17F7C0949064}"/>
              </a:ext>
            </a:extLst>
          </p:cNvPr>
          <p:cNvSpPr/>
          <p:nvPr/>
        </p:nvSpPr>
        <p:spPr>
          <a:xfrm>
            <a:off x="669864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6" name="Google Shape;207;p20" descr="image.png">
            <a:extLst>
              <a:ext uri="{FF2B5EF4-FFF2-40B4-BE49-F238E27FC236}">
                <a16:creationId xmlns:a16="http://schemas.microsoft.com/office/drawing/2014/main" id="{58EDB6AA-6632-BF13-5149-D65A7BFB8478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4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432349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259;p23">
            <a:extLst>
              <a:ext uri="{FF2B5EF4-FFF2-40B4-BE49-F238E27FC236}">
                <a16:creationId xmlns:a16="http://schemas.microsoft.com/office/drawing/2014/main" id="{158D2075-0F75-B005-EF35-A2C39AB156AA}"/>
              </a:ext>
            </a:extLst>
          </p:cNvPr>
          <p:cNvSpPr txBox="1"/>
          <p:nvPr/>
        </p:nvSpPr>
        <p:spPr>
          <a:xfrm>
            <a:off x="8611310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超參數調整</a:t>
            </a:r>
            <a:endParaRPr sz="1800" dirty="0"/>
          </a:p>
        </p:txBody>
      </p:sp>
      <p:sp>
        <p:nvSpPr>
          <p:cNvPr id="38" name="箭號: 向右 37">
            <a:extLst>
              <a:ext uri="{FF2B5EF4-FFF2-40B4-BE49-F238E27FC236}">
                <a16:creationId xmlns:a16="http://schemas.microsoft.com/office/drawing/2014/main" id="{8F98CF4D-4212-820C-F558-D179E3E5E24D}"/>
              </a:ext>
            </a:extLst>
          </p:cNvPr>
          <p:cNvSpPr/>
          <p:nvPr/>
        </p:nvSpPr>
        <p:spPr>
          <a:xfrm>
            <a:off x="9933080" y="2290747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箭號: 向右 38">
            <a:extLst>
              <a:ext uri="{FF2B5EF4-FFF2-40B4-BE49-F238E27FC236}">
                <a16:creationId xmlns:a16="http://schemas.microsoft.com/office/drawing/2014/main" id="{BE834372-2306-251F-C4A7-CA3D7AC61651}"/>
              </a:ext>
            </a:extLst>
          </p:cNvPr>
          <p:cNvSpPr/>
          <p:nvPr/>
        </p:nvSpPr>
        <p:spPr>
          <a:xfrm>
            <a:off x="8316715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0" name="Google Shape;207;p20" descr="image.png">
            <a:extLst>
              <a:ext uri="{FF2B5EF4-FFF2-40B4-BE49-F238E27FC236}">
                <a16:creationId xmlns:a16="http://schemas.microsoft.com/office/drawing/2014/main" id="{68B3313E-F9BE-87A8-BBC3-B5A40B700D2F}"/>
              </a:ext>
            </a:extLst>
          </p:cNvPr>
          <p:cNvPicPr preferRelativeResize="0"/>
          <p:nvPr/>
        </p:nvPicPr>
        <p:blipFill rotWithShape="1">
          <a:blip r:embed="rId5">
            <a:alphaModFix/>
            <a:duotone>
              <a:prstClr val="black"/>
              <a:schemeClr val="accent2">
                <a:lumMod val="20000"/>
                <a:lumOff val="8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0047007" y="1966687"/>
            <a:ext cx="1525785" cy="68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259;p23">
            <a:extLst>
              <a:ext uri="{FF2B5EF4-FFF2-40B4-BE49-F238E27FC236}">
                <a16:creationId xmlns:a16="http://schemas.microsoft.com/office/drawing/2014/main" id="{99B386C1-95D5-D358-1CE8-55E0998F9F9B}"/>
              </a:ext>
            </a:extLst>
          </p:cNvPr>
          <p:cNvSpPr txBox="1"/>
          <p:nvPr/>
        </p:nvSpPr>
        <p:spPr>
          <a:xfrm>
            <a:off x="10225968" y="2152666"/>
            <a:ext cx="11733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模型評估</a:t>
            </a:r>
            <a:endParaRPr sz="1800" dirty="0"/>
          </a:p>
        </p:txBody>
      </p:sp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A0AF033C-5CB2-DCFE-6736-459C0A22DC7D}"/>
              </a:ext>
            </a:extLst>
          </p:cNvPr>
          <p:cNvSpPr/>
          <p:nvPr/>
        </p:nvSpPr>
        <p:spPr>
          <a:xfrm>
            <a:off x="9931373" y="2290492"/>
            <a:ext cx="168662" cy="982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85499C38-297D-1C17-DD55-002911440446}"/>
              </a:ext>
            </a:extLst>
          </p:cNvPr>
          <p:cNvSpPr/>
          <p:nvPr/>
        </p:nvSpPr>
        <p:spPr>
          <a:xfrm>
            <a:off x="348817" y="299987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1. </a:t>
            </a:r>
            <a:r>
              <a:rPr lang="zh-TW" altLang="zh-TW" sz="1600" b="1" dirty="0">
                <a:solidFill>
                  <a:schemeClr val="bg2"/>
                </a:solidFill>
              </a:rPr>
              <a:t>資料收集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蒐集原始資料(資料庫、API 等)，資料品質直接影響表現。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4573EA3A-CBF3-345C-3BD4-059D5C97A595}"/>
              </a:ext>
            </a:extLst>
          </p:cNvPr>
          <p:cNvSpPr/>
          <p:nvPr/>
        </p:nvSpPr>
        <p:spPr>
          <a:xfrm>
            <a:off x="337946" y="381988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2. 資料前處理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清理資料、處理缺失值；特徵工程(標準化、編碼)；切分訓練/驗證/測試集。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7E315CFA-E09A-92D4-ABB6-EEBC3D5D96C7}"/>
              </a:ext>
            </a:extLst>
          </p:cNvPr>
          <p:cNvSpPr/>
          <p:nvPr/>
        </p:nvSpPr>
        <p:spPr>
          <a:xfrm>
            <a:off x="337945" y="463988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3. 模型選擇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分類:邏輯迴歸、決策樹、隨機森林、SVM、神經網路。 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迴歸:線性迴歸、Ridge、Lasso、XGBoost。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52087EFD-B9DF-B39C-7064-2C3084DC8C1A}"/>
              </a:ext>
            </a:extLst>
          </p:cNvPr>
          <p:cNvSpPr/>
          <p:nvPr/>
        </p:nvSpPr>
        <p:spPr>
          <a:xfrm>
            <a:off x="348816" y="5459892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zh-TW" altLang="zh-TW" sz="1600" b="1" dirty="0">
                <a:solidFill>
                  <a:schemeClr val="bg2"/>
                </a:solidFill>
              </a:rPr>
              <a:t>4. 模型訓練 </a:t>
            </a:r>
            <a:endParaRPr lang="en-US" altLang="zh-TW" sz="1600" b="1" dirty="0">
              <a:solidFill>
                <a:schemeClr val="bg2"/>
              </a:solidFill>
            </a:endParaRPr>
          </a:p>
          <a:p>
            <a:r>
              <a:rPr lang="zh-TW" altLang="zh-TW" dirty="0">
                <a:solidFill>
                  <a:schemeClr val="tx1"/>
                </a:solidFill>
              </a:rPr>
              <a:t>用訓練集學習，調整超參數，並以交叉驗證(Cross-Validation)評估穩定度。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AE3E97E0-B699-F1BC-94EA-8413C80AED82}"/>
              </a:ext>
            </a:extLst>
          </p:cNvPr>
          <p:cNvSpPr/>
          <p:nvPr/>
        </p:nvSpPr>
        <p:spPr>
          <a:xfrm>
            <a:off x="6149050" y="2993024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5. </a:t>
            </a:r>
            <a:r>
              <a:rPr lang="zh-TW" altLang="en-US" sz="1600" b="1" dirty="0">
                <a:solidFill>
                  <a:schemeClr val="bg2"/>
                </a:solidFill>
              </a:rPr>
              <a:t>模型評估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分類</a:t>
            </a:r>
            <a:r>
              <a:rPr lang="en-US" altLang="zh-TW" dirty="0">
                <a:solidFill>
                  <a:schemeClr val="tx1"/>
                </a:solidFill>
              </a:rPr>
              <a:t>:Accuracy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Precision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Recall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F1-score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ROC-AUC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迴歸</a:t>
            </a:r>
            <a:r>
              <a:rPr lang="en-US" altLang="zh-TW" dirty="0">
                <a:solidFill>
                  <a:schemeClr val="tx1"/>
                </a:solidFill>
              </a:rPr>
              <a:t>:MSE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RMSE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MAE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R²</a:t>
            </a:r>
            <a:r>
              <a:rPr lang="zh-TW" altLang="en-US" dirty="0">
                <a:solidFill>
                  <a:schemeClr val="tx1"/>
                </a:solidFill>
              </a:rPr>
              <a:t>、</a:t>
            </a:r>
            <a:r>
              <a:rPr lang="en-US" altLang="zh-TW" dirty="0">
                <a:solidFill>
                  <a:schemeClr val="tx1"/>
                </a:solidFill>
              </a:rPr>
              <a:t>MAPE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411E3E6E-BC65-0F33-18D6-45F04C6B35B2}"/>
              </a:ext>
            </a:extLst>
          </p:cNvPr>
          <p:cNvSpPr/>
          <p:nvPr/>
        </p:nvSpPr>
        <p:spPr>
          <a:xfrm>
            <a:off x="6138179" y="3813030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6. </a:t>
            </a:r>
            <a:r>
              <a:rPr lang="zh-TW" altLang="en-US" sz="1600" b="1" dirty="0">
                <a:solidFill>
                  <a:schemeClr val="bg2"/>
                </a:solidFill>
              </a:rPr>
              <a:t>模型調整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以超參數調整</a:t>
            </a:r>
            <a:r>
              <a:rPr lang="en-US" altLang="zh-TW" dirty="0">
                <a:solidFill>
                  <a:schemeClr val="tx1"/>
                </a:solidFill>
              </a:rPr>
              <a:t>(Grid Search</a:t>
            </a:r>
            <a:r>
              <a:rPr lang="zh-TW" altLang="en-US" dirty="0">
                <a:solidFill>
                  <a:schemeClr val="tx1"/>
                </a:solidFill>
              </a:rPr>
              <a:t>、貝葉斯優化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或特徵工程改進效能。</a:t>
            </a: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E5CB1832-3F23-3EFF-8EA8-EE17E242E633}"/>
              </a:ext>
            </a:extLst>
          </p:cNvPr>
          <p:cNvSpPr/>
          <p:nvPr/>
        </p:nvSpPr>
        <p:spPr>
          <a:xfrm>
            <a:off x="6138178" y="4633036"/>
            <a:ext cx="5747183" cy="74459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US" altLang="zh-TW" sz="1600" b="1" dirty="0">
                <a:solidFill>
                  <a:schemeClr val="bg2"/>
                </a:solidFill>
              </a:rPr>
              <a:t>7. </a:t>
            </a:r>
            <a:r>
              <a:rPr lang="zh-TW" altLang="en-US" sz="1600" b="1" dirty="0">
                <a:solidFill>
                  <a:schemeClr val="bg2"/>
                </a:solidFill>
              </a:rPr>
              <a:t>部署與監控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部署至實際系統</a:t>
            </a:r>
            <a:r>
              <a:rPr lang="en-US" altLang="zh-TW" dirty="0">
                <a:solidFill>
                  <a:schemeClr val="tx1"/>
                </a:solidFill>
              </a:rPr>
              <a:t>(API</a:t>
            </a:r>
            <a:r>
              <a:rPr lang="zh-TW" altLang="en-US" dirty="0">
                <a:solidFill>
                  <a:schemeClr val="tx1"/>
                </a:solidFill>
              </a:rPr>
              <a:t>、雲端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；持續監控、避免概念漂移</a:t>
            </a:r>
            <a:r>
              <a:rPr lang="en-US" altLang="zh-TW" dirty="0">
                <a:solidFill>
                  <a:schemeClr val="tx1"/>
                </a:solidFill>
              </a:rPr>
              <a:t>(Concept Drift)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7625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76;p23">
            <a:extLst>
              <a:ext uri="{FF2B5EF4-FFF2-40B4-BE49-F238E27FC236}">
                <a16:creationId xmlns:a16="http://schemas.microsoft.com/office/drawing/2014/main" id="{8B263DF9-0D41-E203-FEE0-CADCE4C58AD6}"/>
              </a:ext>
            </a:extLst>
          </p:cNvPr>
          <p:cNvSpPr/>
          <p:nvPr/>
        </p:nvSpPr>
        <p:spPr>
          <a:xfrm>
            <a:off x="6906793" y="1645951"/>
            <a:ext cx="2376356" cy="2264849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76;p23">
            <a:extLst>
              <a:ext uri="{FF2B5EF4-FFF2-40B4-BE49-F238E27FC236}">
                <a16:creationId xmlns:a16="http://schemas.microsoft.com/office/drawing/2014/main" id="{FE5CDCE3-EF3C-7465-503D-B607E6207D2A}"/>
              </a:ext>
            </a:extLst>
          </p:cNvPr>
          <p:cNvSpPr/>
          <p:nvPr/>
        </p:nvSpPr>
        <p:spPr>
          <a:xfrm>
            <a:off x="8830073" y="4054795"/>
            <a:ext cx="2406659" cy="2268096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76;p23">
            <a:extLst>
              <a:ext uri="{FF2B5EF4-FFF2-40B4-BE49-F238E27FC236}">
                <a16:creationId xmlns:a16="http://schemas.microsoft.com/office/drawing/2014/main" id="{7149195A-0517-A9BC-731A-4F5051D5C5C1}"/>
              </a:ext>
            </a:extLst>
          </p:cNvPr>
          <p:cNvSpPr/>
          <p:nvPr/>
        </p:nvSpPr>
        <p:spPr>
          <a:xfrm>
            <a:off x="4830816" y="3975409"/>
            <a:ext cx="2314689" cy="2316737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6;p23">
            <a:extLst>
              <a:ext uri="{FF2B5EF4-FFF2-40B4-BE49-F238E27FC236}">
                <a16:creationId xmlns:a16="http://schemas.microsoft.com/office/drawing/2014/main" id="{31F78A9D-CF0E-F2D1-CA30-CA9A1AEE7620}"/>
              </a:ext>
            </a:extLst>
          </p:cNvPr>
          <p:cNvSpPr/>
          <p:nvPr/>
        </p:nvSpPr>
        <p:spPr>
          <a:xfrm>
            <a:off x="2663289" y="1667002"/>
            <a:ext cx="2314689" cy="2298484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  <a:alpha val="50196"/>
            </a:scheme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627674" y="4005357"/>
            <a:ext cx="2248940" cy="2298484"/>
          </a:xfrm>
          <a:prstGeom prst="roundRect">
            <a:avLst>
              <a:gd name="adj" fmla="val 50000"/>
            </a:avLst>
          </a:prstGeom>
          <a:solidFill>
            <a:srgbClr val="CCCCFF">
              <a:alpha val="50196"/>
            </a:srgbClr>
          </a:solidFill>
          <a:ln>
            <a:noFill/>
            <a:headEnd type="none" w="sm" len="sm"/>
            <a:tailEnd type="none" w="sm" len="sm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998065" y="4619430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資料來源</a:t>
            </a:r>
            <a:endParaRPr sz="2400" dirty="0"/>
          </a:p>
        </p:txBody>
      </p:sp>
      <p:sp>
        <p:nvSpPr>
          <p:cNvPr id="260" name="Google Shape;260;p23"/>
          <p:cNvSpPr txBox="1"/>
          <p:nvPr/>
        </p:nvSpPr>
        <p:spPr>
          <a:xfrm>
            <a:off x="217991" y="5188843"/>
            <a:ext cx="3131377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Yahoo Finance API</a:t>
            </a:r>
            <a:endParaRPr lang="en-US" sz="1600" dirty="0"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sym typeface="DM Sans"/>
              </a:rPr>
              <a:t>(</a:t>
            </a:r>
            <a:r>
              <a:rPr lang="en-US" altLang="zh-TW" sz="1600" dirty="0"/>
              <a:t>update_database.py)</a:t>
            </a:r>
            <a:endParaRPr sz="1600" dirty="0"/>
          </a:p>
        </p:txBody>
      </p:sp>
      <p:sp>
        <p:nvSpPr>
          <p:cNvPr id="261" name="Google Shape;261;p23"/>
          <p:cNvSpPr txBox="1"/>
          <p:nvPr/>
        </p:nvSpPr>
        <p:spPr>
          <a:xfrm>
            <a:off x="2946582" y="2091430"/>
            <a:ext cx="17730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資料前處理</a:t>
            </a:r>
            <a:endParaRPr sz="2400" dirty="0"/>
          </a:p>
        </p:txBody>
      </p:sp>
      <p:sp>
        <p:nvSpPr>
          <p:cNvPr id="262" name="Google Shape;262;p23"/>
          <p:cNvSpPr txBox="1"/>
          <p:nvPr/>
        </p:nvSpPr>
        <p:spPr>
          <a:xfrm>
            <a:off x="2729038" y="2582417"/>
            <a:ext cx="2208154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清洗、缺失值處理</a:t>
            </a:r>
            <a:endParaRPr lang="en-US" altLang="zh-TW" sz="160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 algn="ctr">
              <a:lnSpc>
                <a:spcPct val="140000"/>
              </a:lnSpc>
            </a:pPr>
            <a:r>
              <a:rPr lang="zh-TW" altLang="en-US" sz="1600" dirty="0"/>
              <a:t>→ 存入 </a:t>
            </a:r>
            <a:r>
              <a:rPr lang="en-US" altLang="zh-TW" sz="1600" dirty="0" err="1"/>
              <a:t>etf_data.db</a:t>
            </a:r>
            <a:endParaRPr sz="1600" dirty="0"/>
          </a:p>
        </p:txBody>
      </p:sp>
      <p:sp>
        <p:nvSpPr>
          <p:cNvPr id="265" name="Google Shape;265;p23"/>
          <p:cNvSpPr txBox="1"/>
          <p:nvPr/>
        </p:nvSpPr>
        <p:spPr>
          <a:xfrm>
            <a:off x="5190395" y="4591293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特徵工程</a:t>
            </a:r>
            <a:endParaRPr sz="2400" dirty="0"/>
          </a:p>
        </p:txBody>
      </p:sp>
      <p:sp>
        <p:nvSpPr>
          <p:cNvPr id="266" name="Google Shape;266;p23"/>
          <p:cNvSpPr txBox="1"/>
          <p:nvPr/>
        </p:nvSpPr>
        <p:spPr>
          <a:xfrm>
            <a:off x="5277333" y="5297209"/>
            <a:ext cx="143634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Lag/MA/Vol</a:t>
            </a:r>
            <a:endParaRPr sz="1600" dirty="0"/>
          </a:p>
        </p:txBody>
      </p:sp>
      <p:sp>
        <p:nvSpPr>
          <p:cNvPr id="267" name="Google Shape;267;p23"/>
          <p:cNvSpPr txBox="1"/>
          <p:nvPr/>
        </p:nvSpPr>
        <p:spPr>
          <a:xfrm>
            <a:off x="7354042" y="2188537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模型訓練</a:t>
            </a:r>
            <a:endParaRPr sz="2400" dirty="0"/>
          </a:p>
        </p:txBody>
      </p:sp>
      <p:sp>
        <p:nvSpPr>
          <p:cNvPr id="268" name="Google Shape;268;p23"/>
          <p:cNvSpPr txBox="1"/>
          <p:nvPr/>
        </p:nvSpPr>
        <p:spPr>
          <a:xfrm>
            <a:off x="6698552" y="2701864"/>
            <a:ext cx="2849603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latin typeface="DM Sans"/>
                <a:ea typeface="DM Sans"/>
                <a:cs typeface="DM Sans"/>
                <a:sym typeface="DM Sans"/>
              </a:rPr>
              <a:t>RF</a:t>
            </a:r>
            <a:r>
              <a:rPr lang="en-US" altLang="zh-TW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LSTM：TimeSeriesSplit</a:t>
            </a:r>
            <a:endParaRPr lang="en-US" sz="160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ARIMA：rolling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forecast</a:t>
            </a:r>
            <a:endParaRPr sz="1600" dirty="0"/>
          </a:p>
        </p:txBody>
      </p:sp>
      <p:sp>
        <p:nvSpPr>
          <p:cNvPr id="271" name="Google Shape;271;p23"/>
          <p:cNvSpPr txBox="1"/>
          <p:nvPr/>
        </p:nvSpPr>
        <p:spPr>
          <a:xfrm>
            <a:off x="9319057" y="4619430"/>
            <a:ext cx="150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性能評估</a:t>
            </a:r>
            <a:endParaRPr sz="2400" dirty="0"/>
          </a:p>
        </p:txBody>
      </p:sp>
      <p:sp>
        <p:nvSpPr>
          <p:cNvPr id="272" name="Google Shape;272;p23"/>
          <p:cNvSpPr txBox="1"/>
          <p:nvPr/>
        </p:nvSpPr>
        <p:spPr>
          <a:xfrm>
            <a:off x="9354966" y="5334509"/>
            <a:ext cx="1436340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MSE/MAPE/F1</a:t>
            </a:r>
            <a:endParaRPr sz="1600" dirty="0"/>
          </a:p>
        </p:txBody>
      </p:sp>
      <p:sp>
        <p:nvSpPr>
          <p:cNvPr id="273" name="Google Shape;273;p23"/>
          <p:cNvSpPr/>
          <p:nvPr/>
        </p:nvSpPr>
        <p:spPr>
          <a:xfrm>
            <a:off x="571500" y="3986307"/>
            <a:ext cx="11049000" cy="381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809625" y="919311"/>
            <a:ext cx="842880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本研究實驗流程：對應 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ML Pipeline 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的實作</a:t>
            </a:r>
            <a:endParaRPr dirty="0"/>
          </a:p>
        </p:txBody>
      </p:sp>
      <p:sp>
        <p:nvSpPr>
          <p:cNvPr id="275" name="Google Shape;275;p23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3698617" y="382082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881203" y="385375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7993838" y="383992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9919103" y="387131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77;p23">
            <a:extLst>
              <a:ext uri="{FF2B5EF4-FFF2-40B4-BE49-F238E27FC236}">
                <a16:creationId xmlns:a16="http://schemas.microsoft.com/office/drawing/2014/main" id="{4F8FFC45-65E4-3077-FD5C-0E2E814F5924}"/>
              </a:ext>
            </a:extLst>
          </p:cNvPr>
          <p:cNvSpPr/>
          <p:nvPr/>
        </p:nvSpPr>
        <p:spPr>
          <a:xfrm>
            <a:off x="1669380" y="383992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24"/>
          <p:cNvGraphicFramePr/>
          <p:nvPr>
            <p:extLst>
              <p:ext uri="{D42A27DB-BD31-4B8C-83A1-F6EECF244321}">
                <p14:modId xmlns:p14="http://schemas.microsoft.com/office/powerpoint/2010/main" val="1381311903"/>
              </p:ext>
            </p:extLst>
          </p:nvPr>
        </p:nvGraphicFramePr>
        <p:xfrm>
          <a:off x="609600" y="2554946"/>
          <a:ext cx="10158302" cy="3305125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2977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81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20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類型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u="none" strike="noStrike" cap="none" dirty="0" err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細節描述</a:t>
                      </a:r>
                      <a:endParaRPr sz="20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預測標的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SPY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美股大盤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QQQ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科技股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), 0050.TW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台股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資料期間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 – 2026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（日級別資料）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原始特徵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OHLCV (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開、高、低、收、量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技術指標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MA20, MA60, RSI(14),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年化波動率</a:t>
                      </a: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(20)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 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交叉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驗證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TimeSeriesSplit</a:t>
                      </a:r>
                      <a:r>
                        <a:rPr lang="zh-TW" altLang="en-US" sz="1800" b="0" i="0" u="none" strike="noStrike" cap="none" dirty="0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時間序列交叉驗證，確保訓練集早於測試集</a:t>
                      </a:r>
                      <a:endParaRPr sz="18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9" name="Google Shape;289;p24"/>
          <p:cNvSpPr/>
          <p:nvPr/>
        </p:nvSpPr>
        <p:spPr>
          <a:xfrm>
            <a:off x="797718" y="37146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97718" y="42671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797718" y="48195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797718" y="537200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797718" y="5924451"/>
            <a:ext cx="2166342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實驗設計：資料集與特徵</a:t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C854F3D-289B-B3B9-E6B9-432EFCFF88C4}"/>
              </a:ext>
            </a:extLst>
          </p:cNvPr>
          <p:cNvSpPr txBox="1"/>
          <p:nvPr/>
        </p:nvSpPr>
        <p:spPr>
          <a:xfrm>
            <a:off x="2229853" y="589335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/>
              <a:t>迴歸另採落後價（Lag1/2/5）與 MA10/MA50、波動率特徵</a:t>
            </a:r>
            <a:endParaRPr lang="zh-TW" alt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/>
        </p:nvSpPr>
        <p:spPr>
          <a:xfrm>
            <a:off x="405852" y="5302890"/>
            <a:ext cx="557837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TW" altLang="zh-TW" sz="1800" b="1" dirty="0">
                <a:solidFill>
                  <a:srgbClr val="FF0000"/>
                </a:solidFill>
              </a:rPr>
              <a:t>觀察：</a:t>
            </a:r>
            <a:r>
              <a:rPr lang="zh-TW" altLang="zh-TW" sz="1800" dirty="0"/>
              <a:t>四個模型 F1 均貼近或低於 Always-Up 基準（0.736），顯示分類的高分主要來自多頭市場的上漲</a:t>
            </a:r>
            <a:endParaRPr lang="en-US" altLang="zh-TW" sz="1800" dirty="0"/>
          </a:p>
          <a:p>
            <a:pPr lvl="0"/>
            <a:r>
              <a:rPr lang="zh-TW" altLang="zh-TW" sz="1800" dirty="0"/>
              <a:t>偏態；雙向 LSTM 因引入未來資訊反而最差。</a:t>
            </a:r>
            <a:endParaRPr sz="1800" dirty="0"/>
          </a:p>
        </p:txBody>
      </p:sp>
      <p:sp>
        <p:nvSpPr>
          <p:cNvPr id="313" name="Google Shape;313;p2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2B5A617-5E5C-D89F-9C2F-CC8BD7FB2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7" y="1851339"/>
            <a:ext cx="5679577" cy="3155321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3B5A04D-EBA5-EB33-EADE-4F5CACF8E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459" y="608577"/>
            <a:ext cx="5843189" cy="3246216"/>
          </a:xfrm>
          <a:prstGeom prst="rect">
            <a:avLst/>
          </a:prstGeom>
        </p:spPr>
      </p:pic>
      <p:sp>
        <p:nvSpPr>
          <p:cNvPr id="312" name="Google Shape;312;p25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分類問題結果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 (SPY/QQQ/0050.TW))</a:t>
            </a:r>
            <a:endParaRPr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A4F57C2-667D-A92D-8A47-FE9D677DB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41877"/>
            <a:ext cx="5619648" cy="31220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1A4504C6-D350-6AF5-005A-632DD273E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A6456466-95F6-3217-210C-9F0D2A80EF04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迴歸結果：各模型誤差比較（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MSE / MAPE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）</a:t>
            </a:r>
            <a:endParaRPr lang="zh-TW" altLang="en-US" sz="3600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FAB5923A-9CD6-4FB8-6E3D-79FDCAD64D0B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88;p24">
            <a:extLst>
              <a:ext uri="{FF2B5EF4-FFF2-40B4-BE49-F238E27FC236}">
                <a16:creationId xmlns:a16="http://schemas.microsoft.com/office/drawing/2014/main" id="{A5A8134A-0615-4362-E2A2-A8C0F433A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775541"/>
              </p:ext>
            </p:extLst>
          </p:nvPr>
        </p:nvGraphicFramePr>
        <p:xfrm>
          <a:off x="571500" y="1970321"/>
          <a:ext cx="5407030" cy="3352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295">
                  <a:extLst>
                    <a:ext uri="{9D8B030D-6E8A-4147-A177-3AD203B41FA5}">
                      <a16:colId xmlns:a16="http://schemas.microsoft.com/office/drawing/2014/main" val="2944450424"/>
                    </a:ext>
                  </a:extLst>
                </a:gridCol>
                <a:gridCol w="1280295">
                  <a:extLst>
                    <a:ext uri="{9D8B030D-6E8A-4147-A177-3AD203B41FA5}">
                      <a16:colId xmlns:a16="http://schemas.microsoft.com/office/drawing/2014/main" val="3648199840"/>
                    </a:ext>
                  </a:extLst>
                </a:gridCol>
                <a:gridCol w="1243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SPY </a:t>
                      </a:r>
                      <a:r>
                        <a:rPr lang="zh-TW" altLang="en-US"/>
                        <a:t>測試</a:t>
                      </a:r>
                      <a:r>
                        <a:rPr lang="en-US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QQQ </a:t>
                      </a:r>
                      <a:r>
                        <a:rPr lang="zh-TW" altLang="en-US" dirty="0"/>
                        <a:t>測試</a:t>
                      </a:r>
                      <a:r>
                        <a:rPr lang="en-US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0050 </a:t>
                      </a:r>
                      <a:r>
                        <a:rPr lang="zh-TW" altLang="en-US" dirty="0"/>
                        <a:t>測試</a:t>
                      </a:r>
                      <a:r>
                        <a:rPr lang="en-US" dirty="0"/>
                        <a:t>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31.86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40.07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2725.00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3137.76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35.11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2797.95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3291.94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37.17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3398.31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3596.48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33.98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2821.29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3277.47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35.67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單層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125.56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200.68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07154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雙層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132.77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279.36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1.62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805341"/>
                  </a:ext>
                </a:extLst>
              </a:tr>
            </a:tbl>
          </a:graphicData>
        </a:graphic>
      </p:graphicFrame>
      <p:graphicFrame>
        <p:nvGraphicFramePr>
          <p:cNvPr id="6" name="Google Shape;288;p24">
            <a:extLst>
              <a:ext uri="{FF2B5EF4-FFF2-40B4-BE49-F238E27FC236}">
                <a16:creationId xmlns:a16="http://schemas.microsoft.com/office/drawing/2014/main" id="{243ADC06-20B2-DF68-02A3-0718AA583B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4691373"/>
              </p:ext>
            </p:extLst>
          </p:nvPr>
        </p:nvGraphicFramePr>
        <p:xfrm>
          <a:off x="6214494" y="1952632"/>
          <a:ext cx="5074953" cy="335279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4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589">
                  <a:extLst>
                    <a:ext uri="{9D8B030D-6E8A-4147-A177-3AD203B41FA5}">
                      <a16:colId xmlns:a16="http://schemas.microsoft.com/office/drawing/2014/main" val="2944450424"/>
                    </a:ext>
                  </a:extLst>
                </a:gridCol>
                <a:gridCol w="1109589">
                  <a:extLst>
                    <a:ext uri="{9D8B030D-6E8A-4147-A177-3AD203B41FA5}">
                      <a16:colId xmlns:a16="http://schemas.microsoft.com/office/drawing/2014/main" val="3648199840"/>
                    </a:ext>
                  </a:extLst>
                </a:gridCol>
                <a:gridCol w="1351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SPY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QQQ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0050 MAPE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ARIMA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0.66%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0.89%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1.07%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11.09%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11.18%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8.91%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AdaBoost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9.80%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8.52%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11.40%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8.90%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單層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2.94%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3407154"/>
                  </a:ext>
                </a:extLst>
              </a:tr>
              <a:tr h="28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/>
                        <a:t>雙層 </a:t>
                      </a:r>
                      <a:r>
                        <a:rPr lang="en-US"/>
                        <a:t>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2.41%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/>
                        <a:t>3.73%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dirty="0"/>
                        <a:t>3.02%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5805341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A5F311B0-B17B-1A99-C4B9-2E2A8D81C2A9}"/>
              </a:ext>
            </a:extLst>
          </p:cNvPr>
          <p:cNvSpPr txBox="1"/>
          <p:nvPr/>
        </p:nvSpPr>
        <p:spPr>
          <a:xfrm>
            <a:off x="972190" y="5729345"/>
            <a:ext cx="1001268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 spc="3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※ MSE </a:t>
            </a:r>
            <a:r>
              <a:rPr lang="zh-TW" altLang="en-US" dirty="0"/>
              <a:t>受股價尺度影響，僅供同市場內比較；</a:t>
            </a:r>
            <a:r>
              <a:rPr lang="en-US" altLang="zh-TW" dirty="0"/>
              <a:t>MAPE </a:t>
            </a:r>
            <a:r>
              <a:rPr lang="zh-TW" altLang="en-US" dirty="0"/>
              <a:t>為百分比，可跨市場比較。 </a:t>
            </a:r>
            <a:r>
              <a:rPr lang="en-US" altLang="zh-TW" dirty="0"/>
              <a:t>※ </a:t>
            </a:r>
            <a:r>
              <a:rPr lang="zh-TW" altLang="en-US" dirty="0"/>
              <a:t>同市場內排序一致：</a:t>
            </a:r>
            <a:r>
              <a:rPr lang="en-US" altLang="zh-TW" dirty="0"/>
              <a:t>ARIMA </a:t>
            </a:r>
            <a:r>
              <a:rPr lang="zh-TW" altLang="en-US" dirty="0"/>
              <a:t>＜ </a:t>
            </a:r>
            <a:r>
              <a:rPr lang="en-US" altLang="zh-TW" dirty="0"/>
              <a:t>LSTM </a:t>
            </a:r>
            <a:r>
              <a:rPr lang="zh-TW" altLang="en-US" dirty="0"/>
              <a:t>＜ 集成模型（誤差越小越佳）。</a:t>
            </a:r>
          </a:p>
        </p:txBody>
      </p:sp>
    </p:spTree>
    <p:extLst>
      <p:ext uri="{BB962C8B-B14F-4D97-AF65-F5344CB8AC3E}">
        <p14:creationId xmlns:p14="http://schemas.microsoft.com/office/powerpoint/2010/main" val="1684306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7355B00E-D0D5-7D41-1360-A56003955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>
            <a:extLst>
              <a:ext uri="{FF2B5EF4-FFF2-40B4-BE49-F238E27FC236}">
                <a16:creationId xmlns:a16="http://schemas.microsoft.com/office/drawing/2014/main" id="{88C4E738-C6FF-8328-7CE8-B3A63E7B9F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3DA0048B-F754-1D55-19D0-A672B0D8F6C0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</a:t>
            </a:r>
            <a:r>
              <a:rPr lang="en-US" altLang="zh-TW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預測曲線比較</a:t>
            </a:r>
            <a:endParaRPr lang="zh-TW" altLang="en-US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DD1A8AD1-2255-D1A3-8F48-17D9DAE80846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46D1F1-F788-8ADD-C6D0-97C552140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39" y="1743581"/>
            <a:ext cx="5015515" cy="25077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E84D124-A2F9-0040-B6E1-538D605C5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741" y="1743581"/>
            <a:ext cx="5015516" cy="250775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FA9E784-970E-0DBF-04A9-70C4A1A43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39" y="4300790"/>
            <a:ext cx="5015516" cy="250775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55AB294-1C3D-DC1D-AB31-B0DCFB201911}"/>
              </a:ext>
            </a:extLst>
          </p:cNvPr>
          <p:cNvSpPr txBox="1"/>
          <p:nvPr/>
        </p:nvSpPr>
        <p:spPr>
          <a:xfrm>
            <a:off x="5593437" y="5015359"/>
            <a:ext cx="5760363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800" b="1" spc="3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※ </a:t>
            </a:r>
            <a:r>
              <a:rPr lang="zh-TW" altLang="en-US" dirty="0"/>
              <a:t>綠線</a:t>
            </a:r>
            <a:r>
              <a:rPr lang="en-US" altLang="zh-TW" dirty="0"/>
              <a:t>(ARIMA)</a:t>
            </a:r>
            <a:r>
              <a:rPr lang="zh-TW" altLang="en-US" dirty="0"/>
              <a:t>幾乎貼合實際值；</a:t>
            </a:r>
            <a:endParaRPr lang="en-US" altLang="zh-TW" dirty="0"/>
          </a:p>
          <a:p>
            <a:r>
              <a:rPr lang="zh-TW" altLang="en-US" dirty="0"/>
              <a:t>橘線</a:t>
            </a:r>
            <a:r>
              <a:rPr lang="en-US" altLang="zh-TW" dirty="0"/>
              <a:t>(Random Forest)</a:t>
            </a:r>
            <a:r>
              <a:rPr lang="zh-TW" altLang="en-US" dirty="0"/>
              <a:t>無法外推、預測躺平；</a:t>
            </a:r>
            <a:endParaRPr lang="en-US" altLang="zh-TW" dirty="0"/>
          </a:p>
          <a:p>
            <a:r>
              <a:rPr lang="zh-TW" altLang="en-US" dirty="0"/>
              <a:t>藍線</a:t>
            </a:r>
            <a:r>
              <a:rPr lang="en-US" altLang="zh-TW" dirty="0"/>
              <a:t>(LSTM)</a:t>
            </a:r>
            <a:r>
              <a:rPr lang="zh-TW" altLang="en-US" dirty="0"/>
              <a:t>能跟上趨勢但略有落差。</a:t>
            </a:r>
          </a:p>
        </p:txBody>
      </p:sp>
    </p:spTree>
    <p:extLst>
      <p:ext uri="{BB962C8B-B14F-4D97-AF65-F5344CB8AC3E}">
        <p14:creationId xmlns:p14="http://schemas.microsoft.com/office/powerpoint/2010/main" val="2335695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>
          <a:extLst>
            <a:ext uri="{FF2B5EF4-FFF2-40B4-BE49-F238E27FC236}">
              <a16:creationId xmlns:a16="http://schemas.microsoft.com/office/drawing/2014/main" id="{BC758F3C-B17B-DC10-0FD9-87E2B750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7">
            <a:extLst>
              <a:ext uri="{FF2B5EF4-FFF2-40B4-BE49-F238E27FC236}">
                <a16:creationId xmlns:a16="http://schemas.microsoft.com/office/drawing/2014/main" id="{C8A6446B-548B-210D-951A-102010E2CBFB}"/>
              </a:ext>
            </a:extLst>
          </p:cNvPr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效能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(SPY/QQQ)</a:t>
            </a:r>
            <a:endParaRPr lang="zh-TW" altLang="en-US" sz="3600" dirty="0"/>
          </a:p>
        </p:txBody>
      </p:sp>
      <p:sp>
        <p:nvSpPr>
          <p:cNvPr id="340" name="Google Shape;340;p27">
            <a:extLst>
              <a:ext uri="{FF2B5EF4-FFF2-40B4-BE49-F238E27FC236}">
                <a16:creationId xmlns:a16="http://schemas.microsoft.com/office/drawing/2014/main" id="{93715043-A18B-8B19-7ACD-A2827722C9AD}"/>
              </a:ext>
            </a:extLst>
          </p:cNvPr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Google Shape;288;p24">
            <a:extLst>
              <a:ext uri="{FF2B5EF4-FFF2-40B4-BE49-F238E27FC236}">
                <a16:creationId xmlns:a16="http://schemas.microsoft.com/office/drawing/2014/main" id="{6DA9B66A-A2E2-59AD-62F5-58DBC2828A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3201856"/>
              </p:ext>
            </p:extLst>
          </p:nvPr>
        </p:nvGraphicFramePr>
        <p:xfrm>
          <a:off x="417395" y="1740419"/>
          <a:ext cx="7722268" cy="2203400"/>
        </p:xfrm>
        <a:graphic>
          <a:graphicData uri="http://schemas.openxmlformats.org/drawingml/2006/table">
            <a:tbl>
              <a:tblPr firstRow="1" bandRow="1">
                <a:noFill/>
                <a:tableStyleId>{C63394A8-6561-4F67-BD20-A1EB724447CB}</a:tableStyleId>
              </a:tblPr>
              <a:tblGrid>
                <a:gridCol w="1326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1890050924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2339667790"/>
                    </a:ext>
                  </a:extLst>
                </a:gridCol>
                <a:gridCol w="1598834">
                  <a:extLst>
                    <a:ext uri="{9D8B030D-6E8A-4147-A177-3AD203B41FA5}">
                      <a16:colId xmlns:a16="http://schemas.microsoft.com/office/drawing/2014/main" val="52852720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zh-TW" altLang="en-US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市場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R²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RMSE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bg1"/>
                          </a:solidFill>
                          <a:latin typeface="DM Sans"/>
                          <a:sym typeface="Arial"/>
                        </a:rPr>
                        <a:t>MAE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21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SPY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43.23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6.58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5.23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QQQ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66.11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8.13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6.62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0050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0.802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0.21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0.46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altLang="zh-TW" sz="2000" b="1" i="0" u="none" strike="noStrike" cap="none" dirty="0">
                          <a:solidFill>
                            <a:schemeClr val="tx1"/>
                          </a:solidFill>
                          <a:latin typeface="DM Sans"/>
                          <a:sym typeface="Arial"/>
                        </a:rPr>
                        <a:t>0.35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6AAA3622-C22D-7F76-58C1-2802233C1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5" y="3962731"/>
            <a:ext cx="5841865" cy="292093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8CDB7C0-A6D4-739C-8FCE-57DE9C91F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264" y="3955979"/>
            <a:ext cx="5841865" cy="292093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A49B34A-9817-C288-C26D-FDC9E89083F3}"/>
              </a:ext>
            </a:extLst>
          </p:cNvPr>
          <p:cNvSpPr txBox="1"/>
          <p:nvPr/>
        </p:nvSpPr>
        <p:spPr>
          <a:xfrm>
            <a:off x="8246343" y="2373012"/>
            <a:ext cx="3778018" cy="738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dirty="0"/>
              <a:t>GPT-4o-mini </a:t>
            </a:r>
            <a:r>
              <a:rPr lang="zh-TW" altLang="en-US" dirty="0"/>
              <a:t>在 </a:t>
            </a:r>
            <a:r>
              <a:rPr lang="en-US" altLang="zh-TW" dirty="0"/>
              <a:t>SPY</a:t>
            </a:r>
            <a:r>
              <a:rPr lang="zh-TW" altLang="en-US" dirty="0"/>
              <a:t>、</a:t>
            </a:r>
            <a:r>
              <a:rPr lang="en-US" altLang="zh-TW" dirty="0"/>
              <a:t>QQQ </a:t>
            </a:r>
            <a:r>
              <a:rPr lang="zh-TW" altLang="en-US" dirty="0"/>
              <a:t>各 </a:t>
            </a:r>
            <a:r>
              <a:rPr lang="en-US" altLang="zh-TW" dirty="0"/>
              <a:t>50 </a:t>
            </a:r>
            <a:r>
              <a:rPr lang="zh-TW" altLang="en-US" dirty="0"/>
              <a:t>個交易日的小樣本上預測次日收盤價， </a:t>
            </a:r>
            <a:r>
              <a:rPr lang="en-US" altLang="zh-TW" dirty="0"/>
              <a:t>R² </a:t>
            </a:r>
            <a:r>
              <a:rPr lang="zh-TW" altLang="en-US" dirty="0"/>
              <a:t>皆達 </a:t>
            </a:r>
            <a:r>
              <a:rPr lang="en-US" altLang="zh-TW" dirty="0"/>
              <a:t>0.80</a:t>
            </a:r>
            <a:r>
              <a:rPr lang="zh-TW" altLang="en-US" dirty="0"/>
              <a:t>。藍線為實際、紅線為預測，趨勢貼合度高。</a:t>
            </a:r>
          </a:p>
        </p:txBody>
      </p:sp>
    </p:spTree>
    <p:extLst>
      <p:ext uri="{BB962C8B-B14F-4D97-AF65-F5344CB8AC3E}">
        <p14:creationId xmlns:p14="http://schemas.microsoft.com/office/powerpoint/2010/main" val="3325254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5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迴歸結果：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GPT-4o-mini</a:t>
            </a: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效能</a:t>
            </a:r>
            <a:r>
              <a:rPr lang="en-US" altLang="zh-TW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(0050.tw)</a:t>
            </a:r>
            <a:endParaRPr lang="zh-TW" altLang="en-US" sz="3600" dirty="0"/>
          </a:p>
        </p:txBody>
      </p:sp>
      <p:sp>
        <p:nvSpPr>
          <p:cNvPr id="340" name="Google Shape;340;p2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506AA77-23CA-9B7A-4347-1EC4E5E44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27" y="2022851"/>
            <a:ext cx="5621353" cy="281067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91ABF53-CA56-1B65-D73E-C7C5D08102D6}"/>
              </a:ext>
            </a:extLst>
          </p:cNvPr>
          <p:cNvSpPr txBox="1"/>
          <p:nvPr/>
        </p:nvSpPr>
        <p:spPr>
          <a:xfrm>
            <a:off x="5495547" y="1904498"/>
            <a:ext cx="669645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一、模型排序一致：ARIMA &lt; LSTM &lt; 集成模型</a:t>
            </a:r>
          </a:p>
          <a:p>
            <a:r>
              <a:rPr lang="zh-TW" altLang="en-US" sz="1600" dirty="0"/>
              <a:t>　　以 MAPE（跨市場可比）衡量，三個市場排序一致：</a:t>
            </a:r>
          </a:p>
          <a:p>
            <a:r>
              <a:rPr lang="zh-TW" altLang="en-US" sz="1600" dirty="0"/>
              <a:t>　　ARIMA（0.7~1.1%）優於 LSTM（2~4%）優於樹模型（8~11%）。</a:t>
            </a:r>
          </a:p>
          <a:p>
            <a:r>
              <a:rPr lang="zh-TW" altLang="en-US" sz="1600" dirty="0"/>
              <a:t>　　顯示在價格預測上，較簡單的統計模型反而比複雜模型穩定。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二、集成模型的限制：無法外推</a:t>
            </a:r>
          </a:p>
          <a:p>
            <a:r>
              <a:rPr lang="zh-TW" altLang="en-US" sz="1600" dirty="0"/>
              <a:t>　　集成模型(RF/XGBoost等)無法預測超出訓練範圍的新高價，</a:t>
            </a:r>
          </a:p>
          <a:p>
            <a:r>
              <a:rPr lang="zh-TW" altLang="en-US" sz="1600" dirty="0"/>
              <a:t>　　在長期上漲的測試期誤差最大，這是其結構限制而非調參問題。</a:t>
            </a:r>
            <a:endParaRPr lang="en-US" altLang="zh-TW" sz="1600" dirty="0"/>
          </a:p>
          <a:p>
            <a:endParaRPr lang="zh-TW" altLang="en-US" sz="1600" dirty="0"/>
          </a:p>
          <a:p>
            <a:r>
              <a:rPr lang="zh-TW" altLang="en-US" sz="1600" dirty="0"/>
              <a:t>三、LLM 展現潛力：三市場 R² 一致達 0.80</a:t>
            </a:r>
          </a:p>
          <a:p>
            <a:r>
              <a:rPr lang="zh-TW" altLang="en-US" sz="1600" dirty="0"/>
              <a:t>　　GPT-4o-mini 在小樣本(50天)下，SPY/QQQ/0050 的 R² 皆約 0.80，</a:t>
            </a:r>
          </a:p>
          <a:p>
            <a:r>
              <a:rPr lang="zh-TW" altLang="en-US" sz="1600" dirty="0"/>
              <a:t>　　無需訓練、僅靠提示即可達此水準，顯示 LLM 在數值預測上的潛力。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85B2A03-03E3-FF6A-87FF-F15EDDD6DAAB}"/>
              </a:ext>
            </a:extLst>
          </p:cNvPr>
          <p:cNvSpPr txBox="1"/>
          <p:nvPr/>
        </p:nvSpPr>
        <p:spPr>
          <a:xfrm>
            <a:off x="1604211" y="5445628"/>
            <a:ext cx="8357937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CEDCE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→ 綜合而言：價格預測上「複雜模型不一定優於簡單模型」；</a:t>
            </a:r>
          </a:p>
          <a:p>
            <a:r>
              <a:rPr lang="zh-TW" altLang="en-US" sz="1800" b="1" spc="300" dirty="0">
                <a:solidFill>
                  <a:schemeClr val="accent2">
                    <a:lumMod val="75000"/>
                  </a:schemeClr>
                </a:solidFill>
              </a:rPr>
              <a:t>　 LLM 雖為小樣本探索，但跨市場一致性高，值得後續擴大驗證。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圓角 1">
            <a:extLst>
              <a:ext uri="{FF2B5EF4-FFF2-40B4-BE49-F238E27FC236}">
                <a16:creationId xmlns:a16="http://schemas.microsoft.com/office/drawing/2014/main" id="{3523D12E-1476-4FD9-9ADF-963B90043229}"/>
              </a:ext>
            </a:extLst>
          </p:cNvPr>
          <p:cNvSpPr/>
          <p:nvPr/>
        </p:nvSpPr>
        <p:spPr>
          <a:xfrm>
            <a:off x="441960" y="4922520"/>
            <a:ext cx="5082540" cy="958215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6" name="Google Shape;356;p29"/>
          <p:cNvSpPr txBox="1"/>
          <p:nvPr/>
        </p:nvSpPr>
        <p:spPr>
          <a:xfrm>
            <a:off x="571500" y="4959250"/>
            <a:ext cx="4953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本平台整合預測結果與 </a:t>
            </a:r>
            <a:r>
              <a:rPr lang="en-US" altLang="zh-TW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摘要，介面輕量、一般設備即可順暢執行，適合作為教學示範與個人投資研究的輔助參考工具。</a:t>
            </a:r>
            <a:endParaRPr sz="1800" dirty="0"/>
          </a:p>
        </p:txBody>
      </p:sp>
      <p:sp>
        <p:nvSpPr>
          <p:cNvPr id="358" name="Google Shape;358;p29"/>
          <p:cNvSpPr txBox="1"/>
          <p:nvPr/>
        </p:nvSpPr>
        <p:spPr>
          <a:xfrm>
            <a:off x="1047750" y="3063775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Streamlit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+ Plotly + SQLite</a:t>
            </a:r>
            <a:endParaRPr sz="1800" dirty="0"/>
          </a:p>
        </p:txBody>
      </p:sp>
      <p:sp>
        <p:nvSpPr>
          <p:cNvPr id="359" name="Google Shape;359;p29"/>
          <p:cNvSpPr/>
          <p:nvPr/>
        </p:nvSpPr>
        <p:spPr>
          <a:xfrm>
            <a:off x="571500" y="348287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1047750" y="3644413"/>
            <a:ext cx="4476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GPT-3.5 / Gemini API </a:t>
            </a:r>
            <a:r>
              <a:rPr lang="zh-TW" altLang="en-US" sz="18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即時風險摘要</a:t>
            </a:r>
            <a:endParaRPr sz="1800" dirty="0"/>
          </a:p>
        </p:txBody>
      </p:sp>
      <p:sp>
        <p:nvSpPr>
          <p:cNvPr id="361" name="Google Shape;361;p29"/>
          <p:cNvSpPr/>
          <p:nvPr/>
        </p:nvSpPr>
        <p:spPr>
          <a:xfrm>
            <a:off x="571500" y="4063900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 txBox="1"/>
          <p:nvPr/>
        </p:nvSpPr>
        <p:spPr>
          <a:xfrm>
            <a:off x="1047750" y="4225438"/>
            <a:ext cx="44767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平均延遲：</a:t>
            </a:r>
            <a:r>
              <a:rPr lang="en-US" sz="18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840 毫秒</a:t>
            </a:r>
            <a:endParaRPr sz="1800"/>
          </a:p>
        </p:txBody>
      </p:sp>
      <p:sp>
        <p:nvSpPr>
          <p:cNvPr id="363" name="Google Shape;363;p29"/>
          <p:cNvSpPr/>
          <p:nvPr/>
        </p:nvSpPr>
        <p:spPr>
          <a:xfrm>
            <a:off x="571500" y="464492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571500" y="348287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71500" y="4063900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571500" y="4644925"/>
            <a:ext cx="4953000" cy="9525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09235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68613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49638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9"/>
          <p:cNvSpPr txBox="1"/>
          <p:nvPr/>
        </p:nvSpPr>
        <p:spPr>
          <a:xfrm>
            <a:off x="809625" y="1884610"/>
            <a:ext cx="49506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LLM-ETF 平台實作</a:t>
            </a:r>
            <a:endParaRPr/>
          </a:p>
        </p:txBody>
      </p:sp>
      <p:sp>
        <p:nvSpPr>
          <p:cNvPr id="371" name="Google Shape;371;p29"/>
          <p:cNvSpPr/>
          <p:nvPr/>
        </p:nvSpPr>
        <p:spPr>
          <a:xfrm>
            <a:off x="571500" y="1884610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92D2DF1-8899-CD1A-2145-6E63CFC27C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425" y="510072"/>
            <a:ext cx="6407288" cy="59646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53870"/>
            <a:ext cx="5334000" cy="396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53870"/>
            <a:ext cx="5334000" cy="396884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0"/>
          <p:cNvSpPr txBox="1"/>
          <p:nvPr/>
        </p:nvSpPr>
        <p:spPr>
          <a:xfrm>
            <a:off x="866775" y="2984105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分類任務</a:t>
            </a:r>
            <a:r>
              <a:rPr 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（預測漲跌方向）</a:t>
            </a:r>
            <a:endParaRPr sz="2400" dirty="0"/>
          </a:p>
        </p:txBody>
      </p:sp>
      <p:sp>
        <p:nvSpPr>
          <p:cNvPr id="380" name="Google Shape;380;p30"/>
          <p:cNvSpPr txBox="1"/>
          <p:nvPr/>
        </p:nvSpPr>
        <p:spPr>
          <a:xfrm>
            <a:off x="866775" y="3504564"/>
            <a:ext cx="4743450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預測次日「上漲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/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下跌」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最佳：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RF 0.732 /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單層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LSTM 0.694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但各模型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F1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多貼近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Always-Up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基準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高分主要來自多頭期間的市場偏態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LLM(GPT-3.5) F1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僅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0.48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→ </a:t>
            </a:r>
            <a:r>
              <a:rPr lang="zh-TW" altLang="en-US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方向看似可分，實則貼近基準</a:t>
            </a:r>
            <a:endParaRPr sz="1800" b="1" dirty="0">
              <a:solidFill>
                <a:srgbClr val="FF0000"/>
              </a:solidFill>
            </a:endParaRPr>
          </a:p>
        </p:txBody>
      </p:sp>
      <p:sp>
        <p:nvSpPr>
          <p:cNvPr id="381" name="Google Shape;381;p30"/>
          <p:cNvSpPr txBox="1"/>
          <p:nvPr/>
        </p:nvSpPr>
        <p:spPr>
          <a:xfrm>
            <a:off x="6581775" y="2980793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400" b="1" i="0" u="none" strike="noStrike" cap="none" dirty="0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迴歸任務（預測收盤價）</a:t>
            </a:r>
            <a:endParaRPr sz="2400" dirty="0"/>
          </a:p>
        </p:txBody>
      </p:sp>
      <p:sp>
        <p:nvSpPr>
          <p:cNvPr id="382" name="Google Shape;382;p30"/>
          <p:cNvSpPr txBox="1"/>
          <p:nvPr/>
        </p:nvSpPr>
        <p:spPr>
          <a:xfrm>
            <a:off x="6581775" y="3606827"/>
            <a:ext cx="4743450" cy="265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預測次日「收盤價」數值</a:t>
            </a:r>
            <a:endParaRPr lang="en-US" altLang="zh-TW" sz="1800" b="0" i="0" u="none" strike="noStrike" cap="none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ARIMA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最佳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(MAPE &lt;1.1%)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排序：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ARIMA &lt; LSTM &lt;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集成模型</a:t>
            </a:r>
            <a:endParaRPr lang="en-US" altLang="zh-TW" sz="1800" dirty="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集成模型無法外推、誤差最大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- LLM(GPT-4o-mini) </a:t>
            </a:r>
            <a:r>
              <a:rPr lang="zh-TW" altLang="en-US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三市場 </a:t>
            </a:r>
            <a:r>
              <a:rPr lang="en-US" altLang="zh-TW" sz="1800" b="0" i="0" u="none" strike="noStrike" cap="none" dirty="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R²≈0.80</a:t>
            </a:r>
          </a:p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→ </a:t>
            </a:r>
            <a:r>
              <a:rPr lang="zh-TW" altLang="en-US" sz="1800" b="1" i="0" u="none" strike="noStrike" cap="none" dirty="0">
                <a:solidFill>
                  <a:srgbClr val="FF0000"/>
                </a:solidFill>
                <a:latin typeface="DM Sans"/>
                <a:ea typeface="DM Sans"/>
                <a:cs typeface="DM Sans"/>
                <a:sym typeface="DM Sans"/>
              </a:rPr>
              <a:t>數值可預測，但複雜模型未必較佳</a:t>
            </a:r>
            <a:endParaRPr sz="1800" b="1" dirty="0">
              <a:solidFill>
                <a:srgbClr val="FF0000"/>
              </a:solidFill>
            </a:endParaRPr>
          </a:p>
        </p:txBody>
      </p:sp>
      <p:sp>
        <p:nvSpPr>
          <p:cNvPr id="383" name="Google Shape;383;p30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：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分類與迴歸之抉擇</a:t>
            </a:r>
            <a:endParaRPr dirty="0"/>
          </a:p>
        </p:txBody>
      </p:sp>
      <p:sp>
        <p:nvSpPr>
          <p:cNvPr id="384" name="Google Shape;384;p30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A04DF5F-6DE2-3EE7-A987-1F863D6AEFD6}"/>
              </a:ext>
            </a:extLst>
          </p:cNvPr>
          <p:cNvSpPr txBox="1"/>
          <p:nvPr/>
        </p:nvSpPr>
        <p:spPr>
          <a:xfrm>
            <a:off x="707231" y="161707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本研究兩種任務皆做，各回答不同問題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743200"/>
            <a:ext cx="3524250" cy="266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875" y="2743200"/>
            <a:ext cx="3524250" cy="266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8149" y="2743200"/>
            <a:ext cx="3524250" cy="2662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95500" y="319409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1"/>
          <p:cNvSpPr txBox="1"/>
          <p:nvPr/>
        </p:nvSpPr>
        <p:spPr>
          <a:xfrm>
            <a:off x="809625" y="3884850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無單一冠軍</a:t>
            </a:r>
            <a:endParaRPr sz="2400" dirty="0"/>
          </a:p>
        </p:txBody>
      </p:sp>
      <p:sp>
        <p:nvSpPr>
          <p:cNvPr id="395" name="Google Shape;395;p31"/>
          <p:cNvSpPr txBox="1"/>
          <p:nvPr/>
        </p:nvSpPr>
        <p:spPr>
          <a:xfrm>
            <a:off x="957262" y="4426089"/>
            <a:ext cx="2952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不同市場與不同時段，最佳模型各異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pic>
        <p:nvPicPr>
          <p:cNvPr id="396" name="Google Shape;396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7875" y="319409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1"/>
          <p:cNvSpPr txBox="1"/>
          <p:nvPr/>
        </p:nvSpPr>
        <p:spPr>
          <a:xfrm>
            <a:off x="4572000" y="3846098"/>
            <a:ext cx="31003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20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價格 </a:t>
            </a:r>
            <a:r>
              <a:rPr lang="en-US" sz="20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R² </a:t>
            </a:r>
            <a:r>
              <a:rPr lang="zh-TW" altLang="en-US" sz="2000" b="1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高但輸基準</a:t>
            </a:r>
            <a:endParaRPr lang="en-US" altLang="zh-TW" sz="2000" b="1" i="0" u="none" strike="noStrike" cap="none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8" name="Google Shape;398;p31"/>
          <p:cNvSpPr txBox="1"/>
          <p:nvPr/>
        </p:nvSpPr>
        <p:spPr>
          <a:xfrm>
            <a:off x="4719637" y="4426089"/>
            <a:ext cx="2952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次日走勢難預測，故分類與 </a:t>
            </a:r>
            <a:r>
              <a:rPr lang="en-US" altLang="zh-TW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LLM </a:t>
            </a:r>
            <a:r>
              <a:rPr lang="zh-TW" alt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為輔助</a:t>
            </a:r>
            <a:endParaRPr sz="1800" dirty="0"/>
          </a:p>
        </p:txBody>
      </p:sp>
      <p:pic>
        <p:nvPicPr>
          <p:cNvPr id="399" name="Google Shape;399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55956" y="319926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1"/>
          <p:cNvSpPr txBox="1"/>
          <p:nvPr/>
        </p:nvSpPr>
        <p:spPr>
          <a:xfrm>
            <a:off x="8270081" y="3890029"/>
            <a:ext cx="31003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LLM 定位</a:t>
            </a:r>
            <a:endParaRPr sz="2400"/>
          </a:p>
        </p:txBody>
      </p:sp>
      <p:sp>
        <p:nvSpPr>
          <p:cNvPr id="401" name="Google Shape;401;p31"/>
          <p:cNvSpPr txBox="1"/>
          <p:nvPr/>
        </p:nvSpPr>
        <p:spPr>
          <a:xfrm>
            <a:off x="8417718" y="4431268"/>
            <a:ext cx="2952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適合作為「解釋型」輔助，而非純算力引擎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。</a:t>
            </a:r>
            <a:endParaRPr sz="1800" dirty="0"/>
          </a:p>
        </p:txBody>
      </p:sp>
      <p:sp>
        <p:nvSpPr>
          <p:cNvPr id="402" name="Google Shape;402;p31"/>
          <p:cNvSpPr txBox="1"/>
          <p:nvPr/>
        </p:nvSpPr>
        <p:spPr>
          <a:xfrm>
            <a:off x="809625" y="919311"/>
            <a:ext cx="11351418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69"/>
              </a:lnSpc>
            </a:pPr>
            <a:r>
              <a:rPr lang="zh-TW" altLang="en-US" sz="3300" b="1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</a:t>
            </a:r>
            <a:r>
              <a:rPr lang="en-US" sz="3300" b="1" i="0" u="none" strike="noStrike" cap="none" dirty="0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：</a:t>
            </a: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模型比較關鍵發現</a:t>
            </a:r>
            <a:endParaRPr dirty="0"/>
          </a:p>
        </p:txBody>
      </p:sp>
      <p:sp>
        <p:nvSpPr>
          <p:cNvPr id="403" name="Google Shape;403;p31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93156"/>
            <a:ext cx="5334000" cy="2611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393156"/>
            <a:ext cx="5334000" cy="2611981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2"/>
          <p:cNvSpPr txBox="1"/>
          <p:nvPr/>
        </p:nvSpPr>
        <p:spPr>
          <a:xfrm>
            <a:off x="295275" y="5202138"/>
            <a:ext cx="11601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簡報結束，敬請指導</a:t>
            </a:r>
            <a:endParaRPr sz="2400" dirty="0"/>
          </a:p>
        </p:txBody>
      </p:sp>
      <p:sp>
        <p:nvSpPr>
          <p:cNvPr id="412" name="Google Shape;412;p32"/>
          <p:cNvSpPr txBox="1"/>
          <p:nvPr/>
        </p:nvSpPr>
        <p:spPr>
          <a:xfrm>
            <a:off x="866775" y="2688431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本研究貢獻</a:t>
            </a:r>
            <a:endParaRPr sz="2400" dirty="0"/>
          </a:p>
        </p:txBody>
      </p:sp>
      <p:sp>
        <p:nvSpPr>
          <p:cNvPr id="413" name="Google Shape;413;p32"/>
          <p:cNvSpPr txBox="1"/>
          <p:nvPr/>
        </p:nvSpPr>
        <p:spPr>
          <a:xfrm>
            <a:off x="6581775" y="2688431"/>
            <a:ext cx="4980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2147"/>
                </a:solidFill>
                <a:latin typeface="DM Sans"/>
                <a:ea typeface="DM Sans"/>
                <a:cs typeface="DM Sans"/>
                <a:sym typeface="DM Sans"/>
              </a:rPr>
              <a:t>未來展望</a:t>
            </a:r>
            <a:endParaRPr sz="2400"/>
          </a:p>
        </p:txBody>
      </p:sp>
      <p:sp>
        <p:nvSpPr>
          <p:cNvPr id="426" name="Google Shape;426;p32"/>
          <p:cNvSpPr txBox="1"/>
          <p:nvPr/>
        </p:nvSpPr>
        <p:spPr>
          <a:xfrm>
            <a:off x="809625" y="919311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02147"/>
                </a:solidFill>
                <a:latin typeface="Merriweather"/>
                <a:ea typeface="Merriweather"/>
                <a:cs typeface="Merriweather"/>
                <a:sym typeface="Merriweather"/>
              </a:rPr>
              <a:t>結論與未來研究方向</a:t>
            </a:r>
            <a:endParaRPr dirty="0"/>
          </a:p>
        </p:txBody>
      </p:sp>
      <p:sp>
        <p:nvSpPr>
          <p:cNvPr id="427" name="Google Shape;427;p32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0EF307-A7F2-3724-B068-BD51B5CF8A18}"/>
              </a:ext>
            </a:extLst>
          </p:cNvPr>
          <p:cNvSpPr txBox="1"/>
          <p:nvPr/>
        </p:nvSpPr>
        <p:spPr>
          <a:xfrm>
            <a:off x="571500" y="3338573"/>
            <a:ext cx="533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建立跨市場</a:t>
            </a:r>
            <a:r>
              <a:rPr lang="en-US" altLang="zh-TW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(</a:t>
            </a: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台</a:t>
            </a:r>
            <a:r>
              <a:rPr lang="en-US" altLang="zh-TW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/</a:t>
            </a: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美</a:t>
            </a:r>
            <a:r>
              <a:rPr lang="en-US" altLang="zh-TW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)</a:t>
            </a: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預測基準比較。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揭示台股受國際連動影響之預測難點。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實作 </a:t>
            </a:r>
            <a:r>
              <a:rPr lang="en-US" altLang="zh-TW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LLM </a:t>
            </a:r>
            <a:r>
              <a:rPr lang="zh-TW" altLang="en-US" sz="1800" b="0" i="0" dirty="0">
                <a:solidFill>
                  <a:srgbClr val="1E293B"/>
                </a:solidFill>
                <a:effectLst/>
                <a:latin typeface="DM Sans" pitchFamily="2" charset="0"/>
              </a:rPr>
              <a:t>輔助開源平台。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53F690D-E60C-6686-A658-86DCDA59AD5B}"/>
              </a:ext>
            </a:extLst>
          </p:cNvPr>
          <p:cNvSpPr txBox="1"/>
          <p:nvPr/>
        </p:nvSpPr>
        <p:spPr>
          <a:xfrm>
            <a:off x="6286500" y="3232443"/>
            <a:ext cx="52758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effectLst/>
                <a:latin typeface="DM Sans" pitchFamily="2" charset="0"/>
              </a:defRPr>
            </a:lvl1pPr>
          </a:lstStyle>
          <a:p>
            <a:r>
              <a:rPr lang="zh-TW" altLang="en-US" dirty="0"/>
              <a:t>導入新聞情緒與總經指標分析。</a:t>
            </a:r>
          </a:p>
          <a:p>
            <a:r>
              <a:rPr lang="zh-TW" altLang="en-US" dirty="0"/>
              <a:t>開發 </a:t>
            </a:r>
            <a:r>
              <a:rPr lang="en-US" altLang="zh-TW" dirty="0"/>
              <a:t>LSTM-ARIMA </a:t>
            </a:r>
            <a:r>
              <a:rPr lang="zh-TW" altLang="en-US" dirty="0"/>
              <a:t>混合模型。</a:t>
            </a:r>
          </a:p>
          <a:p>
            <a:r>
              <a:rPr lang="zh-TW" altLang="en-US" dirty="0"/>
              <a:t>進行正式使用者 </a:t>
            </a:r>
            <a:r>
              <a:rPr lang="en-US" altLang="zh-TW" dirty="0"/>
              <a:t>SUS </a:t>
            </a:r>
            <a:r>
              <a:rPr lang="zh-TW" altLang="en-US" dirty="0"/>
              <a:t>量表研究。</a:t>
            </a:r>
            <a:endParaRPr lang="en-US" altLang="zh-TW" dirty="0"/>
          </a:p>
          <a:p>
            <a:r>
              <a:rPr lang="zh-TW" altLang="zh-TW" dirty="0"/>
              <a:t>擴大 LLM 迴歸樣本至完整測試集 </a:t>
            </a:r>
            <a:endParaRPr lang="en-US" altLang="zh-TW" dirty="0"/>
          </a:p>
          <a:p>
            <a:r>
              <a:rPr lang="zh-TW" altLang="zh-TW" dirty="0"/>
              <a:t>比較多種 LLM（Gemini、Llama、Gemma）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1634</TotalTime>
  <Words>5535</Words>
  <Application>Microsoft Office PowerPoint</Application>
  <PresentationFormat>寬螢幕</PresentationFormat>
  <Paragraphs>409</Paragraphs>
  <Slides>28</Slides>
  <Notes>28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28</vt:i4>
      </vt:variant>
    </vt:vector>
  </HeadingPairs>
  <TitlesOfParts>
    <vt:vector size="34" baseType="lpstr">
      <vt:lpstr>DM Sans</vt:lpstr>
      <vt:lpstr>Calibri</vt:lpstr>
      <vt:lpstr>Amasis MT Pro Medium</vt:lpstr>
      <vt:lpstr>Merriweather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子瑜 林</cp:lastModifiedBy>
  <cp:revision>137</cp:revision>
  <dcterms:modified xsi:type="dcterms:W3CDTF">2026-06-09T09:32:43Z</dcterms:modified>
</cp:coreProperties>
</file>