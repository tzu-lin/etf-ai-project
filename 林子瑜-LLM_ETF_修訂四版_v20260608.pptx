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30"/>
  </p:notesMasterIdLst>
  <p:sldIdLst>
    <p:sldId id="256" r:id="rId2"/>
    <p:sldId id="549" r:id="rId3"/>
    <p:sldId id="550" r:id="rId4"/>
    <p:sldId id="257" r:id="rId5"/>
    <p:sldId id="258" r:id="rId6"/>
    <p:sldId id="259" r:id="rId7"/>
    <p:sldId id="260" r:id="rId8"/>
    <p:sldId id="262" r:id="rId9"/>
    <p:sldId id="263" r:id="rId10"/>
    <p:sldId id="553" r:id="rId11"/>
    <p:sldId id="557" r:id="rId12"/>
    <p:sldId id="307" r:id="rId13"/>
    <p:sldId id="556" r:id="rId14"/>
    <p:sldId id="555" r:id="rId15"/>
    <p:sldId id="265" r:id="rId16"/>
    <p:sldId id="266" r:id="rId17"/>
    <p:sldId id="558" r:id="rId18"/>
    <p:sldId id="267" r:id="rId19"/>
    <p:sldId id="268" r:id="rId20"/>
    <p:sldId id="561" r:id="rId21"/>
    <p:sldId id="562" r:id="rId22"/>
    <p:sldId id="270" r:id="rId23"/>
    <p:sldId id="278" r:id="rId24"/>
    <p:sldId id="272" r:id="rId25"/>
    <p:sldId id="273" r:id="rId26"/>
    <p:sldId id="274" r:id="rId27"/>
    <p:sldId id="275" r:id="rId28"/>
    <p:sldId id="276" r:id="rId29"/>
  </p:sldIdLst>
  <p:sldSz cx="12192000" cy="6858000"/>
  <p:notesSz cx="6858000" cy="9144000"/>
  <p:embeddedFontLst>
    <p:embeddedFont>
      <p:font typeface="Amasis MT Pro Medium" panose="02040604050005020304" pitchFamily="18" charset="0"/>
      <p:regular r:id="rId31"/>
      <p:italic r:id="rId32"/>
    </p:embeddedFont>
    <p:embeddedFont>
      <p:font typeface="DM Sans" pitchFamily="2" charset="0"/>
      <p:regular r:id="rId33"/>
      <p:bold r:id="rId34"/>
      <p:italic r:id="rId35"/>
      <p:boldItalic r:id="rId36"/>
    </p:embeddedFont>
    <p:embeddedFont>
      <p:font typeface="Merriweather" panose="00000500000000000000" pitchFamily="2" charset="0"/>
      <p:regular r:id="rId37"/>
      <p:bold r:id="rId38"/>
      <p:italic r:id="rId39"/>
      <p:boldItalic r:id="rId40"/>
    </p:embeddedFont>
    <p:embeddedFont>
      <p:font typeface="標楷體" panose="03000509000000000000" pitchFamily="65" charset="-120"/>
      <p:regular r:id="rId4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EDC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C63394A8-6561-4F67-BD20-A1EB724447CB}">
  <a:tblStyle styleId="{C63394A8-6561-4F67-BD20-A1EB724447CB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tcBdr/>
        <a:fill>
          <a:solidFill>
            <a:srgbClr val="CFD7E7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FD7E7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125E5076-3810-47DD-B79F-674D7AD40C01}" styleName="深色樣式 1 - 輔色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69012ECD-51FC-41F1-AA8D-1B2483CD663E}" styleName="淺色樣式 2 - 輔色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6242" autoAdjust="0"/>
  </p:normalViewPr>
  <p:slideViewPr>
    <p:cSldViewPr snapToGrid="0">
      <p:cViewPr varScale="1">
        <p:scale>
          <a:sx n="60" d="100"/>
          <a:sy n="60" d="100"/>
        </p:scale>
        <p:origin x="60" y="109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-264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9.fntdata"/><Relationship Id="rId21" Type="http://schemas.openxmlformats.org/officeDocument/2006/relationships/slide" Target="slides/slide20.xml"/><Relationship Id="rId34" Type="http://schemas.openxmlformats.org/officeDocument/2006/relationships/font" Target="fonts/font4.fntdata"/><Relationship Id="rId42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2.fntdata"/><Relationship Id="rId37" Type="http://schemas.openxmlformats.org/officeDocument/2006/relationships/font" Target="fonts/font7.fntdata"/><Relationship Id="rId40" Type="http://schemas.openxmlformats.org/officeDocument/2006/relationships/font" Target="fonts/font10.fntdata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6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1.fntdata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35" Type="http://schemas.openxmlformats.org/officeDocument/2006/relationships/font" Target="fonts/font5.fntdata"/><Relationship Id="rId43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3.fntdata"/><Relationship Id="rId38" Type="http://schemas.openxmlformats.org/officeDocument/2006/relationships/font" Target="fonts/font8.fntdata"/><Relationship Id="rId20" Type="http://schemas.openxmlformats.org/officeDocument/2006/relationships/slide" Target="slides/slide19.xml"/><Relationship Id="rId41" Type="http://schemas.openxmlformats.org/officeDocument/2006/relationships/font" Target="fonts/font11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" name="Google Shape;9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marR="0" lvl="0" indent="-28575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zh-TW" altLang="en-US" sz="12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台美市場連動緊密，但缺乏直觀同步預測工具</a:t>
            </a:r>
            <a:endParaRPr lang="zh-TW" altLang="en-US" sz="1200" dirty="0">
              <a:solidFill>
                <a:srgbClr val="1E293B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285750" indent="-285750">
              <a:lnSpc>
                <a:spcPct val="160000"/>
              </a:lnSpc>
              <a:buFont typeface="Arial" panose="020B0604020202020204" pitchFamily="34" charset="0"/>
              <a:buChar char="•"/>
            </a:pPr>
            <a:r>
              <a:rPr lang="zh-TW" altLang="en-US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跨市場數據處理複雜度高，一般投資者難以負擔</a:t>
            </a:r>
            <a:endParaRPr lang="zh-TW" altLang="en-US" dirty="0"/>
          </a:p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zh-TW" alt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21" name="Google Shape;121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zh-TW" dirty="0"/>
              <a:t>由於 SPY、QQQ 股價約數百美元，而 0050.TW 僅數十至百餘元台幣，若採用 MSE 等絕對誤差指標，會因股價數值大小不同而無法跨市場比較。故本研究採用 MAPE，以「百分比」衡量誤差，消除價格尺度與幣別差異，使三個市場的預測難度能在同一基準上公平比較。</a:t>
            </a:r>
            <a:br>
              <a:rPr lang="en-US" altLang="zh-TW" dirty="0"/>
            </a:br>
            <a:r>
              <a:rPr lang="zh-TW" altLang="en-US" dirty="0"/>
              <a:t>程式在</a:t>
            </a:r>
            <a:r>
              <a:rPr lang="en-US" altLang="zh-TW" dirty="0" err="1"/>
              <a:t>github</a:t>
            </a:r>
            <a:r>
              <a:rPr lang="en-US" altLang="zh-TW" dirty="0"/>
              <a:t>-&gt;</a:t>
            </a:r>
            <a:r>
              <a:rPr lang="zh-TW" altLang="zh-TW" sz="11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arima_baseline.py</a:t>
            </a:r>
            <a:r>
              <a:rPr lang="zh-TW" altLang="zh-TW" dirty="0"/>
              <a:t>、</a:t>
            </a:r>
            <a:r>
              <a:rPr lang="zh-TW" altLang="zh-TW" sz="11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run_regression.py</a:t>
            </a:r>
            <a:r>
              <a:rPr lang="zh-TW" altLang="zh-TW" dirty="0"/>
              <a:t>、</a:t>
            </a:r>
            <a:r>
              <a:rPr lang="zh-TW" altLang="zh-TW" sz="11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run_lstm_regression.py</a:t>
            </a:r>
            <a:endParaRPr dirty="0"/>
          </a:p>
        </p:txBody>
      </p:sp>
      <p:sp>
        <p:nvSpPr>
          <p:cNvPr id="140" name="Google Shape;140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0" name="Google Shape;160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zh-TW" dirty="0"/>
              <a:t>ARIMA 是時間序列最常用的統計模型,我把它當作基準。它由三個元件組成,寫成 p、d、q:AR 自迴歸的 p,代表用過去 p 期的數值來預測,例如 AR(1) 就是今天主要受昨天影響;I 差分的 d,代表做 d 次差分把序列變成定態,這是 ARIMA 比 ARMA 多的地方;MA 移動平均的 q,是用過去的預測誤差來修正當期。我三個市場的最佳參數分別是 SPY(0,1,2)、QQQ(1,1,0)、0050(0,1,0),都是先用 ADF 檢定確認需要差分,再自動選參數定出來的。</a:t>
            </a:r>
            <a:endParaRPr dirty="0"/>
          </a:p>
        </p:txBody>
      </p:sp>
      <p:sp>
        <p:nvSpPr>
          <p:cNvPr id="194" name="Google Shape;194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zh-TW" dirty="0"/>
              <a:t>機器學習我用四個集成模型做迴歸：Random Forest 屬於 Bagging，降低變異數；XGBoost、AdaBoost、Gradient Boosting 屬於 Boosting，逐步修正前一棵樹的錯誤。這四個都需要人工特徵選擇，這點稍後會跟深度學習和 LLM 對比</a:t>
            </a:r>
            <a:br>
              <a:rPr lang="en-US" altLang="zh-TW" dirty="0"/>
            </a:br>
            <a:r>
              <a:rPr lang="zh-TW" altLang="zh-TW" dirty="0"/>
              <a:t>兩者都是 Boosting、都是循序修正錯誤，但修正方式不同。AdaBoost 是</a:t>
            </a:r>
            <a:r>
              <a:rPr lang="zh-TW" altLang="zh-TW" b="1" dirty="0"/>
              <a:t>調整樣本權重</a:t>
            </a:r>
            <a:r>
              <a:rPr lang="zh-TW" altLang="zh-TW" dirty="0"/>
              <a:t>——把上一輪預測錯比較多的樣本權重調高，讓下一棵樹更重視它；Gradient Boosting 則是</a:t>
            </a:r>
            <a:r>
              <a:rPr lang="zh-TW" altLang="zh-TW" b="1" dirty="0"/>
              <a:t>直接去擬合殘差</a:t>
            </a:r>
            <a:r>
              <a:rPr lang="zh-TW" altLang="zh-TW" dirty="0"/>
              <a:t>——沿著損失函數的梯度方向，讓下一棵樹補上前一棵的誤差。XGBoost 可以看成 Gradient Boosting 的進階版，多了正規化和系統層面的加速</a:t>
            </a:r>
            <a:endParaRPr dirty="0"/>
          </a:p>
        </p:txBody>
      </p:sp>
      <p:sp>
        <p:nvSpPr>
          <p:cNvPr id="203" name="Google Shape;203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1">
          <a:extLst>
            <a:ext uri="{FF2B5EF4-FFF2-40B4-BE49-F238E27FC236}">
              <a16:creationId xmlns:a16="http://schemas.microsoft.com/office/drawing/2014/main" id="{959CDA8A-12C7-F967-4009-772F6F0C1D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8:notes">
            <a:extLst>
              <a:ext uri="{FF2B5EF4-FFF2-40B4-BE49-F238E27FC236}">
                <a16:creationId xmlns:a16="http://schemas.microsoft.com/office/drawing/2014/main" id="{6D45493E-AB57-AFEA-FEE3-ADE1A469943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zh-TW" dirty="0"/>
              <a:t>機器學習我用四個集成模型做迴歸：Random Forest 屬於 Bagging，降低變異數；XGBoost、AdaBoost、Gradient Boosting 屬於 Boosting，逐步修正前一棵樹的錯誤。這四個都需要人工特徵選擇，這點稍後會跟深度學習和 LLM 對比</a:t>
            </a:r>
            <a:br>
              <a:rPr lang="en-US" altLang="zh-TW" dirty="0"/>
            </a:br>
            <a:r>
              <a:rPr lang="zh-TW" altLang="zh-TW" dirty="0"/>
              <a:t>兩者都是 Boosting、都是循序修正錯誤，但修正方式不同。AdaBoost 是</a:t>
            </a:r>
            <a:r>
              <a:rPr lang="zh-TW" altLang="zh-TW" b="1" dirty="0"/>
              <a:t>調整樣本權重</a:t>
            </a:r>
            <a:r>
              <a:rPr lang="zh-TW" altLang="zh-TW" dirty="0"/>
              <a:t>——把上一輪預測錯比較多的樣本權重調高，讓下一棵樹更重視它；Gradient Boosting 則是</a:t>
            </a:r>
            <a:r>
              <a:rPr lang="zh-TW" altLang="zh-TW" b="1" dirty="0"/>
              <a:t>直接去擬合殘差</a:t>
            </a:r>
            <a:r>
              <a:rPr lang="zh-TW" altLang="zh-TW" dirty="0"/>
              <a:t>——沿著損失函數的梯度方向，讓下一棵樹補上前一棵的誤差。XGBoost 可以看成 Gradient Boosting 的進階版，多了正規化和系統層面的加速</a:t>
            </a:r>
            <a:endParaRPr dirty="0"/>
          </a:p>
        </p:txBody>
      </p:sp>
      <p:sp>
        <p:nvSpPr>
          <p:cNvPr id="203" name="Google Shape;203;p8:notes">
            <a:extLst>
              <a:ext uri="{FF2B5EF4-FFF2-40B4-BE49-F238E27FC236}">
                <a16:creationId xmlns:a16="http://schemas.microsoft.com/office/drawing/2014/main" id="{71ED5A95-C654-A2B5-0E09-0FFD28A5E6B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281044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0">
          <a:extLst>
            <a:ext uri="{FF2B5EF4-FFF2-40B4-BE49-F238E27FC236}">
              <a16:creationId xmlns:a16="http://schemas.microsoft.com/office/drawing/2014/main" id="{6DC33C8D-1107-B90B-BBD0-170A6F8775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9:notes">
            <a:extLst>
              <a:ext uri="{FF2B5EF4-FFF2-40B4-BE49-F238E27FC236}">
                <a16:creationId xmlns:a16="http://schemas.microsoft.com/office/drawing/2014/main" id="{56CAF279-6EAE-F736-5C9B-02FD9987636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zh-TW" dirty="0"/>
              <a:t>這是 LSTM 的內部結構。最上面那條貫穿的線是細胞狀態,可以想像成一條傳送帶,記憶在上面流動。它靠三個閘門控制:遺忘閘門決定丟掉哪些舊資訊、輸入閘門決定存入哪些新資訊、輸出閘門決定輸出什麼。圖中 σ 是 Sigmoid、tanh 是雙曲正切,負責非線性轉換;Xₜ 是輸入,Cₜ₋₁ 和 hₜ₋₁ 是上一個時點傳來的記憶和輸出。這個閘門設計讓 LSTM 能記住長期依賴,所以很適合股價這種時間序列。</a:t>
            </a:r>
            <a:endParaRPr dirty="0"/>
          </a:p>
        </p:txBody>
      </p:sp>
      <p:sp>
        <p:nvSpPr>
          <p:cNvPr id="222" name="Google Shape;222;p9:notes">
            <a:extLst>
              <a:ext uri="{FF2B5EF4-FFF2-40B4-BE49-F238E27FC236}">
                <a16:creationId xmlns:a16="http://schemas.microsoft.com/office/drawing/2014/main" id="{015EF8DC-3E3F-A956-5AEA-B3F92ADF011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1873283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0">
          <a:extLst>
            <a:ext uri="{FF2B5EF4-FFF2-40B4-BE49-F238E27FC236}">
              <a16:creationId xmlns:a16="http://schemas.microsoft.com/office/drawing/2014/main" id="{E4D6E503-A0DC-8D6D-E543-632E8D9522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9:notes">
            <a:extLst>
              <a:ext uri="{FF2B5EF4-FFF2-40B4-BE49-F238E27FC236}">
                <a16:creationId xmlns:a16="http://schemas.microsoft.com/office/drawing/2014/main" id="{02C4EDFE-DC29-5B01-9729-6201EA8A443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zh-TW" dirty="0"/>
              <a:t>這是 LSTM 的內部結構。最上面那條貫穿的線是細胞狀態,可以想像成一條傳送帶,記憶在上面流動。它靠三個閘門控制:遺忘閘門決定丟掉哪些舊資訊、輸入閘門決定存入哪些新資訊、輸出閘門決定輸出什麼。圖中 σ 是 Sigmoid、tanh 是雙曲正切,負責非線性轉換;Xₜ 是輸入,Cₜ₋₁ 和 hₜ₋₁ 是上一個時點傳來的記憶和輸出。這個閘門設計讓 LSTM 能記住長期依賴,所以很適合股價這種時間序列。</a:t>
            </a:r>
            <a:endParaRPr dirty="0"/>
          </a:p>
        </p:txBody>
      </p:sp>
      <p:sp>
        <p:nvSpPr>
          <p:cNvPr id="222" name="Google Shape;222;p9:notes">
            <a:extLst>
              <a:ext uri="{FF2B5EF4-FFF2-40B4-BE49-F238E27FC236}">
                <a16:creationId xmlns:a16="http://schemas.microsoft.com/office/drawing/2014/main" id="{63DD07D6-9217-DC52-0A51-E600B8F63C3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0072543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1">
          <a:extLst>
            <a:ext uri="{FF2B5EF4-FFF2-40B4-BE49-F238E27FC236}">
              <a16:creationId xmlns:a16="http://schemas.microsoft.com/office/drawing/2014/main" id="{8CBBD7EA-BA22-5FCB-98A3-B9B4AF6EDA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8:notes">
            <a:extLst>
              <a:ext uri="{FF2B5EF4-FFF2-40B4-BE49-F238E27FC236}">
                <a16:creationId xmlns:a16="http://schemas.microsoft.com/office/drawing/2014/main" id="{094B4CE2-E374-997C-29E2-955C7EF9F73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zh-TW" dirty="0"/>
              <a:t>機器學習我用四個集成模型做迴歸：Random Forest 屬於 Bagging，降低變異數；XGBoost、AdaBoost、Gradient Boosting 屬於 Boosting，逐步修正前一棵樹的錯誤。這四個都需要人工特徵選擇，這點稍後會跟深度學習和 LLM 對比</a:t>
            </a:r>
            <a:br>
              <a:rPr lang="en-US" altLang="zh-TW" dirty="0"/>
            </a:br>
            <a:r>
              <a:rPr lang="zh-TW" altLang="zh-TW" dirty="0"/>
              <a:t>兩者都是 Boosting、都是循序修正錯誤，但修正方式不同。AdaBoost 是</a:t>
            </a:r>
            <a:r>
              <a:rPr lang="zh-TW" altLang="zh-TW" b="1" dirty="0"/>
              <a:t>調整樣本權重</a:t>
            </a:r>
            <a:r>
              <a:rPr lang="zh-TW" altLang="zh-TW" dirty="0"/>
              <a:t>——把上一輪預測錯比較多的樣本權重調高，讓下一棵樹更重視它；Gradient Boosting 則是</a:t>
            </a:r>
            <a:r>
              <a:rPr lang="zh-TW" altLang="zh-TW" b="1" dirty="0"/>
              <a:t>直接去擬合殘差</a:t>
            </a:r>
            <a:r>
              <a:rPr lang="zh-TW" altLang="zh-TW" dirty="0"/>
              <a:t>——沿著損失函數的梯度方向，讓下一棵樹補上前一棵的誤差。XGBoost 可以看成 Gradient Boosting 的進階版，多了正規化和系統層面的加速</a:t>
            </a:r>
            <a:endParaRPr dirty="0"/>
          </a:p>
        </p:txBody>
      </p:sp>
      <p:sp>
        <p:nvSpPr>
          <p:cNvPr id="203" name="Google Shape;203;p8:notes">
            <a:extLst>
              <a:ext uri="{FF2B5EF4-FFF2-40B4-BE49-F238E27FC236}">
                <a16:creationId xmlns:a16="http://schemas.microsoft.com/office/drawing/2014/main" id="{496954F9-106B-C699-2CF8-903C2857B1A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4955987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zh-TW" dirty="0"/>
              <a:t>LLM 我用兩個。GPT-3.5 做漲跌分類，F1 大約 0.48，明顯比傳統模型差——這其實是預期的，因為 LLM 不擅長純數值分類。另一個用 Gemini 做小樣本的數值迴歸探索，兩個都是免費額度。它們的定位是輔助解釋，不是主要預測引擎</a:t>
            </a:r>
            <a:endParaRPr dirty="0"/>
          </a:p>
        </p:txBody>
      </p:sp>
      <p:sp>
        <p:nvSpPr>
          <p:cNvPr id="238" name="Google Shape;238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zh-TW" dirty="0"/>
              <a:t>流程上要特別說明交叉驗證。一般 K-Fold 會打亂順序，但時間序列一打亂就會用到未來資料、造成洩漏。所以我用 TimeSeriesSplit，每次訓練集都只用測試集之前的歷史，這對金融預測非常關鍵。</a:t>
            </a:r>
            <a:endParaRPr dirty="0"/>
          </a:p>
        </p:txBody>
      </p:sp>
      <p:sp>
        <p:nvSpPr>
          <p:cNvPr id="256" name="Google Shape;256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4">
          <a:extLst>
            <a:ext uri="{FF2B5EF4-FFF2-40B4-BE49-F238E27FC236}">
              <a16:creationId xmlns:a16="http://schemas.microsoft.com/office/drawing/2014/main" id="{63BC11B1-CB7F-90B0-D6EA-568F13DF67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11:notes">
            <a:extLst>
              <a:ext uri="{FF2B5EF4-FFF2-40B4-BE49-F238E27FC236}">
                <a16:creationId xmlns:a16="http://schemas.microsoft.com/office/drawing/2014/main" id="{B16D19E2-87CD-CAE4-A0B6-30A661297B5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zh-TW" dirty="0"/>
              <a:t>流程上要特別說明交叉驗證。一般 K-Fold 會打亂順序，但時間序列一打亂就會用到未來資料、造成洩漏。所以我用 TimeSeriesSplit，每次訓練集都只用測試集之前的歷史，這對金融預測非常關鍵。</a:t>
            </a:r>
            <a:endParaRPr dirty="0"/>
          </a:p>
        </p:txBody>
      </p:sp>
      <p:sp>
        <p:nvSpPr>
          <p:cNvPr id="256" name="Google Shape;256;p11:notes">
            <a:extLst>
              <a:ext uri="{FF2B5EF4-FFF2-40B4-BE49-F238E27FC236}">
                <a16:creationId xmlns:a16="http://schemas.microsoft.com/office/drawing/2014/main" id="{62CAC9D2-2996-571F-259C-B2E1C4637DB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1374699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zh-TW" dirty="0"/>
              <a:t>資料是三檔 ETF：SPY、QQQ、0050，2016 到 2026 的日資料，特徵用 OHLCV 加上 MA、RSI、波動率，全部以 TimeSeriesSplit 驗證。</a:t>
            </a:r>
            <a:endParaRPr dirty="0"/>
          </a:p>
        </p:txBody>
      </p:sp>
      <p:sp>
        <p:nvSpPr>
          <p:cNvPr id="285" name="Google Shape;285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zh-TW" dirty="0"/>
              <a:t>這是 SPY 的分類結果。最左邊灰色是我加的『永遠猜漲』基準，F1 是 0.736，我用紅色虛線標出來。可以看到四個模型的 F1 全部貼著這條線、甚至更低——最好的雙層 LSTM 也只有 0.733，跟基準打平。這代表在多頭期間，分類的高 F1 主要來自市場本身上漲的偏態，模型並沒有真正超越無腦策略。這就是我把分類定位成輔助、把重心放到後面迴歸和 LLM 的原因。</a:t>
            </a:r>
            <a:endParaRPr dirty="0"/>
          </a:p>
        </p:txBody>
      </p:sp>
      <p:sp>
        <p:nvSpPr>
          <p:cNvPr id="303" name="Google Shape;303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1">
          <a:extLst>
            <a:ext uri="{FF2B5EF4-FFF2-40B4-BE49-F238E27FC236}">
              <a16:creationId xmlns:a16="http://schemas.microsoft.com/office/drawing/2014/main" id="{F3AA928B-6B71-FB8E-4357-CFE0A29D60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15:notes">
            <a:extLst>
              <a:ext uri="{FF2B5EF4-FFF2-40B4-BE49-F238E27FC236}">
                <a16:creationId xmlns:a16="http://schemas.microsoft.com/office/drawing/2014/main" id="{4FC9BD5C-0D50-043D-DA86-B6CEB5AD455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3" name="Google Shape;333;p15:notes">
            <a:extLst>
              <a:ext uri="{FF2B5EF4-FFF2-40B4-BE49-F238E27FC236}">
                <a16:creationId xmlns:a16="http://schemas.microsoft.com/office/drawing/2014/main" id="{4480DBDE-DF67-4FD4-B629-1FE441F8B0B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6056068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1">
          <a:extLst>
            <a:ext uri="{FF2B5EF4-FFF2-40B4-BE49-F238E27FC236}">
              <a16:creationId xmlns:a16="http://schemas.microsoft.com/office/drawing/2014/main" id="{F9DE7C20-BD57-C8ED-67ED-6D9672E2F4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15:notes">
            <a:extLst>
              <a:ext uri="{FF2B5EF4-FFF2-40B4-BE49-F238E27FC236}">
                <a16:creationId xmlns:a16="http://schemas.microsoft.com/office/drawing/2014/main" id="{490899E8-C20F-7520-AF27-017310AA5B4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3" name="Google Shape;333;p15:notes">
            <a:extLst>
              <a:ext uri="{FF2B5EF4-FFF2-40B4-BE49-F238E27FC236}">
                <a16:creationId xmlns:a16="http://schemas.microsoft.com/office/drawing/2014/main" id="{640B5A1F-1502-3303-674A-2BE5B10CE99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4142958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zh-TW" dirty="0"/>
              <a:t>迴歸的結論有三點。第一,用 MAPE 跨市場比較,三個市場的排序都一致:ARIMA 最好、LSTM 次之、樹模型最差,代表在價格預測上,簡單的統計模型反而比複雜模型穩定。第二,樹模型表現最差不是調參問題,是它無法預測超出訓練範圍的新高價,這是結構限制。第三,LLM 是亮點——GPT-4o-mini 在三個市場小樣本上 R² 都穩定在 0.80,不用訓練、只靠提示就能做到,展現它的潛力。整體來說,複雜不一定好,而 LLM 跨市場一致性高,值得後續擴大驗證。</a:t>
            </a:r>
            <a:endParaRPr dirty="0"/>
          </a:p>
        </p:txBody>
      </p:sp>
      <p:sp>
        <p:nvSpPr>
          <p:cNvPr id="333" name="Google Shape;333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1">
          <a:extLst>
            <a:ext uri="{FF2B5EF4-FFF2-40B4-BE49-F238E27FC236}">
              <a16:creationId xmlns:a16="http://schemas.microsoft.com/office/drawing/2014/main" id="{D265B3C7-2463-84DC-3480-DC40C28BEE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15:notes">
            <a:extLst>
              <a:ext uri="{FF2B5EF4-FFF2-40B4-BE49-F238E27FC236}">
                <a16:creationId xmlns:a16="http://schemas.microsoft.com/office/drawing/2014/main" id="{5D9BF4EB-97F8-8C15-88BD-0B5BD5BA1DC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zh-TW" dirty="0"/>
              <a:t>這頁是迴歸的收尾，分兩塊看。左邊是傳統四個模型預測『報酬率』的結果，R² 全部接近 0 甚至為負，比直接猜 0% 還差——這正好驗證隨機漫步理論，次日漲跌幅本來就難預測。右邊是 LLM 的探索：GPT-4o-mini 在 50 筆小樣本上 R² 是 0.80，看起來不錯，但因為樣本太少、又跟傳統模型不是同一個驗證基準，我只把它定位成潛力探索，不做直接比較。整體來說，迴歸這部分告訴我們：價格水準預測贏不過基準、報酬率預測接近隨機，所以真正的價值在於分類輔助和 LLM 的可解釋性。</a:t>
            </a:r>
            <a:endParaRPr dirty="0"/>
          </a:p>
        </p:txBody>
      </p:sp>
      <p:sp>
        <p:nvSpPr>
          <p:cNvPr id="333" name="Google Shape;333;p15:notes">
            <a:extLst>
              <a:ext uri="{FF2B5EF4-FFF2-40B4-BE49-F238E27FC236}">
                <a16:creationId xmlns:a16="http://schemas.microsoft.com/office/drawing/2014/main" id="{B64CD026-CCE8-5E70-4609-5E0BAA084CC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5222786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Google Shape;352;p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r>
              <a:rPr lang="zh-TW" altLang="zh-TW" dirty="0"/>
              <a:t>平台用 Streamlit 加 Plotly、SQLite，串接 GPT 或 Gemini 產生風險摘要，端對端延遲 840 毫秒，一般電腦、不用 GPU 就能跑。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353" name="Google Shape;353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4" name="Google Shape;374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Google Shape;386;p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zh-TW" dirty="0"/>
              <a:t>綜合發現有三點：沒有單一冠軍模型，不同市場最佳模型不同；迴歸顯示次日走勢本質難預測；所以 LLM 定位在解釋型輔助，而不是當主要算力引擎。</a:t>
            </a:r>
            <a:endParaRPr dirty="0"/>
          </a:p>
        </p:txBody>
      </p:sp>
      <p:sp>
        <p:nvSpPr>
          <p:cNvPr id="387" name="Google Shape;387;p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405;p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6" name="Google Shape;406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0" name="Google Shape;430;p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0" r:id="rId2"/>
    <p:sldLayoutId id="2147483651" r:id="rId3"/>
    <p:sldLayoutId id="2147483652" r:id="rId4"/>
    <p:sldLayoutId id="2147483654" r:id="rId5"/>
    <p:sldLayoutId id="2147483655" r:id="rId6"/>
    <p:sldLayoutId id="2147483656" r:id="rId7"/>
    <p:sldLayoutId id="2147483658" r:id="rId8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Relationship Id="rId9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6.png"/><Relationship Id="rId4" Type="http://schemas.microsoft.com/office/2007/relationships/hdphoto" Target="../media/hdphoto1.wdp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microsoft.com/office/2007/relationships/hdphoto" Target="../media/hdphoto1.wdp"/><Relationship Id="rId4" Type="http://schemas.openxmlformats.org/officeDocument/2006/relationships/image" Target="../media/image2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4" Type="http://schemas.microsoft.com/office/2007/relationships/hdphoto" Target="../media/hdphoto1.wdp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9.png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3.png"/><Relationship Id="rId4" Type="http://schemas.microsoft.com/office/2007/relationships/hdphoto" Target="../media/hdphoto1.wdp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3.png"/><Relationship Id="rId4" Type="http://schemas.openxmlformats.org/officeDocument/2006/relationships/image" Target="../media/image42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5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7.png"/><Relationship Id="rId4" Type="http://schemas.openxmlformats.org/officeDocument/2006/relationships/image" Target="../media/image46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8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9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3.png"/><Relationship Id="rId5" Type="http://schemas.openxmlformats.org/officeDocument/2006/relationships/image" Target="../media/image52.png"/><Relationship Id="rId4" Type="http://schemas.openxmlformats.org/officeDocument/2006/relationships/image" Target="../media/image51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5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7" Type="http://schemas.openxmlformats.org/officeDocument/2006/relationships/image" Target="../media/image59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8.png"/><Relationship Id="rId5" Type="http://schemas.openxmlformats.org/officeDocument/2006/relationships/image" Target="../media/image57.png"/><Relationship Id="rId4" Type="http://schemas.openxmlformats.org/officeDocument/2006/relationships/image" Target="../media/image5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1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5.png"/><Relationship Id="rId5" Type="http://schemas.openxmlformats.org/officeDocument/2006/relationships/image" Target="../media/image64.png"/><Relationship Id="rId4" Type="http://schemas.openxmlformats.org/officeDocument/2006/relationships/image" Target="../media/image6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147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3"/>
          <p:cNvSpPr txBox="1"/>
          <p:nvPr/>
        </p:nvSpPr>
        <p:spPr>
          <a:xfrm>
            <a:off x="1315402" y="1571922"/>
            <a:ext cx="9561195" cy="13603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 i="0" u="none" strike="noStrike" cap="none" dirty="0">
                <a:solidFill>
                  <a:srgbClr val="F3F0DF"/>
                </a:solidFill>
                <a:latin typeface="Merriweather"/>
                <a:ea typeface="Merriweather"/>
                <a:cs typeface="Merriweather"/>
                <a:sym typeface="Merriweather"/>
              </a:rPr>
              <a:t>LLM-ETF：</a:t>
            </a:r>
          </a:p>
          <a:p>
            <a:pPr marL="0" marR="0" lvl="0" indent="0" algn="ct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i="0" u="none" strike="noStrike" cap="none" dirty="0" err="1">
                <a:solidFill>
                  <a:srgbClr val="F3F0DF"/>
                </a:solidFill>
                <a:latin typeface="Merriweather"/>
                <a:ea typeface="Merriweather"/>
                <a:cs typeface="Merriweather"/>
                <a:sym typeface="Merriweather"/>
              </a:rPr>
              <a:t>基於大語言模型輔助之跨市場</a:t>
            </a:r>
            <a:r>
              <a:rPr lang="en-US" sz="2800" b="1" i="0" u="none" strike="noStrike" cap="none" dirty="0">
                <a:solidFill>
                  <a:srgbClr val="F3F0DF"/>
                </a:solidFill>
                <a:latin typeface="Merriweather"/>
                <a:ea typeface="Merriweather"/>
                <a:cs typeface="Merriweather"/>
                <a:sym typeface="Merriweather"/>
              </a:rPr>
              <a:t> ETF </a:t>
            </a:r>
            <a:r>
              <a:rPr lang="en-US" sz="2800" b="1" i="0" u="none" strike="noStrike" cap="none" dirty="0" err="1">
                <a:solidFill>
                  <a:srgbClr val="F3F0DF"/>
                </a:solidFill>
                <a:latin typeface="Merriweather"/>
                <a:ea typeface="Merriweather"/>
                <a:cs typeface="Merriweather"/>
                <a:sym typeface="Merriweather"/>
              </a:rPr>
              <a:t>趨勢預測與模型比較研究</a:t>
            </a:r>
            <a:endParaRPr sz="2800" dirty="0"/>
          </a:p>
        </p:txBody>
      </p:sp>
      <p:sp>
        <p:nvSpPr>
          <p:cNvPr id="86" name="Google Shape;86;p13"/>
          <p:cNvSpPr txBox="1"/>
          <p:nvPr/>
        </p:nvSpPr>
        <p:spPr>
          <a:xfrm>
            <a:off x="0" y="3465314"/>
            <a:ext cx="12192000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 dirty="0">
                <a:solidFill>
                  <a:srgbClr val="D4AF37"/>
                </a:solidFill>
                <a:latin typeface="DM Sans"/>
                <a:ea typeface="DM Sans"/>
                <a:cs typeface="DM Sans"/>
                <a:sym typeface="DM Sans"/>
              </a:rPr>
              <a:t>Graduate School of Information Engineering</a:t>
            </a: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 dirty="0">
                <a:solidFill>
                  <a:srgbClr val="D4AF37"/>
                </a:solidFill>
                <a:latin typeface="DM Sans"/>
                <a:ea typeface="DM Sans"/>
                <a:cs typeface="DM Sans"/>
                <a:sym typeface="DM Sans"/>
              </a:rPr>
              <a:t>Kun Shan University</a:t>
            </a:r>
          </a:p>
        </p:txBody>
      </p:sp>
      <p:sp>
        <p:nvSpPr>
          <p:cNvPr id="87" name="Google Shape;87;p13"/>
          <p:cNvSpPr txBox="1"/>
          <p:nvPr/>
        </p:nvSpPr>
        <p:spPr>
          <a:xfrm>
            <a:off x="-1" y="4644665"/>
            <a:ext cx="12192000" cy="19009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8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650" b="0" i="0" u="none" strike="noStrike" cap="none" dirty="0">
                <a:solidFill>
                  <a:srgbClr val="F3F0DF"/>
                </a:solidFill>
                <a:latin typeface="DM Sans"/>
                <a:ea typeface="DM Sans"/>
                <a:cs typeface="DM Sans"/>
                <a:sym typeface="DM Sans"/>
              </a:rPr>
              <a:t>研究生：林子瑜		 </a:t>
            </a:r>
            <a:r>
              <a:rPr lang="en-US" sz="1650" b="0" i="0" u="none" strike="noStrike" cap="none" dirty="0">
                <a:solidFill>
                  <a:srgbClr val="F3F0DF"/>
                </a:solidFill>
                <a:latin typeface="DM Sans"/>
                <a:ea typeface="DM Sans"/>
                <a:cs typeface="DM Sans"/>
                <a:sym typeface="DM Sans"/>
              </a:rPr>
              <a:t>Tzu-Yu Lin</a:t>
            </a:r>
          </a:p>
          <a:p>
            <a:pPr marL="0" marR="0" lvl="0" indent="0" algn="ctr" rtl="0">
              <a:lnSpc>
                <a:spcPct val="18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650" b="0" i="0" u="none" strike="noStrike" cap="none" dirty="0">
                <a:solidFill>
                  <a:srgbClr val="F3F0DF"/>
                </a:solidFill>
                <a:latin typeface="DM Sans"/>
                <a:ea typeface="DM Sans"/>
                <a:cs typeface="DM Sans"/>
                <a:sym typeface="DM Sans"/>
              </a:rPr>
              <a:t>指導教授：李冠榮	副教授　　　　</a:t>
            </a:r>
            <a:r>
              <a:rPr lang="en-US" sz="1650" b="0" i="0" u="none" strike="noStrike" cap="none" dirty="0">
                <a:solidFill>
                  <a:srgbClr val="F3F0DF"/>
                </a:solidFill>
                <a:latin typeface="DM Sans"/>
                <a:ea typeface="DM Sans"/>
                <a:cs typeface="DM Sans"/>
                <a:sym typeface="DM Sans"/>
              </a:rPr>
              <a:t>Kuan-Rong Lee</a:t>
            </a:r>
          </a:p>
          <a:p>
            <a:pPr marL="0" marR="0" lvl="0" indent="0" algn="ctr" rtl="0">
              <a:lnSpc>
                <a:spcPct val="183333"/>
              </a:lnSpc>
              <a:spcBef>
                <a:spcPts val="0"/>
              </a:spcBef>
              <a:spcAft>
                <a:spcPts val="0"/>
              </a:spcAft>
              <a:buNone/>
            </a:pPr>
            <a:br>
              <a:rPr lang="en-US"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650" dirty="0">
                <a:solidFill>
                  <a:srgbClr val="F3F0DF"/>
                </a:solidFill>
                <a:latin typeface="DM Sans"/>
                <a:ea typeface="Calibri"/>
                <a:cs typeface="Calibri"/>
                <a:sym typeface="DM Sans"/>
              </a:rPr>
              <a:t>JUN , 2026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FA31407-651A-0009-080B-59204639F0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7FE43EAE-242F-3CA0-B178-EA17BDEF10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1D8B46B7-E8BB-751D-9B4B-6CDDBFA462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25303" y="267645"/>
            <a:ext cx="6011114" cy="6134956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C5DDE8B1-B1CC-3A2F-A5B0-B76A628BF8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585" y="86884"/>
            <a:ext cx="4862195" cy="64964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181982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18D0549-7C53-2918-8D11-23270EC03F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1ECA2BF9-F246-5CA9-EC83-E203826B8E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79FBBE74-1419-68CB-E1E1-FCF6C62335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77673" y="0"/>
            <a:ext cx="543665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02028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3" name="Google Shape;93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71500" y="2030313"/>
            <a:ext cx="3524250" cy="18954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333875" y="2030313"/>
            <a:ext cx="3524250" cy="18954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096250" y="2030313"/>
            <a:ext cx="3524250" cy="18954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71500" y="4163913"/>
            <a:ext cx="3524250" cy="18954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333875" y="4163913"/>
            <a:ext cx="3524250" cy="18954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096250" y="4163913"/>
            <a:ext cx="3524250" cy="18954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14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119312" y="2316063"/>
            <a:ext cx="428625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00" name="Google Shape;100;p14"/>
          <p:cNvSpPr txBox="1"/>
          <p:nvPr/>
        </p:nvSpPr>
        <p:spPr>
          <a:xfrm>
            <a:off x="783431" y="3049488"/>
            <a:ext cx="3100387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前言</a:t>
            </a:r>
            <a:endParaRPr/>
          </a:p>
        </p:txBody>
      </p:sp>
      <p:sp>
        <p:nvSpPr>
          <p:cNvPr id="101" name="Google Shape;101;p14"/>
          <p:cNvSpPr txBox="1"/>
          <p:nvPr/>
        </p:nvSpPr>
        <p:spPr>
          <a:xfrm>
            <a:off x="857250" y="3430488"/>
            <a:ext cx="2952750" cy="209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背景、動機與研究問題</a:t>
            </a:r>
            <a:endParaRPr/>
          </a:p>
        </p:txBody>
      </p:sp>
      <p:pic>
        <p:nvPicPr>
          <p:cNvPr id="102" name="Google Shape;102;p14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905500" y="2316063"/>
            <a:ext cx="381000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14"/>
          <p:cNvSpPr txBox="1"/>
          <p:nvPr/>
        </p:nvSpPr>
        <p:spPr>
          <a:xfrm>
            <a:off x="4545806" y="3049488"/>
            <a:ext cx="3100387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分析主題</a:t>
            </a:r>
            <a:endParaRPr/>
          </a:p>
        </p:txBody>
      </p:sp>
      <p:sp>
        <p:nvSpPr>
          <p:cNvPr id="104" name="Google Shape;104;p14"/>
          <p:cNvSpPr txBox="1"/>
          <p:nvPr/>
        </p:nvSpPr>
        <p:spPr>
          <a:xfrm>
            <a:off x="4619625" y="3430488"/>
            <a:ext cx="2952750" cy="209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 err="1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分類問題與迴歸問題</a:t>
            </a:r>
            <a:endParaRPr dirty="0"/>
          </a:p>
        </p:txBody>
      </p:sp>
      <p:pic>
        <p:nvPicPr>
          <p:cNvPr id="105" name="Google Shape;105;p14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9667875" y="2316063"/>
            <a:ext cx="381000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06" name="Google Shape;106;p14"/>
          <p:cNvSpPr txBox="1"/>
          <p:nvPr/>
        </p:nvSpPr>
        <p:spPr>
          <a:xfrm>
            <a:off x="8308181" y="3049488"/>
            <a:ext cx="3100387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模型介紹</a:t>
            </a:r>
            <a:endParaRPr/>
          </a:p>
        </p:txBody>
      </p:sp>
      <p:sp>
        <p:nvSpPr>
          <p:cNvPr id="107" name="Google Shape;107;p14"/>
          <p:cNvSpPr txBox="1"/>
          <p:nvPr/>
        </p:nvSpPr>
        <p:spPr>
          <a:xfrm>
            <a:off x="8382000" y="3430488"/>
            <a:ext cx="2952750" cy="209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 err="1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跨世代模型架構分析</a:t>
            </a:r>
            <a:endParaRPr dirty="0"/>
          </a:p>
        </p:txBody>
      </p:sp>
      <p:pic>
        <p:nvPicPr>
          <p:cNvPr id="108" name="Google Shape;108;p14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2095500" y="4449663"/>
            <a:ext cx="476250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14"/>
          <p:cNvSpPr txBox="1"/>
          <p:nvPr/>
        </p:nvSpPr>
        <p:spPr>
          <a:xfrm>
            <a:off x="783431" y="5183088"/>
            <a:ext cx="3100387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研究流程</a:t>
            </a:r>
            <a:endParaRPr/>
          </a:p>
        </p:txBody>
      </p:sp>
      <p:sp>
        <p:nvSpPr>
          <p:cNvPr id="110" name="Google Shape;110;p14"/>
          <p:cNvSpPr txBox="1"/>
          <p:nvPr/>
        </p:nvSpPr>
        <p:spPr>
          <a:xfrm>
            <a:off x="857250" y="5564088"/>
            <a:ext cx="2952750" cy="209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數據處理與實驗設計</a:t>
            </a:r>
            <a:endParaRPr/>
          </a:p>
        </p:txBody>
      </p:sp>
      <p:pic>
        <p:nvPicPr>
          <p:cNvPr id="111" name="Google Shape;111;p14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5929312" y="4449663"/>
            <a:ext cx="333375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14"/>
          <p:cNvSpPr txBox="1"/>
          <p:nvPr/>
        </p:nvSpPr>
        <p:spPr>
          <a:xfrm>
            <a:off x="4545806" y="5183088"/>
            <a:ext cx="3100387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實驗結果</a:t>
            </a:r>
            <a:endParaRPr/>
          </a:p>
        </p:txBody>
      </p:sp>
      <p:sp>
        <p:nvSpPr>
          <p:cNvPr id="113" name="Google Shape;113;p14"/>
          <p:cNvSpPr txBox="1"/>
          <p:nvPr/>
        </p:nvSpPr>
        <p:spPr>
          <a:xfrm>
            <a:off x="4619625" y="5564088"/>
            <a:ext cx="2952750" cy="209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跨市場表現評估指標</a:t>
            </a:r>
            <a:endParaRPr/>
          </a:p>
        </p:txBody>
      </p:sp>
      <p:pic>
        <p:nvPicPr>
          <p:cNvPr id="114" name="Google Shape;114;p14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9691687" y="4449663"/>
            <a:ext cx="333375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15" name="Google Shape;115;p14"/>
          <p:cNvSpPr txBox="1"/>
          <p:nvPr/>
        </p:nvSpPr>
        <p:spPr>
          <a:xfrm>
            <a:off x="8308181" y="5183088"/>
            <a:ext cx="3100387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結論</a:t>
            </a:r>
            <a:endParaRPr/>
          </a:p>
        </p:txBody>
      </p:sp>
      <p:sp>
        <p:nvSpPr>
          <p:cNvPr id="116" name="Google Shape;116;p14"/>
          <p:cNvSpPr txBox="1"/>
          <p:nvPr/>
        </p:nvSpPr>
        <p:spPr>
          <a:xfrm>
            <a:off x="8382000" y="5564088"/>
            <a:ext cx="2952750" cy="209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 err="1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關鍵發現與未來方向</a:t>
            </a:r>
            <a:endParaRPr dirty="0"/>
          </a:p>
        </p:txBody>
      </p:sp>
      <p:sp>
        <p:nvSpPr>
          <p:cNvPr id="117" name="Google Shape;117;p14"/>
          <p:cNvSpPr txBox="1"/>
          <p:nvPr/>
        </p:nvSpPr>
        <p:spPr>
          <a:xfrm>
            <a:off x="809625" y="919311"/>
            <a:ext cx="11351418" cy="502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簡報大綱 Agenda</a:t>
            </a:r>
            <a:endParaRPr/>
          </a:p>
        </p:txBody>
      </p:sp>
      <p:sp>
        <p:nvSpPr>
          <p:cNvPr id="118" name="Google Shape;118;p14"/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1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71500" y="2035327"/>
            <a:ext cx="4334870" cy="1773956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1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3983711"/>
            <a:ext cx="4334870" cy="1929615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5"/>
          <p:cNvSpPr txBox="1"/>
          <p:nvPr/>
        </p:nvSpPr>
        <p:spPr>
          <a:xfrm>
            <a:off x="866775" y="2330601"/>
            <a:ext cx="4980622" cy="300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50" b="1" i="0" u="none" strike="noStrike" cap="none" dirty="0" err="1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資訊不對稱</a:t>
            </a:r>
            <a:endParaRPr dirty="0"/>
          </a:p>
        </p:txBody>
      </p:sp>
      <p:sp>
        <p:nvSpPr>
          <p:cNvPr id="127" name="Google Shape;127;p15"/>
          <p:cNvSpPr txBox="1"/>
          <p:nvPr/>
        </p:nvSpPr>
        <p:spPr>
          <a:xfrm>
            <a:off x="866775" y="4283467"/>
            <a:ext cx="4980622" cy="300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50" b="1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AI </a:t>
            </a:r>
            <a:r>
              <a:rPr lang="en-US" sz="1950" b="1" i="0" u="none" strike="noStrike" cap="none" dirty="0" err="1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潛力</a:t>
            </a:r>
            <a:endParaRPr dirty="0"/>
          </a:p>
        </p:txBody>
      </p:sp>
      <p:sp>
        <p:nvSpPr>
          <p:cNvPr id="136" name="Google Shape;136;p15"/>
          <p:cNvSpPr txBox="1"/>
          <p:nvPr/>
        </p:nvSpPr>
        <p:spPr>
          <a:xfrm>
            <a:off x="809625" y="856727"/>
            <a:ext cx="11351418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 dirty="0" err="1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研究背景與動機</a:t>
            </a: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 不同模型與技術 </a:t>
            </a:r>
            <a:r>
              <a:rPr lang="en-US" altLang="zh-TW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==</a:t>
            </a: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 </a:t>
            </a:r>
            <a:r>
              <a:rPr lang="en-US" altLang="zh-TW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&gt;</a:t>
            </a: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 股票分析</a:t>
            </a:r>
            <a:endParaRPr dirty="0"/>
          </a:p>
        </p:txBody>
      </p:sp>
      <p:sp>
        <p:nvSpPr>
          <p:cNvPr id="137" name="Google Shape;137;p15"/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29;p15">
            <a:extLst>
              <a:ext uri="{FF2B5EF4-FFF2-40B4-BE49-F238E27FC236}">
                <a16:creationId xmlns:a16="http://schemas.microsoft.com/office/drawing/2014/main" id="{65B060A5-54F5-3C86-B612-950BF19D0DA0}"/>
              </a:ext>
            </a:extLst>
          </p:cNvPr>
          <p:cNvSpPr txBox="1"/>
          <p:nvPr/>
        </p:nvSpPr>
        <p:spPr>
          <a:xfrm>
            <a:off x="809625" y="4793514"/>
            <a:ext cx="3194501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6675" tIns="0" rIns="0" bIns="0" anchor="t" anchorCtr="0">
            <a:spAutoFit/>
          </a:bodyPr>
          <a:lstStyle/>
          <a:p>
            <a:pPr marL="285750" marR="0" lvl="0" indent="-28575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zh-TW" altLang="en-US" sz="15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深度學習模型「黑箱」問題</a:t>
            </a:r>
            <a:endParaRPr lang="en-US" altLang="zh-TW" sz="1500" b="0" i="0" u="none" strike="noStrike" cap="none" dirty="0">
              <a:solidFill>
                <a:srgbClr val="1E293B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285750" marR="0" lvl="0" indent="-28575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zh-TW" altLang="en-US" sz="15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提升模型預測可理解度</a:t>
            </a:r>
            <a:endParaRPr lang="zh-TW" altLang="en-US" sz="1500" b="0" i="0" u="none" strike="noStrike" cap="none" dirty="0">
              <a:solidFill>
                <a:srgbClr val="1E293B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5E6E3EEA-9ED6-CB95-60E9-A8F4B33BD9A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83104" y="2035327"/>
            <a:ext cx="6682895" cy="3319798"/>
          </a:xfrm>
          <a:prstGeom prst="rect">
            <a:avLst/>
          </a:prstGeom>
        </p:spPr>
      </p:pic>
      <p:sp>
        <p:nvSpPr>
          <p:cNvPr id="6" name="Google Shape;129;p15">
            <a:extLst>
              <a:ext uri="{FF2B5EF4-FFF2-40B4-BE49-F238E27FC236}">
                <a16:creationId xmlns:a16="http://schemas.microsoft.com/office/drawing/2014/main" id="{60DCBED5-8FB8-058F-637C-3D539110F25A}"/>
              </a:ext>
            </a:extLst>
          </p:cNvPr>
          <p:cNvSpPr txBox="1"/>
          <p:nvPr/>
        </p:nvSpPr>
        <p:spPr>
          <a:xfrm>
            <a:off x="866775" y="2805111"/>
            <a:ext cx="3245566" cy="10587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6675" tIns="0" rIns="0" bIns="0" anchor="t" anchorCtr="0">
            <a:spAutoFit/>
          </a:bodyPr>
          <a:lstStyle/>
          <a:p>
            <a:pPr marL="285750" marR="0" lvl="0" indent="-28575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500" b="0" i="0" u="none" strike="noStrike" cap="none" dirty="0" err="1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缺乏直觀同步預測工具</a:t>
            </a:r>
            <a:endParaRPr lang="en-US" sz="1500" dirty="0">
              <a:solidFill>
                <a:srgbClr val="1E293B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285750" indent="-285750">
              <a:lnSpc>
                <a:spcPct val="160000"/>
              </a:lnSpc>
              <a:buFont typeface="Arial" panose="020B0604020202020204" pitchFamily="34" charset="0"/>
              <a:buChar char="•"/>
            </a:pPr>
            <a:r>
              <a:rPr lang="zh-TW" altLang="en-US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跨市場數據處理複雜度高</a:t>
            </a:r>
            <a:endParaRPr lang="zh-TW" altLang="en-US" dirty="0"/>
          </a:p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16"/>
          <p:cNvSpPr txBox="1"/>
          <p:nvPr/>
        </p:nvSpPr>
        <p:spPr>
          <a:xfrm>
            <a:off x="6564140" y="1361807"/>
            <a:ext cx="5018259" cy="39395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342900" marR="0" lvl="0" indent="-34290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2000" b="0" i="0" u="none" strike="noStrike" cap="none" dirty="0" err="1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效能比較</a:t>
            </a:r>
            <a:r>
              <a:rPr lang="en-US" sz="20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：</a:t>
            </a:r>
            <a:r>
              <a:rPr lang="zh-TW" altLang="en-US" sz="20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統計（</a:t>
            </a:r>
            <a:r>
              <a:rPr lang="en-US" altLang="zh-TW" sz="20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ARIMA</a:t>
            </a:r>
            <a:r>
              <a:rPr lang="zh-TW" altLang="en-US" sz="20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）、機器學習（隨機森林等）、深度學習（</a:t>
            </a:r>
            <a:r>
              <a:rPr lang="en-US" altLang="zh-TW" sz="20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LSTM</a:t>
            </a:r>
            <a:r>
              <a:rPr lang="zh-TW" altLang="en-US" sz="20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）與大語言模型（</a:t>
            </a:r>
            <a:r>
              <a:rPr lang="en-US" altLang="zh-TW" sz="20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LLM</a:t>
            </a:r>
            <a:r>
              <a:rPr lang="zh-TW" altLang="en-US" sz="20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）</a:t>
            </a:r>
            <a:r>
              <a:rPr lang="en-US" sz="20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在 ETF </a:t>
            </a:r>
            <a:r>
              <a:rPr lang="en-US" sz="2000" b="0" i="0" u="none" strike="noStrike" cap="none" dirty="0" err="1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預測之優劣</a:t>
            </a:r>
            <a:endParaRPr lang="en-US" sz="2000" dirty="0">
              <a:solidFill>
                <a:srgbClr val="1E293B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342900" marR="0" lvl="0" indent="-34290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zh-TW" altLang="en-US" sz="20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市場差異：分析 台股</a:t>
            </a:r>
            <a:r>
              <a:rPr lang="en-US" altLang="zh-TW" sz="20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(0050)</a:t>
            </a:r>
            <a:r>
              <a:rPr lang="zh-TW" altLang="en-US" sz="20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與美股</a:t>
            </a:r>
            <a:r>
              <a:rPr lang="en-US" altLang="zh-TW" sz="20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(SPY/QQQ)</a:t>
            </a:r>
            <a:r>
              <a:rPr lang="zh-TW" altLang="en-US" sz="20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之預測難度差異</a:t>
            </a:r>
            <a:endParaRPr lang="en-US" altLang="zh-TW" sz="2000" dirty="0">
              <a:solidFill>
                <a:srgbClr val="1E293B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342900" marR="0" lvl="0" indent="-34290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zh-TW" altLang="en-US" sz="20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評估指標：</a:t>
            </a:r>
            <a:r>
              <a:rPr lang="en-US" altLang="zh-TW" sz="20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MAPE</a:t>
            </a:r>
            <a:r>
              <a:rPr lang="zh-TW" altLang="en-US" sz="20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（平均絕對百分比誤差）</a:t>
            </a:r>
            <a:endParaRPr lang="en-US" altLang="zh-TW" sz="2000" dirty="0">
              <a:solidFill>
                <a:srgbClr val="1E293B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342900" marR="0" lvl="0" indent="-34290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zh-TW" altLang="en-US" sz="20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由實作應用：建構 </a:t>
            </a:r>
            <a:r>
              <a:rPr lang="en-US" altLang="zh-TW" sz="20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LLM </a:t>
            </a:r>
            <a:r>
              <a:rPr lang="zh-TW" altLang="en-US" sz="20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輔助視覺化平台，提升預測理解度</a:t>
            </a:r>
            <a:endParaRPr lang="en-US" altLang="zh-TW" sz="2000" dirty="0">
              <a:solidFill>
                <a:srgbClr val="1E293B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153" name="Google Shape;153;p1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438650" y="3055143"/>
            <a:ext cx="209550" cy="219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4" name="Google Shape;154;p1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438650" y="3685579"/>
            <a:ext cx="209550" cy="219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5" name="Google Shape;155;p1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438650" y="4316015"/>
            <a:ext cx="209550" cy="219075"/>
          </a:xfrm>
          <a:prstGeom prst="rect">
            <a:avLst/>
          </a:prstGeom>
          <a:noFill/>
          <a:ln>
            <a:noFill/>
          </a:ln>
        </p:spPr>
      </p:pic>
      <p:sp>
        <p:nvSpPr>
          <p:cNvPr id="156" name="Google Shape;156;p16"/>
          <p:cNvSpPr txBox="1"/>
          <p:nvPr/>
        </p:nvSpPr>
        <p:spPr>
          <a:xfrm>
            <a:off x="809625" y="919311"/>
            <a:ext cx="11351418" cy="502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研究目的與問題</a:t>
            </a:r>
            <a:endParaRPr/>
          </a:p>
        </p:txBody>
      </p:sp>
      <p:sp>
        <p:nvSpPr>
          <p:cNvPr id="157" name="Google Shape;157;p16"/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AF195BE5-5360-7552-27AD-915632A7EA06}"/>
              </a:ext>
            </a:extLst>
          </p:cNvPr>
          <p:cNvSpPr txBox="1"/>
          <p:nvPr/>
        </p:nvSpPr>
        <p:spPr>
          <a:xfrm>
            <a:off x="1029132" y="2733094"/>
            <a:ext cx="229061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3600" dirty="0"/>
              <a:t>ETF </a:t>
            </a:r>
            <a:r>
              <a:rPr lang="zh-TW" altLang="en-US" sz="3600" dirty="0"/>
              <a:t>預測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7752DE00-75A1-607E-6CD2-7D64E8D1B8A1}"/>
              </a:ext>
            </a:extLst>
          </p:cNvPr>
          <p:cNvSpPr txBox="1"/>
          <p:nvPr/>
        </p:nvSpPr>
        <p:spPr>
          <a:xfrm>
            <a:off x="577273" y="3609409"/>
            <a:ext cx="75045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dirty="0"/>
              <a:t>統計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990E60A7-743C-AA2A-F38C-54E26B12FA51}"/>
              </a:ext>
            </a:extLst>
          </p:cNvPr>
          <p:cNvSpPr txBox="1"/>
          <p:nvPr/>
        </p:nvSpPr>
        <p:spPr>
          <a:xfrm>
            <a:off x="1495425" y="3597928"/>
            <a:ext cx="5409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dirty="0"/>
              <a:t>ML</a:t>
            </a:r>
            <a:endParaRPr lang="zh-TW" altLang="en-US" dirty="0"/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C7460C91-B43A-9268-9A4E-45B8D9FC3C76}"/>
              </a:ext>
            </a:extLst>
          </p:cNvPr>
          <p:cNvSpPr txBox="1"/>
          <p:nvPr/>
        </p:nvSpPr>
        <p:spPr>
          <a:xfrm>
            <a:off x="2374467" y="3641227"/>
            <a:ext cx="66501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4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DL</a:t>
            </a:r>
            <a:endParaRPr lang="zh-TW" altLang="en-US" dirty="0"/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4B0A1F70-C9BC-1F33-411C-DC15FE38CDB9}"/>
              </a:ext>
            </a:extLst>
          </p:cNvPr>
          <p:cNvSpPr txBox="1"/>
          <p:nvPr/>
        </p:nvSpPr>
        <p:spPr>
          <a:xfrm>
            <a:off x="3306185" y="3592186"/>
            <a:ext cx="66501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4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LLM </a:t>
            </a:r>
            <a:endParaRPr lang="zh-TW" altLang="en-US" dirty="0"/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23C10410-E1B0-6091-054A-56873282B650}"/>
              </a:ext>
            </a:extLst>
          </p:cNvPr>
          <p:cNvSpPr txBox="1"/>
          <p:nvPr/>
        </p:nvSpPr>
        <p:spPr>
          <a:xfrm>
            <a:off x="609600" y="2140891"/>
            <a:ext cx="12192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dirty="0"/>
              <a:t>台股</a:t>
            </a:r>
            <a:r>
              <a:rPr lang="en-US" altLang="zh-TW" dirty="0"/>
              <a:t>(0050)</a:t>
            </a:r>
            <a:endParaRPr lang="zh-TW" altLang="en-US" dirty="0"/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47D4ECBF-A024-9B70-8586-3A02DC6F0A3C}"/>
              </a:ext>
            </a:extLst>
          </p:cNvPr>
          <p:cNvSpPr txBox="1"/>
          <p:nvPr/>
        </p:nvSpPr>
        <p:spPr>
          <a:xfrm>
            <a:off x="2115848" y="2162628"/>
            <a:ext cx="145891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dirty="0"/>
              <a:t>美股</a:t>
            </a:r>
            <a:r>
              <a:rPr lang="en-US" altLang="zh-TW" dirty="0"/>
              <a:t>(SPY/QQQ)</a:t>
            </a:r>
            <a:endParaRPr lang="zh-TW" altLang="en-US" dirty="0"/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A35FB4AB-E350-DF11-EFF1-E03CC5EACD10}"/>
              </a:ext>
            </a:extLst>
          </p:cNvPr>
          <p:cNvSpPr txBox="1"/>
          <p:nvPr/>
        </p:nvSpPr>
        <p:spPr>
          <a:xfrm>
            <a:off x="578211" y="4618653"/>
            <a:ext cx="359251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3600" dirty="0"/>
              <a:t>LLM </a:t>
            </a:r>
            <a:r>
              <a:rPr lang="zh-TW" altLang="en-US" sz="3600" dirty="0"/>
              <a:t>視覺化平台</a:t>
            </a:r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460668CD-1C81-E4CF-E95E-F0138CE1355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128" b="10821"/>
          <a:stretch>
            <a:fillRect/>
          </a:stretch>
        </p:blipFill>
        <p:spPr>
          <a:xfrm>
            <a:off x="0" y="1794772"/>
            <a:ext cx="6485335" cy="4234027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3" name="Google Shape;163;p1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01117" y="3749565"/>
            <a:ext cx="4051935" cy="1128891"/>
          </a:xfrm>
          <a:prstGeom prst="rect">
            <a:avLst/>
          </a:prstGeom>
          <a:noFill/>
          <a:ln>
            <a:noFill/>
          </a:ln>
        </p:spPr>
      </p:pic>
      <p:sp>
        <p:nvSpPr>
          <p:cNvPr id="164" name="Google Shape;164;p17"/>
          <p:cNvSpPr txBox="1"/>
          <p:nvPr/>
        </p:nvSpPr>
        <p:spPr>
          <a:xfrm>
            <a:off x="809624" y="1704158"/>
            <a:ext cx="5600700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 dirty="0" err="1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目標與任務</a:t>
            </a:r>
            <a:endParaRPr sz="2400" dirty="0"/>
          </a:p>
        </p:txBody>
      </p:sp>
      <p:sp>
        <p:nvSpPr>
          <p:cNvPr id="165" name="Google Shape;165;p17"/>
          <p:cNvSpPr txBox="1"/>
          <p:nvPr/>
        </p:nvSpPr>
        <p:spPr>
          <a:xfrm>
            <a:off x="942974" y="2399986"/>
            <a:ext cx="5334000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 err="1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預測次日收盤價相對於當日是「上漲」或「下跌</a:t>
            </a:r>
            <a:r>
              <a:rPr lang="en-US" sz="1800" b="0" i="0" u="none" strike="noStrike" cap="none" dirty="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」，</a:t>
            </a:r>
            <a:r>
              <a:rPr lang="en-US" sz="1800" b="0" i="0" u="none" strike="noStrike" cap="none" dirty="0" err="1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定義為</a:t>
            </a:r>
            <a:r>
              <a:rPr lang="en-US" sz="1800" b="1" i="0" u="none" strike="noStrike" cap="none" dirty="0" err="1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二元分類任務</a:t>
            </a:r>
            <a:r>
              <a:rPr lang="en-US" sz="1800" b="0" i="0" u="none" strike="noStrike" cap="none" dirty="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。</a:t>
            </a:r>
            <a:endParaRPr sz="1800" dirty="0"/>
          </a:p>
        </p:txBody>
      </p:sp>
      <p:pic>
        <p:nvPicPr>
          <p:cNvPr id="168" name="Google Shape;168;p17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00125" y="3938765"/>
            <a:ext cx="3653920" cy="750492"/>
          </a:xfrm>
          <a:prstGeom prst="rect">
            <a:avLst/>
          </a:prstGeom>
          <a:noFill/>
          <a:ln>
            <a:noFill/>
          </a:ln>
        </p:spPr>
      </p:pic>
      <p:sp>
        <p:nvSpPr>
          <p:cNvPr id="169" name="Google Shape;169;p17"/>
          <p:cNvSpPr txBox="1"/>
          <p:nvPr/>
        </p:nvSpPr>
        <p:spPr>
          <a:xfrm>
            <a:off x="809625" y="919311"/>
            <a:ext cx="11351418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分析主題1：分類問題 (Classification)</a:t>
            </a:r>
            <a:endParaRPr dirty="0"/>
          </a:p>
        </p:txBody>
      </p:sp>
      <p:sp>
        <p:nvSpPr>
          <p:cNvPr id="170" name="Google Shape;170;p17"/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5C4606BA-515A-D20B-8E67-BD51C644A16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33407" y="3668549"/>
            <a:ext cx="4817243" cy="2041416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1CB251F2-E23F-D6CD-0E9C-E63D1AA065D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33407" y="1888824"/>
            <a:ext cx="4817243" cy="1576323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: 圓角 16">
            <a:extLst>
              <a:ext uri="{FF2B5EF4-FFF2-40B4-BE49-F238E27FC236}">
                <a16:creationId xmlns:a16="http://schemas.microsoft.com/office/drawing/2014/main" id="{116A66DE-AFD6-D41C-BC7D-13978332FD52}"/>
              </a:ext>
            </a:extLst>
          </p:cNvPr>
          <p:cNvSpPr/>
          <p:nvPr/>
        </p:nvSpPr>
        <p:spPr>
          <a:xfrm>
            <a:off x="1629681" y="5454743"/>
            <a:ext cx="8775031" cy="930442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6350">
            <a:solidFill>
              <a:srgbClr val="CEDC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A3EDD7C6-4C3E-E637-982C-1054D9D2C16E}"/>
              </a:ext>
            </a:extLst>
          </p:cNvPr>
          <p:cNvSpPr/>
          <p:nvPr/>
        </p:nvSpPr>
        <p:spPr>
          <a:xfrm>
            <a:off x="8251658" y="2326103"/>
            <a:ext cx="3695700" cy="2871539"/>
          </a:xfrm>
          <a:prstGeom prst="roundRect">
            <a:avLst/>
          </a:prstGeom>
          <a:solidFill>
            <a:schemeClr val="accent3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0" name="矩形: 圓角 9">
            <a:extLst>
              <a:ext uri="{FF2B5EF4-FFF2-40B4-BE49-F238E27FC236}">
                <a16:creationId xmlns:a16="http://schemas.microsoft.com/office/drawing/2014/main" id="{58A64044-FCD5-CA7A-3C88-016077592E5F}"/>
              </a:ext>
            </a:extLst>
          </p:cNvPr>
          <p:cNvSpPr/>
          <p:nvPr/>
        </p:nvSpPr>
        <p:spPr>
          <a:xfrm>
            <a:off x="4248150" y="2326103"/>
            <a:ext cx="3695700" cy="2871539"/>
          </a:xfrm>
          <a:prstGeom prst="roundRect">
            <a:avLst/>
          </a:prstGeom>
          <a:solidFill>
            <a:schemeClr val="accent5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5" name="矩形: 圓角 4">
            <a:extLst>
              <a:ext uri="{FF2B5EF4-FFF2-40B4-BE49-F238E27FC236}">
                <a16:creationId xmlns:a16="http://schemas.microsoft.com/office/drawing/2014/main" id="{42CBCF95-932B-6112-249E-6962DC9877A2}"/>
              </a:ext>
            </a:extLst>
          </p:cNvPr>
          <p:cNvSpPr/>
          <p:nvPr/>
        </p:nvSpPr>
        <p:spPr>
          <a:xfrm>
            <a:off x="244642" y="2326103"/>
            <a:ext cx="3695700" cy="2871539"/>
          </a:xfrm>
          <a:prstGeom prst="roundRect">
            <a:avLst/>
          </a:prstGeom>
          <a:solidFill>
            <a:schemeClr val="accent4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98" name="Google Shape;198;p19"/>
          <p:cNvSpPr txBox="1"/>
          <p:nvPr/>
        </p:nvSpPr>
        <p:spPr>
          <a:xfrm>
            <a:off x="5670754" y="550115"/>
            <a:ext cx="5949746" cy="138499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zh-TW" sz="2000" dirty="0"/>
              <a:t>ARIMA(自迴歸整合移動平均)是時間序列預測中最常用的統計模型,本研究作為</a:t>
            </a:r>
            <a:r>
              <a:rPr lang="zh-TW" altLang="zh-TW" sz="2000" b="1" dirty="0"/>
              <a:t>基準模型(Baseline)</a:t>
            </a:r>
            <a:r>
              <a:rPr lang="zh-TW" altLang="zh-TW" sz="2000" dirty="0"/>
              <a:t>。對單變量時間序列進行建模與預測。</a:t>
            </a:r>
            <a:endParaRPr sz="1600" dirty="0">
              <a:solidFill>
                <a:srgbClr val="FF0000"/>
              </a:solidFill>
            </a:endParaRPr>
          </a:p>
        </p:txBody>
      </p:sp>
      <p:sp>
        <p:nvSpPr>
          <p:cNvPr id="199" name="Google Shape;199;p19"/>
          <p:cNvSpPr txBox="1"/>
          <p:nvPr/>
        </p:nvSpPr>
        <p:spPr>
          <a:xfrm>
            <a:off x="809625" y="919311"/>
            <a:ext cx="4472940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 dirty="0" err="1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統計模型：ARIMA</a:t>
            </a:r>
            <a:endParaRPr dirty="0"/>
          </a:p>
        </p:txBody>
      </p:sp>
      <p:sp>
        <p:nvSpPr>
          <p:cNvPr id="200" name="Google Shape;200;p19"/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3637FA63-F862-6308-192D-61222ED55A55}"/>
              </a:ext>
            </a:extLst>
          </p:cNvPr>
          <p:cNvSpPr txBox="1"/>
          <p:nvPr/>
        </p:nvSpPr>
        <p:spPr>
          <a:xfrm>
            <a:off x="369971" y="2546154"/>
            <a:ext cx="3445042" cy="2431435"/>
          </a:xfrm>
          <a:prstGeom prst="rect">
            <a:avLst/>
          </a:prstGeom>
          <a:noFill/>
          <a:ln>
            <a:noFill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/>
            <a:r>
              <a:rPr lang="en-US" altLang="zh-TW" sz="6000" b="1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AR</a:t>
            </a:r>
          </a:p>
          <a:p>
            <a:pPr algn="ctr"/>
            <a:r>
              <a:rPr lang="zh-TW" altLang="zh-TW" sz="2800" b="1" dirty="0">
                <a:solidFill>
                  <a:schemeClr val="tx1"/>
                </a:solidFill>
              </a:rPr>
              <a:t>(自迴歸,p)</a:t>
            </a:r>
            <a:endParaRPr lang="en-US" altLang="zh-TW" sz="2800" b="1" dirty="0">
              <a:solidFill>
                <a:schemeClr val="tx1"/>
              </a:solidFill>
            </a:endParaRPr>
          </a:p>
          <a:p>
            <a:pPr algn="ctr"/>
            <a:r>
              <a:rPr lang="zh-TW" altLang="zh-TW" sz="1600" dirty="0">
                <a:solidFill>
                  <a:schemeClr val="tx1"/>
                </a:solidFill>
              </a:rPr>
              <a:t>假設當前值是過去 </a:t>
            </a:r>
            <a:r>
              <a:rPr lang="zh-TW" altLang="zh-TW" sz="1600" b="1" dirty="0">
                <a:solidFill>
                  <a:schemeClr val="tx1"/>
                </a:solidFill>
              </a:rPr>
              <a:t>p 期數值</a:t>
            </a:r>
            <a:r>
              <a:rPr lang="zh-TW" altLang="zh-TW" sz="1600" dirty="0">
                <a:solidFill>
                  <a:schemeClr val="tx1"/>
                </a:solidFill>
              </a:rPr>
              <a:t>的線性組合。</a:t>
            </a:r>
            <a:endParaRPr lang="en-US" altLang="zh-TW" sz="1600" dirty="0">
              <a:solidFill>
                <a:schemeClr val="tx1"/>
              </a:solidFill>
            </a:endParaRPr>
          </a:p>
          <a:p>
            <a:pPr algn="ctr"/>
            <a:r>
              <a:rPr lang="zh-TW" altLang="zh-TW" sz="1600" dirty="0">
                <a:solidFill>
                  <a:schemeClr val="tx1"/>
                </a:solidFill>
              </a:rPr>
              <a:t> 例:AR(1) 代表今天的值主要受昨天影響。</a:t>
            </a:r>
            <a:endParaRPr lang="en-US" altLang="zh-TW" sz="1600" dirty="0">
              <a:solidFill>
                <a:schemeClr val="tx1"/>
              </a:solidFill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6E39DAF2-E36E-040C-5E48-ED9E894BB86E}"/>
              </a:ext>
            </a:extLst>
          </p:cNvPr>
          <p:cNvSpPr txBox="1"/>
          <p:nvPr/>
        </p:nvSpPr>
        <p:spPr>
          <a:xfrm>
            <a:off x="4426117" y="2433528"/>
            <a:ext cx="3339766" cy="2677656"/>
          </a:xfrm>
          <a:prstGeom prst="rect">
            <a:avLst/>
          </a:prstGeom>
          <a:noFill/>
          <a:ln>
            <a:noFill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/>
            <a:r>
              <a:rPr lang="en-US" altLang="zh-TW" sz="6000" b="1" dirty="0">
                <a:solidFill>
                  <a:srgbClr val="002147"/>
                </a:solidFill>
                <a:latin typeface="Merriweather"/>
              </a:rPr>
              <a:t>I</a:t>
            </a:r>
          </a:p>
          <a:p>
            <a:pPr algn="ctr"/>
            <a:r>
              <a:rPr lang="en-US" altLang="zh-TW" sz="2800" b="1" dirty="0">
                <a:solidFill>
                  <a:schemeClr val="tx1"/>
                </a:solidFill>
              </a:rPr>
              <a:t>(</a:t>
            </a:r>
            <a:r>
              <a:rPr lang="zh-TW" altLang="en-US" sz="2800" b="1" dirty="0">
                <a:solidFill>
                  <a:schemeClr val="tx1"/>
                </a:solidFill>
              </a:rPr>
              <a:t>差分整合</a:t>
            </a:r>
            <a:r>
              <a:rPr lang="en-US" altLang="zh-TW" sz="2800" b="1" dirty="0">
                <a:solidFill>
                  <a:schemeClr val="tx1"/>
                </a:solidFill>
              </a:rPr>
              <a:t>,d)</a:t>
            </a:r>
          </a:p>
          <a:p>
            <a:pPr algn="ctr"/>
            <a:r>
              <a:rPr lang="zh-TW" altLang="en-US" sz="1600" dirty="0">
                <a:solidFill>
                  <a:schemeClr val="tx1"/>
                </a:solidFill>
              </a:rPr>
              <a:t>對原始序列做 </a:t>
            </a:r>
            <a:r>
              <a:rPr lang="en-US" altLang="zh-TW" sz="1600" dirty="0">
                <a:solidFill>
                  <a:schemeClr val="tx1"/>
                </a:solidFill>
              </a:rPr>
              <a:t>d </a:t>
            </a:r>
            <a:r>
              <a:rPr lang="zh-TW" altLang="en-US" sz="1600" dirty="0">
                <a:solidFill>
                  <a:schemeClr val="tx1"/>
                </a:solidFill>
              </a:rPr>
              <a:t>次差分</a:t>
            </a:r>
            <a:r>
              <a:rPr lang="en-US" altLang="zh-TW" sz="1600" dirty="0">
                <a:solidFill>
                  <a:schemeClr val="tx1"/>
                </a:solidFill>
              </a:rPr>
              <a:t>,</a:t>
            </a:r>
            <a:r>
              <a:rPr lang="zh-TW" altLang="en-US" sz="1600" dirty="0">
                <a:solidFill>
                  <a:schemeClr val="tx1"/>
                </a:solidFill>
              </a:rPr>
              <a:t>消除趨勢與單位根</a:t>
            </a:r>
            <a:r>
              <a:rPr lang="en-US" altLang="zh-TW" sz="1600" dirty="0">
                <a:solidFill>
                  <a:schemeClr val="tx1"/>
                </a:solidFill>
              </a:rPr>
              <a:t>,</a:t>
            </a:r>
            <a:r>
              <a:rPr lang="zh-TW" altLang="en-US" sz="1600" dirty="0">
                <a:solidFill>
                  <a:schemeClr val="tx1"/>
                </a:solidFill>
              </a:rPr>
              <a:t>讓序列變成定態</a:t>
            </a:r>
            <a:endParaRPr lang="en-US" altLang="zh-TW" sz="1600" dirty="0">
              <a:solidFill>
                <a:schemeClr val="tx1"/>
              </a:solidFill>
            </a:endParaRPr>
          </a:p>
          <a:p>
            <a:pPr algn="ctr"/>
            <a:r>
              <a:rPr lang="en-US" altLang="zh-TW" sz="1600" dirty="0">
                <a:solidFill>
                  <a:schemeClr val="tx1"/>
                </a:solidFill>
              </a:rPr>
              <a:t>(</a:t>
            </a:r>
            <a:r>
              <a:rPr lang="zh-TW" altLang="en-US" sz="1600" dirty="0">
                <a:solidFill>
                  <a:schemeClr val="tx1"/>
                </a:solidFill>
              </a:rPr>
              <a:t>均值與變異不隨時間漂移</a:t>
            </a:r>
            <a:r>
              <a:rPr lang="en-US" altLang="zh-TW" sz="1600" dirty="0">
                <a:solidFill>
                  <a:schemeClr val="tx1"/>
                </a:solidFill>
              </a:rPr>
              <a:t>)</a:t>
            </a:r>
            <a:r>
              <a:rPr lang="zh-TW" altLang="en-US" sz="1600" dirty="0">
                <a:solidFill>
                  <a:schemeClr val="tx1"/>
                </a:solidFill>
              </a:rPr>
              <a:t>。</a:t>
            </a:r>
            <a:endParaRPr lang="en-US" altLang="zh-TW" sz="1600" dirty="0">
              <a:solidFill>
                <a:schemeClr val="tx1"/>
              </a:solidFill>
            </a:endParaRPr>
          </a:p>
          <a:p>
            <a:pPr algn="ctr"/>
            <a:r>
              <a:rPr lang="zh-TW" altLang="en-US" sz="1600" dirty="0">
                <a:solidFill>
                  <a:schemeClr val="tx1"/>
                </a:solidFill>
              </a:rPr>
              <a:t>這是 </a:t>
            </a:r>
            <a:r>
              <a:rPr lang="en-US" altLang="zh-TW" sz="1600" dirty="0">
                <a:solidFill>
                  <a:schemeClr val="tx1"/>
                </a:solidFill>
              </a:rPr>
              <a:t>ARIMA </a:t>
            </a:r>
            <a:r>
              <a:rPr lang="zh-TW" altLang="en-US" sz="1600" dirty="0">
                <a:solidFill>
                  <a:schemeClr val="tx1"/>
                </a:solidFill>
              </a:rPr>
              <a:t>相較於 </a:t>
            </a:r>
            <a:r>
              <a:rPr lang="en-US" altLang="zh-TW" sz="1600" dirty="0">
                <a:solidFill>
                  <a:schemeClr val="tx1"/>
                </a:solidFill>
              </a:rPr>
              <a:t>ARMA </a:t>
            </a:r>
            <a:r>
              <a:rPr lang="zh-TW" altLang="en-US" sz="1600" dirty="0">
                <a:solidFill>
                  <a:schemeClr val="tx1"/>
                </a:solidFill>
              </a:rPr>
              <a:t>的關鍵擴充。</a:t>
            </a:r>
            <a:endParaRPr lang="en-US" altLang="zh-TW" sz="1600" dirty="0">
              <a:solidFill>
                <a:schemeClr val="tx1"/>
              </a:solidFill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6FDB4866-CF74-1804-118B-53CD6E92464F}"/>
              </a:ext>
            </a:extLst>
          </p:cNvPr>
          <p:cNvSpPr txBox="1"/>
          <p:nvPr/>
        </p:nvSpPr>
        <p:spPr>
          <a:xfrm>
            <a:off x="8415087" y="2546154"/>
            <a:ext cx="3368842" cy="2215991"/>
          </a:xfrm>
          <a:prstGeom prst="rect">
            <a:avLst/>
          </a:prstGeom>
          <a:noFill/>
          <a:ln>
            <a:noFill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/>
            <a:r>
              <a:rPr lang="en-US" altLang="zh-TW" sz="6000" b="1" dirty="0">
                <a:solidFill>
                  <a:srgbClr val="002147"/>
                </a:solidFill>
                <a:latin typeface="Merriweather"/>
              </a:rPr>
              <a:t>MA</a:t>
            </a:r>
          </a:p>
          <a:p>
            <a:pPr algn="ctr"/>
            <a:r>
              <a:rPr lang="zh-TW" altLang="zh-TW" sz="2800" b="1" dirty="0">
                <a:solidFill>
                  <a:schemeClr val="tx1"/>
                </a:solidFill>
              </a:rPr>
              <a:t>(</a:t>
            </a:r>
            <a:r>
              <a:rPr lang="zh-TW" altLang="en-US" sz="2800" b="1" dirty="0">
                <a:solidFill>
                  <a:schemeClr val="tx1"/>
                </a:solidFill>
              </a:rPr>
              <a:t>移動平均</a:t>
            </a:r>
            <a:r>
              <a:rPr lang="en-US" altLang="zh-TW" sz="2800" b="1" dirty="0">
                <a:solidFill>
                  <a:schemeClr val="tx1"/>
                </a:solidFill>
              </a:rPr>
              <a:t>,q</a:t>
            </a:r>
            <a:r>
              <a:rPr lang="zh-TW" altLang="zh-TW" sz="2800" b="1" dirty="0">
                <a:solidFill>
                  <a:schemeClr val="tx1"/>
                </a:solidFill>
              </a:rPr>
              <a:t>)</a:t>
            </a:r>
            <a:endParaRPr lang="en-US" altLang="zh-TW" sz="2800" b="1" dirty="0">
              <a:solidFill>
                <a:schemeClr val="tx1"/>
              </a:solidFill>
            </a:endParaRPr>
          </a:p>
          <a:p>
            <a:pPr algn="ctr"/>
            <a:endParaRPr lang="en-US" altLang="zh-TW" sz="1800" dirty="0">
              <a:solidFill>
                <a:schemeClr val="tx1"/>
              </a:solidFill>
            </a:endParaRPr>
          </a:p>
          <a:p>
            <a:pPr algn="ctr"/>
            <a:r>
              <a:rPr lang="zh-TW" altLang="en-US" sz="1600" dirty="0">
                <a:solidFill>
                  <a:schemeClr val="tx1"/>
                </a:solidFill>
              </a:rPr>
              <a:t>用過去 </a:t>
            </a:r>
            <a:r>
              <a:rPr lang="en-US" altLang="zh-TW" sz="1600" dirty="0">
                <a:solidFill>
                  <a:schemeClr val="tx1"/>
                </a:solidFill>
              </a:rPr>
              <a:t>q </a:t>
            </a:r>
            <a:r>
              <a:rPr lang="zh-TW" altLang="en-US" sz="1600" dirty="0">
                <a:solidFill>
                  <a:schemeClr val="tx1"/>
                </a:solidFill>
              </a:rPr>
              <a:t>期的預測誤差</a:t>
            </a:r>
            <a:r>
              <a:rPr lang="en-US" altLang="zh-TW" sz="1600" dirty="0">
                <a:solidFill>
                  <a:schemeClr val="tx1"/>
                </a:solidFill>
              </a:rPr>
              <a:t>(</a:t>
            </a:r>
            <a:r>
              <a:rPr lang="zh-TW" altLang="en-US" sz="1600" dirty="0">
                <a:solidFill>
                  <a:schemeClr val="tx1"/>
                </a:solidFill>
              </a:rPr>
              <a:t>殘差</a:t>
            </a:r>
            <a:r>
              <a:rPr lang="en-US" altLang="zh-TW" sz="1600" dirty="0">
                <a:solidFill>
                  <a:schemeClr val="tx1"/>
                </a:solidFill>
              </a:rPr>
              <a:t>) </a:t>
            </a:r>
            <a:r>
              <a:rPr lang="zh-TW" altLang="en-US" sz="1600" dirty="0">
                <a:solidFill>
                  <a:schemeClr val="tx1"/>
                </a:solidFill>
              </a:rPr>
              <a:t>修正當期預測</a:t>
            </a:r>
            <a:r>
              <a:rPr lang="en-US" altLang="zh-TW" sz="1600" dirty="0">
                <a:solidFill>
                  <a:schemeClr val="tx1"/>
                </a:solidFill>
              </a:rPr>
              <a:t>,</a:t>
            </a:r>
            <a:r>
              <a:rPr lang="zh-TW" altLang="en-US" sz="1600" dirty="0">
                <a:solidFill>
                  <a:schemeClr val="tx1"/>
                </a:solidFill>
              </a:rPr>
              <a:t>捕捉短期衝擊的影響。</a:t>
            </a:r>
            <a:endParaRPr lang="en-US" altLang="zh-TW" sz="1600" dirty="0">
              <a:solidFill>
                <a:schemeClr val="tx1"/>
              </a:solidFill>
            </a:endParaRPr>
          </a:p>
        </p:txBody>
      </p:sp>
      <p:sp>
        <p:nvSpPr>
          <p:cNvPr id="16" name="Google Shape;198;p19">
            <a:extLst>
              <a:ext uri="{FF2B5EF4-FFF2-40B4-BE49-F238E27FC236}">
                <a16:creationId xmlns:a16="http://schemas.microsoft.com/office/drawing/2014/main" id="{0C2EF6FE-834F-1DE6-BA3D-E75271998E3A}"/>
              </a:ext>
            </a:extLst>
          </p:cNvPr>
          <p:cNvSpPr txBox="1"/>
          <p:nvPr/>
        </p:nvSpPr>
        <p:spPr>
          <a:xfrm>
            <a:off x="1934883" y="5523190"/>
            <a:ext cx="8164625" cy="8309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50000"/>
              </a:lnSpc>
            </a:pPr>
            <a:r>
              <a:rPr lang="zh-TW" altLang="en-US" sz="1800" dirty="0">
                <a:solidFill>
                  <a:schemeClr val="bg2"/>
                </a:solidFill>
              </a:rPr>
              <a:t>本研究三市場最佳參數</a:t>
            </a:r>
            <a:r>
              <a:rPr lang="en-US" altLang="zh-TW" sz="1800" dirty="0">
                <a:solidFill>
                  <a:schemeClr val="bg2"/>
                </a:solidFill>
              </a:rPr>
              <a:t> (</a:t>
            </a:r>
            <a:r>
              <a:rPr lang="zh-TW" altLang="en-US" sz="1800" dirty="0">
                <a:solidFill>
                  <a:schemeClr val="bg2"/>
                </a:solidFill>
              </a:rPr>
              <a:t>經 </a:t>
            </a:r>
            <a:r>
              <a:rPr lang="en-US" altLang="zh-TW" sz="1800" dirty="0">
                <a:solidFill>
                  <a:schemeClr val="bg2"/>
                </a:solidFill>
              </a:rPr>
              <a:t>ADF</a:t>
            </a:r>
            <a:r>
              <a:rPr lang="zh-TW" altLang="en-US" sz="1800" dirty="0">
                <a:solidFill>
                  <a:schemeClr val="bg2"/>
                </a:solidFill>
              </a:rPr>
              <a:t> 定態檢定確認須差分，</a:t>
            </a:r>
            <a:r>
              <a:rPr lang="en-US" altLang="zh-TW" sz="1800" dirty="0" err="1">
                <a:solidFill>
                  <a:schemeClr val="bg2"/>
                </a:solidFill>
              </a:rPr>
              <a:t>auto_arima</a:t>
            </a:r>
            <a:r>
              <a:rPr lang="en-US" altLang="zh-TW" sz="1800" dirty="0">
                <a:solidFill>
                  <a:schemeClr val="bg2"/>
                </a:solidFill>
              </a:rPr>
              <a:t> </a:t>
            </a:r>
            <a:r>
              <a:rPr lang="zh-TW" altLang="en-US" sz="1800" dirty="0">
                <a:solidFill>
                  <a:schemeClr val="bg2"/>
                </a:solidFill>
              </a:rPr>
              <a:t>自動選定</a:t>
            </a:r>
            <a:r>
              <a:rPr lang="en-US" altLang="zh-TW" sz="1800" dirty="0">
                <a:solidFill>
                  <a:schemeClr val="bg2"/>
                </a:solidFill>
              </a:rPr>
              <a:t>)</a:t>
            </a:r>
          </a:p>
          <a:p>
            <a:pPr lvl="0">
              <a:lnSpc>
                <a:spcPct val="150000"/>
              </a:lnSpc>
            </a:pPr>
            <a:r>
              <a:rPr lang="en-US" sz="1800" dirty="0">
                <a:solidFill>
                  <a:srgbClr val="FF0000"/>
                </a:solidFill>
              </a:rPr>
              <a:t>SPY</a:t>
            </a:r>
            <a:r>
              <a:rPr lang="zh-TW" altLang="en-US" sz="1800" dirty="0">
                <a:solidFill>
                  <a:srgbClr val="FF0000"/>
                </a:solidFill>
              </a:rPr>
              <a:t>：</a:t>
            </a:r>
            <a:r>
              <a:rPr lang="en-US" altLang="zh-TW" sz="1800" dirty="0">
                <a:solidFill>
                  <a:srgbClr val="FF0000"/>
                </a:solidFill>
              </a:rPr>
              <a:t>ARIMA(0,1,2)	QQQ</a:t>
            </a:r>
            <a:r>
              <a:rPr lang="zh-TW" altLang="en-US" sz="1800" dirty="0">
                <a:solidFill>
                  <a:srgbClr val="FF0000"/>
                </a:solidFill>
              </a:rPr>
              <a:t>：</a:t>
            </a:r>
            <a:r>
              <a:rPr lang="en-US" altLang="zh-TW" sz="1800" dirty="0">
                <a:solidFill>
                  <a:srgbClr val="FF0000"/>
                </a:solidFill>
              </a:rPr>
              <a:t>ARIMA(1,1,0)	0050.TW</a:t>
            </a:r>
            <a:r>
              <a:rPr lang="zh-TW" altLang="en-US" sz="1800" dirty="0">
                <a:solidFill>
                  <a:srgbClr val="FF0000"/>
                </a:solidFill>
              </a:rPr>
              <a:t>：</a:t>
            </a:r>
            <a:r>
              <a:rPr lang="en-US" altLang="zh-TW" sz="1800" dirty="0">
                <a:solidFill>
                  <a:srgbClr val="FF0000"/>
                </a:solidFill>
              </a:rPr>
              <a:t>ARIMA(0,1,0)</a:t>
            </a:r>
            <a:endParaRPr dirty="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6" name="Google Shape;206;p20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5689" y="1780876"/>
            <a:ext cx="4267323" cy="2310063"/>
          </a:xfrm>
          <a:prstGeom prst="rect">
            <a:avLst/>
          </a:prstGeom>
          <a:noFill/>
          <a:ln>
            <a:noFill/>
          </a:ln>
        </p:spPr>
      </p:pic>
      <p:pic>
        <p:nvPicPr>
          <p:cNvPr id="207" name="Google Shape;207;p20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096000" y="1780876"/>
            <a:ext cx="4267323" cy="2310063"/>
          </a:xfrm>
          <a:prstGeom prst="rect">
            <a:avLst/>
          </a:prstGeom>
          <a:noFill/>
          <a:ln>
            <a:noFill/>
          </a:ln>
        </p:spPr>
      </p:pic>
      <p:pic>
        <p:nvPicPr>
          <p:cNvPr id="208" name="Google Shape;208;p20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5689" y="4373915"/>
            <a:ext cx="4267323" cy="2310063"/>
          </a:xfrm>
          <a:prstGeom prst="rect">
            <a:avLst/>
          </a:prstGeom>
          <a:noFill/>
          <a:ln>
            <a:noFill/>
          </a:ln>
        </p:spPr>
      </p:pic>
      <p:pic>
        <p:nvPicPr>
          <p:cNvPr id="209" name="Google Shape;209;p20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817457" y="2063852"/>
            <a:ext cx="333375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210" name="Google Shape;210;p20"/>
          <p:cNvSpPr txBox="1"/>
          <p:nvPr/>
        </p:nvSpPr>
        <p:spPr>
          <a:xfrm>
            <a:off x="1433951" y="2797277"/>
            <a:ext cx="3100387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indent="0" algn="ctr">
              <a:buNone/>
              <a:defRPr sz="2400" b="1">
                <a:solidFill>
                  <a:srgbClr val="002147"/>
                </a:solidFill>
                <a:latin typeface="+mj-lt"/>
                <a:ea typeface="DM Sans"/>
                <a:cs typeface="DM Sans"/>
              </a:defRPr>
            </a:lvl1pPr>
          </a:lstStyle>
          <a:p>
            <a:r>
              <a:rPr lang="en-US" dirty="0">
                <a:sym typeface="DM Sans"/>
              </a:rPr>
              <a:t>Random Forest</a:t>
            </a:r>
            <a:endParaRPr dirty="0"/>
          </a:p>
        </p:txBody>
      </p:sp>
      <p:sp>
        <p:nvSpPr>
          <p:cNvPr id="211" name="Google Shape;211;p20"/>
          <p:cNvSpPr txBox="1"/>
          <p:nvPr/>
        </p:nvSpPr>
        <p:spPr>
          <a:xfrm>
            <a:off x="1315453" y="3168752"/>
            <a:ext cx="3707165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TW" sz="1800" b="0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Bagging </a:t>
            </a:r>
            <a:r>
              <a:rPr lang="zh-TW" altLang="en-US" sz="1800" b="0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架構，多棵樹平均降低變異數，穩定且不易過擬合。</a:t>
            </a:r>
            <a:endParaRPr sz="1800" dirty="0"/>
          </a:p>
        </p:txBody>
      </p:sp>
      <p:pic>
        <p:nvPicPr>
          <p:cNvPr id="212" name="Google Shape;212;p20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893968" y="2063852"/>
            <a:ext cx="333375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213" name="Google Shape;213;p20"/>
          <p:cNvSpPr txBox="1"/>
          <p:nvPr/>
        </p:nvSpPr>
        <p:spPr>
          <a:xfrm>
            <a:off x="6510462" y="2797277"/>
            <a:ext cx="3100387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 dirty="0" err="1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XGBoost</a:t>
            </a:r>
            <a:endParaRPr sz="2400" dirty="0">
              <a:latin typeface="+mj-lt"/>
            </a:endParaRPr>
          </a:p>
        </p:txBody>
      </p:sp>
      <p:sp>
        <p:nvSpPr>
          <p:cNvPr id="214" name="Google Shape;214;p20"/>
          <p:cNvSpPr txBox="1"/>
          <p:nvPr/>
        </p:nvSpPr>
        <p:spPr>
          <a:xfrm>
            <a:off x="6508143" y="3168752"/>
            <a:ext cx="3646510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Boosting </a:t>
            </a:r>
            <a:r>
              <a:rPr lang="zh-TW" altLang="en-US" sz="1800" b="0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經典模型，含正規化項抑制過擬合，速度快、精度高。</a:t>
            </a:r>
            <a:endParaRPr sz="1800" dirty="0"/>
          </a:p>
        </p:txBody>
      </p:sp>
      <p:pic>
        <p:nvPicPr>
          <p:cNvPr id="215" name="Google Shape;215;p20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2846032" y="4656891"/>
            <a:ext cx="428625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216" name="Google Shape;216;p20"/>
          <p:cNvSpPr txBox="1"/>
          <p:nvPr/>
        </p:nvSpPr>
        <p:spPr>
          <a:xfrm>
            <a:off x="1510151" y="5390316"/>
            <a:ext cx="3100387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dirty="0">
                <a:solidFill>
                  <a:srgbClr val="002147"/>
                </a:solidFill>
                <a:latin typeface="+mj-lt"/>
                <a:sym typeface="DM Sans"/>
              </a:rPr>
              <a:t>AdaBoost</a:t>
            </a:r>
            <a:endParaRPr sz="2400" b="1" dirty="0">
              <a:solidFill>
                <a:srgbClr val="002147"/>
              </a:solidFill>
              <a:latin typeface="+mj-lt"/>
            </a:endParaRPr>
          </a:p>
        </p:txBody>
      </p:sp>
      <p:sp>
        <p:nvSpPr>
          <p:cNvPr id="217" name="Google Shape;217;p20"/>
          <p:cNvSpPr txBox="1"/>
          <p:nvPr/>
        </p:nvSpPr>
        <p:spPr>
          <a:xfrm>
            <a:off x="1315453" y="5761791"/>
            <a:ext cx="3707165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0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逐輪提高前一輪誤差較大樣本的權重，串聯弱學習器。</a:t>
            </a:r>
            <a:endParaRPr sz="1800" dirty="0"/>
          </a:p>
        </p:txBody>
      </p:sp>
      <p:sp>
        <p:nvSpPr>
          <p:cNvPr id="218" name="Google Shape;218;p20"/>
          <p:cNvSpPr txBox="1"/>
          <p:nvPr/>
        </p:nvSpPr>
        <p:spPr>
          <a:xfrm>
            <a:off x="832434" y="835493"/>
            <a:ext cx="4732475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 dirty="0" err="1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機器學習：</a:t>
            </a:r>
            <a:r>
              <a:rPr lang="en-US" sz="3300" b="1" i="0" u="none" strike="noStrike" cap="none" dirty="0" err="1">
                <a:solidFill>
                  <a:srgbClr val="FF0000"/>
                </a:solidFill>
                <a:latin typeface="Merriweather"/>
                <a:ea typeface="Merriweather"/>
                <a:cs typeface="Merriweather"/>
                <a:sym typeface="Merriweather"/>
              </a:rPr>
              <a:t>集成</a:t>
            </a:r>
            <a:r>
              <a:rPr lang="en-US" sz="3300" b="1" i="0" u="none" strike="noStrike" cap="none" dirty="0" err="1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迴歸模型</a:t>
            </a:r>
            <a:endParaRPr dirty="0"/>
          </a:p>
        </p:txBody>
      </p:sp>
      <p:sp>
        <p:nvSpPr>
          <p:cNvPr id="219" name="Google Shape;219;p20"/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" name="Google Shape;208;p20" descr="image.png">
            <a:extLst>
              <a:ext uri="{FF2B5EF4-FFF2-40B4-BE49-F238E27FC236}">
                <a16:creationId xmlns:a16="http://schemas.microsoft.com/office/drawing/2014/main" id="{6254D067-F4C3-5AA7-BE00-F9A0E0355661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093681" y="4373915"/>
            <a:ext cx="4267323" cy="2310063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Google Shape;215;p20" descr="image.png">
            <a:extLst>
              <a:ext uri="{FF2B5EF4-FFF2-40B4-BE49-F238E27FC236}">
                <a16:creationId xmlns:a16="http://schemas.microsoft.com/office/drawing/2014/main" id="{6DB968F0-3826-C4E2-4E40-283903EB7B00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7844024" y="4656891"/>
            <a:ext cx="428625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oogle Shape;216;p20">
            <a:extLst>
              <a:ext uri="{FF2B5EF4-FFF2-40B4-BE49-F238E27FC236}">
                <a16:creationId xmlns:a16="http://schemas.microsoft.com/office/drawing/2014/main" id="{AEFD1A7D-548B-58B3-06D8-A867F1FBADEA}"/>
              </a:ext>
            </a:extLst>
          </p:cNvPr>
          <p:cNvSpPr txBox="1"/>
          <p:nvPr/>
        </p:nvSpPr>
        <p:spPr>
          <a:xfrm>
            <a:off x="6508143" y="5390316"/>
            <a:ext cx="3100387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Gradient </a:t>
            </a:r>
            <a:r>
              <a:rPr lang="en-US" sz="2400" b="1" dirty="0">
                <a:solidFill>
                  <a:srgbClr val="002147"/>
                </a:solidFill>
                <a:latin typeface="+mj-lt"/>
                <a:sym typeface="DM Sans"/>
              </a:rPr>
              <a:t>Boosting</a:t>
            </a:r>
            <a:endParaRPr sz="2400" b="1" dirty="0">
              <a:solidFill>
                <a:srgbClr val="002147"/>
              </a:solidFill>
              <a:latin typeface="+mj-lt"/>
            </a:endParaRPr>
          </a:p>
        </p:txBody>
      </p:sp>
      <p:sp>
        <p:nvSpPr>
          <p:cNvPr id="5" name="Google Shape;217;p20">
            <a:extLst>
              <a:ext uri="{FF2B5EF4-FFF2-40B4-BE49-F238E27FC236}">
                <a16:creationId xmlns:a16="http://schemas.microsoft.com/office/drawing/2014/main" id="{4BE8B93D-17F6-581C-C4EB-05036289E0DE}"/>
              </a:ext>
            </a:extLst>
          </p:cNvPr>
          <p:cNvSpPr txBox="1"/>
          <p:nvPr/>
        </p:nvSpPr>
        <p:spPr>
          <a:xfrm>
            <a:off x="6508143" y="5761791"/>
            <a:ext cx="3646509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0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沿損失函數梯度方向逐步擬合殘差，降低偏差。</a:t>
            </a:r>
            <a:endParaRPr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4">
          <a:extLst>
            <a:ext uri="{FF2B5EF4-FFF2-40B4-BE49-F238E27FC236}">
              <a16:creationId xmlns:a16="http://schemas.microsoft.com/office/drawing/2014/main" id="{104CB45F-3291-388C-47BE-8C43D9BB2E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7" name="Google Shape;207;p20" descr="image.png">
            <a:extLst>
              <a:ext uri="{FF2B5EF4-FFF2-40B4-BE49-F238E27FC236}">
                <a16:creationId xmlns:a16="http://schemas.microsoft.com/office/drawing/2014/main" id="{29B28DC9-AD52-FCE7-AA5D-49C16255E2C4}"/>
              </a:ext>
            </a:extLst>
          </p:cNvPr>
          <p:cNvPicPr preferRelativeResize="0"/>
          <p:nvPr/>
        </p:nvPicPr>
        <p:blipFill rotWithShape="1"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5411664" y="2441014"/>
            <a:ext cx="5777035" cy="798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3" name="Google Shape;213;p20">
            <a:extLst>
              <a:ext uri="{FF2B5EF4-FFF2-40B4-BE49-F238E27FC236}">
                <a16:creationId xmlns:a16="http://schemas.microsoft.com/office/drawing/2014/main" id="{89FC139C-45A9-8DA5-FFB7-D57D68BADB1F}"/>
              </a:ext>
            </a:extLst>
          </p:cNvPr>
          <p:cNvSpPr txBox="1"/>
          <p:nvPr/>
        </p:nvSpPr>
        <p:spPr>
          <a:xfrm>
            <a:off x="5411665" y="2563647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TW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Bagging</a:t>
            </a: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 </a:t>
            </a:r>
            <a:r>
              <a:rPr lang="en-US" altLang="zh-TW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(</a:t>
            </a: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裝袋法</a:t>
            </a:r>
            <a:r>
              <a:rPr lang="en-US" altLang="zh-TW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)</a:t>
            </a:r>
            <a:endParaRPr sz="1800" dirty="0">
              <a:latin typeface="+mj-lt"/>
            </a:endParaRPr>
          </a:p>
        </p:txBody>
      </p:sp>
      <p:sp>
        <p:nvSpPr>
          <p:cNvPr id="214" name="Google Shape;214;p20">
            <a:extLst>
              <a:ext uri="{FF2B5EF4-FFF2-40B4-BE49-F238E27FC236}">
                <a16:creationId xmlns:a16="http://schemas.microsoft.com/office/drawing/2014/main" id="{94B0A77E-E627-AA55-A157-62E9AD6A68E4}"/>
              </a:ext>
            </a:extLst>
          </p:cNvPr>
          <p:cNvSpPr txBox="1"/>
          <p:nvPr/>
        </p:nvSpPr>
        <p:spPr>
          <a:xfrm>
            <a:off x="5608825" y="2917018"/>
            <a:ext cx="5435598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ctr"/>
            <a:r>
              <a:rPr lang="zh-TW" altLang="zh-TW" dirty="0"/>
              <a:t>對訓練資料做隨機抽樣(Bootstrap)，產生多個子集，各自訓練一棵樹。</a:t>
            </a:r>
            <a:endParaRPr dirty="0"/>
          </a:p>
        </p:txBody>
      </p:sp>
      <p:sp>
        <p:nvSpPr>
          <p:cNvPr id="218" name="Google Shape;218;p20">
            <a:extLst>
              <a:ext uri="{FF2B5EF4-FFF2-40B4-BE49-F238E27FC236}">
                <a16:creationId xmlns:a16="http://schemas.microsoft.com/office/drawing/2014/main" id="{142173FC-64A3-6D5C-A3E0-D0B0BB7D50E9}"/>
              </a:ext>
            </a:extLst>
          </p:cNvPr>
          <p:cNvSpPr txBox="1"/>
          <p:nvPr/>
        </p:nvSpPr>
        <p:spPr>
          <a:xfrm>
            <a:off x="832434" y="835493"/>
            <a:ext cx="8679866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Random </a:t>
            </a:r>
            <a:r>
              <a:rPr lang="en-US" sz="3300" b="1" i="0" u="none" strike="noStrike" cap="none" dirty="0" err="1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Forest：Bagging</a:t>
            </a:r>
            <a:r>
              <a:rPr 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 </a:t>
            </a: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集成學習</a:t>
            </a:r>
            <a:endParaRPr dirty="0"/>
          </a:p>
        </p:txBody>
      </p:sp>
      <p:sp>
        <p:nvSpPr>
          <p:cNvPr id="219" name="Google Shape;219;p20">
            <a:extLst>
              <a:ext uri="{FF2B5EF4-FFF2-40B4-BE49-F238E27FC236}">
                <a16:creationId xmlns:a16="http://schemas.microsoft.com/office/drawing/2014/main" id="{63585E88-D7E9-23B6-5033-766D3BE1CD99}"/>
              </a:ext>
            </a:extLst>
          </p:cNvPr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15CF8A16-0A41-07C7-B470-6DFAF21A927D}"/>
              </a:ext>
            </a:extLst>
          </p:cNvPr>
          <p:cNvSpPr txBox="1"/>
          <p:nvPr/>
        </p:nvSpPr>
        <p:spPr>
          <a:xfrm>
            <a:off x="647700" y="1612366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600" b="1" dirty="0">
                <a:solidFill>
                  <a:schemeClr val="tx1"/>
                </a:solidFill>
                <a:latin typeface="+mn-lt"/>
              </a:rPr>
              <a:t>從訓練資料隨機抽取多個子集</a:t>
            </a:r>
            <a:r>
              <a:rPr lang="zh-TW" altLang="zh-TW" sz="800" dirty="0">
                <a:solidFill>
                  <a:schemeClr val="tx1"/>
                </a:solidFill>
                <a:latin typeface="+mn-lt"/>
              </a:rPr>
              <a:t>，</a:t>
            </a:r>
            <a:r>
              <a:rPr lang="zh-TW" altLang="zh-TW" sz="1600" b="1" dirty="0">
                <a:solidFill>
                  <a:schemeClr val="tx1"/>
                </a:solidFill>
                <a:latin typeface="+mn-lt"/>
              </a:rPr>
              <a:t>各自建立決策樹，再整合結果</a:t>
            </a:r>
            <a:endParaRPr lang="zh-TW" altLang="en-US" sz="1600" b="1" dirty="0">
              <a:solidFill>
                <a:schemeClr val="tx1"/>
              </a:solidFill>
              <a:latin typeface="+mn-lt"/>
            </a:endParaRPr>
          </a:p>
        </p:txBody>
      </p:sp>
      <p:pic>
        <p:nvPicPr>
          <p:cNvPr id="11" name="圖片 10">
            <a:extLst>
              <a:ext uri="{FF2B5EF4-FFF2-40B4-BE49-F238E27FC236}">
                <a16:creationId xmlns:a16="http://schemas.microsoft.com/office/drawing/2014/main" id="{E86A15C1-028F-FDBF-B7F1-15ECD802F1B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16597" r="58214" b="13667"/>
          <a:stretch>
            <a:fillRect/>
          </a:stretch>
        </p:blipFill>
        <p:spPr>
          <a:xfrm>
            <a:off x="287969" y="2010843"/>
            <a:ext cx="4869695" cy="4697269"/>
          </a:xfrm>
          <a:prstGeom prst="rect">
            <a:avLst/>
          </a:prstGeom>
        </p:spPr>
      </p:pic>
      <p:pic>
        <p:nvPicPr>
          <p:cNvPr id="12" name="Google Shape;207;p20" descr="image.png">
            <a:extLst>
              <a:ext uri="{FF2B5EF4-FFF2-40B4-BE49-F238E27FC236}">
                <a16:creationId xmlns:a16="http://schemas.microsoft.com/office/drawing/2014/main" id="{2B012AFD-D3B4-A67B-7394-E65D9D3774BF}"/>
              </a:ext>
            </a:extLst>
          </p:cNvPr>
          <p:cNvPicPr preferRelativeResize="0"/>
          <p:nvPr/>
        </p:nvPicPr>
        <p:blipFill rotWithShape="1"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5411664" y="3361756"/>
            <a:ext cx="5777035" cy="798109"/>
          </a:xfrm>
          <a:prstGeom prst="rect">
            <a:avLst/>
          </a:prstGeom>
          <a:noFill/>
          <a:ln>
            <a:noFill/>
          </a:ln>
        </p:spPr>
      </p:pic>
      <p:sp>
        <p:nvSpPr>
          <p:cNvPr id="13" name="Google Shape;213;p20">
            <a:extLst>
              <a:ext uri="{FF2B5EF4-FFF2-40B4-BE49-F238E27FC236}">
                <a16:creationId xmlns:a16="http://schemas.microsoft.com/office/drawing/2014/main" id="{A4C80218-B1B3-9476-2CDE-9ED35B523CC5}"/>
              </a:ext>
            </a:extLst>
          </p:cNvPr>
          <p:cNvSpPr txBox="1"/>
          <p:nvPr/>
        </p:nvSpPr>
        <p:spPr>
          <a:xfrm>
            <a:off x="5411665" y="3484389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降低變異數</a:t>
            </a:r>
            <a:endParaRPr sz="1800" dirty="0">
              <a:latin typeface="+mj-lt"/>
            </a:endParaRPr>
          </a:p>
        </p:txBody>
      </p:sp>
      <p:sp>
        <p:nvSpPr>
          <p:cNvPr id="14" name="Google Shape;214;p20">
            <a:extLst>
              <a:ext uri="{FF2B5EF4-FFF2-40B4-BE49-F238E27FC236}">
                <a16:creationId xmlns:a16="http://schemas.microsoft.com/office/drawing/2014/main" id="{5C6C5CE7-D295-0DA8-1881-16A3C3B4F777}"/>
              </a:ext>
            </a:extLst>
          </p:cNvPr>
          <p:cNvSpPr txBox="1"/>
          <p:nvPr/>
        </p:nvSpPr>
        <p:spPr>
          <a:xfrm>
            <a:off x="5608825" y="3837760"/>
            <a:ext cx="5435598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ctr"/>
            <a:r>
              <a:rPr lang="zh-TW" altLang="en-US" dirty="0"/>
              <a:t>多棵獨立的樹取平均</a:t>
            </a:r>
            <a:r>
              <a:rPr lang="en-US" altLang="zh-TW" dirty="0"/>
              <a:t>(</a:t>
            </a:r>
            <a:r>
              <a:rPr lang="zh-TW" altLang="en-US" dirty="0"/>
              <a:t>或多數決</a:t>
            </a:r>
            <a:r>
              <a:rPr lang="en-US" altLang="zh-TW" dirty="0"/>
              <a:t>)</a:t>
            </a:r>
            <a:r>
              <a:rPr lang="zh-TW" altLang="en-US" dirty="0"/>
              <a:t>，抵消個別樹的過擬合，模型更穩定。</a:t>
            </a:r>
            <a:endParaRPr dirty="0"/>
          </a:p>
        </p:txBody>
      </p:sp>
      <p:pic>
        <p:nvPicPr>
          <p:cNvPr id="15" name="Google Shape;207;p20" descr="image.png">
            <a:extLst>
              <a:ext uri="{FF2B5EF4-FFF2-40B4-BE49-F238E27FC236}">
                <a16:creationId xmlns:a16="http://schemas.microsoft.com/office/drawing/2014/main" id="{F630E5BE-B007-AFC2-8175-1319DA80B324}"/>
              </a:ext>
            </a:extLst>
          </p:cNvPr>
          <p:cNvPicPr preferRelativeResize="0"/>
          <p:nvPr/>
        </p:nvPicPr>
        <p:blipFill rotWithShape="1"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5411664" y="4295198"/>
            <a:ext cx="5777035" cy="798109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213;p20">
            <a:extLst>
              <a:ext uri="{FF2B5EF4-FFF2-40B4-BE49-F238E27FC236}">
                <a16:creationId xmlns:a16="http://schemas.microsoft.com/office/drawing/2014/main" id="{E9D7F9BC-B438-B050-2044-4895881166F9}"/>
              </a:ext>
            </a:extLst>
          </p:cNvPr>
          <p:cNvSpPr txBox="1"/>
          <p:nvPr/>
        </p:nvSpPr>
        <p:spPr>
          <a:xfrm>
            <a:off x="5411665" y="4417831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整合決策</a:t>
            </a:r>
            <a:endParaRPr sz="1800" dirty="0">
              <a:latin typeface="+mj-lt"/>
            </a:endParaRPr>
          </a:p>
        </p:txBody>
      </p:sp>
      <p:sp>
        <p:nvSpPr>
          <p:cNvPr id="17" name="Google Shape;214;p20">
            <a:extLst>
              <a:ext uri="{FF2B5EF4-FFF2-40B4-BE49-F238E27FC236}">
                <a16:creationId xmlns:a16="http://schemas.microsoft.com/office/drawing/2014/main" id="{C3474797-9785-4447-DFC5-AB3E066174D8}"/>
              </a:ext>
            </a:extLst>
          </p:cNvPr>
          <p:cNvSpPr txBox="1"/>
          <p:nvPr/>
        </p:nvSpPr>
        <p:spPr>
          <a:xfrm>
            <a:off x="5608825" y="4771202"/>
            <a:ext cx="5435598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ctr"/>
            <a:r>
              <a:rPr lang="zh-TW" altLang="en-US" dirty="0"/>
              <a:t>分類用多數決、迴歸取平均，結果優於單一決策樹。</a:t>
            </a:r>
            <a:endParaRPr dirty="0"/>
          </a:p>
        </p:txBody>
      </p:sp>
      <p:pic>
        <p:nvPicPr>
          <p:cNvPr id="18" name="Google Shape;207;p20" descr="image.png">
            <a:extLst>
              <a:ext uri="{FF2B5EF4-FFF2-40B4-BE49-F238E27FC236}">
                <a16:creationId xmlns:a16="http://schemas.microsoft.com/office/drawing/2014/main" id="{D3821F06-9D20-20F9-4ADF-FB18CF5388C6}"/>
              </a:ext>
            </a:extLst>
          </p:cNvPr>
          <p:cNvPicPr preferRelativeResize="0"/>
          <p:nvPr/>
        </p:nvPicPr>
        <p:blipFill rotWithShape="1"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5411664" y="5228640"/>
            <a:ext cx="5777035" cy="798109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Google Shape;213;p20">
            <a:extLst>
              <a:ext uri="{FF2B5EF4-FFF2-40B4-BE49-F238E27FC236}">
                <a16:creationId xmlns:a16="http://schemas.microsoft.com/office/drawing/2014/main" id="{86903EB2-5F47-DDEE-EE81-F7EA700F3565}"/>
              </a:ext>
            </a:extLst>
          </p:cNvPr>
          <p:cNvSpPr txBox="1"/>
          <p:nvPr/>
        </p:nvSpPr>
        <p:spPr>
          <a:xfrm>
            <a:off x="5411665" y="5351273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本研究角色</a:t>
            </a:r>
            <a:endParaRPr sz="1800" dirty="0">
              <a:latin typeface="+mj-lt"/>
            </a:endParaRPr>
          </a:p>
        </p:txBody>
      </p:sp>
      <p:sp>
        <p:nvSpPr>
          <p:cNvPr id="20" name="Google Shape;214;p20">
            <a:extLst>
              <a:ext uri="{FF2B5EF4-FFF2-40B4-BE49-F238E27FC236}">
                <a16:creationId xmlns:a16="http://schemas.microsoft.com/office/drawing/2014/main" id="{0B38FFA9-ED6C-08EC-6186-6AD1B966A2D6}"/>
              </a:ext>
            </a:extLst>
          </p:cNvPr>
          <p:cNvSpPr txBox="1"/>
          <p:nvPr/>
        </p:nvSpPr>
        <p:spPr>
          <a:xfrm>
            <a:off x="5608825" y="5704644"/>
            <a:ext cx="5435598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ctr"/>
            <a:r>
              <a:rPr lang="zh-TW" altLang="en-US" dirty="0"/>
              <a:t>作為機器學習</a:t>
            </a:r>
            <a:r>
              <a:rPr lang="en-US" altLang="zh-TW" dirty="0"/>
              <a:t>(ML)</a:t>
            </a:r>
            <a:r>
              <a:rPr lang="zh-TW" altLang="en-US" dirty="0"/>
              <a:t>代表模型，與統計、深度學習、</a:t>
            </a:r>
            <a:r>
              <a:rPr lang="en-US" altLang="zh-TW" dirty="0"/>
              <a:t>LLM </a:t>
            </a:r>
            <a:r>
              <a:rPr lang="zh-TW" altLang="en-US" dirty="0"/>
              <a:t>比較。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32535663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3">
          <a:extLst>
            <a:ext uri="{FF2B5EF4-FFF2-40B4-BE49-F238E27FC236}">
              <a16:creationId xmlns:a16="http://schemas.microsoft.com/office/drawing/2014/main" id="{DF11792C-D066-47F3-4A1C-CB5C043393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" name="Google Shape;225;p21" descr="image.png">
            <a:extLst>
              <a:ext uri="{FF2B5EF4-FFF2-40B4-BE49-F238E27FC236}">
                <a16:creationId xmlns:a16="http://schemas.microsoft.com/office/drawing/2014/main" id="{8285B4AA-6081-30E6-6F28-6BE037292FEA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658140" y="2056791"/>
            <a:ext cx="6321399" cy="4801209"/>
          </a:xfrm>
          <a:prstGeom prst="rect">
            <a:avLst/>
          </a:prstGeom>
          <a:noFill/>
          <a:ln>
            <a:noFill/>
          </a:ln>
        </p:spPr>
      </p:pic>
      <p:sp>
        <p:nvSpPr>
          <p:cNvPr id="226" name="Google Shape;226;p21">
            <a:extLst>
              <a:ext uri="{FF2B5EF4-FFF2-40B4-BE49-F238E27FC236}">
                <a16:creationId xmlns:a16="http://schemas.microsoft.com/office/drawing/2014/main" id="{0F3484DC-F53E-9475-3C65-B918C4FAC321}"/>
              </a:ext>
            </a:extLst>
          </p:cNvPr>
          <p:cNvSpPr txBox="1"/>
          <p:nvPr/>
        </p:nvSpPr>
        <p:spPr>
          <a:xfrm>
            <a:off x="317236" y="2205561"/>
            <a:ext cx="5340904" cy="28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2000" b="1" i="0" u="none" strike="noStrike" cap="none" dirty="0">
                <a:solidFill>
                  <a:srgbClr val="000000"/>
                </a:solidFill>
                <a:latin typeface="+mn-lt"/>
                <a:ea typeface="DM Sans"/>
                <a:cs typeface="DM Sans"/>
                <a:sym typeface="DM Sans"/>
              </a:rPr>
              <a:t>核心結構：細胞狀態（</a:t>
            </a:r>
            <a:r>
              <a:rPr lang="en-US" sz="2000" b="1" i="0" u="none" strike="noStrike" cap="none" dirty="0">
                <a:solidFill>
                  <a:srgbClr val="000000"/>
                </a:solidFill>
                <a:latin typeface="+mn-lt"/>
                <a:ea typeface="DM Sans"/>
                <a:cs typeface="DM Sans"/>
                <a:sym typeface="DM Sans"/>
              </a:rPr>
              <a:t>Cell State）</a:t>
            </a:r>
            <a:endParaRPr lang="en-US" sz="2000" b="1" dirty="0">
              <a:latin typeface="+mn-lt"/>
              <a:sym typeface="DM Sans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TW" sz="1600" dirty="0"/>
              <a:t>LSTM </a:t>
            </a:r>
            <a:r>
              <a:rPr lang="zh-TW" altLang="en-US" sz="1600" dirty="0"/>
              <a:t>的關鍵在於細胞狀態，可想像成一條貫穿所有單元的「傳送帶」，資訊在上面流動而保持不變。</a:t>
            </a:r>
            <a:r>
              <a:rPr lang="en-US" altLang="zh-TW" sz="1600" dirty="0"/>
              <a:t>LSTM </a:t>
            </a:r>
            <a:r>
              <a:rPr lang="zh-TW" altLang="en-US" sz="1600" dirty="0"/>
              <a:t>透過三個閘門精細控制這條傳送帶上的資訊增減。</a:t>
            </a:r>
            <a:endParaRPr lang="en-US" altLang="zh-TW" sz="1600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en-US" sz="1600" dirty="0">
                <a:solidFill>
                  <a:srgbClr val="FF0000"/>
                </a:solidFill>
              </a:rPr>
              <a:t>遺忘閘門</a:t>
            </a:r>
            <a:r>
              <a:rPr lang="zh-TW" altLang="en-US" sz="1600" dirty="0"/>
              <a:t>（</a:t>
            </a:r>
            <a:r>
              <a:rPr lang="en-US" altLang="zh-TW" sz="1600" dirty="0"/>
              <a:t>Forget Gate</a:t>
            </a:r>
            <a:r>
              <a:rPr lang="zh-TW" altLang="en-US" sz="1600" dirty="0"/>
              <a:t>）：用 </a:t>
            </a:r>
            <a:r>
              <a:rPr lang="en-US" altLang="zh-TW" sz="1600" dirty="0"/>
              <a:t>Sigmoid </a:t>
            </a:r>
            <a:r>
              <a:rPr lang="zh-TW" altLang="en-US" sz="1600" dirty="0"/>
              <a:t>決定丟棄哪些</a:t>
            </a:r>
            <a:endParaRPr lang="en-US" altLang="zh-TW" sz="1600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en-US" sz="1600" dirty="0">
                <a:solidFill>
                  <a:srgbClr val="FF0000"/>
                </a:solidFill>
              </a:rPr>
              <a:t>資訊輸入閘門</a:t>
            </a:r>
            <a:r>
              <a:rPr lang="zh-TW" altLang="en-US" sz="1600" dirty="0"/>
              <a:t>（</a:t>
            </a:r>
            <a:r>
              <a:rPr lang="en-US" altLang="zh-TW" sz="1600" dirty="0"/>
              <a:t>Input Gate</a:t>
            </a:r>
            <a:r>
              <a:rPr lang="zh-TW" altLang="en-US" sz="1600" dirty="0"/>
              <a:t>）：決定哪些新資訊要寫入</a:t>
            </a:r>
            <a:endParaRPr lang="en-US" altLang="zh-TW" sz="1600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en-US" sz="1600" dirty="0">
                <a:solidFill>
                  <a:srgbClr val="FF0000"/>
                </a:solidFill>
              </a:rPr>
              <a:t>胞狀態輸出閘門</a:t>
            </a:r>
            <a:r>
              <a:rPr lang="zh-TW" altLang="en-US" sz="1600" dirty="0"/>
              <a:t>（</a:t>
            </a:r>
            <a:r>
              <a:rPr lang="en-US" altLang="zh-TW" sz="1600" dirty="0"/>
              <a:t>Output Gate</a:t>
            </a:r>
            <a:r>
              <a:rPr lang="zh-TW" altLang="en-US" sz="1600" dirty="0"/>
              <a:t>）：依細胞狀態決定輸出，成為下一時點的隱藏狀態 </a:t>
            </a:r>
            <a:r>
              <a:rPr lang="en-US" altLang="zh-TW" sz="1600" dirty="0"/>
              <a:t>hₜ</a:t>
            </a:r>
            <a:endParaRPr sz="1600" dirty="0"/>
          </a:p>
        </p:txBody>
      </p:sp>
      <p:pic>
        <p:nvPicPr>
          <p:cNvPr id="227" name="Google Shape;227;p21" descr="image.png">
            <a:extLst>
              <a:ext uri="{FF2B5EF4-FFF2-40B4-BE49-F238E27FC236}">
                <a16:creationId xmlns:a16="http://schemas.microsoft.com/office/drawing/2014/main" id="{25649714-3A1D-1D11-3970-628D91B7B31D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 t="-2104" b="37628"/>
          <a:stretch>
            <a:fillRect/>
          </a:stretch>
        </p:blipFill>
        <p:spPr>
          <a:xfrm>
            <a:off x="5934417" y="2013313"/>
            <a:ext cx="5940347" cy="2596787"/>
          </a:xfrm>
          <a:prstGeom prst="rect">
            <a:avLst/>
          </a:prstGeom>
          <a:noFill/>
          <a:ln>
            <a:noFill/>
          </a:ln>
        </p:spPr>
      </p:pic>
      <p:sp>
        <p:nvSpPr>
          <p:cNvPr id="234" name="Google Shape;234;p21">
            <a:extLst>
              <a:ext uri="{FF2B5EF4-FFF2-40B4-BE49-F238E27FC236}">
                <a16:creationId xmlns:a16="http://schemas.microsoft.com/office/drawing/2014/main" id="{ECF5FBA6-91F8-9084-814C-024B5BB0D23B}"/>
              </a:ext>
            </a:extLst>
          </p:cNvPr>
          <p:cNvSpPr txBox="1"/>
          <p:nvPr/>
        </p:nvSpPr>
        <p:spPr>
          <a:xfrm>
            <a:off x="809625" y="919311"/>
            <a:ext cx="11351418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長短期記憶網路（</a:t>
            </a:r>
            <a:r>
              <a:rPr 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Long Short-Term Memory, LSTM）</a:t>
            </a:r>
            <a:endParaRPr dirty="0"/>
          </a:p>
        </p:txBody>
      </p:sp>
      <p:sp>
        <p:nvSpPr>
          <p:cNvPr id="235" name="Google Shape;235;p21">
            <a:extLst>
              <a:ext uri="{FF2B5EF4-FFF2-40B4-BE49-F238E27FC236}">
                <a16:creationId xmlns:a16="http://schemas.microsoft.com/office/drawing/2014/main" id="{FA2A5BD9-AAFE-4B1F-97FC-EC22BDBFD063}"/>
              </a:ext>
            </a:extLst>
          </p:cNvPr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EC53EFE5-A78C-3D30-0BF9-5A16E9438FBA}"/>
              </a:ext>
            </a:extLst>
          </p:cNvPr>
          <p:cNvSpPr txBox="1"/>
          <p:nvPr/>
        </p:nvSpPr>
        <p:spPr>
          <a:xfrm>
            <a:off x="647700" y="1633484"/>
            <a:ext cx="843213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1600" b="1" dirty="0">
                <a:solidFill>
                  <a:schemeClr val="tx1"/>
                </a:solidFill>
                <a:latin typeface="+mn-lt"/>
              </a:rPr>
              <a:t>透過細胞狀態與三個閘門，記住長期依賴、解決傳統 </a:t>
            </a:r>
            <a:r>
              <a:rPr lang="en-US" altLang="zh-TW" sz="1600" b="1" dirty="0">
                <a:solidFill>
                  <a:schemeClr val="tx1"/>
                </a:solidFill>
                <a:latin typeface="+mn-lt"/>
              </a:rPr>
              <a:t>RNN </a:t>
            </a:r>
            <a:r>
              <a:rPr lang="zh-TW" altLang="en-US" sz="1600" b="1" dirty="0">
                <a:solidFill>
                  <a:schemeClr val="tx1"/>
                </a:solidFill>
                <a:latin typeface="+mn-lt"/>
              </a:rPr>
              <a:t>的梯度消失問題</a:t>
            </a: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4E954576-151A-8287-FA61-C56B33B4C5DC}"/>
              </a:ext>
            </a:extLst>
          </p:cNvPr>
          <p:cNvSpPr txBox="1"/>
          <p:nvPr/>
        </p:nvSpPr>
        <p:spPr>
          <a:xfrm>
            <a:off x="317236" y="5589633"/>
            <a:ext cx="5027420" cy="584775"/>
          </a:xfrm>
          <a:prstGeom prst="rect">
            <a:avLst/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zh-TW" altLang="zh-TW" sz="1600" dirty="0">
                <a:solidFill>
                  <a:schemeClr val="bg2"/>
                </a:solidFill>
              </a:rPr>
              <a:t>股價為典型時間序列，LSTM 能捕捉長短期價格依賴，</a:t>
            </a:r>
            <a:endParaRPr lang="en-US" altLang="zh-TW" sz="1600" dirty="0">
              <a:solidFill>
                <a:schemeClr val="bg2"/>
              </a:solidFill>
            </a:endParaRPr>
          </a:p>
          <a:p>
            <a:r>
              <a:rPr lang="zh-TW" altLang="zh-TW" sz="1600" dirty="0">
                <a:solidFill>
                  <a:schemeClr val="bg2"/>
                </a:solidFill>
              </a:rPr>
              <a:t>且端到端學習、不需手動特徵工程。</a:t>
            </a:r>
            <a:endParaRPr lang="zh-TW" altLang="en-US" sz="1600" dirty="0">
              <a:solidFill>
                <a:schemeClr val="bg2"/>
              </a:solidFill>
            </a:endParaRPr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61457589-0E05-8A65-0293-72CA42FFC3F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87524" y="4610100"/>
            <a:ext cx="5340904" cy="22016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485583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696328" y="51976"/>
            <a:ext cx="8799342" cy="720018"/>
          </a:xfrm>
        </p:spPr>
        <p:txBody>
          <a:bodyPr>
            <a:normAutofit/>
          </a:bodyPr>
          <a:lstStyle/>
          <a:p>
            <a:r>
              <a:rPr lang="zh-TW" altLang="en-US" sz="3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標楷體" panose="03000509000000000000" pitchFamily="65" charset="-120"/>
                <a:ea typeface="標楷體" panose="03000509000000000000" pitchFamily="65" charset="-120"/>
              </a:rPr>
              <a:t>循環</a:t>
            </a:r>
            <a:r>
              <a:rPr lang="zh-TW" altLang="en-US" sz="3600" dirty="0">
                <a:latin typeface="標楷體" panose="03000509000000000000" pitchFamily="65" charset="-120"/>
                <a:ea typeface="標楷體" panose="03000509000000000000" pitchFamily="65" charset="-120"/>
              </a:rPr>
              <a:t>神經網路</a:t>
            </a:r>
            <a:r>
              <a:rPr lang="en-US" altLang="zh-TW" sz="2800" dirty="0">
                <a:latin typeface="標楷體" panose="03000509000000000000" pitchFamily="65" charset="-120"/>
                <a:ea typeface="標楷體" panose="03000509000000000000" pitchFamily="65" charset="-120"/>
              </a:rPr>
              <a:t>(</a:t>
            </a:r>
            <a:r>
              <a:rPr lang="en-US" altLang="zh-TW" sz="28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標楷體" panose="03000509000000000000" pitchFamily="65" charset="-120"/>
                <a:ea typeface="標楷體" panose="03000509000000000000" pitchFamily="65" charset="-120"/>
              </a:rPr>
              <a:t>Recurrent</a:t>
            </a:r>
            <a:r>
              <a:rPr lang="en-US" altLang="zh-TW" sz="2800" dirty="0">
                <a:latin typeface="標楷體" panose="03000509000000000000" pitchFamily="65" charset="-120"/>
                <a:ea typeface="標楷體" panose="03000509000000000000" pitchFamily="65" charset="-120"/>
              </a:rPr>
              <a:t> Neural Network, RNN)</a:t>
            </a:r>
            <a:endParaRPr lang="zh-TW" altLang="en-US" sz="28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pic>
        <p:nvPicPr>
          <p:cNvPr id="4" name="內容版面配置區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035682" y="3400881"/>
            <a:ext cx="8193199" cy="2464787"/>
          </a:xfrm>
          <a:prstGeom prst="rect">
            <a:avLst/>
          </a:prstGeom>
        </p:spPr>
      </p:pic>
      <p:pic>
        <p:nvPicPr>
          <p:cNvPr id="3" name="圖片 2"/>
          <p:cNvPicPr>
            <a:picLocks noChangeAspect="1"/>
          </p:cNvPicPr>
          <p:nvPr/>
        </p:nvPicPr>
        <p:blipFill rotWithShape="1">
          <a:blip r:embed="rId3"/>
          <a:srcRect l="8855" t="30177" r="10108" b="12515"/>
          <a:stretch/>
        </p:blipFill>
        <p:spPr>
          <a:xfrm>
            <a:off x="5612509" y="803568"/>
            <a:ext cx="4580090" cy="1506476"/>
          </a:xfrm>
          <a:prstGeom prst="rect">
            <a:avLst/>
          </a:prstGeom>
        </p:spPr>
      </p:pic>
      <p:sp>
        <p:nvSpPr>
          <p:cNvPr id="6" name="矩形 5"/>
          <p:cNvSpPr/>
          <p:nvPr/>
        </p:nvSpPr>
        <p:spPr>
          <a:xfrm>
            <a:off x="5706257" y="2459626"/>
            <a:ext cx="5572359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TW" altLang="en-US" sz="2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訓練</a:t>
            </a:r>
            <a:r>
              <a:rPr lang="en-US" altLang="zh-TW" sz="2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:Backpropagation Through Time (BPTT)</a:t>
            </a:r>
            <a:endParaRPr lang="zh-TW" altLang="en-US" sz="20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7" name="矩形 6"/>
          <p:cNvSpPr/>
          <p:nvPr/>
        </p:nvSpPr>
        <p:spPr>
          <a:xfrm>
            <a:off x="1786329" y="921577"/>
            <a:ext cx="4002373" cy="13849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TW" dirty="0"/>
              <a:t>RNN</a:t>
            </a:r>
            <a:r>
              <a:rPr lang="zh-TW" altLang="en-US" dirty="0"/>
              <a:t>是一種專門處理序列數據 </a:t>
            </a:r>
            <a:r>
              <a:rPr lang="en-US" altLang="zh-TW" dirty="0"/>
              <a:t>(Sequential Data) </a:t>
            </a:r>
            <a:r>
              <a:rPr lang="zh-TW" altLang="en-US" dirty="0"/>
              <a:t>的深度學習模型。</a:t>
            </a:r>
            <a:endParaRPr lang="en-US" altLang="zh-TW" dirty="0"/>
          </a:p>
          <a:p>
            <a:endParaRPr lang="en-US" altLang="zh-TW" dirty="0"/>
          </a:p>
          <a:p>
            <a:r>
              <a:rPr lang="zh-TW" altLang="en-US" dirty="0"/>
              <a:t>與傳統的前饋神經網路不同，</a:t>
            </a:r>
            <a:r>
              <a:rPr lang="en-US" altLang="zh-TW" dirty="0"/>
              <a:t>RNN </a:t>
            </a:r>
            <a:r>
              <a:rPr lang="zh-TW" altLang="en-US" dirty="0"/>
              <a:t>的神經元之間存在「循環連結」，這讓它能夠保留過去資訊的「記憶」。</a:t>
            </a:r>
          </a:p>
        </p:txBody>
      </p:sp>
      <p:sp>
        <p:nvSpPr>
          <p:cNvPr id="8" name="矩形 7"/>
          <p:cNvSpPr/>
          <p:nvPr/>
        </p:nvSpPr>
        <p:spPr>
          <a:xfrm>
            <a:off x="4574556" y="2945643"/>
            <a:ext cx="5921115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TW" dirty="0"/>
              <a:t>https://colah.github.io/posts/2015-08-Understanding-LSTMs/</a:t>
            </a:r>
            <a:endParaRPr lang="zh-TW" altLang="en-US" dirty="0"/>
          </a:p>
        </p:txBody>
      </p:sp>
      <p:sp>
        <p:nvSpPr>
          <p:cNvPr id="9" name="矩形 8"/>
          <p:cNvSpPr/>
          <p:nvPr/>
        </p:nvSpPr>
        <p:spPr>
          <a:xfrm>
            <a:off x="1652133" y="5951573"/>
            <a:ext cx="3525324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TW" altLang="en-US" dirty="0"/>
              <a:t>長期依賴的問題</a:t>
            </a:r>
            <a:endParaRPr lang="en-US" altLang="zh-TW" dirty="0"/>
          </a:p>
          <a:p>
            <a:r>
              <a:rPr lang="en-US" altLang="zh-TW" dirty="0"/>
              <a:t>The Problem of Long-Term Dependencies</a:t>
            </a:r>
            <a:endParaRPr lang="zh-TW" altLang="en-US" dirty="0"/>
          </a:p>
        </p:txBody>
      </p:sp>
      <p:sp>
        <p:nvSpPr>
          <p:cNvPr id="10" name="向下箭號 9"/>
          <p:cNvSpPr/>
          <p:nvPr/>
        </p:nvSpPr>
        <p:spPr>
          <a:xfrm>
            <a:off x="3008026" y="5598826"/>
            <a:ext cx="329784" cy="442210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cxnSp>
        <p:nvCxnSpPr>
          <p:cNvPr id="12" name="弧形接點 11"/>
          <p:cNvCxnSpPr/>
          <p:nvPr/>
        </p:nvCxnSpPr>
        <p:spPr>
          <a:xfrm flipV="1">
            <a:off x="4372709" y="5451778"/>
            <a:ext cx="1146517" cy="822961"/>
          </a:xfrm>
          <a:prstGeom prst="curvedConnector3">
            <a:avLst>
              <a:gd name="adj1" fmla="val 90491"/>
            </a:avLst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6053197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3">
          <a:extLst>
            <a:ext uri="{FF2B5EF4-FFF2-40B4-BE49-F238E27FC236}">
              <a16:creationId xmlns:a16="http://schemas.microsoft.com/office/drawing/2014/main" id="{70E3209B-3DA7-FC13-85AB-253E808F52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21">
            <a:extLst>
              <a:ext uri="{FF2B5EF4-FFF2-40B4-BE49-F238E27FC236}">
                <a16:creationId xmlns:a16="http://schemas.microsoft.com/office/drawing/2014/main" id="{45FC5A74-C0C0-1B36-D344-D71ADB17479F}"/>
              </a:ext>
            </a:extLst>
          </p:cNvPr>
          <p:cNvSpPr txBox="1"/>
          <p:nvPr/>
        </p:nvSpPr>
        <p:spPr>
          <a:xfrm>
            <a:off x="809625" y="919311"/>
            <a:ext cx="11351418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循環神經網路（</a:t>
            </a:r>
            <a:r>
              <a:rPr lang="en-US" altLang="zh-TW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Recurrent Neural Network, RNN</a:t>
            </a: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）</a:t>
            </a:r>
            <a:endParaRPr dirty="0"/>
          </a:p>
        </p:txBody>
      </p:sp>
      <p:sp>
        <p:nvSpPr>
          <p:cNvPr id="235" name="Google Shape;235;p21">
            <a:extLst>
              <a:ext uri="{FF2B5EF4-FFF2-40B4-BE49-F238E27FC236}">
                <a16:creationId xmlns:a16="http://schemas.microsoft.com/office/drawing/2014/main" id="{55EA61FE-6E21-7D3C-CA87-F356838A189A}"/>
              </a:ext>
            </a:extLst>
          </p:cNvPr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AE77E59F-CD7C-AF7C-D7F7-AE14923BEC9B}"/>
              </a:ext>
            </a:extLst>
          </p:cNvPr>
          <p:cNvSpPr txBox="1"/>
          <p:nvPr/>
        </p:nvSpPr>
        <p:spPr>
          <a:xfrm>
            <a:off x="647700" y="1633484"/>
            <a:ext cx="843213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1600" b="1" dirty="0">
                <a:solidFill>
                  <a:schemeClr val="tx1"/>
                </a:solidFill>
                <a:latin typeface="+mn-lt"/>
              </a:rPr>
              <a:t>處理序列資料的深度學習模型，是 </a:t>
            </a:r>
            <a:r>
              <a:rPr lang="en-US" altLang="zh-TW" sz="1600" b="1" dirty="0">
                <a:solidFill>
                  <a:schemeClr val="tx1"/>
                </a:solidFill>
                <a:latin typeface="+mn-lt"/>
              </a:rPr>
              <a:t>LSTM </a:t>
            </a:r>
            <a:r>
              <a:rPr lang="zh-TW" altLang="en-US" sz="1600" b="1" dirty="0">
                <a:solidFill>
                  <a:schemeClr val="tx1"/>
                </a:solidFill>
                <a:latin typeface="+mn-lt"/>
              </a:rPr>
              <a:t>的前身</a:t>
            </a:r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CAF40CE3-53DC-75F9-D4B6-B6A3AAF4EAD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4311" t="8264" r="11241" b="47090"/>
          <a:stretch>
            <a:fillRect/>
          </a:stretch>
        </p:blipFill>
        <p:spPr>
          <a:xfrm>
            <a:off x="6527157" y="1623051"/>
            <a:ext cx="4440989" cy="3326840"/>
          </a:xfrm>
          <a:prstGeom prst="rect">
            <a:avLst/>
          </a:prstGeom>
        </p:spPr>
      </p:pic>
      <p:pic>
        <p:nvPicPr>
          <p:cNvPr id="15" name="Google Shape;207;p20" descr="image.png">
            <a:extLst>
              <a:ext uri="{FF2B5EF4-FFF2-40B4-BE49-F238E27FC236}">
                <a16:creationId xmlns:a16="http://schemas.microsoft.com/office/drawing/2014/main" id="{C68A8ED9-AD55-8E91-D8DC-0095EEC1E34C}"/>
              </a:ext>
            </a:extLst>
          </p:cNvPr>
          <p:cNvPicPr preferRelativeResize="0"/>
          <p:nvPr/>
        </p:nvPicPr>
        <p:blipFill rotWithShape="1">
          <a:blip r:embed="rId4">
            <a:alphaModFix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365999" y="2485686"/>
            <a:ext cx="6063915" cy="798109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213;p20">
            <a:extLst>
              <a:ext uri="{FF2B5EF4-FFF2-40B4-BE49-F238E27FC236}">
                <a16:creationId xmlns:a16="http://schemas.microsoft.com/office/drawing/2014/main" id="{CA7511A7-4783-7EBA-1E81-D9A84300B166}"/>
              </a:ext>
            </a:extLst>
          </p:cNvPr>
          <p:cNvSpPr txBox="1"/>
          <p:nvPr/>
        </p:nvSpPr>
        <p:spPr>
          <a:xfrm>
            <a:off x="540483" y="2608319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什麼是 </a:t>
            </a:r>
            <a:r>
              <a:rPr lang="en-US" altLang="zh-TW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RNN</a:t>
            </a:r>
            <a:endParaRPr sz="1800" dirty="0">
              <a:latin typeface="+mj-lt"/>
            </a:endParaRPr>
          </a:p>
        </p:txBody>
      </p:sp>
      <p:sp>
        <p:nvSpPr>
          <p:cNvPr id="17" name="Google Shape;214;p20">
            <a:extLst>
              <a:ext uri="{FF2B5EF4-FFF2-40B4-BE49-F238E27FC236}">
                <a16:creationId xmlns:a16="http://schemas.microsoft.com/office/drawing/2014/main" id="{2A7E6B47-6C16-71FF-0BC0-D654F580A118}"/>
              </a:ext>
            </a:extLst>
          </p:cNvPr>
          <p:cNvSpPr txBox="1"/>
          <p:nvPr/>
        </p:nvSpPr>
        <p:spPr>
          <a:xfrm>
            <a:off x="737643" y="2961690"/>
            <a:ext cx="5435598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/>
            <a:r>
              <a:rPr lang="zh-TW" altLang="en-US" dirty="0"/>
              <a:t>專門處理序列資料</a:t>
            </a:r>
            <a:r>
              <a:rPr lang="en-US" altLang="zh-TW" dirty="0"/>
              <a:t>(Sequential Data)</a:t>
            </a:r>
            <a:r>
              <a:rPr lang="zh-TW" altLang="en-US" dirty="0"/>
              <a:t>的深度學習模型。</a:t>
            </a:r>
            <a:endParaRPr dirty="0"/>
          </a:p>
        </p:txBody>
      </p:sp>
      <p:pic>
        <p:nvPicPr>
          <p:cNvPr id="18" name="Google Shape;207;p20" descr="image.png">
            <a:extLst>
              <a:ext uri="{FF2B5EF4-FFF2-40B4-BE49-F238E27FC236}">
                <a16:creationId xmlns:a16="http://schemas.microsoft.com/office/drawing/2014/main" id="{19964A24-03E9-DEEA-3293-F21A352E68F4}"/>
              </a:ext>
            </a:extLst>
          </p:cNvPr>
          <p:cNvPicPr preferRelativeResize="0"/>
          <p:nvPr/>
        </p:nvPicPr>
        <p:blipFill rotWithShape="1">
          <a:blip r:embed="rId4">
            <a:alphaModFix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365999" y="3406428"/>
            <a:ext cx="6063915" cy="1016115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Google Shape;213;p20">
            <a:extLst>
              <a:ext uri="{FF2B5EF4-FFF2-40B4-BE49-F238E27FC236}">
                <a16:creationId xmlns:a16="http://schemas.microsoft.com/office/drawing/2014/main" id="{DA3C7DEA-37C0-C573-160B-64EF4712EEC3}"/>
              </a:ext>
            </a:extLst>
          </p:cNvPr>
          <p:cNvSpPr txBox="1"/>
          <p:nvPr/>
        </p:nvSpPr>
        <p:spPr>
          <a:xfrm>
            <a:off x="540483" y="3529061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循環連結 </a:t>
            </a:r>
            <a:r>
              <a:rPr lang="en-US" altLang="zh-TW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= </a:t>
            </a: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記憶</a:t>
            </a:r>
            <a:endParaRPr sz="1800" dirty="0">
              <a:latin typeface="+mj-lt"/>
            </a:endParaRPr>
          </a:p>
        </p:txBody>
      </p:sp>
      <p:sp>
        <p:nvSpPr>
          <p:cNvPr id="20" name="Google Shape;214;p20">
            <a:extLst>
              <a:ext uri="{FF2B5EF4-FFF2-40B4-BE49-F238E27FC236}">
                <a16:creationId xmlns:a16="http://schemas.microsoft.com/office/drawing/2014/main" id="{241A2874-84EA-F71E-8606-6500C3A8DF9B}"/>
              </a:ext>
            </a:extLst>
          </p:cNvPr>
          <p:cNvSpPr txBox="1"/>
          <p:nvPr/>
        </p:nvSpPr>
        <p:spPr>
          <a:xfrm>
            <a:off x="737642" y="3882432"/>
            <a:ext cx="5579875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/>
            <a:r>
              <a:rPr lang="zh-TW" altLang="en-US" dirty="0"/>
              <a:t>神經元之間存在「循環連結」，能保留過去資訊的「記憶」，這是與前饋神經網路最大的不同。</a:t>
            </a:r>
            <a:endParaRPr dirty="0"/>
          </a:p>
        </p:txBody>
      </p:sp>
      <p:pic>
        <p:nvPicPr>
          <p:cNvPr id="21" name="Google Shape;207;p20" descr="image.png">
            <a:extLst>
              <a:ext uri="{FF2B5EF4-FFF2-40B4-BE49-F238E27FC236}">
                <a16:creationId xmlns:a16="http://schemas.microsoft.com/office/drawing/2014/main" id="{44C6E8CE-C866-9BB7-77F4-1EC6D545320B}"/>
              </a:ext>
            </a:extLst>
          </p:cNvPr>
          <p:cNvPicPr preferRelativeResize="0"/>
          <p:nvPr/>
        </p:nvPicPr>
        <p:blipFill rotWithShape="1">
          <a:blip r:embed="rId4">
            <a:alphaModFix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365999" y="4529204"/>
            <a:ext cx="6063915" cy="798109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13;p20">
            <a:extLst>
              <a:ext uri="{FF2B5EF4-FFF2-40B4-BE49-F238E27FC236}">
                <a16:creationId xmlns:a16="http://schemas.microsoft.com/office/drawing/2014/main" id="{1C3B3FED-FA0D-67B8-0FFB-3AA3EB71F1A0}"/>
              </a:ext>
            </a:extLst>
          </p:cNvPr>
          <p:cNvSpPr txBox="1"/>
          <p:nvPr/>
        </p:nvSpPr>
        <p:spPr>
          <a:xfrm>
            <a:off x="540483" y="4651837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indent="0">
              <a:buNone/>
              <a:defRPr sz="1800" b="1">
                <a:solidFill>
                  <a:srgbClr val="002147"/>
                </a:solidFill>
                <a:latin typeface="+mj-lt"/>
                <a:ea typeface="DM Sans"/>
                <a:cs typeface="DM Sans"/>
              </a:defRPr>
            </a:lvl1pPr>
          </a:lstStyle>
          <a:p>
            <a:r>
              <a:rPr lang="zh-TW" altLang="en-US" dirty="0"/>
              <a:t>訓練方式</a:t>
            </a:r>
            <a:endParaRPr dirty="0"/>
          </a:p>
        </p:txBody>
      </p:sp>
      <p:sp>
        <p:nvSpPr>
          <p:cNvPr id="23" name="Google Shape;214;p20">
            <a:extLst>
              <a:ext uri="{FF2B5EF4-FFF2-40B4-BE49-F238E27FC236}">
                <a16:creationId xmlns:a16="http://schemas.microsoft.com/office/drawing/2014/main" id="{C2804BD9-3746-7389-2FE5-64413FB84FC1}"/>
              </a:ext>
            </a:extLst>
          </p:cNvPr>
          <p:cNvSpPr txBox="1"/>
          <p:nvPr/>
        </p:nvSpPr>
        <p:spPr>
          <a:xfrm>
            <a:off x="737643" y="5005208"/>
            <a:ext cx="5435598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/>
            <a:r>
              <a:rPr lang="zh-TW" altLang="en-US" dirty="0"/>
              <a:t>透過時間的反向傳播 </a:t>
            </a:r>
            <a:r>
              <a:rPr lang="en-US" altLang="zh-TW" dirty="0"/>
              <a:t>Backpropagation Through Time (BPTT)</a:t>
            </a:r>
            <a:r>
              <a:rPr lang="zh-TW" altLang="en-US" dirty="0"/>
              <a:t>。</a:t>
            </a:r>
            <a:endParaRPr dirty="0"/>
          </a:p>
        </p:txBody>
      </p:sp>
      <p:pic>
        <p:nvPicPr>
          <p:cNvPr id="24" name="Google Shape;207;p20" descr="image.png">
            <a:extLst>
              <a:ext uri="{FF2B5EF4-FFF2-40B4-BE49-F238E27FC236}">
                <a16:creationId xmlns:a16="http://schemas.microsoft.com/office/drawing/2014/main" id="{AE0F85A1-F440-9A6A-8FBF-B34C70BD9351}"/>
              </a:ext>
            </a:extLst>
          </p:cNvPr>
          <p:cNvPicPr preferRelativeResize="0"/>
          <p:nvPr/>
        </p:nvPicPr>
        <p:blipFill rotWithShape="1">
          <a:blip r:embed="rId4">
            <a:alphaModFix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365999" y="5462646"/>
            <a:ext cx="6063915" cy="798109"/>
          </a:xfrm>
          <a:prstGeom prst="rect">
            <a:avLst/>
          </a:prstGeom>
          <a:noFill/>
          <a:ln>
            <a:noFill/>
          </a:ln>
        </p:spPr>
      </p:pic>
      <p:sp>
        <p:nvSpPr>
          <p:cNvPr id="25" name="Google Shape;213;p20">
            <a:extLst>
              <a:ext uri="{FF2B5EF4-FFF2-40B4-BE49-F238E27FC236}">
                <a16:creationId xmlns:a16="http://schemas.microsoft.com/office/drawing/2014/main" id="{2BD76BFF-0FE2-05B9-F657-42CE796EE373}"/>
              </a:ext>
            </a:extLst>
          </p:cNvPr>
          <p:cNvSpPr txBox="1"/>
          <p:nvPr/>
        </p:nvSpPr>
        <p:spPr>
          <a:xfrm>
            <a:off x="540483" y="5585279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長期依賴問題</a:t>
            </a:r>
            <a:endParaRPr sz="1800" dirty="0">
              <a:latin typeface="+mj-lt"/>
            </a:endParaRPr>
          </a:p>
        </p:txBody>
      </p:sp>
      <p:sp>
        <p:nvSpPr>
          <p:cNvPr id="26" name="Google Shape;214;p20">
            <a:extLst>
              <a:ext uri="{FF2B5EF4-FFF2-40B4-BE49-F238E27FC236}">
                <a16:creationId xmlns:a16="http://schemas.microsoft.com/office/drawing/2014/main" id="{370524C5-274A-17DF-2050-7F1706BCEFB9}"/>
              </a:ext>
            </a:extLst>
          </p:cNvPr>
          <p:cNvSpPr txBox="1"/>
          <p:nvPr/>
        </p:nvSpPr>
        <p:spPr>
          <a:xfrm>
            <a:off x="737643" y="5938650"/>
            <a:ext cx="5435598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/>
            <a:r>
              <a:rPr lang="zh-TW" altLang="en-US" dirty="0"/>
              <a:t>標準 </a:t>
            </a:r>
            <a:r>
              <a:rPr lang="en-US" altLang="zh-TW" dirty="0"/>
              <a:t>RNN </a:t>
            </a:r>
            <a:r>
              <a:rPr lang="zh-TW" altLang="en-US" dirty="0"/>
              <a:t>難以記住長期資訊</a:t>
            </a:r>
            <a:r>
              <a:rPr lang="en-US" altLang="zh-TW" dirty="0"/>
              <a:t>(</a:t>
            </a:r>
            <a:r>
              <a:rPr lang="zh-TW" altLang="en-US" dirty="0"/>
              <a:t>梯度消失</a:t>
            </a:r>
            <a:r>
              <a:rPr lang="en-US" altLang="zh-TW" dirty="0"/>
              <a:t>) → </a:t>
            </a:r>
            <a:r>
              <a:rPr lang="zh-TW" altLang="en-US" dirty="0"/>
              <a:t>因此發展出 </a:t>
            </a:r>
            <a:r>
              <a:rPr lang="en-US" altLang="zh-TW" dirty="0"/>
              <a:t>LSTM</a:t>
            </a:r>
            <a:r>
              <a:rPr lang="zh-TW" altLang="en-US" dirty="0"/>
              <a:t>、</a:t>
            </a:r>
            <a:r>
              <a:rPr lang="en-US" altLang="zh-TW" dirty="0"/>
              <a:t>GRU</a:t>
            </a:r>
            <a:r>
              <a:rPr lang="zh-TW" altLang="en-US" dirty="0"/>
              <a:t>。</a:t>
            </a:r>
            <a:endParaRPr dirty="0"/>
          </a:p>
        </p:txBody>
      </p:sp>
      <p:pic>
        <p:nvPicPr>
          <p:cNvPr id="27" name="Google Shape;207;p20" descr="image.png">
            <a:extLst>
              <a:ext uri="{FF2B5EF4-FFF2-40B4-BE49-F238E27FC236}">
                <a16:creationId xmlns:a16="http://schemas.microsoft.com/office/drawing/2014/main" id="{B07F20A7-E3AA-B796-17F4-987E5E61A6A2}"/>
              </a:ext>
            </a:extLst>
          </p:cNvPr>
          <p:cNvPicPr preferRelativeResize="0"/>
          <p:nvPr/>
        </p:nvPicPr>
        <p:blipFill rotWithShape="1">
          <a:blip r:embed="rId4">
            <a:alphaModFix/>
            <a:duotone>
              <a:prstClr val="black"/>
              <a:schemeClr val="accent5">
                <a:lumMod val="20000"/>
                <a:lumOff val="80000"/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6721642" y="4934901"/>
            <a:ext cx="4716379" cy="1415870"/>
          </a:xfrm>
          <a:prstGeom prst="rect">
            <a:avLst/>
          </a:prstGeom>
          <a:noFill/>
          <a:ln>
            <a:noFill/>
          </a:ln>
        </p:spPr>
      </p:pic>
      <p:sp>
        <p:nvSpPr>
          <p:cNvPr id="29" name="文字方塊 28">
            <a:extLst>
              <a:ext uri="{FF2B5EF4-FFF2-40B4-BE49-F238E27FC236}">
                <a16:creationId xmlns:a16="http://schemas.microsoft.com/office/drawing/2014/main" id="{A81EA22F-AF41-D3BB-72FA-79083552CC3C}"/>
              </a:ext>
            </a:extLst>
          </p:cNvPr>
          <p:cNvSpPr txBox="1"/>
          <p:nvPr/>
        </p:nvSpPr>
        <p:spPr>
          <a:xfrm>
            <a:off x="6721642" y="5007783"/>
            <a:ext cx="4716379" cy="12529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TW" altLang="en-US" sz="1800" b="1" dirty="0">
                <a:solidFill>
                  <a:schemeClr val="bg2"/>
                </a:solidFill>
              </a:rPr>
              <a:t>家族演進</a:t>
            </a:r>
            <a:endParaRPr lang="en-US" altLang="zh-TW" sz="1800" b="1" dirty="0">
              <a:solidFill>
                <a:schemeClr val="bg2"/>
              </a:solidFill>
            </a:endParaRPr>
          </a:p>
          <a:p>
            <a:pPr algn="ctr">
              <a:lnSpc>
                <a:spcPct val="150000"/>
              </a:lnSpc>
            </a:pPr>
            <a:r>
              <a:rPr lang="en-US" altLang="zh-TW" sz="2000" dirty="0">
                <a:solidFill>
                  <a:srgbClr val="00B0F0"/>
                </a:solidFill>
                <a:latin typeface="Amasis MT Pro Medium" panose="020F0502020204030204" pitchFamily="18" charset="0"/>
              </a:rPr>
              <a:t>RNN → LSTM → GRU</a:t>
            </a:r>
          </a:p>
          <a:p>
            <a:pPr algn="ctr">
              <a:lnSpc>
                <a:spcPct val="150000"/>
              </a:lnSpc>
            </a:pPr>
            <a:r>
              <a:rPr lang="en-US" altLang="zh-TW" dirty="0">
                <a:solidFill>
                  <a:schemeClr val="bg1">
                    <a:lumMod val="50000"/>
                  </a:schemeClr>
                </a:solidFill>
              </a:rPr>
              <a:t>(</a:t>
            </a:r>
            <a:r>
              <a:rPr lang="zh-TW" altLang="en-US" dirty="0">
                <a:solidFill>
                  <a:schemeClr val="bg1">
                    <a:lumMod val="50000"/>
                  </a:schemeClr>
                </a:solidFill>
              </a:rPr>
              <a:t>逐步解決長期依賴與梯度消失問題</a:t>
            </a:r>
            <a:r>
              <a:rPr lang="en-US" altLang="zh-TW" dirty="0">
                <a:solidFill>
                  <a:schemeClr val="bg1">
                    <a:lumMod val="50000"/>
                  </a:schemeClr>
                </a:solidFill>
              </a:rPr>
              <a:t>)</a:t>
            </a:r>
            <a:endParaRPr lang="zh-TW" altLang="en-US" dirty="0">
              <a:solidFill>
                <a:schemeClr val="bg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4766293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4">
          <a:extLst>
            <a:ext uri="{FF2B5EF4-FFF2-40B4-BE49-F238E27FC236}">
              <a16:creationId xmlns:a16="http://schemas.microsoft.com/office/drawing/2014/main" id="{00CAD4E5-2108-78C9-8CE4-74DC8F5339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0">
            <a:extLst>
              <a:ext uri="{FF2B5EF4-FFF2-40B4-BE49-F238E27FC236}">
                <a16:creationId xmlns:a16="http://schemas.microsoft.com/office/drawing/2014/main" id="{15D33970-8974-323E-DD13-8E60C978BAFC}"/>
              </a:ext>
            </a:extLst>
          </p:cNvPr>
          <p:cNvSpPr txBox="1"/>
          <p:nvPr/>
        </p:nvSpPr>
        <p:spPr>
          <a:xfrm>
            <a:off x="832434" y="835493"/>
            <a:ext cx="8679866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各式各樣的 </a:t>
            </a:r>
            <a:r>
              <a:rPr lang="en-US" altLang="zh-TW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LSTM</a:t>
            </a: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：單向 </a:t>
            </a:r>
            <a:r>
              <a:rPr lang="en-US" altLang="zh-TW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vs </a:t>
            </a: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雙向</a:t>
            </a:r>
            <a:endParaRPr dirty="0"/>
          </a:p>
        </p:txBody>
      </p:sp>
      <p:sp>
        <p:nvSpPr>
          <p:cNvPr id="219" name="Google Shape;219;p20">
            <a:extLst>
              <a:ext uri="{FF2B5EF4-FFF2-40B4-BE49-F238E27FC236}">
                <a16:creationId xmlns:a16="http://schemas.microsoft.com/office/drawing/2014/main" id="{13CE3B2F-43D5-4464-33BB-EA391C3F144E}"/>
              </a:ext>
            </a:extLst>
          </p:cNvPr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DDF97BB5-8EB6-BD4B-DE3D-E616BB282160}"/>
              </a:ext>
            </a:extLst>
          </p:cNvPr>
          <p:cNvSpPr txBox="1"/>
          <p:nvPr/>
        </p:nvSpPr>
        <p:spPr>
          <a:xfrm>
            <a:off x="647700" y="1612366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1600" b="1" dirty="0">
                <a:solidFill>
                  <a:schemeClr val="tx1"/>
                </a:solidFill>
                <a:latin typeface="+mn-lt"/>
              </a:rPr>
              <a:t>依資訊流動方向，</a:t>
            </a:r>
            <a:r>
              <a:rPr lang="en-US" altLang="zh-TW" sz="1600" b="1" dirty="0">
                <a:solidFill>
                  <a:schemeClr val="tx1"/>
                </a:solidFill>
                <a:latin typeface="+mn-lt"/>
              </a:rPr>
              <a:t>LSTM </a:t>
            </a:r>
            <a:r>
              <a:rPr lang="zh-TW" altLang="en-US" sz="1600" b="1" dirty="0">
                <a:solidFill>
                  <a:schemeClr val="tx1"/>
                </a:solidFill>
                <a:latin typeface="+mn-lt"/>
              </a:rPr>
              <a:t>可分為單向與雙向兩種</a:t>
            </a:r>
          </a:p>
        </p:txBody>
      </p:sp>
      <p:pic>
        <p:nvPicPr>
          <p:cNvPr id="15" name="Google Shape;207;p20" descr="image.png">
            <a:extLst>
              <a:ext uri="{FF2B5EF4-FFF2-40B4-BE49-F238E27FC236}">
                <a16:creationId xmlns:a16="http://schemas.microsoft.com/office/drawing/2014/main" id="{69CE7B00-EDE0-DEDD-BEA1-2A0A95DF397A}"/>
              </a:ext>
            </a:extLst>
          </p:cNvPr>
          <p:cNvPicPr preferRelativeResize="0"/>
          <p:nvPr/>
        </p:nvPicPr>
        <p:blipFill rotWithShape="1"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47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318966" y="4685668"/>
            <a:ext cx="5145584" cy="1673018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213;p20">
            <a:extLst>
              <a:ext uri="{FF2B5EF4-FFF2-40B4-BE49-F238E27FC236}">
                <a16:creationId xmlns:a16="http://schemas.microsoft.com/office/drawing/2014/main" id="{B4F2CE3A-702C-F985-2BFE-8BA519508C04}"/>
              </a:ext>
            </a:extLst>
          </p:cNvPr>
          <p:cNvSpPr txBox="1"/>
          <p:nvPr/>
        </p:nvSpPr>
        <p:spPr>
          <a:xfrm>
            <a:off x="647700" y="4808301"/>
            <a:ext cx="481685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單向 </a:t>
            </a:r>
            <a:r>
              <a:rPr lang="en-US" altLang="zh-TW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LSTM</a:t>
            </a:r>
            <a:endParaRPr sz="1800" dirty="0">
              <a:latin typeface="+mj-lt"/>
            </a:endParaRPr>
          </a:p>
        </p:txBody>
      </p:sp>
      <p:sp>
        <p:nvSpPr>
          <p:cNvPr id="17" name="Google Shape;214;p20">
            <a:extLst>
              <a:ext uri="{FF2B5EF4-FFF2-40B4-BE49-F238E27FC236}">
                <a16:creationId xmlns:a16="http://schemas.microsoft.com/office/drawing/2014/main" id="{8D0746E8-13D5-132F-757F-7856CE31F02F}"/>
              </a:ext>
            </a:extLst>
          </p:cNvPr>
          <p:cNvSpPr txBox="1"/>
          <p:nvPr/>
        </p:nvSpPr>
        <p:spPr>
          <a:xfrm>
            <a:off x="647700" y="5269392"/>
            <a:ext cx="4816850" cy="8617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/>
            <a:r>
              <a:rPr lang="zh-TW" altLang="en-US" dirty="0"/>
              <a:t>只用「過去」資訊預測未來，</a:t>
            </a:r>
            <a:endParaRPr lang="en-US" altLang="zh-TW" dirty="0"/>
          </a:p>
          <a:p>
            <a:pPr lvl="0"/>
            <a:r>
              <a:rPr lang="zh-TW" altLang="en-US" dirty="0"/>
              <a:t>符合真實預測情境（不偷看未來）。</a:t>
            </a:r>
            <a:endParaRPr lang="en-US" altLang="zh-TW" dirty="0"/>
          </a:p>
          <a:p>
            <a:pPr lvl="0"/>
            <a:endParaRPr lang="en-US" altLang="zh-TW" dirty="0"/>
          </a:p>
          <a:p>
            <a:pPr lvl="0"/>
            <a:r>
              <a:rPr lang="zh-TW" altLang="en-US" dirty="0"/>
              <a:t>本研究分為單層、雙層兩種。</a:t>
            </a:r>
            <a:endParaRPr dirty="0"/>
          </a:p>
        </p:txBody>
      </p:sp>
      <p:pic>
        <p:nvPicPr>
          <p:cNvPr id="2" name="圖片 1">
            <a:extLst>
              <a:ext uri="{FF2B5EF4-FFF2-40B4-BE49-F238E27FC236}">
                <a16:creationId xmlns:a16="http://schemas.microsoft.com/office/drawing/2014/main" id="{AAED718B-44AB-9344-142B-DD499DD50DB0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7022" t="17954" r="57044" b="52534"/>
          <a:stretch>
            <a:fillRect/>
          </a:stretch>
        </p:blipFill>
        <p:spPr>
          <a:xfrm>
            <a:off x="194762" y="1935866"/>
            <a:ext cx="5722726" cy="2673431"/>
          </a:xfrm>
          <a:prstGeom prst="rect">
            <a:avLst/>
          </a:prstGeom>
        </p:spPr>
      </p:pic>
      <p:pic>
        <p:nvPicPr>
          <p:cNvPr id="3" name="Google Shape;207;p20" descr="image.png">
            <a:extLst>
              <a:ext uri="{FF2B5EF4-FFF2-40B4-BE49-F238E27FC236}">
                <a16:creationId xmlns:a16="http://schemas.microsoft.com/office/drawing/2014/main" id="{69BEE738-36C0-BFD6-2ECD-D69C3F49E13A}"/>
              </a:ext>
            </a:extLst>
          </p:cNvPr>
          <p:cNvPicPr preferRelativeResize="0"/>
          <p:nvPr/>
        </p:nvPicPr>
        <p:blipFill rotWithShape="1">
          <a:blip r:embed="rId6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88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5917488" y="4650592"/>
            <a:ext cx="5145584" cy="1673018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oogle Shape;213;p20">
            <a:extLst>
              <a:ext uri="{FF2B5EF4-FFF2-40B4-BE49-F238E27FC236}">
                <a16:creationId xmlns:a16="http://schemas.microsoft.com/office/drawing/2014/main" id="{CD2A99BB-9CCF-54D1-9E2A-9233AECB2C82}"/>
              </a:ext>
            </a:extLst>
          </p:cNvPr>
          <p:cNvSpPr txBox="1"/>
          <p:nvPr/>
        </p:nvSpPr>
        <p:spPr>
          <a:xfrm>
            <a:off x="6246222" y="4773225"/>
            <a:ext cx="481685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雙向 </a:t>
            </a:r>
            <a:r>
              <a:rPr lang="en-US" altLang="zh-TW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LSTM (</a:t>
            </a:r>
            <a:r>
              <a:rPr lang="en-US" altLang="zh-TW" sz="1800" b="1" i="0" u="none" strike="noStrike" cap="none" dirty="0" err="1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BiLSTM</a:t>
            </a:r>
            <a:r>
              <a:rPr lang="en-US" altLang="zh-TW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)</a:t>
            </a:r>
            <a:endParaRPr sz="1800" dirty="0">
              <a:latin typeface="+mj-lt"/>
            </a:endParaRPr>
          </a:p>
        </p:txBody>
      </p:sp>
      <p:sp>
        <p:nvSpPr>
          <p:cNvPr id="5" name="Google Shape;214;p20">
            <a:extLst>
              <a:ext uri="{FF2B5EF4-FFF2-40B4-BE49-F238E27FC236}">
                <a16:creationId xmlns:a16="http://schemas.microsoft.com/office/drawing/2014/main" id="{B726C9F3-4C04-743A-3E2B-F17C50797A64}"/>
              </a:ext>
            </a:extLst>
          </p:cNvPr>
          <p:cNvSpPr txBox="1"/>
          <p:nvPr/>
        </p:nvSpPr>
        <p:spPr>
          <a:xfrm>
            <a:off x="6246222" y="5269392"/>
            <a:ext cx="453407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/>
            <a:r>
              <a:rPr lang="zh-TW" altLang="en-US" dirty="0"/>
              <a:t>同時讀取前後文資訊。用於預測「未來」時等於偷看未來，造成資訊洩漏</a:t>
            </a:r>
            <a:r>
              <a:rPr lang="en-US" altLang="zh-TW" dirty="0"/>
              <a:t>——</a:t>
            </a:r>
            <a:r>
              <a:rPr lang="zh-TW" altLang="en-US" dirty="0"/>
              <a:t>這正是本研究中 </a:t>
            </a:r>
            <a:r>
              <a:rPr lang="en-US" altLang="zh-TW" dirty="0" err="1"/>
              <a:t>BiLSTM</a:t>
            </a:r>
            <a:r>
              <a:rPr lang="en-US" altLang="zh-TW" dirty="0"/>
              <a:t> </a:t>
            </a:r>
            <a:r>
              <a:rPr lang="zh-TW" altLang="en-US" dirty="0"/>
              <a:t>表現最差的原因。</a:t>
            </a:r>
            <a:endParaRPr dirty="0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703C81FA-0A64-7C33-76A6-DE95CA65F762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54741" t="17954" r="9758" b="52534"/>
          <a:stretch>
            <a:fillRect/>
          </a:stretch>
        </p:blipFill>
        <p:spPr>
          <a:xfrm>
            <a:off x="5767266" y="1939088"/>
            <a:ext cx="5302744" cy="25074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783048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1" name="Google Shape;241;p22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34700" y="2801073"/>
            <a:ext cx="3524250" cy="2685327"/>
          </a:xfrm>
          <a:prstGeom prst="rect">
            <a:avLst/>
          </a:prstGeom>
          <a:noFill/>
          <a:ln>
            <a:noFill/>
          </a:ln>
        </p:spPr>
      </p:pic>
      <p:pic>
        <p:nvPicPr>
          <p:cNvPr id="242" name="Google Shape;242;p22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97075" y="2801073"/>
            <a:ext cx="3524250" cy="2685327"/>
          </a:xfrm>
          <a:prstGeom prst="rect">
            <a:avLst/>
          </a:prstGeom>
          <a:noFill/>
          <a:ln>
            <a:noFill/>
          </a:ln>
        </p:spPr>
      </p:pic>
      <p:pic>
        <p:nvPicPr>
          <p:cNvPr id="243" name="Google Shape;243;p22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433256" y="2801073"/>
            <a:ext cx="3524250" cy="2685327"/>
          </a:xfrm>
          <a:prstGeom prst="rect">
            <a:avLst/>
          </a:prstGeom>
          <a:noFill/>
          <a:ln>
            <a:noFill/>
          </a:ln>
        </p:spPr>
      </p:pic>
      <p:sp>
        <p:nvSpPr>
          <p:cNvPr id="244" name="Google Shape;244;p22"/>
          <p:cNvSpPr txBox="1"/>
          <p:nvPr/>
        </p:nvSpPr>
        <p:spPr>
          <a:xfrm>
            <a:off x="1010900" y="4022024"/>
            <a:ext cx="3100387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 dirty="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GPT-3.5</a:t>
            </a:r>
            <a:endParaRPr sz="2400" dirty="0"/>
          </a:p>
        </p:txBody>
      </p:sp>
      <p:sp>
        <p:nvSpPr>
          <p:cNvPr id="245" name="Google Shape;245;p22"/>
          <p:cNvSpPr txBox="1"/>
          <p:nvPr/>
        </p:nvSpPr>
        <p:spPr>
          <a:xfrm>
            <a:off x="1158537" y="4494473"/>
            <a:ext cx="295275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0" i="0" u="none" strike="noStrike" cap="none" dirty="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分類任務（漲跌）</a:t>
            </a:r>
            <a:endParaRPr sz="1800" dirty="0"/>
          </a:p>
        </p:txBody>
      </p:sp>
      <p:sp>
        <p:nvSpPr>
          <p:cNvPr id="247" name="Google Shape;247;p22"/>
          <p:cNvSpPr txBox="1"/>
          <p:nvPr/>
        </p:nvSpPr>
        <p:spPr>
          <a:xfrm>
            <a:off x="4909006" y="4016275"/>
            <a:ext cx="3100387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 dirty="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GPT-4o-mini</a:t>
            </a:r>
            <a:endParaRPr sz="2400" dirty="0"/>
          </a:p>
        </p:txBody>
      </p:sp>
      <p:sp>
        <p:nvSpPr>
          <p:cNvPr id="248" name="Google Shape;248;p22"/>
          <p:cNvSpPr txBox="1"/>
          <p:nvPr/>
        </p:nvSpPr>
        <p:spPr>
          <a:xfrm>
            <a:off x="5056643" y="4488724"/>
            <a:ext cx="295275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0" i="0" u="none" strike="noStrike" cap="none" dirty="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小樣本數值迴歸</a:t>
            </a:r>
            <a:endParaRPr sz="1800" dirty="0"/>
          </a:p>
        </p:txBody>
      </p:sp>
      <p:pic>
        <p:nvPicPr>
          <p:cNvPr id="249" name="Google Shape;249;p22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985704" y="3311631"/>
            <a:ext cx="566989" cy="558238"/>
          </a:xfrm>
          <a:prstGeom prst="rect">
            <a:avLst/>
          </a:prstGeom>
          <a:noFill/>
          <a:ln>
            <a:noFill/>
          </a:ln>
        </p:spPr>
      </p:pic>
      <p:sp>
        <p:nvSpPr>
          <p:cNvPr id="250" name="Google Shape;250;p22"/>
          <p:cNvSpPr txBox="1"/>
          <p:nvPr/>
        </p:nvSpPr>
        <p:spPr>
          <a:xfrm>
            <a:off x="8645187" y="4016275"/>
            <a:ext cx="3100387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 dirty="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Prompt Engineering</a:t>
            </a:r>
            <a:endParaRPr sz="2400" dirty="0"/>
          </a:p>
        </p:txBody>
      </p:sp>
      <p:sp>
        <p:nvSpPr>
          <p:cNvPr id="251" name="Google Shape;251;p22"/>
          <p:cNvSpPr txBox="1"/>
          <p:nvPr/>
        </p:nvSpPr>
        <p:spPr>
          <a:xfrm>
            <a:off x="8792824" y="4488724"/>
            <a:ext cx="2952750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0" i="0" u="none" strike="noStrike" cap="none" dirty="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技術指標數值轉文字，引導模型零樣本預測</a:t>
            </a:r>
            <a:endParaRPr sz="1800" dirty="0"/>
          </a:p>
        </p:txBody>
      </p:sp>
      <p:sp>
        <p:nvSpPr>
          <p:cNvPr id="252" name="Google Shape;252;p22"/>
          <p:cNvSpPr txBox="1"/>
          <p:nvPr/>
        </p:nvSpPr>
        <p:spPr>
          <a:xfrm>
            <a:off x="809625" y="919311"/>
            <a:ext cx="6546416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 dirty="0" err="1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大語言模型</a:t>
            </a:r>
            <a:r>
              <a:rPr 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 </a:t>
            </a:r>
            <a:r>
              <a:rPr lang="en-US" sz="3300" b="1" i="0" u="none" strike="noStrike" cap="none" dirty="0" err="1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LLM：金融輔助決策</a:t>
            </a:r>
            <a:endParaRPr dirty="0"/>
          </a:p>
        </p:txBody>
      </p:sp>
      <p:sp>
        <p:nvSpPr>
          <p:cNvPr id="253" name="Google Shape;253;p22"/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" name="Google Shape;245;p22">
            <a:extLst>
              <a:ext uri="{FF2B5EF4-FFF2-40B4-BE49-F238E27FC236}">
                <a16:creationId xmlns:a16="http://schemas.microsoft.com/office/drawing/2014/main" id="{7FF8DCA4-76B3-479C-CFE4-23BB0B58CE0D}"/>
              </a:ext>
            </a:extLst>
          </p:cNvPr>
          <p:cNvSpPr txBox="1"/>
          <p:nvPr/>
        </p:nvSpPr>
        <p:spPr>
          <a:xfrm>
            <a:off x="910887" y="5756923"/>
            <a:ext cx="3448050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TW" sz="1800" b="0" i="0" u="none" strike="noStrike" cap="none" dirty="0">
                <a:solidFill>
                  <a:srgbClr val="FF0000"/>
                </a:solidFill>
                <a:highlight>
                  <a:srgbClr val="FFFF00"/>
                </a:highlight>
                <a:latin typeface="DM Sans"/>
                <a:ea typeface="DM Sans"/>
                <a:cs typeface="DM Sans"/>
                <a:sym typeface="DM Sans"/>
              </a:rPr>
              <a:t>F1 </a:t>
            </a:r>
            <a:r>
              <a:rPr lang="zh-TW" altLang="en-US" sz="1800" b="0" i="0" u="none" strike="noStrike" cap="none" dirty="0">
                <a:solidFill>
                  <a:srgbClr val="FF0000"/>
                </a:solidFill>
                <a:highlight>
                  <a:srgbClr val="FFFF00"/>
                </a:highlight>
                <a:latin typeface="DM Sans"/>
                <a:ea typeface="DM Sans"/>
                <a:cs typeface="DM Sans"/>
                <a:sym typeface="DM Sans"/>
              </a:rPr>
              <a:t>約 </a:t>
            </a:r>
            <a:r>
              <a:rPr lang="en-US" altLang="zh-TW" sz="1800" b="0" i="0" u="none" strike="noStrike" cap="none" dirty="0">
                <a:solidFill>
                  <a:srgbClr val="FF0000"/>
                </a:solidFill>
                <a:highlight>
                  <a:srgbClr val="FFFF00"/>
                </a:highlight>
                <a:latin typeface="DM Sans"/>
                <a:ea typeface="DM Sans"/>
                <a:cs typeface="DM Sans"/>
                <a:sym typeface="DM Sans"/>
              </a:rPr>
              <a:t>0.48</a:t>
            </a:r>
            <a:r>
              <a:rPr lang="zh-TW" altLang="en-US" sz="1800" b="0" i="0" u="none" strike="noStrike" cap="none" dirty="0">
                <a:solidFill>
                  <a:srgbClr val="FF0000"/>
                </a:solidFill>
                <a:highlight>
                  <a:srgbClr val="FFFF00"/>
                </a:highlight>
                <a:latin typeface="DM Sans"/>
                <a:ea typeface="DM Sans"/>
                <a:cs typeface="DM Sans"/>
                <a:sym typeface="DM Sans"/>
              </a:rPr>
              <a:t>，遜於傳統模型，但能提供可解釋文本</a:t>
            </a:r>
            <a:endParaRPr sz="1800" dirty="0">
              <a:solidFill>
                <a:srgbClr val="FF0000"/>
              </a:solidFill>
              <a:highlight>
                <a:srgbClr val="FFFF00"/>
              </a:highlight>
            </a:endParaRPr>
          </a:p>
        </p:txBody>
      </p:sp>
      <p:pic>
        <p:nvPicPr>
          <p:cNvPr id="6" name="圖片 5" descr="ChatGPT 人工智能標誌圖標| Premium矢量">
            <a:extLst>
              <a:ext uri="{FF2B5EF4-FFF2-40B4-BE49-F238E27FC236}">
                <a16:creationId xmlns:a16="http://schemas.microsoft.com/office/drawing/2014/main" id="{CDCB6382-6871-4FE8-F8DB-ADCD44582692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D4AF37"/>
              </a:clrFrom>
              <a:clrTo>
                <a:srgbClr val="D4AF37">
                  <a:alpha val="0"/>
                </a:srgbClr>
              </a:clrTo>
            </a:clrChange>
          </a:blip>
          <a:stretch/>
        </p:blipFill>
        <p:spPr>
          <a:xfrm>
            <a:off x="2178964" y="3105612"/>
            <a:ext cx="764257" cy="764257"/>
          </a:xfrm>
          <a:prstGeom prst="rect">
            <a:avLst/>
          </a:prstGeom>
          <a:noFill/>
        </p:spPr>
      </p:pic>
      <p:pic>
        <p:nvPicPr>
          <p:cNvPr id="7" name="圖片 6" descr="Gemini for macOS：原生AI 電腦版應用程式">
            <a:extLst>
              <a:ext uri="{FF2B5EF4-FFF2-40B4-BE49-F238E27FC236}">
                <a16:creationId xmlns:a16="http://schemas.microsoft.com/office/drawing/2014/main" id="{FD830594-1296-CA10-698F-FD54B06529A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5598549" y="3105612"/>
            <a:ext cx="1721300" cy="882577"/>
          </a:xfrm>
          <a:prstGeom prst="rect">
            <a:avLst/>
          </a:prstGeom>
        </p:spPr>
      </p:pic>
      <p:sp>
        <p:nvSpPr>
          <p:cNvPr id="3" name="文字方塊 2">
            <a:extLst>
              <a:ext uri="{FF2B5EF4-FFF2-40B4-BE49-F238E27FC236}">
                <a16:creationId xmlns:a16="http://schemas.microsoft.com/office/drawing/2014/main" id="{52CE5C19-DCBB-C4A6-A756-E66F21936786}"/>
              </a:ext>
            </a:extLst>
          </p:cNvPr>
          <p:cNvSpPr txBox="1"/>
          <p:nvPr/>
        </p:nvSpPr>
        <p:spPr>
          <a:xfrm>
            <a:off x="3048000" y="3279122"/>
            <a:ext cx="6096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zh-TW" altLang="en-US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p23"/>
          <p:cNvSpPr txBox="1"/>
          <p:nvPr/>
        </p:nvSpPr>
        <p:spPr>
          <a:xfrm>
            <a:off x="455381" y="3435519"/>
            <a:ext cx="1508157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資料來源</a:t>
            </a:r>
            <a:endParaRPr sz="2400" dirty="0"/>
          </a:p>
        </p:txBody>
      </p:sp>
      <p:sp>
        <p:nvSpPr>
          <p:cNvPr id="260" name="Google Shape;260;p23"/>
          <p:cNvSpPr txBox="1"/>
          <p:nvPr/>
        </p:nvSpPr>
        <p:spPr>
          <a:xfrm>
            <a:off x="491290" y="4238491"/>
            <a:ext cx="1436340" cy="6032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b="0" i="0" u="none" strike="noStrike" cap="non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Yahoo Finance API</a:t>
            </a:r>
            <a:endParaRPr/>
          </a:p>
        </p:txBody>
      </p:sp>
      <p:sp>
        <p:nvSpPr>
          <p:cNvPr id="261" name="Google Shape;261;p23"/>
          <p:cNvSpPr txBox="1"/>
          <p:nvPr/>
        </p:nvSpPr>
        <p:spPr>
          <a:xfrm>
            <a:off x="2057367" y="3435519"/>
            <a:ext cx="1508157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預處理</a:t>
            </a:r>
            <a:endParaRPr sz="2400"/>
          </a:p>
        </p:txBody>
      </p:sp>
      <p:sp>
        <p:nvSpPr>
          <p:cNvPr id="262" name="Google Shape;262;p23"/>
          <p:cNvSpPr txBox="1"/>
          <p:nvPr/>
        </p:nvSpPr>
        <p:spPr>
          <a:xfrm>
            <a:off x="2093275" y="4238491"/>
            <a:ext cx="1436340" cy="3016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b="0" i="0" u="none" strike="noStrike" cap="non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清洗、缺失值插補</a:t>
            </a:r>
            <a:endParaRPr/>
          </a:p>
        </p:txBody>
      </p:sp>
      <p:sp>
        <p:nvSpPr>
          <p:cNvPr id="263" name="Google Shape;263;p23"/>
          <p:cNvSpPr txBox="1"/>
          <p:nvPr/>
        </p:nvSpPr>
        <p:spPr>
          <a:xfrm>
            <a:off x="3659353" y="3435519"/>
            <a:ext cx="1508157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EDA</a:t>
            </a:r>
            <a:endParaRPr sz="2400"/>
          </a:p>
        </p:txBody>
      </p:sp>
      <p:sp>
        <p:nvSpPr>
          <p:cNvPr id="264" name="Google Shape;264;p23"/>
          <p:cNvSpPr txBox="1"/>
          <p:nvPr/>
        </p:nvSpPr>
        <p:spPr>
          <a:xfrm>
            <a:off x="3565828" y="4238491"/>
            <a:ext cx="1731419" cy="3016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b="0" i="0" u="none" strike="noStrike" cap="none" dirty="0" err="1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皮爾森相關分析</a:t>
            </a:r>
            <a:endParaRPr dirty="0"/>
          </a:p>
        </p:txBody>
      </p:sp>
      <p:sp>
        <p:nvSpPr>
          <p:cNvPr id="265" name="Google Shape;265;p23"/>
          <p:cNvSpPr txBox="1"/>
          <p:nvPr/>
        </p:nvSpPr>
        <p:spPr>
          <a:xfrm>
            <a:off x="5261339" y="3435519"/>
            <a:ext cx="1508157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特徵選擇</a:t>
            </a:r>
            <a:endParaRPr sz="2400"/>
          </a:p>
        </p:txBody>
      </p:sp>
      <p:sp>
        <p:nvSpPr>
          <p:cNvPr id="266" name="Google Shape;266;p23"/>
          <p:cNvSpPr txBox="1"/>
          <p:nvPr/>
        </p:nvSpPr>
        <p:spPr>
          <a:xfrm>
            <a:off x="5297247" y="4238491"/>
            <a:ext cx="1436340" cy="3016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b="0" i="0" u="none" strike="noStrike" cap="non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僅對 ML 執行</a:t>
            </a:r>
            <a:endParaRPr/>
          </a:p>
        </p:txBody>
      </p:sp>
      <p:sp>
        <p:nvSpPr>
          <p:cNvPr id="267" name="Google Shape;267;p23"/>
          <p:cNvSpPr txBox="1"/>
          <p:nvPr/>
        </p:nvSpPr>
        <p:spPr>
          <a:xfrm>
            <a:off x="6863325" y="3435519"/>
            <a:ext cx="1508157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模型訓練</a:t>
            </a:r>
            <a:endParaRPr sz="2400"/>
          </a:p>
        </p:txBody>
      </p:sp>
      <p:sp>
        <p:nvSpPr>
          <p:cNvPr id="268" name="Google Shape;268;p23"/>
          <p:cNvSpPr txBox="1"/>
          <p:nvPr/>
        </p:nvSpPr>
        <p:spPr>
          <a:xfrm>
            <a:off x="6769496" y="4203736"/>
            <a:ext cx="1731420" cy="3016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b="0" i="0" u="none" strike="noStrike" cap="none" dirty="0" err="1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TimeSeriesSplit</a:t>
            </a:r>
            <a:endParaRPr dirty="0"/>
          </a:p>
        </p:txBody>
      </p:sp>
      <p:sp>
        <p:nvSpPr>
          <p:cNvPr id="269" name="Google Shape;269;p23"/>
          <p:cNvSpPr txBox="1"/>
          <p:nvPr/>
        </p:nvSpPr>
        <p:spPr>
          <a:xfrm>
            <a:off x="8465311" y="3435519"/>
            <a:ext cx="1508157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超參調教</a:t>
            </a:r>
            <a:endParaRPr sz="2400"/>
          </a:p>
        </p:txBody>
      </p:sp>
      <p:sp>
        <p:nvSpPr>
          <p:cNvPr id="270" name="Google Shape;270;p23"/>
          <p:cNvSpPr txBox="1"/>
          <p:nvPr/>
        </p:nvSpPr>
        <p:spPr>
          <a:xfrm>
            <a:off x="8537128" y="4238491"/>
            <a:ext cx="1436340" cy="3016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b="0" i="0" u="none" strike="noStrike" cap="none" dirty="0" err="1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網格搜尋</a:t>
            </a:r>
            <a:endParaRPr dirty="0"/>
          </a:p>
        </p:txBody>
      </p:sp>
      <p:sp>
        <p:nvSpPr>
          <p:cNvPr id="271" name="Google Shape;271;p23"/>
          <p:cNvSpPr txBox="1"/>
          <p:nvPr/>
        </p:nvSpPr>
        <p:spPr>
          <a:xfrm>
            <a:off x="10067297" y="3435519"/>
            <a:ext cx="1508157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性能評估</a:t>
            </a:r>
            <a:endParaRPr sz="2400"/>
          </a:p>
        </p:txBody>
      </p:sp>
      <p:sp>
        <p:nvSpPr>
          <p:cNvPr id="272" name="Google Shape;272;p23"/>
          <p:cNvSpPr txBox="1"/>
          <p:nvPr/>
        </p:nvSpPr>
        <p:spPr>
          <a:xfrm>
            <a:off x="10103205" y="4238491"/>
            <a:ext cx="1436340" cy="3016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b="0" i="0" u="none" strike="noStrike" cap="none" dirty="0" err="1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計算各項</a:t>
            </a:r>
            <a:r>
              <a:rPr lang="en-US" b="0" i="0" u="none" strike="noStrike" cap="none" dirty="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 Metrics</a:t>
            </a:r>
            <a:endParaRPr dirty="0"/>
          </a:p>
        </p:txBody>
      </p:sp>
      <p:sp>
        <p:nvSpPr>
          <p:cNvPr id="273" name="Google Shape;273;p23"/>
          <p:cNvSpPr/>
          <p:nvPr/>
        </p:nvSpPr>
        <p:spPr>
          <a:xfrm>
            <a:off x="455381" y="2963779"/>
            <a:ext cx="11049000" cy="3810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4" name="Google Shape;274;p23"/>
          <p:cNvSpPr txBox="1"/>
          <p:nvPr/>
        </p:nvSpPr>
        <p:spPr>
          <a:xfrm>
            <a:off x="809625" y="919311"/>
            <a:ext cx="11351418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 dirty="0" err="1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研究流程</a:t>
            </a:r>
            <a:r>
              <a:rPr 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 Pipeline</a:t>
            </a:r>
            <a:r>
              <a:rPr lang="en-US" altLang="zh-TW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(Machine Learning)</a:t>
            </a:r>
            <a:endParaRPr dirty="0"/>
          </a:p>
        </p:txBody>
      </p:sp>
      <p:sp>
        <p:nvSpPr>
          <p:cNvPr id="275" name="Google Shape;275;p23"/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6" name="Google Shape;276;p23"/>
          <p:cNvSpPr/>
          <p:nvPr/>
        </p:nvSpPr>
        <p:spPr>
          <a:xfrm>
            <a:off x="1091336" y="2849479"/>
            <a:ext cx="228600" cy="228600"/>
          </a:xfrm>
          <a:prstGeom prst="roundRect">
            <a:avLst>
              <a:gd name="adj" fmla="val 50000"/>
            </a:avLst>
          </a:prstGeom>
          <a:solidFill>
            <a:srgbClr val="D4AF37"/>
          </a:solidFill>
          <a:ln w="381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7" name="Google Shape;277;p23"/>
          <p:cNvSpPr/>
          <p:nvPr/>
        </p:nvSpPr>
        <p:spPr>
          <a:xfrm>
            <a:off x="2693322" y="2849479"/>
            <a:ext cx="228600" cy="228600"/>
          </a:xfrm>
          <a:prstGeom prst="roundRect">
            <a:avLst>
              <a:gd name="adj" fmla="val 50000"/>
            </a:avLst>
          </a:prstGeom>
          <a:solidFill>
            <a:srgbClr val="D4AF37"/>
          </a:solidFill>
          <a:ln w="381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8" name="Google Shape;278;p23"/>
          <p:cNvSpPr/>
          <p:nvPr/>
        </p:nvSpPr>
        <p:spPr>
          <a:xfrm>
            <a:off x="4295307" y="2849479"/>
            <a:ext cx="228600" cy="228600"/>
          </a:xfrm>
          <a:prstGeom prst="roundRect">
            <a:avLst>
              <a:gd name="adj" fmla="val 50000"/>
            </a:avLst>
          </a:prstGeom>
          <a:solidFill>
            <a:srgbClr val="D4AF37"/>
          </a:solidFill>
          <a:ln w="381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9" name="Google Shape;279;p23"/>
          <p:cNvSpPr/>
          <p:nvPr/>
        </p:nvSpPr>
        <p:spPr>
          <a:xfrm>
            <a:off x="5897293" y="2849479"/>
            <a:ext cx="228600" cy="228600"/>
          </a:xfrm>
          <a:prstGeom prst="roundRect">
            <a:avLst>
              <a:gd name="adj" fmla="val 50000"/>
            </a:avLst>
          </a:prstGeom>
          <a:solidFill>
            <a:srgbClr val="D4AF37"/>
          </a:solidFill>
          <a:ln w="381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0" name="Google Shape;280;p23"/>
          <p:cNvSpPr/>
          <p:nvPr/>
        </p:nvSpPr>
        <p:spPr>
          <a:xfrm>
            <a:off x="7499279" y="2849479"/>
            <a:ext cx="228600" cy="228600"/>
          </a:xfrm>
          <a:prstGeom prst="roundRect">
            <a:avLst>
              <a:gd name="adj" fmla="val 50000"/>
            </a:avLst>
          </a:prstGeom>
          <a:solidFill>
            <a:srgbClr val="D4AF37"/>
          </a:solidFill>
          <a:ln w="381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1" name="Google Shape;281;p23"/>
          <p:cNvSpPr/>
          <p:nvPr/>
        </p:nvSpPr>
        <p:spPr>
          <a:xfrm>
            <a:off x="9101265" y="2849479"/>
            <a:ext cx="228600" cy="228600"/>
          </a:xfrm>
          <a:prstGeom prst="roundRect">
            <a:avLst>
              <a:gd name="adj" fmla="val 50000"/>
            </a:avLst>
          </a:prstGeom>
          <a:solidFill>
            <a:srgbClr val="D4AF37"/>
          </a:solidFill>
          <a:ln w="381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2" name="Google Shape;282;p23"/>
          <p:cNvSpPr/>
          <p:nvPr/>
        </p:nvSpPr>
        <p:spPr>
          <a:xfrm>
            <a:off x="10703251" y="2849479"/>
            <a:ext cx="228600" cy="228600"/>
          </a:xfrm>
          <a:prstGeom prst="roundRect">
            <a:avLst>
              <a:gd name="adj" fmla="val 50000"/>
            </a:avLst>
          </a:prstGeom>
          <a:solidFill>
            <a:srgbClr val="D4AF37"/>
          </a:solidFill>
          <a:ln w="381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E1DEFE47-2665-0ABF-F6D1-3398B6F23B49}"/>
              </a:ext>
            </a:extLst>
          </p:cNvPr>
          <p:cNvSpPr txBox="1"/>
          <p:nvPr/>
        </p:nvSpPr>
        <p:spPr>
          <a:xfrm>
            <a:off x="5581689" y="5122439"/>
            <a:ext cx="4292379" cy="584775"/>
          </a:xfrm>
          <a:prstGeom prst="rect">
            <a:avLst/>
          </a:prstGeom>
          <a:solidFill>
            <a:srgbClr val="FFFF00"/>
          </a:solidFill>
        </p:spPr>
        <p:txBody>
          <a:bodyPr wrap="square">
            <a:spAutoFit/>
          </a:bodyPr>
          <a:lstStyle/>
          <a:p>
            <a:pPr algn="ctr"/>
            <a:r>
              <a:rPr lang="zh-TW" altLang="zh-TW" sz="1600" dirty="0">
                <a:solidFill>
                  <a:srgbClr val="FF0000"/>
                </a:solidFill>
              </a:rPr>
              <a:t>傳統 K-Fold 會打亂時間造成未來資料洩漏；TimeSeriesSplit 確保訓練集永遠早於測試集。</a:t>
            </a:r>
            <a:endParaRPr lang="zh-TW" altLang="en-US" sz="1600" dirty="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7">
          <a:extLst>
            <a:ext uri="{FF2B5EF4-FFF2-40B4-BE49-F238E27FC236}">
              <a16:creationId xmlns:a16="http://schemas.microsoft.com/office/drawing/2014/main" id="{4ACDD218-367C-88BC-F6D5-C2E75395D3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p23">
            <a:extLst>
              <a:ext uri="{FF2B5EF4-FFF2-40B4-BE49-F238E27FC236}">
                <a16:creationId xmlns:a16="http://schemas.microsoft.com/office/drawing/2014/main" id="{160979E7-6E60-3AD2-673B-C0CAB6B2E477}"/>
              </a:ext>
            </a:extLst>
          </p:cNvPr>
          <p:cNvSpPr txBox="1"/>
          <p:nvPr/>
        </p:nvSpPr>
        <p:spPr>
          <a:xfrm>
            <a:off x="809625" y="919311"/>
            <a:ext cx="11351418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19969"/>
              </a:lnSpc>
            </a:pPr>
            <a:r>
              <a:rPr lang="zh-TW" altLang="en-US" sz="3300" b="1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機器學習流程 </a:t>
            </a:r>
            <a:r>
              <a:rPr lang="en-US" altLang="zh-TW" sz="3300" b="1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(</a:t>
            </a:r>
            <a:r>
              <a:rPr lang="en-US" sz="3300" b="1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Machine Learning Pipeline)</a:t>
            </a:r>
            <a:endParaRPr dirty="0"/>
          </a:p>
        </p:txBody>
      </p:sp>
      <p:sp>
        <p:nvSpPr>
          <p:cNvPr id="275" name="Google Shape;275;p23">
            <a:extLst>
              <a:ext uri="{FF2B5EF4-FFF2-40B4-BE49-F238E27FC236}">
                <a16:creationId xmlns:a16="http://schemas.microsoft.com/office/drawing/2014/main" id="{3881B20B-EDEE-DD24-99F3-BF8581C235B7}"/>
              </a:ext>
            </a:extLst>
          </p:cNvPr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" name="Google Shape;207;p20" descr="image.png">
            <a:extLst>
              <a:ext uri="{FF2B5EF4-FFF2-40B4-BE49-F238E27FC236}">
                <a16:creationId xmlns:a16="http://schemas.microsoft.com/office/drawing/2014/main" id="{039DCC1B-18C1-7818-7AA5-E0BF361CF55E}"/>
              </a:ext>
            </a:extLst>
          </p:cNvPr>
          <p:cNvPicPr preferRelativeResize="0"/>
          <p:nvPr/>
        </p:nvPicPr>
        <p:blipFill rotWithShape="1"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4700"/>
                    </a14:imgEffect>
                    <a14:imgEffect>
                      <a14:saturation sat="330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348817" y="1976714"/>
            <a:ext cx="1525785" cy="684000"/>
          </a:xfrm>
          <a:prstGeom prst="rect">
            <a:avLst/>
          </a:prstGeom>
          <a:noFill/>
          <a:ln>
            <a:noFill/>
          </a:ln>
        </p:spPr>
      </p:pic>
      <p:sp>
        <p:nvSpPr>
          <p:cNvPr id="259" name="Google Shape;259;p23">
            <a:extLst>
              <a:ext uri="{FF2B5EF4-FFF2-40B4-BE49-F238E27FC236}">
                <a16:creationId xmlns:a16="http://schemas.microsoft.com/office/drawing/2014/main" id="{192E414F-5E2F-499E-871A-B62A15A2CBA5}"/>
              </a:ext>
            </a:extLst>
          </p:cNvPr>
          <p:cNvSpPr txBox="1"/>
          <p:nvPr/>
        </p:nvSpPr>
        <p:spPr>
          <a:xfrm>
            <a:off x="527778" y="2162693"/>
            <a:ext cx="1173356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資料收集</a:t>
            </a:r>
            <a:endParaRPr sz="1800" dirty="0"/>
          </a:p>
        </p:txBody>
      </p:sp>
      <p:pic>
        <p:nvPicPr>
          <p:cNvPr id="21" name="Google Shape;207;p20" descr="image.png">
            <a:extLst>
              <a:ext uri="{FF2B5EF4-FFF2-40B4-BE49-F238E27FC236}">
                <a16:creationId xmlns:a16="http://schemas.microsoft.com/office/drawing/2014/main" id="{CED82B38-D8D2-A18D-E7A6-8C4F28418751}"/>
              </a:ext>
            </a:extLst>
          </p:cNvPr>
          <p:cNvPicPr preferRelativeResize="0"/>
          <p:nvPr/>
        </p:nvPicPr>
        <p:blipFill rotWithShape="1">
          <a:blip r:embed="rId5">
            <a:alphaModFix/>
            <a:grayscl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47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1965182" y="1976969"/>
            <a:ext cx="1525785" cy="684000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59;p23">
            <a:extLst>
              <a:ext uri="{FF2B5EF4-FFF2-40B4-BE49-F238E27FC236}">
                <a16:creationId xmlns:a16="http://schemas.microsoft.com/office/drawing/2014/main" id="{A00B725A-FE08-75D9-8E68-A6716B713D1C}"/>
              </a:ext>
            </a:extLst>
          </p:cNvPr>
          <p:cNvSpPr txBox="1"/>
          <p:nvPr/>
        </p:nvSpPr>
        <p:spPr>
          <a:xfrm>
            <a:off x="2144143" y="2162948"/>
            <a:ext cx="1173356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資料前處理</a:t>
            </a:r>
            <a:endParaRPr sz="1800" dirty="0"/>
          </a:p>
        </p:txBody>
      </p:sp>
      <p:sp>
        <p:nvSpPr>
          <p:cNvPr id="23" name="箭號: 向右 22">
            <a:extLst>
              <a:ext uri="{FF2B5EF4-FFF2-40B4-BE49-F238E27FC236}">
                <a16:creationId xmlns:a16="http://schemas.microsoft.com/office/drawing/2014/main" id="{638DAFA7-9A92-46AB-3C71-1965B10BFF98}"/>
              </a:ext>
            </a:extLst>
          </p:cNvPr>
          <p:cNvSpPr/>
          <p:nvPr/>
        </p:nvSpPr>
        <p:spPr>
          <a:xfrm>
            <a:off x="3465913" y="2301029"/>
            <a:ext cx="168662" cy="9821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" name="箭號: 向右 3">
            <a:extLst>
              <a:ext uri="{FF2B5EF4-FFF2-40B4-BE49-F238E27FC236}">
                <a16:creationId xmlns:a16="http://schemas.microsoft.com/office/drawing/2014/main" id="{4B33AFCD-C9AF-13E8-81AC-0F45D0FA2C7F}"/>
              </a:ext>
            </a:extLst>
          </p:cNvPr>
          <p:cNvSpPr/>
          <p:nvPr/>
        </p:nvSpPr>
        <p:spPr>
          <a:xfrm>
            <a:off x="1849548" y="2300774"/>
            <a:ext cx="168662" cy="9821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24" name="Google Shape;207;p20" descr="image.png">
            <a:extLst>
              <a:ext uri="{FF2B5EF4-FFF2-40B4-BE49-F238E27FC236}">
                <a16:creationId xmlns:a16="http://schemas.microsoft.com/office/drawing/2014/main" id="{FFD8BB03-FF77-A74F-442D-8B89064D3C47}"/>
              </a:ext>
            </a:extLst>
          </p:cNvPr>
          <p:cNvPicPr preferRelativeResize="0"/>
          <p:nvPr/>
        </p:nvPicPr>
        <p:blipFill rotWithShape="1">
          <a:blip r:embed="rId5">
            <a:alphaModFix/>
            <a:duotone>
              <a:prstClr val="black"/>
              <a:schemeClr val="tx2">
                <a:lumMod val="90000"/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47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3581547" y="1973537"/>
            <a:ext cx="1525785" cy="684000"/>
          </a:xfrm>
          <a:prstGeom prst="rect">
            <a:avLst/>
          </a:prstGeom>
          <a:noFill/>
          <a:ln>
            <a:noFill/>
          </a:ln>
        </p:spPr>
      </p:pic>
      <p:sp>
        <p:nvSpPr>
          <p:cNvPr id="25" name="Google Shape;259;p23">
            <a:extLst>
              <a:ext uri="{FF2B5EF4-FFF2-40B4-BE49-F238E27FC236}">
                <a16:creationId xmlns:a16="http://schemas.microsoft.com/office/drawing/2014/main" id="{8704E6A5-6ABC-67F6-0AF9-E6849894C1C6}"/>
              </a:ext>
            </a:extLst>
          </p:cNvPr>
          <p:cNvSpPr txBox="1"/>
          <p:nvPr/>
        </p:nvSpPr>
        <p:spPr>
          <a:xfrm>
            <a:off x="3760508" y="2159516"/>
            <a:ext cx="1173356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特徵工程</a:t>
            </a:r>
            <a:endParaRPr sz="1800" dirty="0"/>
          </a:p>
        </p:txBody>
      </p:sp>
      <p:sp>
        <p:nvSpPr>
          <p:cNvPr id="26" name="箭號: 向右 25">
            <a:extLst>
              <a:ext uri="{FF2B5EF4-FFF2-40B4-BE49-F238E27FC236}">
                <a16:creationId xmlns:a16="http://schemas.microsoft.com/office/drawing/2014/main" id="{376AF579-6EC6-23F7-9AFC-EB236FFB7DEC}"/>
              </a:ext>
            </a:extLst>
          </p:cNvPr>
          <p:cNvSpPr/>
          <p:nvPr/>
        </p:nvSpPr>
        <p:spPr>
          <a:xfrm>
            <a:off x="5082278" y="2297597"/>
            <a:ext cx="168662" cy="9821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7" name="箭號: 向右 26">
            <a:extLst>
              <a:ext uri="{FF2B5EF4-FFF2-40B4-BE49-F238E27FC236}">
                <a16:creationId xmlns:a16="http://schemas.microsoft.com/office/drawing/2014/main" id="{3217C314-97F1-3EE0-E645-DE1E58FD3B6E}"/>
              </a:ext>
            </a:extLst>
          </p:cNvPr>
          <p:cNvSpPr/>
          <p:nvPr/>
        </p:nvSpPr>
        <p:spPr>
          <a:xfrm>
            <a:off x="3465913" y="2297342"/>
            <a:ext cx="168662" cy="9821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28" name="Google Shape;207;p20" descr="image.png">
            <a:extLst>
              <a:ext uri="{FF2B5EF4-FFF2-40B4-BE49-F238E27FC236}">
                <a16:creationId xmlns:a16="http://schemas.microsoft.com/office/drawing/2014/main" id="{B017D1C0-5D59-FF6C-386D-D653DB71DA77}"/>
              </a:ext>
            </a:extLst>
          </p:cNvPr>
          <p:cNvPicPr preferRelativeResize="0"/>
          <p:nvPr/>
        </p:nvPicPr>
        <p:blipFill rotWithShape="1">
          <a:blip r:embed="rId5">
            <a:alphaModFix/>
            <a:duotone>
              <a:prstClr val="black"/>
              <a:schemeClr val="accent6">
                <a:lumMod val="20000"/>
                <a:lumOff val="80000"/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47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5197912" y="1966687"/>
            <a:ext cx="1525785" cy="684000"/>
          </a:xfrm>
          <a:prstGeom prst="rect">
            <a:avLst/>
          </a:prstGeom>
          <a:noFill/>
          <a:ln>
            <a:noFill/>
          </a:ln>
        </p:spPr>
      </p:pic>
      <p:sp>
        <p:nvSpPr>
          <p:cNvPr id="29" name="Google Shape;259;p23">
            <a:extLst>
              <a:ext uri="{FF2B5EF4-FFF2-40B4-BE49-F238E27FC236}">
                <a16:creationId xmlns:a16="http://schemas.microsoft.com/office/drawing/2014/main" id="{7610FD10-658A-F830-FD6C-0544E738B33B}"/>
              </a:ext>
            </a:extLst>
          </p:cNvPr>
          <p:cNvSpPr txBox="1"/>
          <p:nvPr/>
        </p:nvSpPr>
        <p:spPr>
          <a:xfrm>
            <a:off x="5376873" y="2152666"/>
            <a:ext cx="1173356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特徵選擇</a:t>
            </a:r>
            <a:endParaRPr sz="1800" dirty="0"/>
          </a:p>
        </p:txBody>
      </p:sp>
      <p:sp>
        <p:nvSpPr>
          <p:cNvPr id="30" name="箭號: 向右 29">
            <a:extLst>
              <a:ext uri="{FF2B5EF4-FFF2-40B4-BE49-F238E27FC236}">
                <a16:creationId xmlns:a16="http://schemas.microsoft.com/office/drawing/2014/main" id="{C2C3C4F4-B08B-F2E2-EC78-EFCE3AD19EEA}"/>
              </a:ext>
            </a:extLst>
          </p:cNvPr>
          <p:cNvSpPr/>
          <p:nvPr/>
        </p:nvSpPr>
        <p:spPr>
          <a:xfrm>
            <a:off x="6698643" y="2290747"/>
            <a:ext cx="168662" cy="9821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1" name="箭號: 向右 30">
            <a:extLst>
              <a:ext uri="{FF2B5EF4-FFF2-40B4-BE49-F238E27FC236}">
                <a16:creationId xmlns:a16="http://schemas.microsoft.com/office/drawing/2014/main" id="{E20DA94C-AAB4-F8DA-D259-BA4ADBF6A5AD}"/>
              </a:ext>
            </a:extLst>
          </p:cNvPr>
          <p:cNvSpPr/>
          <p:nvPr/>
        </p:nvSpPr>
        <p:spPr>
          <a:xfrm>
            <a:off x="5082278" y="2290492"/>
            <a:ext cx="168662" cy="9821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32" name="Google Shape;207;p20" descr="image.png">
            <a:extLst>
              <a:ext uri="{FF2B5EF4-FFF2-40B4-BE49-F238E27FC236}">
                <a16:creationId xmlns:a16="http://schemas.microsoft.com/office/drawing/2014/main" id="{3E5091FA-1D37-DB23-EFD2-16EAE6A9588D}"/>
              </a:ext>
            </a:extLst>
          </p:cNvPr>
          <p:cNvPicPr preferRelativeResize="0"/>
          <p:nvPr/>
        </p:nvPicPr>
        <p:blipFill rotWithShape="1">
          <a:blip r:embed="rId5">
            <a:alphaModFix/>
            <a:duotone>
              <a:prstClr val="black"/>
              <a:schemeClr val="accent5">
                <a:lumMod val="20000"/>
                <a:lumOff val="80000"/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47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6814277" y="1966687"/>
            <a:ext cx="1525785" cy="684000"/>
          </a:xfrm>
          <a:prstGeom prst="rect">
            <a:avLst/>
          </a:prstGeom>
          <a:noFill/>
          <a:ln>
            <a:noFill/>
          </a:ln>
        </p:spPr>
      </p:pic>
      <p:sp>
        <p:nvSpPr>
          <p:cNvPr id="33" name="Google Shape;259;p23">
            <a:extLst>
              <a:ext uri="{FF2B5EF4-FFF2-40B4-BE49-F238E27FC236}">
                <a16:creationId xmlns:a16="http://schemas.microsoft.com/office/drawing/2014/main" id="{227DE703-F0C3-19A0-DCA5-EE679C88BC48}"/>
              </a:ext>
            </a:extLst>
          </p:cNvPr>
          <p:cNvSpPr txBox="1"/>
          <p:nvPr/>
        </p:nvSpPr>
        <p:spPr>
          <a:xfrm>
            <a:off x="6993238" y="2013493"/>
            <a:ext cx="1173356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訓練模型</a:t>
            </a:r>
            <a:endParaRPr lang="en-US" altLang="zh-TW" sz="1800" b="1" i="0" u="none" strike="noStrike" cap="none" dirty="0">
              <a:solidFill>
                <a:srgbClr val="002147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TW" sz="1800" b="1" dirty="0">
                <a:solidFill>
                  <a:srgbClr val="002147"/>
                </a:solidFill>
                <a:latin typeface="DM Sans"/>
                <a:sym typeface="DM Sans"/>
              </a:rPr>
              <a:t>+</a:t>
            </a:r>
            <a:r>
              <a:rPr lang="zh-TW" altLang="en-US" sz="1800" b="1" dirty="0">
                <a:solidFill>
                  <a:srgbClr val="002147"/>
                </a:solidFill>
                <a:latin typeface="DM Sans"/>
                <a:sym typeface="DM Sans"/>
              </a:rPr>
              <a:t>交叉驗證</a:t>
            </a:r>
            <a:endParaRPr sz="1800" dirty="0"/>
          </a:p>
        </p:txBody>
      </p:sp>
      <p:sp>
        <p:nvSpPr>
          <p:cNvPr id="34" name="箭號: 向右 33">
            <a:extLst>
              <a:ext uri="{FF2B5EF4-FFF2-40B4-BE49-F238E27FC236}">
                <a16:creationId xmlns:a16="http://schemas.microsoft.com/office/drawing/2014/main" id="{9BDCA237-7DC5-A4AA-E885-B6C9001914B6}"/>
              </a:ext>
            </a:extLst>
          </p:cNvPr>
          <p:cNvSpPr/>
          <p:nvPr/>
        </p:nvSpPr>
        <p:spPr>
          <a:xfrm>
            <a:off x="8315008" y="2290747"/>
            <a:ext cx="168662" cy="9821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5" name="箭號: 向右 34">
            <a:extLst>
              <a:ext uri="{FF2B5EF4-FFF2-40B4-BE49-F238E27FC236}">
                <a16:creationId xmlns:a16="http://schemas.microsoft.com/office/drawing/2014/main" id="{A889E5BE-2CF7-F1E3-A99F-17F7C0949064}"/>
              </a:ext>
            </a:extLst>
          </p:cNvPr>
          <p:cNvSpPr/>
          <p:nvPr/>
        </p:nvSpPr>
        <p:spPr>
          <a:xfrm>
            <a:off x="6698643" y="2290492"/>
            <a:ext cx="168662" cy="9821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36" name="Google Shape;207;p20" descr="image.png">
            <a:extLst>
              <a:ext uri="{FF2B5EF4-FFF2-40B4-BE49-F238E27FC236}">
                <a16:creationId xmlns:a16="http://schemas.microsoft.com/office/drawing/2014/main" id="{58EDB6AA-6632-BF13-5149-D65A7BFB8478}"/>
              </a:ext>
            </a:extLst>
          </p:cNvPr>
          <p:cNvPicPr preferRelativeResize="0"/>
          <p:nvPr/>
        </p:nvPicPr>
        <p:blipFill rotWithShape="1">
          <a:blip r:embed="rId5">
            <a:alphaModFix/>
            <a:duotone>
              <a:prstClr val="black"/>
              <a:schemeClr val="accent4">
                <a:lumMod val="20000"/>
                <a:lumOff val="80000"/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47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8432349" y="1966687"/>
            <a:ext cx="1525785" cy="684000"/>
          </a:xfrm>
          <a:prstGeom prst="rect">
            <a:avLst/>
          </a:prstGeom>
          <a:noFill/>
          <a:ln>
            <a:noFill/>
          </a:ln>
        </p:spPr>
      </p:pic>
      <p:sp>
        <p:nvSpPr>
          <p:cNvPr id="37" name="Google Shape;259;p23">
            <a:extLst>
              <a:ext uri="{FF2B5EF4-FFF2-40B4-BE49-F238E27FC236}">
                <a16:creationId xmlns:a16="http://schemas.microsoft.com/office/drawing/2014/main" id="{158D2075-0F75-B005-EF35-A2C39AB156AA}"/>
              </a:ext>
            </a:extLst>
          </p:cNvPr>
          <p:cNvSpPr txBox="1"/>
          <p:nvPr/>
        </p:nvSpPr>
        <p:spPr>
          <a:xfrm>
            <a:off x="8611310" y="2152666"/>
            <a:ext cx="1173356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超參數調整</a:t>
            </a:r>
            <a:endParaRPr sz="1800" dirty="0"/>
          </a:p>
        </p:txBody>
      </p:sp>
      <p:sp>
        <p:nvSpPr>
          <p:cNvPr id="38" name="箭號: 向右 37">
            <a:extLst>
              <a:ext uri="{FF2B5EF4-FFF2-40B4-BE49-F238E27FC236}">
                <a16:creationId xmlns:a16="http://schemas.microsoft.com/office/drawing/2014/main" id="{8F98CF4D-4212-820C-F558-D179E3E5E24D}"/>
              </a:ext>
            </a:extLst>
          </p:cNvPr>
          <p:cNvSpPr/>
          <p:nvPr/>
        </p:nvSpPr>
        <p:spPr>
          <a:xfrm>
            <a:off x="9933080" y="2290747"/>
            <a:ext cx="168662" cy="9821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9" name="箭號: 向右 38">
            <a:extLst>
              <a:ext uri="{FF2B5EF4-FFF2-40B4-BE49-F238E27FC236}">
                <a16:creationId xmlns:a16="http://schemas.microsoft.com/office/drawing/2014/main" id="{BE834372-2306-251F-C4A7-CA3D7AC61651}"/>
              </a:ext>
            </a:extLst>
          </p:cNvPr>
          <p:cNvSpPr/>
          <p:nvPr/>
        </p:nvSpPr>
        <p:spPr>
          <a:xfrm>
            <a:off x="8316715" y="2290492"/>
            <a:ext cx="168662" cy="9821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40" name="Google Shape;207;p20" descr="image.png">
            <a:extLst>
              <a:ext uri="{FF2B5EF4-FFF2-40B4-BE49-F238E27FC236}">
                <a16:creationId xmlns:a16="http://schemas.microsoft.com/office/drawing/2014/main" id="{68B3313E-F9BE-87A8-BBC3-B5A40B700D2F}"/>
              </a:ext>
            </a:extLst>
          </p:cNvPr>
          <p:cNvPicPr preferRelativeResize="0"/>
          <p:nvPr/>
        </p:nvPicPr>
        <p:blipFill rotWithShape="1">
          <a:blip r:embed="rId5">
            <a:alphaModFix/>
            <a:duotone>
              <a:prstClr val="black"/>
              <a:schemeClr val="accent2">
                <a:lumMod val="20000"/>
                <a:lumOff val="80000"/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47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10047007" y="1966687"/>
            <a:ext cx="1525785" cy="684000"/>
          </a:xfrm>
          <a:prstGeom prst="rect">
            <a:avLst/>
          </a:prstGeom>
          <a:noFill/>
          <a:ln>
            <a:noFill/>
          </a:ln>
        </p:spPr>
      </p:pic>
      <p:sp>
        <p:nvSpPr>
          <p:cNvPr id="41" name="Google Shape;259;p23">
            <a:extLst>
              <a:ext uri="{FF2B5EF4-FFF2-40B4-BE49-F238E27FC236}">
                <a16:creationId xmlns:a16="http://schemas.microsoft.com/office/drawing/2014/main" id="{99B386C1-95D5-D358-1CE8-55E0998F9F9B}"/>
              </a:ext>
            </a:extLst>
          </p:cNvPr>
          <p:cNvSpPr txBox="1"/>
          <p:nvPr/>
        </p:nvSpPr>
        <p:spPr>
          <a:xfrm>
            <a:off x="10225968" y="2152666"/>
            <a:ext cx="1173356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模型評估</a:t>
            </a:r>
            <a:endParaRPr sz="1800" dirty="0"/>
          </a:p>
        </p:txBody>
      </p:sp>
      <p:sp>
        <p:nvSpPr>
          <p:cNvPr id="43" name="箭號: 向右 42">
            <a:extLst>
              <a:ext uri="{FF2B5EF4-FFF2-40B4-BE49-F238E27FC236}">
                <a16:creationId xmlns:a16="http://schemas.microsoft.com/office/drawing/2014/main" id="{A0AF033C-5CB2-DCFE-6736-459C0A22DC7D}"/>
              </a:ext>
            </a:extLst>
          </p:cNvPr>
          <p:cNvSpPr/>
          <p:nvPr/>
        </p:nvSpPr>
        <p:spPr>
          <a:xfrm>
            <a:off x="9931373" y="2290492"/>
            <a:ext cx="168662" cy="9821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4" name="矩形: 圓角 43">
            <a:extLst>
              <a:ext uri="{FF2B5EF4-FFF2-40B4-BE49-F238E27FC236}">
                <a16:creationId xmlns:a16="http://schemas.microsoft.com/office/drawing/2014/main" id="{85499C38-297D-1C17-DD55-002911440446}"/>
              </a:ext>
            </a:extLst>
          </p:cNvPr>
          <p:cNvSpPr/>
          <p:nvPr/>
        </p:nvSpPr>
        <p:spPr>
          <a:xfrm>
            <a:off x="348817" y="2999874"/>
            <a:ext cx="5747183" cy="744598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9525" cap="flat" cmpd="sng" algn="ctr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rtlCol="0" anchor="ctr"/>
          <a:lstStyle/>
          <a:p>
            <a:r>
              <a:rPr lang="en-US" altLang="zh-TW" sz="1600" b="1" dirty="0">
                <a:solidFill>
                  <a:schemeClr val="bg2"/>
                </a:solidFill>
              </a:rPr>
              <a:t>1. </a:t>
            </a:r>
            <a:r>
              <a:rPr lang="zh-TW" altLang="zh-TW" sz="1600" b="1" dirty="0">
                <a:solidFill>
                  <a:schemeClr val="bg2"/>
                </a:solidFill>
              </a:rPr>
              <a:t>資料收集 </a:t>
            </a:r>
            <a:endParaRPr lang="en-US" altLang="zh-TW" sz="1600" b="1" dirty="0">
              <a:solidFill>
                <a:schemeClr val="bg2"/>
              </a:solidFill>
            </a:endParaRPr>
          </a:p>
          <a:p>
            <a:r>
              <a:rPr lang="zh-TW" altLang="zh-TW" dirty="0">
                <a:solidFill>
                  <a:schemeClr val="tx1"/>
                </a:solidFill>
              </a:rPr>
              <a:t>蒐集原始資料(資料庫、API 等)，資料品質直接影響表現。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45" name="矩形: 圓角 44">
            <a:extLst>
              <a:ext uri="{FF2B5EF4-FFF2-40B4-BE49-F238E27FC236}">
                <a16:creationId xmlns:a16="http://schemas.microsoft.com/office/drawing/2014/main" id="{4573EA3A-CBF3-345C-3BD4-059D5C97A595}"/>
              </a:ext>
            </a:extLst>
          </p:cNvPr>
          <p:cNvSpPr/>
          <p:nvPr/>
        </p:nvSpPr>
        <p:spPr>
          <a:xfrm>
            <a:off x="337946" y="3819880"/>
            <a:ext cx="5747183" cy="744598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9525" cap="flat" cmpd="sng" algn="ctr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rtlCol="0" anchor="ctr"/>
          <a:lstStyle/>
          <a:p>
            <a:r>
              <a:rPr lang="zh-TW" altLang="zh-TW" sz="1600" b="1" dirty="0">
                <a:solidFill>
                  <a:schemeClr val="bg2"/>
                </a:solidFill>
              </a:rPr>
              <a:t>2. 資料前處理 </a:t>
            </a:r>
            <a:endParaRPr lang="en-US" altLang="zh-TW" sz="1600" b="1" dirty="0">
              <a:solidFill>
                <a:schemeClr val="bg2"/>
              </a:solidFill>
            </a:endParaRPr>
          </a:p>
          <a:p>
            <a:r>
              <a:rPr lang="zh-TW" altLang="zh-TW" dirty="0">
                <a:solidFill>
                  <a:schemeClr val="tx1"/>
                </a:solidFill>
              </a:rPr>
              <a:t>清理資料、處理缺失值；特徵工程(標準化、編碼)；切分訓練/驗證/測試集。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46" name="矩形: 圓角 45">
            <a:extLst>
              <a:ext uri="{FF2B5EF4-FFF2-40B4-BE49-F238E27FC236}">
                <a16:creationId xmlns:a16="http://schemas.microsoft.com/office/drawing/2014/main" id="{7E315CFA-E09A-92D4-ABB6-EEBC3D5D96C7}"/>
              </a:ext>
            </a:extLst>
          </p:cNvPr>
          <p:cNvSpPr/>
          <p:nvPr/>
        </p:nvSpPr>
        <p:spPr>
          <a:xfrm>
            <a:off x="337945" y="4639886"/>
            <a:ext cx="5747183" cy="744598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9525" cap="flat" cmpd="sng" algn="ctr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rtlCol="0" anchor="ctr"/>
          <a:lstStyle/>
          <a:p>
            <a:r>
              <a:rPr lang="zh-TW" altLang="zh-TW" sz="1600" b="1" dirty="0">
                <a:solidFill>
                  <a:schemeClr val="bg2"/>
                </a:solidFill>
              </a:rPr>
              <a:t>3. 模型選擇 </a:t>
            </a:r>
            <a:endParaRPr lang="en-US" altLang="zh-TW" sz="1600" b="1" dirty="0">
              <a:solidFill>
                <a:schemeClr val="bg2"/>
              </a:solidFill>
            </a:endParaRPr>
          </a:p>
          <a:p>
            <a:r>
              <a:rPr lang="zh-TW" altLang="zh-TW" dirty="0">
                <a:solidFill>
                  <a:schemeClr val="tx1"/>
                </a:solidFill>
              </a:rPr>
              <a:t>分類:邏輯迴歸、決策樹、隨機森林、SVM、神經網路。 </a:t>
            </a:r>
            <a:endParaRPr lang="en-US" altLang="zh-TW" dirty="0">
              <a:solidFill>
                <a:schemeClr val="tx1"/>
              </a:solidFill>
            </a:endParaRPr>
          </a:p>
          <a:p>
            <a:r>
              <a:rPr lang="zh-TW" altLang="zh-TW" dirty="0">
                <a:solidFill>
                  <a:schemeClr val="tx1"/>
                </a:solidFill>
              </a:rPr>
              <a:t>迴歸:線性迴歸、Ridge、Lasso、XGBoost。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47" name="矩形: 圓角 46">
            <a:extLst>
              <a:ext uri="{FF2B5EF4-FFF2-40B4-BE49-F238E27FC236}">
                <a16:creationId xmlns:a16="http://schemas.microsoft.com/office/drawing/2014/main" id="{52087EFD-B9DF-B39C-7064-2C3084DC8C1A}"/>
              </a:ext>
            </a:extLst>
          </p:cNvPr>
          <p:cNvSpPr/>
          <p:nvPr/>
        </p:nvSpPr>
        <p:spPr>
          <a:xfrm>
            <a:off x="348816" y="5459892"/>
            <a:ext cx="5747183" cy="744598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9525" cap="flat" cmpd="sng" algn="ctr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rtlCol="0" anchor="ctr"/>
          <a:lstStyle/>
          <a:p>
            <a:r>
              <a:rPr lang="zh-TW" altLang="zh-TW" sz="1600" b="1" dirty="0">
                <a:solidFill>
                  <a:schemeClr val="bg2"/>
                </a:solidFill>
              </a:rPr>
              <a:t>4. 模型訓練 </a:t>
            </a:r>
            <a:endParaRPr lang="en-US" altLang="zh-TW" sz="1600" b="1" dirty="0">
              <a:solidFill>
                <a:schemeClr val="bg2"/>
              </a:solidFill>
            </a:endParaRPr>
          </a:p>
          <a:p>
            <a:r>
              <a:rPr lang="zh-TW" altLang="zh-TW" dirty="0">
                <a:solidFill>
                  <a:schemeClr val="tx1"/>
                </a:solidFill>
              </a:rPr>
              <a:t>用訓練集學習，調整超參數，並以交叉驗證(Cross-Validation)評估穩定度。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52" name="矩形: 圓角 51">
            <a:extLst>
              <a:ext uri="{FF2B5EF4-FFF2-40B4-BE49-F238E27FC236}">
                <a16:creationId xmlns:a16="http://schemas.microsoft.com/office/drawing/2014/main" id="{AE3E97E0-B699-F1BC-94EA-8413C80AED82}"/>
              </a:ext>
            </a:extLst>
          </p:cNvPr>
          <p:cNvSpPr/>
          <p:nvPr/>
        </p:nvSpPr>
        <p:spPr>
          <a:xfrm>
            <a:off x="6149050" y="2993024"/>
            <a:ext cx="5747183" cy="744598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9525" cap="flat" cmpd="sng" algn="ctr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rtlCol="0" anchor="ctr"/>
          <a:lstStyle/>
          <a:p>
            <a:r>
              <a:rPr lang="en-US" altLang="zh-TW" sz="1600" b="1" dirty="0">
                <a:solidFill>
                  <a:schemeClr val="bg2"/>
                </a:solidFill>
              </a:rPr>
              <a:t>5. </a:t>
            </a:r>
            <a:r>
              <a:rPr lang="zh-TW" altLang="en-US" sz="1600" b="1" dirty="0">
                <a:solidFill>
                  <a:schemeClr val="bg2"/>
                </a:solidFill>
              </a:rPr>
              <a:t>模型評估</a:t>
            </a:r>
          </a:p>
          <a:p>
            <a:r>
              <a:rPr lang="zh-TW" altLang="en-US" dirty="0">
                <a:solidFill>
                  <a:schemeClr val="tx1"/>
                </a:solidFill>
              </a:rPr>
              <a:t>分類</a:t>
            </a:r>
            <a:r>
              <a:rPr lang="en-US" altLang="zh-TW" dirty="0">
                <a:solidFill>
                  <a:schemeClr val="tx1"/>
                </a:solidFill>
              </a:rPr>
              <a:t>:Accuracy</a:t>
            </a:r>
            <a:r>
              <a:rPr lang="zh-TW" altLang="en-US" dirty="0">
                <a:solidFill>
                  <a:schemeClr val="tx1"/>
                </a:solidFill>
              </a:rPr>
              <a:t>、</a:t>
            </a:r>
            <a:r>
              <a:rPr lang="en-US" altLang="zh-TW" dirty="0">
                <a:solidFill>
                  <a:schemeClr val="tx1"/>
                </a:solidFill>
              </a:rPr>
              <a:t>Precision</a:t>
            </a:r>
            <a:r>
              <a:rPr lang="zh-TW" altLang="en-US" dirty="0">
                <a:solidFill>
                  <a:schemeClr val="tx1"/>
                </a:solidFill>
              </a:rPr>
              <a:t>、</a:t>
            </a:r>
            <a:r>
              <a:rPr lang="en-US" altLang="zh-TW" dirty="0">
                <a:solidFill>
                  <a:schemeClr val="tx1"/>
                </a:solidFill>
              </a:rPr>
              <a:t>Recall</a:t>
            </a:r>
            <a:r>
              <a:rPr lang="zh-TW" altLang="en-US" dirty="0">
                <a:solidFill>
                  <a:schemeClr val="tx1"/>
                </a:solidFill>
              </a:rPr>
              <a:t>、</a:t>
            </a:r>
            <a:r>
              <a:rPr lang="en-US" altLang="zh-TW" dirty="0">
                <a:solidFill>
                  <a:schemeClr val="tx1"/>
                </a:solidFill>
              </a:rPr>
              <a:t>F1-score</a:t>
            </a:r>
            <a:r>
              <a:rPr lang="zh-TW" altLang="en-US" dirty="0">
                <a:solidFill>
                  <a:schemeClr val="tx1"/>
                </a:solidFill>
              </a:rPr>
              <a:t>、</a:t>
            </a:r>
            <a:r>
              <a:rPr lang="en-US" altLang="zh-TW" dirty="0">
                <a:solidFill>
                  <a:schemeClr val="tx1"/>
                </a:solidFill>
              </a:rPr>
              <a:t>ROC-AUC</a:t>
            </a:r>
            <a:r>
              <a:rPr lang="zh-TW" altLang="en-US" dirty="0">
                <a:solidFill>
                  <a:schemeClr val="tx1"/>
                </a:solidFill>
              </a:rPr>
              <a:t>。</a:t>
            </a:r>
          </a:p>
          <a:p>
            <a:r>
              <a:rPr lang="zh-TW" altLang="en-US" dirty="0">
                <a:solidFill>
                  <a:schemeClr val="tx1"/>
                </a:solidFill>
              </a:rPr>
              <a:t>迴歸</a:t>
            </a:r>
            <a:r>
              <a:rPr lang="en-US" altLang="zh-TW" dirty="0">
                <a:solidFill>
                  <a:schemeClr val="tx1"/>
                </a:solidFill>
              </a:rPr>
              <a:t>:MSE</a:t>
            </a:r>
            <a:r>
              <a:rPr lang="zh-TW" altLang="en-US" dirty="0">
                <a:solidFill>
                  <a:schemeClr val="tx1"/>
                </a:solidFill>
              </a:rPr>
              <a:t>、</a:t>
            </a:r>
            <a:r>
              <a:rPr lang="en-US" altLang="zh-TW" dirty="0">
                <a:solidFill>
                  <a:schemeClr val="tx1"/>
                </a:solidFill>
              </a:rPr>
              <a:t>RMSE</a:t>
            </a:r>
            <a:r>
              <a:rPr lang="zh-TW" altLang="en-US" dirty="0">
                <a:solidFill>
                  <a:schemeClr val="tx1"/>
                </a:solidFill>
              </a:rPr>
              <a:t>、</a:t>
            </a:r>
            <a:r>
              <a:rPr lang="en-US" altLang="zh-TW" dirty="0">
                <a:solidFill>
                  <a:schemeClr val="tx1"/>
                </a:solidFill>
              </a:rPr>
              <a:t>MAE</a:t>
            </a:r>
            <a:r>
              <a:rPr lang="zh-TW" altLang="en-US" dirty="0">
                <a:solidFill>
                  <a:schemeClr val="tx1"/>
                </a:solidFill>
              </a:rPr>
              <a:t>、</a:t>
            </a:r>
            <a:r>
              <a:rPr lang="en-US" altLang="zh-TW" dirty="0">
                <a:solidFill>
                  <a:schemeClr val="tx1"/>
                </a:solidFill>
              </a:rPr>
              <a:t>R²</a:t>
            </a:r>
            <a:r>
              <a:rPr lang="zh-TW" altLang="en-US" dirty="0">
                <a:solidFill>
                  <a:schemeClr val="tx1"/>
                </a:solidFill>
              </a:rPr>
              <a:t>、</a:t>
            </a:r>
            <a:r>
              <a:rPr lang="en-US" altLang="zh-TW" dirty="0">
                <a:solidFill>
                  <a:schemeClr val="tx1"/>
                </a:solidFill>
              </a:rPr>
              <a:t>MAPE</a:t>
            </a:r>
            <a:r>
              <a:rPr lang="zh-TW" altLang="en-US" dirty="0">
                <a:solidFill>
                  <a:schemeClr val="tx1"/>
                </a:solidFill>
              </a:rPr>
              <a:t>。</a:t>
            </a:r>
          </a:p>
        </p:txBody>
      </p:sp>
      <p:sp>
        <p:nvSpPr>
          <p:cNvPr id="53" name="矩形: 圓角 52">
            <a:extLst>
              <a:ext uri="{FF2B5EF4-FFF2-40B4-BE49-F238E27FC236}">
                <a16:creationId xmlns:a16="http://schemas.microsoft.com/office/drawing/2014/main" id="{411E3E6E-BC65-0F33-18D6-45F04C6B35B2}"/>
              </a:ext>
            </a:extLst>
          </p:cNvPr>
          <p:cNvSpPr/>
          <p:nvPr/>
        </p:nvSpPr>
        <p:spPr>
          <a:xfrm>
            <a:off x="6138179" y="3813030"/>
            <a:ext cx="5747183" cy="744598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9525" cap="flat" cmpd="sng" algn="ctr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rtlCol="0" anchor="ctr"/>
          <a:lstStyle/>
          <a:p>
            <a:r>
              <a:rPr lang="en-US" altLang="zh-TW" sz="1600" b="1" dirty="0">
                <a:solidFill>
                  <a:schemeClr val="bg2"/>
                </a:solidFill>
              </a:rPr>
              <a:t>6. </a:t>
            </a:r>
            <a:r>
              <a:rPr lang="zh-TW" altLang="en-US" sz="1600" b="1" dirty="0">
                <a:solidFill>
                  <a:schemeClr val="bg2"/>
                </a:solidFill>
              </a:rPr>
              <a:t>模型調整</a:t>
            </a:r>
          </a:p>
          <a:p>
            <a:r>
              <a:rPr lang="zh-TW" altLang="en-US" dirty="0">
                <a:solidFill>
                  <a:schemeClr val="tx1"/>
                </a:solidFill>
              </a:rPr>
              <a:t>以超參數調整</a:t>
            </a:r>
            <a:r>
              <a:rPr lang="en-US" altLang="zh-TW" dirty="0">
                <a:solidFill>
                  <a:schemeClr val="tx1"/>
                </a:solidFill>
              </a:rPr>
              <a:t>(Grid Search</a:t>
            </a:r>
            <a:r>
              <a:rPr lang="zh-TW" altLang="en-US" dirty="0">
                <a:solidFill>
                  <a:schemeClr val="tx1"/>
                </a:solidFill>
              </a:rPr>
              <a:t>、貝葉斯優化</a:t>
            </a:r>
            <a:r>
              <a:rPr lang="en-US" altLang="zh-TW" dirty="0">
                <a:solidFill>
                  <a:schemeClr val="tx1"/>
                </a:solidFill>
              </a:rPr>
              <a:t>)</a:t>
            </a:r>
            <a:r>
              <a:rPr lang="zh-TW" altLang="en-US" dirty="0">
                <a:solidFill>
                  <a:schemeClr val="tx1"/>
                </a:solidFill>
              </a:rPr>
              <a:t>或特徵工程改進效能。</a:t>
            </a:r>
          </a:p>
        </p:txBody>
      </p:sp>
      <p:sp>
        <p:nvSpPr>
          <p:cNvPr id="54" name="矩形: 圓角 53">
            <a:extLst>
              <a:ext uri="{FF2B5EF4-FFF2-40B4-BE49-F238E27FC236}">
                <a16:creationId xmlns:a16="http://schemas.microsoft.com/office/drawing/2014/main" id="{E5CB1832-3F23-3EFF-8EA8-EE17E242E633}"/>
              </a:ext>
            </a:extLst>
          </p:cNvPr>
          <p:cNvSpPr/>
          <p:nvPr/>
        </p:nvSpPr>
        <p:spPr>
          <a:xfrm>
            <a:off x="6138178" y="4633036"/>
            <a:ext cx="5747183" cy="744598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9525" cap="flat" cmpd="sng" algn="ctr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rtlCol="0" anchor="ctr"/>
          <a:lstStyle/>
          <a:p>
            <a:r>
              <a:rPr lang="en-US" altLang="zh-TW" sz="1600" b="1" dirty="0">
                <a:solidFill>
                  <a:schemeClr val="bg2"/>
                </a:solidFill>
              </a:rPr>
              <a:t>7. </a:t>
            </a:r>
            <a:r>
              <a:rPr lang="zh-TW" altLang="en-US" sz="1600" b="1" dirty="0">
                <a:solidFill>
                  <a:schemeClr val="bg2"/>
                </a:solidFill>
              </a:rPr>
              <a:t>部署與監控</a:t>
            </a:r>
          </a:p>
          <a:p>
            <a:r>
              <a:rPr lang="zh-TW" altLang="en-US" dirty="0">
                <a:solidFill>
                  <a:schemeClr val="tx1"/>
                </a:solidFill>
              </a:rPr>
              <a:t>部署至實際系統</a:t>
            </a:r>
            <a:r>
              <a:rPr lang="en-US" altLang="zh-TW" dirty="0">
                <a:solidFill>
                  <a:schemeClr val="tx1"/>
                </a:solidFill>
              </a:rPr>
              <a:t>(API</a:t>
            </a:r>
            <a:r>
              <a:rPr lang="zh-TW" altLang="en-US" dirty="0">
                <a:solidFill>
                  <a:schemeClr val="tx1"/>
                </a:solidFill>
              </a:rPr>
              <a:t>、雲端</a:t>
            </a:r>
            <a:r>
              <a:rPr lang="en-US" altLang="zh-TW" dirty="0">
                <a:solidFill>
                  <a:schemeClr val="tx1"/>
                </a:solidFill>
              </a:rPr>
              <a:t>)</a:t>
            </a:r>
            <a:r>
              <a:rPr lang="zh-TW" altLang="en-US" dirty="0">
                <a:solidFill>
                  <a:schemeClr val="tx1"/>
                </a:solidFill>
              </a:rPr>
              <a:t>；持續監控、避免概念漂移</a:t>
            </a:r>
            <a:r>
              <a:rPr lang="en-US" altLang="zh-TW" dirty="0">
                <a:solidFill>
                  <a:schemeClr val="tx1"/>
                </a:solidFill>
              </a:rPr>
              <a:t>(Concept Drift)</a:t>
            </a:r>
            <a:r>
              <a:rPr lang="zh-TW" altLang="en-US" dirty="0">
                <a:solidFill>
                  <a:schemeClr val="tx1"/>
                </a:solidFill>
              </a:rPr>
              <a:t>。</a:t>
            </a:r>
          </a:p>
        </p:txBody>
      </p:sp>
      <p:sp>
        <p:nvSpPr>
          <p:cNvPr id="55" name="矩形: 圓角 54">
            <a:extLst>
              <a:ext uri="{FF2B5EF4-FFF2-40B4-BE49-F238E27FC236}">
                <a16:creationId xmlns:a16="http://schemas.microsoft.com/office/drawing/2014/main" id="{9B211294-E7F7-140C-45B4-8607BE7F8348}"/>
              </a:ext>
            </a:extLst>
          </p:cNvPr>
          <p:cNvSpPr/>
          <p:nvPr/>
        </p:nvSpPr>
        <p:spPr>
          <a:xfrm>
            <a:off x="6149049" y="5453042"/>
            <a:ext cx="5747183" cy="744598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9525" cap="flat" cmpd="sng" algn="ctr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rtlCol="0" anchor="ctr"/>
          <a:lstStyle/>
          <a:p>
            <a:r>
              <a:rPr lang="zh-TW" altLang="en-US" sz="1600" b="1" dirty="0">
                <a:solidFill>
                  <a:schemeClr val="bg2"/>
                </a:solidFill>
              </a:rPr>
              <a:t>★ 本研究重點</a:t>
            </a:r>
          </a:p>
          <a:p>
            <a:r>
              <a:rPr lang="zh-TW" altLang="en-US" dirty="0">
                <a:solidFill>
                  <a:schemeClr val="tx1"/>
                </a:solidFill>
              </a:rPr>
              <a:t>採 </a:t>
            </a:r>
            <a:r>
              <a:rPr lang="en-US" altLang="zh-TW" dirty="0" err="1">
                <a:solidFill>
                  <a:schemeClr val="tx1"/>
                </a:solidFill>
              </a:rPr>
              <a:t>TimeSeriesSplit</a:t>
            </a:r>
            <a:r>
              <a:rPr lang="en-US" altLang="zh-TW" dirty="0">
                <a:solidFill>
                  <a:schemeClr val="tx1"/>
                </a:solidFill>
              </a:rPr>
              <a:t> </a:t>
            </a:r>
            <a:r>
              <a:rPr lang="zh-TW" altLang="en-US" dirty="0">
                <a:solidFill>
                  <a:schemeClr val="tx1"/>
                </a:solidFill>
              </a:rPr>
              <a:t>時序交叉驗證，確保不洩漏未來資料。</a:t>
            </a:r>
          </a:p>
        </p:txBody>
      </p:sp>
    </p:spTree>
    <p:extLst>
      <p:ext uri="{BB962C8B-B14F-4D97-AF65-F5344CB8AC3E}">
        <p14:creationId xmlns:p14="http://schemas.microsoft.com/office/powerpoint/2010/main" val="84762568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88" name="Google Shape;288;p24"/>
          <p:cNvGraphicFramePr/>
          <p:nvPr>
            <p:extLst>
              <p:ext uri="{D42A27DB-BD31-4B8C-83A1-F6EECF244321}">
                <p14:modId xmlns:p14="http://schemas.microsoft.com/office/powerpoint/2010/main" val="3905991023"/>
              </p:ext>
            </p:extLst>
          </p:nvPr>
        </p:nvGraphicFramePr>
        <p:xfrm>
          <a:off x="609600" y="2214586"/>
          <a:ext cx="10158302" cy="3305125"/>
        </p:xfrm>
        <a:graphic>
          <a:graphicData uri="http://schemas.openxmlformats.org/drawingml/2006/table">
            <a:tbl>
              <a:tblPr firstRow="1" bandRow="1">
                <a:noFill/>
                <a:tableStyleId>{C63394A8-6561-4F67-BD20-A1EB724447CB}</a:tableStyleId>
              </a:tblPr>
              <a:tblGrid>
                <a:gridCol w="29770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1812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508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1" i="0" u="none" strike="noStrike" cap="none" dirty="0">
                          <a:solidFill>
                            <a:srgbClr val="FFFFFF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  </a:t>
                      </a:r>
                      <a:r>
                        <a:rPr lang="en-US" sz="2400" b="1" i="0" u="none" strike="noStrike" cap="none" dirty="0" err="1">
                          <a:solidFill>
                            <a:srgbClr val="FFFFFF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類型</a:t>
                      </a:r>
                      <a:endParaRPr sz="240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214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1" i="0" u="none" strike="noStrike" cap="none" dirty="0" err="1">
                          <a:solidFill>
                            <a:srgbClr val="FFFFFF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細節描述</a:t>
                      </a:r>
                      <a:endParaRPr sz="240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21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08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  </a:t>
                      </a:r>
                      <a:r>
                        <a:rPr lang="en-US" sz="1800" b="0" i="0" u="none" strike="noStrike" cap="none" dirty="0" err="1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預測標的</a:t>
                      </a:r>
                      <a:endParaRPr sz="180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SPY (</a:t>
                      </a:r>
                      <a:r>
                        <a:rPr lang="en-US" sz="1800" b="0" i="0" u="none" strike="noStrike" cap="none" dirty="0" err="1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美股大盤</a:t>
                      </a:r>
                      <a:r>
                        <a:rPr 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), QQQ (</a:t>
                      </a:r>
                      <a:r>
                        <a:rPr lang="en-US" sz="1800" b="0" i="0" u="none" strike="noStrike" cap="none" dirty="0" err="1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科技股</a:t>
                      </a:r>
                      <a:r>
                        <a:rPr 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), 0050.TW (</a:t>
                      </a:r>
                      <a:r>
                        <a:rPr lang="en-US" sz="1800" b="0" i="0" u="none" strike="noStrike" cap="none" dirty="0" err="1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台股</a:t>
                      </a:r>
                      <a:r>
                        <a:rPr 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)</a:t>
                      </a:r>
                      <a:endParaRPr sz="180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08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  </a:t>
                      </a:r>
                      <a:r>
                        <a:rPr lang="en-US" sz="1800" b="0" i="0" u="none" strike="noStrike" cap="none" dirty="0" err="1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資料期間</a:t>
                      </a:r>
                      <a:endParaRPr sz="180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FC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zh-TW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2016 – 2026</a:t>
                      </a:r>
                      <a:r>
                        <a:rPr lang="zh-TW" alt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（日級別資料）</a:t>
                      </a:r>
                      <a:endParaRPr sz="180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FC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508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  </a:t>
                      </a:r>
                      <a:r>
                        <a:rPr lang="en-US" sz="1800" b="0" i="0" u="none" strike="noStrike" cap="none" dirty="0" err="1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原始特徵</a:t>
                      </a:r>
                      <a:endParaRPr sz="180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OHLCV (</a:t>
                      </a:r>
                      <a:r>
                        <a:rPr lang="en-US" sz="1800" b="0" i="0" u="none" strike="noStrike" cap="none" dirty="0" err="1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開、高、低、收、量</a:t>
                      </a:r>
                      <a:r>
                        <a:rPr 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)</a:t>
                      </a:r>
                      <a:endParaRPr sz="180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508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  </a:t>
                      </a:r>
                      <a:r>
                        <a:rPr lang="en-US" sz="1800" b="0" i="0" u="none" strike="noStrike" cap="none" dirty="0" err="1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技術指標</a:t>
                      </a:r>
                      <a:endParaRPr sz="180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FC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MA20, MA60, RSI(14), </a:t>
                      </a:r>
                      <a:r>
                        <a:rPr lang="en-US" sz="1800" b="0" i="0" u="none" strike="noStrike" cap="none" dirty="0" err="1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年化波動率</a:t>
                      </a:r>
                      <a:r>
                        <a:rPr 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(20)</a:t>
                      </a:r>
                      <a:endParaRPr sz="180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FC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508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  </a:t>
                      </a:r>
                      <a:r>
                        <a:rPr lang="zh-TW" alt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交叉</a:t>
                      </a:r>
                      <a:r>
                        <a:rPr lang="en-US" sz="1800" b="0" i="0" u="none" strike="noStrike" cap="none" dirty="0" err="1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驗證</a:t>
                      </a:r>
                      <a:endParaRPr sz="180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 dirty="0" err="1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TimeSeriesSplit</a:t>
                      </a:r>
                      <a:r>
                        <a:rPr lang="zh-TW" alt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 </a:t>
                      </a:r>
                      <a:r>
                        <a:rPr lang="en-US" sz="1800" b="0" i="0" u="none" strike="noStrike" cap="none" dirty="0" err="1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時間序列交叉驗證，確保訓練集早於測試集</a:t>
                      </a:r>
                      <a:endParaRPr sz="180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89" name="Google Shape;289;p24"/>
          <p:cNvSpPr/>
          <p:nvPr/>
        </p:nvSpPr>
        <p:spPr>
          <a:xfrm>
            <a:off x="797718" y="3714651"/>
            <a:ext cx="2166342" cy="9525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1" name="Google Shape;291;p24"/>
          <p:cNvSpPr/>
          <p:nvPr/>
        </p:nvSpPr>
        <p:spPr>
          <a:xfrm>
            <a:off x="797718" y="4267101"/>
            <a:ext cx="2166342" cy="9525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3" name="Google Shape;293;p24"/>
          <p:cNvSpPr/>
          <p:nvPr/>
        </p:nvSpPr>
        <p:spPr>
          <a:xfrm>
            <a:off x="797718" y="4819551"/>
            <a:ext cx="2166342" cy="9525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5" name="Google Shape;295;p24"/>
          <p:cNvSpPr/>
          <p:nvPr/>
        </p:nvSpPr>
        <p:spPr>
          <a:xfrm>
            <a:off x="797718" y="5372001"/>
            <a:ext cx="2166342" cy="9525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7" name="Google Shape;297;p24"/>
          <p:cNvSpPr/>
          <p:nvPr/>
        </p:nvSpPr>
        <p:spPr>
          <a:xfrm>
            <a:off x="797718" y="5924451"/>
            <a:ext cx="2166342" cy="9525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9" name="Google Shape;299;p24"/>
          <p:cNvSpPr txBox="1"/>
          <p:nvPr/>
        </p:nvSpPr>
        <p:spPr>
          <a:xfrm>
            <a:off x="809625" y="919311"/>
            <a:ext cx="11351418" cy="502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實驗設計：資料集與特徵</a:t>
            </a:r>
            <a:endParaRPr/>
          </a:p>
        </p:txBody>
      </p:sp>
      <p:sp>
        <p:nvSpPr>
          <p:cNvPr id="300" name="Google Shape;300;p24"/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0C854F3D-289B-B3B9-E6B9-432EFCFF88C4}"/>
              </a:ext>
            </a:extLst>
          </p:cNvPr>
          <p:cNvSpPr txBox="1"/>
          <p:nvPr/>
        </p:nvSpPr>
        <p:spPr>
          <a:xfrm>
            <a:off x="2229853" y="5893359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600" dirty="0"/>
              <a:t>迴歸另採落後價（Lag1/2/5）與 MA10/MA50、波動率特徵</a:t>
            </a:r>
            <a:endParaRPr lang="zh-TW" altLang="en-US" sz="1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25"/>
          <p:cNvSpPr txBox="1"/>
          <p:nvPr/>
        </p:nvSpPr>
        <p:spPr>
          <a:xfrm>
            <a:off x="405852" y="5302890"/>
            <a:ext cx="5578377" cy="8309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/>
            <a:r>
              <a:rPr lang="zh-TW" altLang="zh-TW" sz="1800" b="1" dirty="0">
                <a:solidFill>
                  <a:srgbClr val="FF0000"/>
                </a:solidFill>
              </a:rPr>
              <a:t>觀察：</a:t>
            </a:r>
            <a:r>
              <a:rPr lang="zh-TW" altLang="zh-TW" sz="1800" dirty="0"/>
              <a:t>四個模型 F1 均貼近或低於 Always-Up 基準（0.736），顯示分類的高分主要來自多頭市場的上漲</a:t>
            </a:r>
            <a:endParaRPr lang="en-US" altLang="zh-TW" sz="1800" dirty="0"/>
          </a:p>
          <a:p>
            <a:pPr lvl="0"/>
            <a:r>
              <a:rPr lang="zh-TW" altLang="zh-TW" sz="1800" dirty="0"/>
              <a:t>偏態；雙向 LSTM 因引入未來資訊反而最差。</a:t>
            </a:r>
            <a:endParaRPr sz="1800" dirty="0"/>
          </a:p>
        </p:txBody>
      </p:sp>
      <p:sp>
        <p:nvSpPr>
          <p:cNvPr id="313" name="Google Shape;313;p25"/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92B5A617-5E5C-D89F-9C2F-CC8BD7FB2D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957" y="1851339"/>
            <a:ext cx="5679577" cy="3155321"/>
          </a:xfrm>
          <a:prstGeom prst="rect">
            <a:avLst/>
          </a:prstGeom>
        </p:spPr>
      </p:pic>
      <p:pic>
        <p:nvPicPr>
          <p:cNvPr id="3" name="圖片 2">
            <a:extLst>
              <a:ext uri="{FF2B5EF4-FFF2-40B4-BE49-F238E27FC236}">
                <a16:creationId xmlns:a16="http://schemas.microsoft.com/office/drawing/2014/main" id="{D3B5A04D-EBA5-EB33-EADE-4F5CACF8E81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2459" y="608577"/>
            <a:ext cx="5843189" cy="3246216"/>
          </a:xfrm>
          <a:prstGeom prst="rect">
            <a:avLst/>
          </a:prstGeom>
        </p:spPr>
      </p:pic>
      <p:sp>
        <p:nvSpPr>
          <p:cNvPr id="312" name="Google Shape;312;p25"/>
          <p:cNvSpPr txBox="1"/>
          <p:nvPr/>
        </p:nvSpPr>
        <p:spPr>
          <a:xfrm>
            <a:off x="809625" y="919311"/>
            <a:ext cx="11351418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 dirty="0" err="1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分類問題結果</a:t>
            </a:r>
            <a:r>
              <a:rPr 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 (SPY/QQQ/0050.TW))</a:t>
            </a:r>
            <a:endParaRPr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7A4F57C2-667D-A92D-8A47-FE9D677DB44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6000" y="3741877"/>
            <a:ext cx="5619648" cy="3122027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4">
          <a:extLst>
            <a:ext uri="{FF2B5EF4-FFF2-40B4-BE49-F238E27FC236}">
              <a16:creationId xmlns:a16="http://schemas.microsoft.com/office/drawing/2014/main" id="{DEDD243C-FCC9-6A67-AC48-5C16576C04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5" name="Google Shape;335;p27" descr="image.png">
            <a:extLst>
              <a:ext uri="{FF2B5EF4-FFF2-40B4-BE49-F238E27FC236}">
                <a16:creationId xmlns:a16="http://schemas.microsoft.com/office/drawing/2014/main" id="{E0E00825-3E09-63D3-44A6-39A969B946E9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0957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39" name="Google Shape;339;p27">
            <a:extLst>
              <a:ext uri="{FF2B5EF4-FFF2-40B4-BE49-F238E27FC236}">
                <a16:creationId xmlns:a16="http://schemas.microsoft.com/office/drawing/2014/main" id="{A9CB5CCB-F2F5-7541-BF7E-A1B6F57EBAD1}"/>
              </a:ext>
            </a:extLst>
          </p:cNvPr>
          <p:cNvSpPr txBox="1"/>
          <p:nvPr/>
        </p:nvSpPr>
        <p:spPr>
          <a:xfrm>
            <a:off x="809625" y="919311"/>
            <a:ext cx="11351418" cy="502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 dirty="0" err="1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迴歸結果：機器學習效能</a:t>
            </a:r>
            <a:endParaRPr dirty="0"/>
          </a:p>
        </p:txBody>
      </p:sp>
      <p:sp>
        <p:nvSpPr>
          <p:cNvPr id="340" name="Google Shape;340;p27">
            <a:extLst>
              <a:ext uri="{FF2B5EF4-FFF2-40B4-BE49-F238E27FC236}">
                <a16:creationId xmlns:a16="http://schemas.microsoft.com/office/drawing/2014/main" id="{C0B2E3F2-556D-95D9-A3D1-C5F8C319B300}"/>
              </a:ext>
            </a:extLst>
          </p:cNvPr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82D9C51C-E83F-925A-6775-0CF49F69D32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9840"/>
          <a:stretch>
            <a:fillRect/>
          </a:stretch>
        </p:blipFill>
        <p:spPr>
          <a:xfrm>
            <a:off x="313135" y="2341511"/>
            <a:ext cx="7754949" cy="3597177"/>
          </a:xfrm>
          <a:prstGeom prst="rect">
            <a:avLst/>
          </a:prstGeom>
        </p:spPr>
      </p:pic>
      <p:sp>
        <p:nvSpPr>
          <p:cNvPr id="7" name="Google Shape;338;p27">
            <a:extLst>
              <a:ext uri="{FF2B5EF4-FFF2-40B4-BE49-F238E27FC236}">
                <a16:creationId xmlns:a16="http://schemas.microsoft.com/office/drawing/2014/main" id="{5A9C0CA6-CB6E-15B9-112C-831A655CB9FE}"/>
              </a:ext>
            </a:extLst>
          </p:cNvPr>
          <p:cNvSpPr txBox="1"/>
          <p:nvPr/>
        </p:nvSpPr>
        <p:spPr>
          <a:xfrm>
            <a:off x="647700" y="5888920"/>
            <a:ext cx="11231165" cy="8309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四個集成模型 </a:t>
            </a:r>
            <a:r>
              <a:rPr lang="en-US" sz="180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R² </a:t>
            </a:r>
            <a:r>
              <a:rPr lang="zh-TW" altLang="en-US" sz="180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約 </a:t>
            </a:r>
            <a:r>
              <a:rPr lang="en-US" altLang="zh-TW" sz="180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0.77–0.83</a:t>
            </a:r>
            <a:r>
              <a:rPr lang="zh-TW" altLang="en-US" sz="180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，均低於隨機漫步基準（</a:t>
            </a:r>
            <a:r>
              <a:rPr lang="zh-TW" altLang="en-US" sz="18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今天</a:t>
            </a:r>
            <a:r>
              <a:rPr lang="en-US" altLang="zh-TW" sz="18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=</a:t>
            </a:r>
            <a:r>
              <a:rPr lang="zh-TW" altLang="en-US" sz="18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昨天</a:t>
            </a:r>
            <a:r>
              <a:rPr lang="zh-TW" altLang="en-US" sz="180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），顯示價格水準之高 </a:t>
            </a:r>
            <a:r>
              <a:rPr lang="en-US" sz="180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R² </a:t>
            </a:r>
            <a:r>
              <a:rPr lang="zh-TW" altLang="en-US" sz="180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主要源自序列自相關，而非真實預測能力（</a:t>
            </a:r>
            <a:r>
              <a:rPr lang="en-US" sz="180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López de Prado, 2018）。</a:t>
            </a:r>
            <a:endParaRPr sz="1800" dirty="0"/>
          </a:p>
        </p:txBody>
      </p:sp>
    </p:spTree>
    <p:extLst>
      <p:ext uri="{BB962C8B-B14F-4D97-AF65-F5344CB8AC3E}">
        <p14:creationId xmlns:p14="http://schemas.microsoft.com/office/powerpoint/2010/main" val="332307621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4">
          <a:extLst>
            <a:ext uri="{FF2B5EF4-FFF2-40B4-BE49-F238E27FC236}">
              <a16:creationId xmlns:a16="http://schemas.microsoft.com/office/drawing/2014/main" id="{BC758F3C-B17B-DC10-0FD9-87E2B75000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5" name="Google Shape;335;p27" descr="image.png">
            <a:extLst>
              <a:ext uri="{FF2B5EF4-FFF2-40B4-BE49-F238E27FC236}">
                <a16:creationId xmlns:a16="http://schemas.microsoft.com/office/drawing/2014/main" id="{F8B88803-01C9-316C-F944-ADAC5A299104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0957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39" name="Google Shape;339;p27">
            <a:extLst>
              <a:ext uri="{FF2B5EF4-FFF2-40B4-BE49-F238E27FC236}">
                <a16:creationId xmlns:a16="http://schemas.microsoft.com/office/drawing/2014/main" id="{C8A6446B-548B-210D-951A-102010E2CBFB}"/>
              </a:ext>
            </a:extLst>
          </p:cNvPr>
          <p:cNvSpPr txBox="1"/>
          <p:nvPr/>
        </p:nvSpPr>
        <p:spPr>
          <a:xfrm>
            <a:off x="809625" y="919311"/>
            <a:ext cx="11351418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19969"/>
              </a:lnSpc>
            </a:pPr>
            <a:r>
              <a:rPr lang="zh-TW" altLang="en-US" sz="3300" b="1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迴歸結果：</a:t>
            </a:r>
            <a:r>
              <a:rPr lang="en-US" altLang="zh-TW" sz="3300" b="1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GPT-4o-mini</a:t>
            </a:r>
            <a:r>
              <a:rPr lang="zh-TW" altLang="en-US" sz="3300" b="1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效能</a:t>
            </a:r>
            <a:r>
              <a:rPr lang="en-US" altLang="zh-TW" sz="3300" b="1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(SPY/QQQ)</a:t>
            </a:r>
            <a:endParaRPr lang="zh-TW" altLang="en-US" sz="3600" dirty="0"/>
          </a:p>
        </p:txBody>
      </p:sp>
      <p:sp>
        <p:nvSpPr>
          <p:cNvPr id="340" name="Google Shape;340;p27">
            <a:extLst>
              <a:ext uri="{FF2B5EF4-FFF2-40B4-BE49-F238E27FC236}">
                <a16:creationId xmlns:a16="http://schemas.microsoft.com/office/drawing/2014/main" id="{93715043-A18B-8B19-7ACD-A2827722C9AD}"/>
              </a:ext>
            </a:extLst>
          </p:cNvPr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3" name="Google Shape;288;p24">
            <a:extLst>
              <a:ext uri="{FF2B5EF4-FFF2-40B4-BE49-F238E27FC236}">
                <a16:creationId xmlns:a16="http://schemas.microsoft.com/office/drawing/2014/main" id="{6DA9B66A-A2E2-59AD-62F5-58DBC2828A7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118212151"/>
              </p:ext>
            </p:extLst>
          </p:nvPr>
        </p:nvGraphicFramePr>
        <p:xfrm>
          <a:off x="1194635" y="1759331"/>
          <a:ext cx="7722268" cy="2203400"/>
        </p:xfrm>
        <a:graphic>
          <a:graphicData uri="http://schemas.openxmlformats.org/drawingml/2006/table">
            <a:tbl>
              <a:tblPr firstRow="1" bandRow="1">
                <a:noFill/>
                <a:tableStyleId>{C63394A8-6561-4F67-BD20-A1EB724447CB}</a:tableStyleId>
              </a:tblPr>
              <a:tblGrid>
                <a:gridCol w="13269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9883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98834">
                  <a:extLst>
                    <a:ext uri="{9D8B030D-6E8A-4147-A177-3AD203B41FA5}">
                      <a16:colId xmlns:a16="http://schemas.microsoft.com/office/drawing/2014/main" val="1890050924"/>
                    </a:ext>
                  </a:extLst>
                </a:gridCol>
                <a:gridCol w="1598834">
                  <a:extLst>
                    <a:ext uri="{9D8B030D-6E8A-4147-A177-3AD203B41FA5}">
                      <a16:colId xmlns:a16="http://schemas.microsoft.com/office/drawing/2014/main" val="2339667790"/>
                    </a:ext>
                  </a:extLst>
                </a:gridCol>
                <a:gridCol w="1598834">
                  <a:extLst>
                    <a:ext uri="{9D8B030D-6E8A-4147-A177-3AD203B41FA5}">
                      <a16:colId xmlns:a16="http://schemas.microsoft.com/office/drawing/2014/main" val="52852720"/>
                    </a:ext>
                  </a:extLst>
                </a:gridCol>
              </a:tblGrid>
              <a:tr h="5508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zh-TW" altLang="en-US" sz="2000" b="1" i="0" u="none" strike="noStrike" cap="none" dirty="0">
                          <a:solidFill>
                            <a:schemeClr val="bg1"/>
                          </a:solidFill>
                          <a:latin typeface="DM Sans"/>
                          <a:sym typeface="Arial"/>
                        </a:rPr>
                        <a:t>市場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214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>
                          <a:solidFill>
                            <a:schemeClr val="bg1"/>
                          </a:solidFill>
                          <a:latin typeface="DM Sans"/>
                          <a:sym typeface="Arial"/>
                        </a:rPr>
                        <a:t>R²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214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>
                          <a:solidFill>
                            <a:schemeClr val="bg1"/>
                          </a:solidFill>
                          <a:latin typeface="DM Sans"/>
                          <a:sym typeface="Arial"/>
                        </a:rPr>
                        <a:t>MSE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214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>
                          <a:solidFill>
                            <a:schemeClr val="bg1"/>
                          </a:solidFill>
                          <a:latin typeface="DM Sans"/>
                          <a:sym typeface="Arial"/>
                        </a:rPr>
                        <a:t>RMSE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214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 dirty="0">
                          <a:solidFill>
                            <a:schemeClr val="bg1"/>
                          </a:solidFill>
                          <a:latin typeface="DM Sans"/>
                          <a:sym typeface="Arial"/>
                        </a:rPr>
                        <a:t>MAE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21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08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 dirty="0">
                          <a:solidFill>
                            <a:schemeClr val="tx1"/>
                          </a:solidFill>
                          <a:latin typeface="DM Sans"/>
                          <a:sym typeface="Arial"/>
                        </a:rPr>
                        <a:t>SPY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 dirty="0">
                          <a:solidFill>
                            <a:schemeClr val="tx1"/>
                          </a:solidFill>
                          <a:latin typeface="DM Sans"/>
                          <a:sym typeface="Arial"/>
                        </a:rPr>
                        <a:t>0.800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 dirty="0">
                          <a:solidFill>
                            <a:schemeClr val="tx1"/>
                          </a:solidFill>
                          <a:latin typeface="DM Sans"/>
                          <a:sym typeface="Arial"/>
                        </a:rPr>
                        <a:t>43.23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 dirty="0">
                          <a:solidFill>
                            <a:schemeClr val="tx1"/>
                          </a:solidFill>
                          <a:latin typeface="DM Sans"/>
                          <a:sym typeface="Arial"/>
                        </a:rPr>
                        <a:t>6.58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>
                          <a:solidFill>
                            <a:schemeClr val="tx1"/>
                          </a:solidFill>
                          <a:latin typeface="DM Sans"/>
                          <a:sym typeface="Arial"/>
                        </a:rPr>
                        <a:t>5.23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08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>
                          <a:solidFill>
                            <a:schemeClr val="tx1"/>
                          </a:solidFill>
                          <a:latin typeface="DM Sans"/>
                          <a:sym typeface="Arial"/>
                        </a:rPr>
                        <a:t>QQQ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FC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>
                          <a:solidFill>
                            <a:schemeClr val="tx1"/>
                          </a:solidFill>
                          <a:latin typeface="DM Sans"/>
                          <a:sym typeface="Arial"/>
                        </a:rPr>
                        <a:t>0.802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FC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 dirty="0">
                          <a:solidFill>
                            <a:schemeClr val="tx1"/>
                          </a:solidFill>
                          <a:latin typeface="DM Sans"/>
                          <a:sym typeface="Arial"/>
                        </a:rPr>
                        <a:t>66.11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FC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>
                          <a:solidFill>
                            <a:schemeClr val="tx1"/>
                          </a:solidFill>
                          <a:latin typeface="DM Sans"/>
                          <a:sym typeface="Arial"/>
                        </a:rPr>
                        <a:t>8.13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FC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 dirty="0">
                          <a:solidFill>
                            <a:schemeClr val="tx1"/>
                          </a:solidFill>
                          <a:latin typeface="DM Sans"/>
                          <a:sym typeface="Arial"/>
                        </a:rPr>
                        <a:t>6.62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FC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508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>
                          <a:solidFill>
                            <a:schemeClr val="tx1"/>
                          </a:solidFill>
                          <a:latin typeface="DM Sans"/>
                          <a:sym typeface="Arial"/>
                        </a:rPr>
                        <a:t>0050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>
                          <a:solidFill>
                            <a:schemeClr val="tx1"/>
                          </a:solidFill>
                          <a:latin typeface="DM Sans"/>
                          <a:sym typeface="Arial"/>
                        </a:rPr>
                        <a:t>0.802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>
                          <a:solidFill>
                            <a:schemeClr val="tx1"/>
                          </a:solidFill>
                          <a:latin typeface="DM Sans"/>
                          <a:sym typeface="Arial"/>
                        </a:rPr>
                        <a:t>0.21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>
                          <a:solidFill>
                            <a:schemeClr val="tx1"/>
                          </a:solidFill>
                          <a:latin typeface="DM Sans"/>
                          <a:sym typeface="Arial"/>
                        </a:rPr>
                        <a:t>0.46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 dirty="0">
                          <a:solidFill>
                            <a:schemeClr val="tx1"/>
                          </a:solidFill>
                          <a:latin typeface="DM Sans"/>
                          <a:sym typeface="Arial"/>
                        </a:rPr>
                        <a:t>0.35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pic>
        <p:nvPicPr>
          <p:cNvPr id="6" name="圖片 5">
            <a:extLst>
              <a:ext uri="{FF2B5EF4-FFF2-40B4-BE49-F238E27FC236}">
                <a16:creationId xmlns:a16="http://schemas.microsoft.com/office/drawing/2014/main" id="{6AAA3622-C22D-7F76-58C1-2802233C1A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635" y="3962731"/>
            <a:ext cx="5841865" cy="2920933"/>
          </a:xfrm>
          <a:prstGeom prst="rect">
            <a:avLst/>
          </a:prstGeom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id="{A8CDB7C0-A6D4-739C-8FCE-57DE9C91FCD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24264" y="3955979"/>
            <a:ext cx="5841865" cy="29209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525401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5" name="Google Shape;335;p2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0957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39" name="Google Shape;339;p27"/>
          <p:cNvSpPr txBox="1"/>
          <p:nvPr/>
        </p:nvSpPr>
        <p:spPr>
          <a:xfrm>
            <a:off x="809625" y="919311"/>
            <a:ext cx="11351418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19969"/>
              </a:lnSpc>
            </a:pPr>
            <a:r>
              <a:rPr lang="zh-TW" altLang="en-US" sz="3300" b="1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迴歸結果：</a:t>
            </a:r>
            <a:r>
              <a:rPr lang="en-US" altLang="zh-TW" sz="3300" b="1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GPT-4o-mini</a:t>
            </a:r>
            <a:r>
              <a:rPr lang="zh-TW" altLang="en-US" sz="3300" b="1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效能</a:t>
            </a:r>
            <a:r>
              <a:rPr lang="en-US" altLang="zh-TW" sz="3300" b="1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(0050.tw)</a:t>
            </a:r>
            <a:endParaRPr lang="zh-TW" altLang="en-US" sz="3600" dirty="0"/>
          </a:p>
        </p:txBody>
      </p:sp>
      <p:sp>
        <p:nvSpPr>
          <p:cNvPr id="340" name="Google Shape;340;p27"/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" name="圖片 9">
            <a:extLst>
              <a:ext uri="{FF2B5EF4-FFF2-40B4-BE49-F238E27FC236}">
                <a16:creationId xmlns:a16="http://schemas.microsoft.com/office/drawing/2014/main" id="{D506AA77-23CA-9B7A-4347-1EC4E5E44A4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1127" y="2022851"/>
            <a:ext cx="5621353" cy="2810677"/>
          </a:xfrm>
          <a:prstGeom prst="rect">
            <a:avLst/>
          </a:prstGeom>
        </p:spPr>
      </p:pic>
      <p:sp>
        <p:nvSpPr>
          <p:cNvPr id="12" name="文字方塊 11">
            <a:extLst>
              <a:ext uri="{FF2B5EF4-FFF2-40B4-BE49-F238E27FC236}">
                <a16:creationId xmlns:a16="http://schemas.microsoft.com/office/drawing/2014/main" id="{A91ABF53-CA56-1B65-D73E-C7C5D08102D6}"/>
              </a:ext>
            </a:extLst>
          </p:cNvPr>
          <p:cNvSpPr txBox="1"/>
          <p:nvPr/>
        </p:nvSpPr>
        <p:spPr>
          <a:xfrm>
            <a:off x="5495547" y="1904498"/>
            <a:ext cx="6696453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1600" dirty="0"/>
              <a:t>一、模型排序一致：ARIMA &lt; LSTM &lt; </a:t>
            </a:r>
            <a:r>
              <a:rPr lang="en-US" altLang="zh-TW" sz="1600" dirty="0"/>
              <a:t>RF</a:t>
            </a:r>
            <a:endParaRPr lang="zh-TW" altLang="en-US" sz="1600" dirty="0"/>
          </a:p>
          <a:p>
            <a:r>
              <a:rPr lang="zh-TW" altLang="en-US" sz="1600" dirty="0"/>
              <a:t>　　以 MAPE（跨市場可比）衡量，三個市場排序一致：</a:t>
            </a:r>
          </a:p>
          <a:p>
            <a:r>
              <a:rPr lang="zh-TW" altLang="en-US" sz="1600" dirty="0"/>
              <a:t>　　ARIMA（0.7~1.1%）優於 LSTM（2~4%）優於樹模型（8~11%）。</a:t>
            </a:r>
          </a:p>
          <a:p>
            <a:r>
              <a:rPr lang="zh-TW" altLang="en-US" sz="1600" dirty="0"/>
              <a:t>　　顯示在價格預測上，較簡單的統計模型反而比複雜模型穩定。</a:t>
            </a:r>
            <a:endParaRPr lang="en-US" altLang="zh-TW" sz="1600" dirty="0"/>
          </a:p>
          <a:p>
            <a:endParaRPr lang="zh-TW" altLang="en-US" sz="1600" dirty="0"/>
          </a:p>
          <a:p>
            <a:r>
              <a:rPr lang="zh-TW" altLang="en-US" sz="1600" dirty="0"/>
              <a:t>二、</a:t>
            </a:r>
            <a:r>
              <a:rPr lang="en-US" altLang="zh-TW" sz="1600" dirty="0"/>
              <a:t>RF</a:t>
            </a:r>
            <a:r>
              <a:rPr lang="zh-TW" altLang="en-US" sz="1600" dirty="0"/>
              <a:t>的限制：無法外推</a:t>
            </a:r>
          </a:p>
          <a:p>
            <a:r>
              <a:rPr lang="zh-TW" altLang="en-US" sz="1600" dirty="0"/>
              <a:t>　　樹模型(RF/XGBoost等)無法預測超出訓練範圍的新高價，</a:t>
            </a:r>
          </a:p>
          <a:p>
            <a:r>
              <a:rPr lang="zh-TW" altLang="en-US" sz="1600" dirty="0"/>
              <a:t>　　在長期上漲的測試期誤差最大，這是其結構限制而非調參問題。</a:t>
            </a:r>
            <a:endParaRPr lang="en-US" altLang="zh-TW" sz="1600" dirty="0"/>
          </a:p>
          <a:p>
            <a:endParaRPr lang="zh-TW" altLang="en-US" sz="1600" dirty="0"/>
          </a:p>
          <a:p>
            <a:r>
              <a:rPr lang="zh-TW" altLang="en-US" sz="1600" dirty="0"/>
              <a:t>三、LLM 展現潛力：三市場 R² 一致達 0.80</a:t>
            </a:r>
          </a:p>
          <a:p>
            <a:r>
              <a:rPr lang="zh-TW" altLang="en-US" sz="1600" dirty="0"/>
              <a:t>　　GPT-4o-mini 在小樣本(50天)下，SPY/QQQ/0050 的 R² 皆約 0.80，</a:t>
            </a:r>
          </a:p>
          <a:p>
            <a:r>
              <a:rPr lang="zh-TW" altLang="en-US" sz="1600" dirty="0"/>
              <a:t>　　無需訓練、僅靠提示即可達此水準，顯示 LLM 在數值預測上的潛力。</a:t>
            </a:r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985B2A03-03E3-FF6A-87FF-F15EDDD6DAAB}"/>
              </a:ext>
            </a:extLst>
          </p:cNvPr>
          <p:cNvSpPr txBox="1"/>
          <p:nvPr/>
        </p:nvSpPr>
        <p:spPr>
          <a:xfrm>
            <a:off x="1604211" y="5445628"/>
            <a:ext cx="8357937" cy="64633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rgbClr val="CEDCEE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zh-TW" altLang="en-US" sz="1800" b="1" spc="300" dirty="0">
                <a:solidFill>
                  <a:schemeClr val="accent2">
                    <a:lumMod val="75000"/>
                  </a:schemeClr>
                </a:solidFill>
              </a:rPr>
              <a:t>→ 綜合而言：價格預測上「複雜模型不一定優於簡單模型」；</a:t>
            </a:r>
          </a:p>
          <a:p>
            <a:r>
              <a:rPr lang="zh-TW" altLang="en-US" sz="1800" b="1" spc="300" dirty="0">
                <a:solidFill>
                  <a:schemeClr val="accent2">
                    <a:lumMod val="75000"/>
                  </a:schemeClr>
                </a:solidFill>
              </a:rPr>
              <a:t>　 LLM 雖為小樣本探索，但跨市場一致性高，值得後續擴大驗證。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4">
          <a:extLst>
            <a:ext uri="{FF2B5EF4-FFF2-40B4-BE49-F238E27FC236}">
              <a16:creationId xmlns:a16="http://schemas.microsoft.com/office/drawing/2014/main" id="{68B6826A-3E1B-A5D6-A56B-C042856A90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5" name="Google Shape;335;p27" descr="image.png">
            <a:extLst>
              <a:ext uri="{FF2B5EF4-FFF2-40B4-BE49-F238E27FC236}">
                <a16:creationId xmlns:a16="http://schemas.microsoft.com/office/drawing/2014/main" id="{3D136D3F-AC91-4700-1460-B56A5A30B761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0957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39" name="Google Shape;339;p27">
            <a:extLst>
              <a:ext uri="{FF2B5EF4-FFF2-40B4-BE49-F238E27FC236}">
                <a16:creationId xmlns:a16="http://schemas.microsoft.com/office/drawing/2014/main" id="{FDAB8146-B13F-F508-E83B-C868E2D652ED}"/>
              </a:ext>
            </a:extLst>
          </p:cNvPr>
          <p:cNvSpPr txBox="1"/>
          <p:nvPr/>
        </p:nvSpPr>
        <p:spPr>
          <a:xfrm>
            <a:off x="809625" y="919311"/>
            <a:ext cx="11351418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迴歸結果：</a:t>
            </a:r>
            <a:r>
              <a:rPr lang="zh-TW" altLang="en-US" sz="3300" b="1" i="0" u="none" strike="noStrike" cap="none" dirty="0">
                <a:solidFill>
                  <a:srgbClr val="FF0000"/>
                </a:solidFill>
                <a:latin typeface="Merriweather"/>
                <a:ea typeface="Merriweather"/>
                <a:cs typeface="Merriweather"/>
                <a:sym typeface="Merriweather"/>
              </a:rPr>
              <a:t>報酬率</a:t>
            </a: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預測與 </a:t>
            </a:r>
            <a:r>
              <a:rPr lang="en-US" altLang="zh-TW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LLM? </a:t>
            </a:r>
            <a:endParaRPr dirty="0"/>
          </a:p>
        </p:txBody>
      </p:sp>
      <p:sp>
        <p:nvSpPr>
          <p:cNvPr id="340" name="Google Shape;340;p27">
            <a:extLst>
              <a:ext uri="{FF2B5EF4-FFF2-40B4-BE49-F238E27FC236}">
                <a16:creationId xmlns:a16="http://schemas.microsoft.com/office/drawing/2014/main" id="{5C940DF7-030A-DA3E-DFC4-9834AD135FCC}"/>
              </a:ext>
            </a:extLst>
          </p:cNvPr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" name="Google Shape;338;p27">
            <a:extLst>
              <a:ext uri="{FF2B5EF4-FFF2-40B4-BE49-F238E27FC236}">
                <a16:creationId xmlns:a16="http://schemas.microsoft.com/office/drawing/2014/main" id="{114178FA-8F82-E196-7E37-05BB87DD2ED2}"/>
              </a:ext>
            </a:extLst>
          </p:cNvPr>
          <p:cNvSpPr txBox="1"/>
          <p:nvPr/>
        </p:nvSpPr>
        <p:spPr>
          <a:xfrm>
            <a:off x="571500" y="5565336"/>
            <a:ext cx="10337132" cy="415498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ctr">
              <a:lnSpc>
                <a:spcPct val="150000"/>
              </a:lnSpc>
            </a:pPr>
            <a:r>
              <a:rPr lang="zh-TW" altLang="zh-TW" sz="1800" dirty="0"/>
              <a:t>四模型預測次日報酬率 R² 均接近 0 或為負，呼應隨機漫步理論——次日漲跌幅難以由技術指標預測。</a:t>
            </a:r>
            <a:endParaRPr sz="1800"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E256F9FB-99E9-8EA3-B461-63569B68EB9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-1" t="8206" r="-4376"/>
          <a:stretch>
            <a:fillRect/>
          </a:stretch>
        </p:blipFill>
        <p:spPr>
          <a:xfrm>
            <a:off x="436945" y="1905802"/>
            <a:ext cx="7031318" cy="3177232"/>
          </a:xfrm>
          <a:prstGeom prst="rect">
            <a:avLst/>
          </a:prstGeom>
        </p:spPr>
      </p:pic>
      <p:sp>
        <p:nvSpPr>
          <p:cNvPr id="3" name="文字方塊 2">
            <a:extLst>
              <a:ext uri="{FF2B5EF4-FFF2-40B4-BE49-F238E27FC236}">
                <a16:creationId xmlns:a16="http://schemas.microsoft.com/office/drawing/2014/main" id="{22C145BC-CB14-3FE6-7505-C22332A732CE}"/>
              </a:ext>
            </a:extLst>
          </p:cNvPr>
          <p:cNvSpPr txBox="1"/>
          <p:nvPr/>
        </p:nvSpPr>
        <p:spPr>
          <a:xfrm>
            <a:off x="7530177" y="2716026"/>
            <a:ext cx="4224878" cy="1661993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>
              <a:lnSpc>
                <a:spcPct val="150000"/>
              </a:lnSpc>
              <a:defRPr sz="1600"/>
            </a:lvl1pPr>
          </a:lstStyle>
          <a:p>
            <a:r>
              <a:rPr lang="zh-TW" altLang="zh-TW" sz="1800" dirty="0"/>
              <a:t>GPT-4o-mini（小樣本 50 個交易日） R² = 0.80　MAE = 5.23　RMSE = 6.58 樣本數有限，僅作為 LLM 數值預測之潛力探索，不與傳統模型直接比較。</a:t>
            </a:r>
            <a:endParaRPr lang="zh-TW" altLang="en-US" sz="1800" dirty="0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DC77EC98-8B46-61BD-2C76-76D12652EFF1}"/>
              </a:ext>
            </a:extLst>
          </p:cNvPr>
          <p:cNvSpPr txBox="1"/>
          <p:nvPr/>
        </p:nvSpPr>
        <p:spPr>
          <a:xfrm>
            <a:off x="7390907" y="637371"/>
            <a:ext cx="1235798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96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? </a:t>
            </a:r>
            <a:endParaRPr lang="zh-TW" altLang="en-US" sz="9600" b="1" dirty="0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39787281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p29"/>
          <p:cNvSpPr txBox="1"/>
          <p:nvPr/>
        </p:nvSpPr>
        <p:spPr>
          <a:xfrm>
            <a:off x="571500" y="4959250"/>
            <a:ext cx="4953000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 err="1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低延遲保證在一般終端設備亦能順暢執行，極具商用價值</a:t>
            </a:r>
            <a:r>
              <a:rPr lang="en-US" sz="1800" b="0" i="0" u="none" strike="noStrike" cap="none" dirty="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。</a:t>
            </a:r>
            <a:endParaRPr sz="1800" dirty="0"/>
          </a:p>
        </p:txBody>
      </p:sp>
      <p:sp>
        <p:nvSpPr>
          <p:cNvPr id="358" name="Google Shape;358;p29"/>
          <p:cNvSpPr txBox="1"/>
          <p:nvPr/>
        </p:nvSpPr>
        <p:spPr>
          <a:xfrm>
            <a:off x="1047750" y="3063775"/>
            <a:ext cx="4476750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 err="1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Streamlit</a:t>
            </a:r>
            <a:r>
              <a:rPr lang="en-US" sz="1800" b="0" i="0" u="none" strike="noStrike" cap="none" dirty="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 + Plotly + SQLite</a:t>
            </a:r>
            <a:endParaRPr sz="1800" dirty="0"/>
          </a:p>
        </p:txBody>
      </p:sp>
      <p:sp>
        <p:nvSpPr>
          <p:cNvPr id="359" name="Google Shape;359;p29"/>
          <p:cNvSpPr/>
          <p:nvPr/>
        </p:nvSpPr>
        <p:spPr>
          <a:xfrm>
            <a:off x="571500" y="3482875"/>
            <a:ext cx="4953000" cy="9525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0" name="Google Shape;360;p29"/>
          <p:cNvSpPr txBox="1"/>
          <p:nvPr/>
        </p:nvSpPr>
        <p:spPr>
          <a:xfrm>
            <a:off x="1047750" y="3644413"/>
            <a:ext cx="447675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GPT-3.5 / Gemini API </a:t>
            </a:r>
            <a:r>
              <a:rPr lang="zh-TW" altLang="en-US" sz="1800" b="0" i="0" u="none" strike="noStrike" cap="none" dirty="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即時風險摘要</a:t>
            </a:r>
            <a:endParaRPr sz="1800" dirty="0"/>
          </a:p>
        </p:txBody>
      </p:sp>
      <p:sp>
        <p:nvSpPr>
          <p:cNvPr id="361" name="Google Shape;361;p29"/>
          <p:cNvSpPr/>
          <p:nvPr/>
        </p:nvSpPr>
        <p:spPr>
          <a:xfrm>
            <a:off x="571500" y="4063900"/>
            <a:ext cx="4953000" cy="9525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2" name="Google Shape;362;p29"/>
          <p:cNvSpPr txBox="1"/>
          <p:nvPr/>
        </p:nvSpPr>
        <p:spPr>
          <a:xfrm>
            <a:off x="1047750" y="4225438"/>
            <a:ext cx="447675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平均延遲：</a:t>
            </a:r>
            <a:r>
              <a:rPr lang="en-US" sz="1800" b="1" i="0" u="none" strike="noStrike" cap="non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840 毫秒</a:t>
            </a:r>
            <a:endParaRPr sz="1800"/>
          </a:p>
        </p:txBody>
      </p:sp>
      <p:sp>
        <p:nvSpPr>
          <p:cNvPr id="363" name="Google Shape;363;p29"/>
          <p:cNvSpPr/>
          <p:nvPr/>
        </p:nvSpPr>
        <p:spPr>
          <a:xfrm>
            <a:off x="571500" y="4644925"/>
            <a:ext cx="4953000" cy="9525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4" name="Google Shape;364;p29"/>
          <p:cNvSpPr/>
          <p:nvPr/>
        </p:nvSpPr>
        <p:spPr>
          <a:xfrm>
            <a:off x="571500" y="3482875"/>
            <a:ext cx="4953000" cy="9525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" name="Google Shape;365;p29"/>
          <p:cNvSpPr/>
          <p:nvPr/>
        </p:nvSpPr>
        <p:spPr>
          <a:xfrm>
            <a:off x="571500" y="4063900"/>
            <a:ext cx="4953000" cy="9525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6" name="Google Shape;366;p29"/>
          <p:cNvSpPr/>
          <p:nvPr/>
        </p:nvSpPr>
        <p:spPr>
          <a:xfrm>
            <a:off x="571500" y="4644925"/>
            <a:ext cx="4953000" cy="9525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67" name="Google Shape;367;p29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71500" y="3092350"/>
            <a:ext cx="266700" cy="219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368" name="Google Shape;368;p29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3668613"/>
            <a:ext cx="209550" cy="219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369" name="Google Shape;369;p29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71500" y="4249638"/>
            <a:ext cx="180975" cy="219075"/>
          </a:xfrm>
          <a:prstGeom prst="rect">
            <a:avLst/>
          </a:prstGeom>
          <a:noFill/>
          <a:ln>
            <a:noFill/>
          </a:ln>
        </p:spPr>
      </p:pic>
      <p:sp>
        <p:nvSpPr>
          <p:cNvPr id="370" name="Google Shape;370;p29"/>
          <p:cNvSpPr txBox="1"/>
          <p:nvPr/>
        </p:nvSpPr>
        <p:spPr>
          <a:xfrm>
            <a:off x="809625" y="1884610"/>
            <a:ext cx="4950618" cy="502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LLM-ETF 平台實作</a:t>
            </a:r>
            <a:endParaRPr/>
          </a:p>
        </p:txBody>
      </p:sp>
      <p:sp>
        <p:nvSpPr>
          <p:cNvPr id="371" name="Google Shape;371;p29"/>
          <p:cNvSpPr/>
          <p:nvPr/>
        </p:nvSpPr>
        <p:spPr>
          <a:xfrm>
            <a:off x="571500" y="1884610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092D2DF1-8899-CD1A-2145-6E63CFC27CA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86425" y="510072"/>
            <a:ext cx="6407288" cy="5964655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7" name="Google Shape;377;p30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71500" y="2553871"/>
            <a:ext cx="5334000" cy="2550694"/>
          </a:xfrm>
          <a:prstGeom prst="rect">
            <a:avLst/>
          </a:prstGeom>
          <a:noFill/>
          <a:ln>
            <a:noFill/>
          </a:ln>
        </p:spPr>
      </p:pic>
      <p:pic>
        <p:nvPicPr>
          <p:cNvPr id="378" name="Google Shape;378;p30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286500" y="2553871"/>
            <a:ext cx="5334000" cy="2550694"/>
          </a:xfrm>
          <a:prstGeom prst="rect">
            <a:avLst/>
          </a:prstGeom>
          <a:noFill/>
          <a:ln>
            <a:noFill/>
          </a:ln>
        </p:spPr>
      </p:pic>
      <p:sp>
        <p:nvSpPr>
          <p:cNvPr id="379" name="Google Shape;379;p30"/>
          <p:cNvSpPr txBox="1"/>
          <p:nvPr/>
        </p:nvSpPr>
        <p:spPr>
          <a:xfrm>
            <a:off x="866775" y="3100790"/>
            <a:ext cx="4980622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 dirty="0" err="1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分類任務</a:t>
            </a:r>
            <a:r>
              <a:rPr lang="en-US" sz="2400" b="1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 (</a:t>
            </a:r>
            <a:r>
              <a:rPr lang="en-US" sz="2400" b="1" i="0" u="none" strike="noStrike" cap="none" dirty="0" err="1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漲跌</a:t>
            </a:r>
            <a:r>
              <a:rPr lang="en-US" sz="2400" b="1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)</a:t>
            </a:r>
            <a:endParaRPr sz="2400" dirty="0"/>
          </a:p>
        </p:txBody>
      </p:sp>
      <p:sp>
        <p:nvSpPr>
          <p:cNvPr id="380" name="Google Shape;380;p30"/>
          <p:cNvSpPr txBox="1"/>
          <p:nvPr/>
        </p:nvSpPr>
        <p:spPr>
          <a:xfrm>
            <a:off x="866775" y="3681815"/>
            <a:ext cx="4743450" cy="8863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 err="1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雖然直覺，但缺乏幅度資訊。實務上難以判斷波動大小，投資價值受限</a:t>
            </a:r>
            <a:r>
              <a:rPr lang="en-US" sz="18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。</a:t>
            </a:r>
            <a:endParaRPr sz="1800" dirty="0"/>
          </a:p>
        </p:txBody>
      </p:sp>
      <p:sp>
        <p:nvSpPr>
          <p:cNvPr id="381" name="Google Shape;381;p30"/>
          <p:cNvSpPr txBox="1"/>
          <p:nvPr/>
        </p:nvSpPr>
        <p:spPr>
          <a:xfrm>
            <a:off x="6581775" y="3100790"/>
            <a:ext cx="4980622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迴歸任務 (數值)</a:t>
            </a:r>
            <a:endParaRPr sz="2400"/>
          </a:p>
        </p:txBody>
      </p:sp>
      <p:sp>
        <p:nvSpPr>
          <p:cNvPr id="382" name="Google Shape;382;p30"/>
          <p:cNvSpPr txBox="1"/>
          <p:nvPr/>
        </p:nvSpPr>
        <p:spPr>
          <a:xfrm>
            <a:off x="6581775" y="3681815"/>
            <a:ext cx="4743450" cy="8863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能精確計算損益與風險比率，更符合專業投資機構之決策需求。</a:t>
            </a:r>
            <a:endParaRPr sz="1800"/>
          </a:p>
        </p:txBody>
      </p:sp>
      <p:sp>
        <p:nvSpPr>
          <p:cNvPr id="383" name="Google Shape;383;p30"/>
          <p:cNvSpPr txBox="1"/>
          <p:nvPr/>
        </p:nvSpPr>
        <p:spPr>
          <a:xfrm>
            <a:off x="809625" y="919311"/>
            <a:ext cx="11351418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結論</a:t>
            </a:r>
            <a:r>
              <a:rPr 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：</a:t>
            </a:r>
            <a:r>
              <a:rPr lang="en-US" sz="3300" b="1" i="0" u="none" strike="noStrike" cap="none" dirty="0" err="1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分類與迴歸之抉擇</a:t>
            </a:r>
            <a:endParaRPr dirty="0"/>
          </a:p>
        </p:txBody>
      </p:sp>
      <p:sp>
        <p:nvSpPr>
          <p:cNvPr id="384" name="Google Shape;384;p30"/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0" name="Google Shape;390;p31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71500" y="2743200"/>
            <a:ext cx="3524250" cy="2662989"/>
          </a:xfrm>
          <a:prstGeom prst="rect">
            <a:avLst/>
          </a:prstGeom>
          <a:noFill/>
          <a:ln>
            <a:noFill/>
          </a:ln>
        </p:spPr>
      </p:pic>
      <p:pic>
        <p:nvPicPr>
          <p:cNvPr id="391" name="Google Shape;391;p31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333875" y="2743200"/>
            <a:ext cx="3524250" cy="2662989"/>
          </a:xfrm>
          <a:prstGeom prst="rect">
            <a:avLst/>
          </a:prstGeom>
          <a:noFill/>
          <a:ln>
            <a:noFill/>
          </a:ln>
        </p:spPr>
      </p:pic>
      <p:pic>
        <p:nvPicPr>
          <p:cNvPr id="392" name="Google Shape;392;p31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058149" y="2743200"/>
            <a:ext cx="3524250" cy="2662989"/>
          </a:xfrm>
          <a:prstGeom prst="rect">
            <a:avLst/>
          </a:prstGeom>
          <a:noFill/>
          <a:ln>
            <a:noFill/>
          </a:ln>
        </p:spPr>
      </p:pic>
      <p:pic>
        <p:nvPicPr>
          <p:cNvPr id="393" name="Google Shape;393;p31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2095500" y="3194090"/>
            <a:ext cx="428625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394" name="Google Shape;394;p31"/>
          <p:cNvSpPr txBox="1"/>
          <p:nvPr/>
        </p:nvSpPr>
        <p:spPr>
          <a:xfrm>
            <a:off x="809625" y="3884850"/>
            <a:ext cx="3100387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 dirty="0" err="1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無單一冠軍</a:t>
            </a:r>
            <a:endParaRPr sz="2400" dirty="0"/>
          </a:p>
        </p:txBody>
      </p:sp>
      <p:sp>
        <p:nvSpPr>
          <p:cNvPr id="395" name="Google Shape;395;p31"/>
          <p:cNvSpPr txBox="1"/>
          <p:nvPr/>
        </p:nvSpPr>
        <p:spPr>
          <a:xfrm>
            <a:off x="957262" y="4426089"/>
            <a:ext cx="2952750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 err="1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不同市場與不同時段，最佳模型各異</a:t>
            </a:r>
            <a:r>
              <a:rPr lang="en-US" sz="1800" b="0" i="0" u="none" strike="noStrike" cap="none" dirty="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。</a:t>
            </a:r>
            <a:endParaRPr sz="1800" dirty="0"/>
          </a:p>
        </p:txBody>
      </p:sp>
      <p:pic>
        <p:nvPicPr>
          <p:cNvPr id="396" name="Google Shape;396;p31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857875" y="3194090"/>
            <a:ext cx="476250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397" name="Google Shape;397;p31"/>
          <p:cNvSpPr txBox="1"/>
          <p:nvPr/>
        </p:nvSpPr>
        <p:spPr>
          <a:xfrm>
            <a:off x="4572000" y="3846098"/>
            <a:ext cx="3100387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2000" b="1" i="0" u="none" strike="noStrike" cap="none" dirty="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價格 </a:t>
            </a:r>
            <a:r>
              <a:rPr lang="en-US" sz="2000" b="1" i="0" u="none" strike="noStrike" cap="none" dirty="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R² </a:t>
            </a:r>
            <a:r>
              <a:rPr lang="zh-TW" altLang="en-US" sz="2000" b="1" i="0" u="none" strike="noStrike" cap="none" dirty="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高但輸基準</a:t>
            </a:r>
            <a:endParaRPr lang="en-US" altLang="zh-TW" sz="2000" b="1" i="0" u="none" strike="noStrike" cap="none" dirty="0">
              <a:solidFill>
                <a:srgbClr val="FFFFFF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398" name="Google Shape;398;p31"/>
          <p:cNvSpPr txBox="1"/>
          <p:nvPr/>
        </p:nvSpPr>
        <p:spPr>
          <a:xfrm>
            <a:off x="4719637" y="4426089"/>
            <a:ext cx="2952750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0" i="0" u="none" strike="noStrike" cap="none" dirty="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次日走勢難預測，故分類與 </a:t>
            </a:r>
            <a:r>
              <a:rPr lang="en-US" altLang="zh-TW" sz="1800" b="0" i="0" u="none" strike="noStrike" cap="none" dirty="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LLM </a:t>
            </a:r>
            <a:r>
              <a:rPr lang="zh-TW" altLang="en-US" sz="1800" b="0" i="0" u="none" strike="noStrike" cap="none" dirty="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為輔助</a:t>
            </a:r>
            <a:endParaRPr sz="1800" dirty="0"/>
          </a:p>
        </p:txBody>
      </p:sp>
      <p:pic>
        <p:nvPicPr>
          <p:cNvPr id="399" name="Google Shape;399;p31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9555956" y="3199269"/>
            <a:ext cx="476250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400" name="Google Shape;400;p31"/>
          <p:cNvSpPr txBox="1"/>
          <p:nvPr/>
        </p:nvSpPr>
        <p:spPr>
          <a:xfrm>
            <a:off x="8270081" y="3890029"/>
            <a:ext cx="3100387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LLM 定位</a:t>
            </a:r>
            <a:endParaRPr sz="2400"/>
          </a:p>
        </p:txBody>
      </p:sp>
      <p:sp>
        <p:nvSpPr>
          <p:cNvPr id="401" name="Google Shape;401;p31"/>
          <p:cNvSpPr txBox="1"/>
          <p:nvPr/>
        </p:nvSpPr>
        <p:spPr>
          <a:xfrm>
            <a:off x="8417718" y="4431268"/>
            <a:ext cx="2952750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 err="1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適合作為「解釋型」輔助，而非純算力引擎</a:t>
            </a:r>
            <a:r>
              <a:rPr lang="en-US" sz="1800" b="0" i="0" u="none" strike="noStrike" cap="none" dirty="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。</a:t>
            </a:r>
            <a:endParaRPr sz="1800" dirty="0"/>
          </a:p>
        </p:txBody>
      </p:sp>
      <p:sp>
        <p:nvSpPr>
          <p:cNvPr id="402" name="Google Shape;402;p31"/>
          <p:cNvSpPr txBox="1"/>
          <p:nvPr/>
        </p:nvSpPr>
        <p:spPr>
          <a:xfrm>
            <a:off x="809625" y="919311"/>
            <a:ext cx="11351418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19969"/>
              </a:lnSpc>
            </a:pPr>
            <a:r>
              <a:rPr lang="zh-TW" altLang="en-US" sz="3300" b="1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結論</a:t>
            </a:r>
            <a:r>
              <a:rPr 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：</a:t>
            </a:r>
            <a:r>
              <a:rPr lang="en-US" sz="3300" b="1" i="0" u="none" strike="noStrike" cap="none" dirty="0" err="1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模型比較關鍵發現</a:t>
            </a:r>
            <a:endParaRPr dirty="0"/>
          </a:p>
        </p:txBody>
      </p:sp>
      <p:sp>
        <p:nvSpPr>
          <p:cNvPr id="403" name="Google Shape;403;p31"/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4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" name="Google Shape;409;p32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71500" y="2393156"/>
            <a:ext cx="5334000" cy="2611981"/>
          </a:xfrm>
          <a:prstGeom prst="rect">
            <a:avLst/>
          </a:prstGeom>
          <a:noFill/>
          <a:ln>
            <a:noFill/>
          </a:ln>
        </p:spPr>
      </p:pic>
      <p:pic>
        <p:nvPicPr>
          <p:cNvPr id="410" name="Google Shape;410;p32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286500" y="2393156"/>
            <a:ext cx="5334000" cy="2611981"/>
          </a:xfrm>
          <a:prstGeom prst="rect">
            <a:avLst/>
          </a:prstGeom>
          <a:noFill/>
          <a:ln>
            <a:noFill/>
          </a:ln>
        </p:spPr>
      </p:pic>
      <p:sp>
        <p:nvSpPr>
          <p:cNvPr id="411" name="Google Shape;411;p32"/>
          <p:cNvSpPr txBox="1"/>
          <p:nvPr/>
        </p:nvSpPr>
        <p:spPr>
          <a:xfrm>
            <a:off x="295275" y="5202138"/>
            <a:ext cx="11601450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 dirty="0" err="1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簡報結束，敬請指導</a:t>
            </a:r>
            <a:endParaRPr sz="2400" dirty="0"/>
          </a:p>
        </p:txBody>
      </p:sp>
      <p:sp>
        <p:nvSpPr>
          <p:cNvPr id="412" name="Google Shape;412;p32"/>
          <p:cNvSpPr txBox="1"/>
          <p:nvPr/>
        </p:nvSpPr>
        <p:spPr>
          <a:xfrm>
            <a:off x="866775" y="2688431"/>
            <a:ext cx="4980622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 dirty="0" err="1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本研究貢獻</a:t>
            </a:r>
            <a:endParaRPr sz="2400" dirty="0"/>
          </a:p>
        </p:txBody>
      </p:sp>
      <p:sp>
        <p:nvSpPr>
          <p:cNvPr id="413" name="Google Shape;413;p32"/>
          <p:cNvSpPr txBox="1"/>
          <p:nvPr/>
        </p:nvSpPr>
        <p:spPr>
          <a:xfrm>
            <a:off x="6581775" y="2688431"/>
            <a:ext cx="4980622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未來展望</a:t>
            </a:r>
            <a:endParaRPr sz="2400"/>
          </a:p>
        </p:txBody>
      </p:sp>
      <p:sp>
        <p:nvSpPr>
          <p:cNvPr id="426" name="Google Shape;426;p32"/>
          <p:cNvSpPr txBox="1"/>
          <p:nvPr/>
        </p:nvSpPr>
        <p:spPr>
          <a:xfrm>
            <a:off x="809625" y="919311"/>
            <a:ext cx="11351418" cy="502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 dirty="0" err="1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結論與未來研究方向</a:t>
            </a:r>
            <a:endParaRPr dirty="0"/>
          </a:p>
        </p:txBody>
      </p:sp>
      <p:sp>
        <p:nvSpPr>
          <p:cNvPr id="427" name="Google Shape;427;p32"/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E90EF307-A7F2-3724-B068-BD51B5CF8A18}"/>
              </a:ext>
            </a:extLst>
          </p:cNvPr>
          <p:cNvSpPr txBox="1"/>
          <p:nvPr/>
        </p:nvSpPr>
        <p:spPr>
          <a:xfrm>
            <a:off x="571500" y="3338573"/>
            <a:ext cx="53340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zh-TW" altLang="en-US" sz="1800" b="0" i="0" dirty="0">
                <a:solidFill>
                  <a:srgbClr val="1E293B"/>
                </a:solidFill>
                <a:effectLst/>
                <a:latin typeface="DM Sans" pitchFamily="2" charset="0"/>
              </a:rPr>
              <a:t>建立跨市場</a:t>
            </a:r>
            <a:r>
              <a:rPr lang="en-US" altLang="zh-TW" sz="1800" b="0" i="0" dirty="0">
                <a:solidFill>
                  <a:srgbClr val="1E293B"/>
                </a:solidFill>
                <a:effectLst/>
                <a:latin typeface="DM Sans" pitchFamily="2" charset="0"/>
              </a:rPr>
              <a:t>(</a:t>
            </a:r>
            <a:r>
              <a:rPr lang="zh-TW" altLang="en-US" sz="1800" b="0" i="0" dirty="0">
                <a:solidFill>
                  <a:srgbClr val="1E293B"/>
                </a:solidFill>
                <a:effectLst/>
                <a:latin typeface="DM Sans" pitchFamily="2" charset="0"/>
              </a:rPr>
              <a:t>台</a:t>
            </a:r>
            <a:r>
              <a:rPr lang="en-US" altLang="zh-TW" sz="1800" b="0" i="0" dirty="0">
                <a:solidFill>
                  <a:srgbClr val="1E293B"/>
                </a:solidFill>
                <a:effectLst/>
                <a:latin typeface="DM Sans" pitchFamily="2" charset="0"/>
              </a:rPr>
              <a:t>/</a:t>
            </a:r>
            <a:r>
              <a:rPr lang="zh-TW" altLang="en-US" sz="1800" b="0" i="0" dirty="0">
                <a:solidFill>
                  <a:srgbClr val="1E293B"/>
                </a:solidFill>
                <a:effectLst/>
                <a:latin typeface="DM Sans" pitchFamily="2" charset="0"/>
              </a:rPr>
              <a:t>美</a:t>
            </a:r>
            <a:r>
              <a:rPr lang="en-US" altLang="zh-TW" sz="1800" b="0" i="0" dirty="0">
                <a:solidFill>
                  <a:srgbClr val="1E293B"/>
                </a:solidFill>
                <a:effectLst/>
                <a:latin typeface="DM Sans" pitchFamily="2" charset="0"/>
              </a:rPr>
              <a:t>)</a:t>
            </a:r>
            <a:r>
              <a:rPr lang="zh-TW" altLang="en-US" sz="1800" b="0" i="0" dirty="0">
                <a:solidFill>
                  <a:srgbClr val="1E293B"/>
                </a:solidFill>
                <a:effectLst/>
                <a:latin typeface="DM Sans" pitchFamily="2" charset="0"/>
              </a:rPr>
              <a:t>預測基準比較。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zh-TW" altLang="en-US" sz="1800" b="0" i="0" dirty="0">
                <a:solidFill>
                  <a:srgbClr val="1E293B"/>
                </a:solidFill>
                <a:effectLst/>
                <a:latin typeface="DM Sans" pitchFamily="2" charset="0"/>
              </a:rPr>
              <a:t>揭示台股受國際連動影響之預測難點。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zh-TW" altLang="en-US" sz="1800" b="0" i="0" dirty="0">
                <a:solidFill>
                  <a:srgbClr val="1E293B"/>
                </a:solidFill>
                <a:effectLst/>
                <a:latin typeface="DM Sans" pitchFamily="2" charset="0"/>
              </a:rPr>
              <a:t>實作 </a:t>
            </a:r>
            <a:r>
              <a:rPr lang="en-US" altLang="zh-TW" sz="1800" b="0" i="0" dirty="0">
                <a:solidFill>
                  <a:srgbClr val="1E293B"/>
                </a:solidFill>
                <a:effectLst/>
                <a:latin typeface="DM Sans" pitchFamily="2" charset="0"/>
              </a:rPr>
              <a:t>LLM </a:t>
            </a:r>
            <a:r>
              <a:rPr lang="zh-TW" altLang="en-US" sz="1800" b="0" i="0" dirty="0">
                <a:solidFill>
                  <a:srgbClr val="1E293B"/>
                </a:solidFill>
                <a:effectLst/>
                <a:latin typeface="DM Sans" pitchFamily="2" charset="0"/>
              </a:rPr>
              <a:t>輔助開源平台。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A53F690D-E60C-6686-A658-86DCDA59AD5B}"/>
              </a:ext>
            </a:extLst>
          </p:cNvPr>
          <p:cNvSpPr txBox="1"/>
          <p:nvPr/>
        </p:nvSpPr>
        <p:spPr>
          <a:xfrm>
            <a:off x="6286500" y="3232443"/>
            <a:ext cx="5275897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>
              <a:buFont typeface="Arial" panose="020B0604020202020204" pitchFamily="34" charset="0"/>
              <a:buChar char="•"/>
              <a:defRPr sz="1800">
                <a:solidFill>
                  <a:srgbClr val="1E293B"/>
                </a:solidFill>
                <a:effectLst/>
                <a:latin typeface="DM Sans" pitchFamily="2" charset="0"/>
              </a:defRPr>
            </a:lvl1pPr>
          </a:lstStyle>
          <a:p>
            <a:r>
              <a:rPr lang="zh-TW" altLang="en-US" dirty="0"/>
              <a:t>導入新聞情緒與總經指標分析。</a:t>
            </a:r>
          </a:p>
          <a:p>
            <a:r>
              <a:rPr lang="zh-TW" altLang="en-US" dirty="0"/>
              <a:t>開發 </a:t>
            </a:r>
            <a:r>
              <a:rPr lang="en-US" altLang="zh-TW" dirty="0"/>
              <a:t>LSTM-ARIMA </a:t>
            </a:r>
            <a:r>
              <a:rPr lang="zh-TW" altLang="en-US" dirty="0"/>
              <a:t>混合模型。</a:t>
            </a:r>
          </a:p>
          <a:p>
            <a:r>
              <a:rPr lang="zh-TW" altLang="en-US" dirty="0"/>
              <a:t>進行正式使用者 </a:t>
            </a:r>
            <a:r>
              <a:rPr lang="en-US" altLang="zh-TW" dirty="0"/>
              <a:t>SUS </a:t>
            </a:r>
            <a:r>
              <a:rPr lang="zh-TW" altLang="en-US" dirty="0"/>
              <a:t>量表研究。</a:t>
            </a:r>
            <a:endParaRPr lang="en-US" altLang="zh-TW" dirty="0"/>
          </a:p>
          <a:p>
            <a:r>
              <a:rPr lang="zh-TW" altLang="zh-TW" dirty="0"/>
              <a:t>擴大 LLM 迴歸樣本至完整測試集 </a:t>
            </a:r>
            <a:endParaRPr lang="en-US" altLang="zh-TW" dirty="0"/>
          </a:p>
          <a:p>
            <a:r>
              <a:rPr lang="zh-TW" altLang="zh-TW" dirty="0"/>
              <a:t>比較多種 LLM（Gemini、Llama、Gemma）</a:t>
            </a:r>
            <a:endParaRPr lang="zh-TW" altLang="en-US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FFFFF"/>
        </a:solidFill>
        <a:effectLst/>
      </p:bgPr>
    </p:bg>
    <p:spTree>
      <p:nvGrpSpPr>
        <p:cNvPr id="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3" name="Google Shape;433;p33"/>
          <p:cNvSpPr/>
          <p:nvPr/>
        </p:nvSpPr>
        <p:spPr>
          <a:xfrm>
            <a:off x="571500" y="2458938"/>
            <a:ext cx="11049000" cy="771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4" name="Google Shape;434;p33"/>
          <p:cNvSpPr/>
          <p:nvPr/>
        </p:nvSpPr>
        <p:spPr>
          <a:xfrm>
            <a:off x="571500" y="3230463"/>
            <a:ext cx="11049000" cy="866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5" name="Google Shape;435;p33"/>
          <p:cNvSpPr/>
          <p:nvPr/>
        </p:nvSpPr>
        <p:spPr>
          <a:xfrm>
            <a:off x="571500" y="4097238"/>
            <a:ext cx="11049000" cy="771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33"/>
          <p:cNvSpPr/>
          <p:nvPr/>
        </p:nvSpPr>
        <p:spPr>
          <a:xfrm>
            <a:off x="571500" y="3220938"/>
            <a:ext cx="11049000" cy="9525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7" name="Google Shape;437;p33"/>
          <p:cNvSpPr/>
          <p:nvPr/>
        </p:nvSpPr>
        <p:spPr>
          <a:xfrm>
            <a:off x="571500" y="3220938"/>
            <a:ext cx="11049000" cy="9525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8" name="Google Shape;438;p33"/>
          <p:cNvSpPr/>
          <p:nvPr/>
        </p:nvSpPr>
        <p:spPr>
          <a:xfrm>
            <a:off x="571500" y="4087713"/>
            <a:ext cx="11049000" cy="9525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9" name="Google Shape;439;p33"/>
          <p:cNvSpPr/>
          <p:nvPr/>
        </p:nvSpPr>
        <p:spPr>
          <a:xfrm>
            <a:off x="571500" y="4087713"/>
            <a:ext cx="11049000" cy="9525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0" name="Google Shape;440;p33"/>
          <p:cNvSpPr/>
          <p:nvPr/>
        </p:nvSpPr>
        <p:spPr>
          <a:xfrm>
            <a:off x="571500" y="4859238"/>
            <a:ext cx="11049000" cy="9525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1" name="Google Shape;441;p33"/>
          <p:cNvSpPr/>
          <p:nvPr/>
        </p:nvSpPr>
        <p:spPr>
          <a:xfrm>
            <a:off x="571500" y="4859238"/>
            <a:ext cx="11049000" cy="9525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42" name="Google Shape;442;p3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71500" y="2601813"/>
            <a:ext cx="85725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443" name="Google Shape;443;p33"/>
          <p:cNvSpPr txBox="1"/>
          <p:nvPr/>
        </p:nvSpPr>
        <p:spPr>
          <a:xfrm>
            <a:off x="1666875" y="2635150"/>
            <a:ext cx="9953625" cy="161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https://img.freepik.com/free-vector/global-business-background-with-stock-chart-blue-tone_53876-117483.jpg</a:t>
            </a:r>
            <a:endParaRPr/>
          </a:p>
        </p:txBody>
      </p:sp>
      <p:sp>
        <p:nvSpPr>
          <p:cNvPr id="444" name="Google Shape;444;p33"/>
          <p:cNvSpPr txBox="1"/>
          <p:nvPr/>
        </p:nvSpPr>
        <p:spPr>
          <a:xfrm>
            <a:off x="1666875" y="2844700"/>
            <a:ext cx="9953625" cy="20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Source: </a:t>
            </a:r>
            <a:r>
              <a:rPr lang="en-US" sz="1200" b="0" i="0" u="none" strike="noStrike" cap="none">
                <a:solidFill>
                  <a:srgbClr val="4F46E5"/>
                </a:solidFill>
                <a:latin typeface="DM Sans"/>
                <a:ea typeface="DM Sans"/>
                <a:cs typeface="DM Sans"/>
                <a:sym typeface="DM Sans"/>
              </a:rPr>
              <a:t>www.freepik.com</a:t>
            </a:r>
            <a:endParaRPr/>
          </a:p>
        </p:txBody>
      </p:sp>
      <p:pic>
        <p:nvPicPr>
          <p:cNvPr id="445" name="Google Shape;445;p33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3420963"/>
            <a:ext cx="85725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446" name="Google Shape;446;p33"/>
          <p:cNvSpPr txBox="1"/>
          <p:nvPr/>
        </p:nvSpPr>
        <p:spPr>
          <a:xfrm>
            <a:off x="1666875" y="3373338"/>
            <a:ext cx="9953625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https://media.istockphoto.com/id/1179291552/vector/abstract-financial-chart-with-bulls-and-bear-in-stock-market-on-blue-colour-background.jpg?s=1024x1024&amp;w=is&amp;k=20&amp;c=69puchKZqipsWjW8mqqju9dZPS9s5BluKcPZA8Jwblg=</a:t>
            </a:r>
            <a:endParaRPr/>
          </a:p>
        </p:txBody>
      </p:sp>
      <p:sp>
        <p:nvSpPr>
          <p:cNvPr id="447" name="Google Shape;447;p33"/>
          <p:cNvSpPr txBox="1"/>
          <p:nvPr/>
        </p:nvSpPr>
        <p:spPr>
          <a:xfrm>
            <a:off x="1666875" y="3744813"/>
            <a:ext cx="9953625" cy="20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Source: </a:t>
            </a:r>
            <a:r>
              <a:rPr lang="en-US" sz="1200" b="0" i="0" u="none" strike="noStrike" cap="none">
                <a:solidFill>
                  <a:srgbClr val="4F46E5"/>
                </a:solidFill>
                <a:latin typeface="DM Sans"/>
                <a:ea typeface="DM Sans"/>
                <a:cs typeface="DM Sans"/>
                <a:sym typeface="DM Sans"/>
              </a:rPr>
              <a:t>www.istockphoto.com</a:t>
            </a:r>
            <a:endParaRPr/>
          </a:p>
        </p:txBody>
      </p:sp>
      <p:pic>
        <p:nvPicPr>
          <p:cNvPr id="448" name="Google Shape;448;p33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71500" y="4240113"/>
            <a:ext cx="85725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449" name="Google Shape;449;p33"/>
          <p:cNvSpPr txBox="1"/>
          <p:nvPr/>
        </p:nvSpPr>
        <p:spPr>
          <a:xfrm>
            <a:off x="1666875" y="4273450"/>
            <a:ext cx="9953625" cy="161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https://miro.medium.com/1*laH0_xXEkFE0lKJu54gkFQ.png</a:t>
            </a:r>
            <a:endParaRPr/>
          </a:p>
        </p:txBody>
      </p:sp>
      <p:sp>
        <p:nvSpPr>
          <p:cNvPr id="450" name="Google Shape;450;p33"/>
          <p:cNvSpPr txBox="1"/>
          <p:nvPr/>
        </p:nvSpPr>
        <p:spPr>
          <a:xfrm>
            <a:off x="1666875" y="4483000"/>
            <a:ext cx="9953625" cy="20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Source: </a:t>
            </a:r>
            <a:r>
              <a:rPr lang="en-US" sz="1200" b="0" i="0" u="none" strike="noStrike" cap="none">
                <a:solidFill>
                  <a:srgbClr val="4F46E5"/>
                </a:solidFill>
                <a:latin typeface="DM Sans"/>
                <a:ea typeface="DM Sans"/>
                <a:cs typeface="DM Sans"/>
                <a:sym typeface="DM Sans"/>
              </a:rPr>
              <a:t>blog.mlreview.com</a:t>
            </a:r>
            <a:endParaRPr/>
          </a:p>
        </p:txBody>
      </p:sp>
      <p:pic>
        <p:nvPicPr>
          <p:cNvPr id="451" name="Google Shape;451;p33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71500" y="5011638"/>
            <a:ext cx="85725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452" name="Google Shape;452;p33"/>
          <p:cNvSpPr txBox="1"/>
          <p:nvPr/>
        </p:nvSpPr>
        <p:spPr>
          <a:xfrm>
            <a:off x="1666875" y="5044975"/>
            <a:ext cx="9953625" cy="161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https://storage.googleapis.com/blink-451505.firebasestorage.app/screenshots/ai-stock-trading-prediction-alert-app-yqdydsj5.sites.blink.new-1755329598984.webp</a:t>
            </a:r>
            <a:endParaRPr/>
          </a:p>
        </p:txBody>
      </p:sp>
      <p:sp>
        <p:nvSpPr>
          <p:cNvPr id="453" name="Google Shape;453;p33"/>
          <p:cNvSpPr txBox="1"/>
          <p:nvPr/>
        </p:nvSpPr>
        <p:spPr>
          <a:xfrm>
            <a:off x="1666875" y="5254525"/>
            <a:ext cx="9953625" cy="20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Source: </a:t>
            </a:r>
            <a:r>
              <a:rPr lang="en-US" sz="1200" b="0" i="0" u="none" strike="noStrike" cap="none">
                <a:solidFill>
                  <a:srgbClr val="4F46E5"/>
                </a:solidFill>
                <a:latin typeface="DM Sans"/>
                <a:ea typeface="DM Sans"/>
                <a:cs typeface="DM Sans"/>
                <a:sym typeface="DM Sans"/>
              </a:rPr>
              <a:t>blink.new</a:t>
            </a:r>
            <a:endParaRPr/>
          </a:p>
        </p:txBody>
      </p:sp>
      <p:sp>
        <p:nvSpPr>
          <p:cNvPr id="454" name="Google Shape;454;p33"/>
          <p:cNvSpPr txBox="1"/>
          <p:nvPr/>
        </p:nvSpPr>
        <p:spPr>
          <a:xfrm>
            <a:off x="809625" y="919311"/>
            <a:ext cx="11351418" cy="502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Image Sources</a:t>
            </a:r>
            <a:endParaRPr/>
          </a:p>
        </p:txBody>
      </p:sp>
      <p:sp>
        <p:nvSpPr>
          <p:cNvPr id="455" name="Google Shape;455;p33"/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1347</TotalTime>
  <Words>4150</Words>
  <Application>Microsoft Office PowerPoint</Application>
  <PresentationFormat>寬螢幕</PresentationFormat>
  <Paragraphs>284</Paragraphs>
  <Slides>28</Slides>
  <Notes>25</Notes>
  <HiddenSlides>1</HiddenSlides>
  <MMClips>0</MMClips>
  <ScaleCrop>false</ScaleCrop>
  <HeadingPairs>
    <vt:vector size="6" baseType="variant">
      <vt:variant>
        <vt:lpstr>使用字型</vt:lpstr>
      </vt:variant>
      <vt:variant>
        <vt:i4>6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28</vt:i4>
      </vt:variant>
    </vt:vector>
  </HeadingPairs>
  <TitlesOfParts>
    <vt:vector size="35" baseType="lpstr">
      <vt:lpstr>Merriweather</vt:lpstr>
      <vt:lpstr>DM Sans</vt:lpstr>
      <vt:lpstr>Arial</vt:lpstr>
      <vt:lpstr>標楷體</vt:lpstr>
      <vt:lpstr>Calibri</vt:lpstr>
      <vt:lpstr>Amasis MT Pro Medium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循環神經網路(Recurrent Neural Network, RNN)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子瑜 林</cp:lastModifiedBy>
  <cp:revision>86</cp:revision>
  <dcterms:modified xsi:type="dcterms:W3CDTF">2026-06-08T15:33:01Z</dcterms:modified>
</cp:coreProperties>
</file>