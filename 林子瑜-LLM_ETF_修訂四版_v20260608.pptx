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549" r:id="rId3"/>
    <p:sldId id="550" r:id="rId4"/>
    <p:sldId id="257" r:id="rId5"/>
    <p:sldId id="258" r:id="rId6"/>
    <p:sldId id="259" r:id="rId7"/>
    <p:sldId id="260" r:id="rId8"/>
    <p:sldId id="262" r:id="rId9"/>
    <p:sldId id="263" r:id="rId10"/>
    <p:sldId id="553" r:id="rId11"/>
    <p:sldId id="557" r:id="rId12"/>
    <p:sldId id="307" r:id="rId13"/>
    <p:sldId id="556" r:id="rId14"/>
    <p:sldId id="555" r:id="rId15"/>
    <p:sldId id="265" r:id="rId16"/>
    <p:sldId id="266" r:id="rId17"/>
    <p:sldId id="558" r:id="rId18"/>
    <p:sldId id="267" r:id="rId19"/>
    <p:sldId id="268" r:id="rId20"/>
    <p:sldId id="561" r:id="rId21"/>
    <p:sldId id="562" r:id="rId22"/>
    <p:sldId id="270" r:id="rId23"/>
    <p:sldId id="272" r:id="rId24"/>
    <p:sldId id="273" r:id="rId25"/>
    <p:sldId id="274" r:id="rId26"/>
    <p:sldId id="275" r:id="rId27"/>
    <p:sldId id="276" r:id="rId28"/>
  </p:sldIdLst>
  <p:sldSz cx="12192000" cy="6858000"/>
  <p:notesSz cx="6858000" cy="9144000"/>
  <p:embeddedFontLst>
    <p:embeddedFont>
      <p:font typeface="Amasis MT Pro Medium" panose="02040604050005020304" pitchFamily="18" charset="0"/>
      <p:regular r:id="rId30"/>
      <p:italic r:id="rId31"/>
    </p:embeddedFont>
    <p:embeddedFont>
      <p:font typeface="DM Sans" pitchFamily="2" charset="0"/>
      <p:regular r:id="rId32"/>
      <p:bold r:id="rId33"/>
      <p:italic r:id="rId34"/>
      <p:boldItalic r:id="rId35"/>
    </p:embeddedFont>
    <p:embeddedFont>
      <p:font typeface="Merriweather" panose="00000500000000000000" pitchFamily="2" charset="0"/>
      <p:regular r:id="rId36"/>
      <p:bold r:id="rId37"/>
      <p:italic r:id="rId38"/>
      <p:boldItalic r:id="rId39"/>
    </p:embeddedFont>
    <p:embeddedFont>
      <p:font typeface="標楷體" panose="03000509000000000000" pitchFamily="65" charset="-120"/>
      <p:regular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3394A8-6561-4F67-BD20-A1EB724447CB}">
  <a:tblStyle styleId="{C63394A8-6561-4F67-BD20-A1EB724447C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42" autoAdjust="0"/>
  </p:normalViewPr>
  <p:slideViewPr>
    <p:cSldViewPr snapToGrid="0">
      <p:cViewPr varScale="1">
        <p:scale>
          <a:sx n="56" d="100"/>
          <a:sy n="56" d="100"/>
        </p:scale>
        <p:origin x="684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台美市場連動緊密，但缺乏直觀同步預測工具</a:t>
            </a:r>
            <a:endParaRPr lang="zh-TW" altLang="en-US" sz="12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跨市場數據處理複雜度高，一般投資者難以負擔</a:t>
            </a:r>
            <a:endParaRPr lang="zh-TW" altLang="en-US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TW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由於 SPY、QQQ 股價約數百美元，而 0050.TW 僅數十至百餘元台幣，若採用 MSE 等絕對誤差指標，會因股價數值大小不同而無法跨市場比較。故本研究採用 MAPE，以「百分比」衡量誤差，消除價格尺度與幣別差異，使三個市場的預測難度能在同一基準上公平比較。</a:t>
            </a:r>
            <a:br>
              <a:rPr lang="en-US" altLang="zh-TW" dirty="0"/>
            </a:br>
            <a:r>
              <a:rPr lang="zh-TW" altLang="en-US" dirty="0"/>
              <a:t>程式在</a:t>
            </a:r>
            <a:r>
              <a:rPr lang="en-US" altLang="zh-TW" dirty="0" err="1"/>
              <a:t>github</a:t>
            </a:r>
            <a:r>
              <a:rPr lang="en-US" altLang="zh-TW" dirty="0"/>
              <a:t>-&gt;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arima_baseline.py</a:t>
            </a:r>
            <a:r>
              <a:rPr lang="zh-TW" altLang="zh-TW" dirty="0"/>
              <a:t>、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run_regression.py</a:t>
            </a:r>
            <a:r>
              <a:rPr lang="zh-TW" altLang="zh-TW" dirty="0"/>
              <a:t>、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run_lstm_regression.py</a:t>
            </a:r>
            <a:endParaRPr dirty="0"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ARIMA 是時間序列最常用的統計模型,我把它當作基準。它由三個元件組成,寫成 p、d、q:AR 自迴歸的 p,代表用過去 p 期的數值來預測,例如 AR(1) 就是今天主要受昨天影響;I 差分的 d,代表做 d 次差分把序列變成定態,這是 ARIMA 比 ARMA 多的地方;MA 移動平均的 q,是用過去的預測誤差來修正當期。我三個市場的最佳參數分別是 SPY(0,1,2)、QQQ(1,1,0)、0050(0,1,0),都是先用 ADF 檢定確認需要差分,再自動選參數定出來的。</a:t>
            </a:r>
            <a:endParaRPr dirty="0"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959CDA8A-12C7-F967-4009-772F6F0C1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6D45493E-AB57-AFEA-FEE3-ADE1A4699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71ED5A95-C654-A2B5-0E09-0FFD28A5E6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810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6DC33C8D-1107-B90B-BBD0-170A6F87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56CAF279-6EAE-F736-5C9B-02FD99876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這是 LSTM 的內部結構。最上面那條貫穿的線是細胞狀態,可以想像成一條傳送帶,記憶在上面流動。它靠三個閘門控制:遺忘閘門決定丟掉哪些舊資訊、輸入閘門決定存入哪些新資訊、輸出閘門決定輸出什麼。圖中 σ 是 Sigmoid、tanh 是雙曲正切,負責非線性轉換;Xₜ 是輸入,Cₜ₋₁ 和 hₜ₋₁ 是上一個時點傳來的記憶和輸出。這個閘門設計讓 LSTM 能記住長期依賴,所以很適合股價這種時間序列。</a:t>
            </a:r>
            <a:endParaRPr dirty="0"/>
          </a:p>
        </p:txBody>
      </p:sp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015EF8DC-3E3F-A956-5AEA-B3F92ADF0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732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E4D6E503-A0DC-8D6D-E543-632E8D95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02C4EDFE-DC29-5B01-9729-6201EA8A4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這是 LSTM 的內部結構。最上面那條貫穿的線是細胞狀態,可以想像成一條傳送帶,記憶在上面流動。它靠三個閘門控制:遺忘閘門決定丟掉哪些舊資訊、輸入閘門決定存入哪些新資訊、輸出閘門決定輸出什麼。圖中 σ 是 Sigmoid、tanh 是雙曲正切,負責非線性轉換;Xₜ 是輸入,Cₜ₋₁ 和 hₜ₋₁ 是上一個時點傳來的記憶和輸出。這個閘門設計讓 LSTM 能記住長期依賴,所以很適合股價這種時間序列。</a:t>
            </a:r>
            <a:endParaRPr dirty="0"/>
          </a:p>
        </p:txBody>
      </p:sp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63DD07D6-9217-DC52-0A51-E600B8F63C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0725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8CBBD7EA-BA22-5FCB-98A3-B9B4AF6ED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094B4CE2-E374-997C-29E2-955C7EF9F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496954F9-106B-C699-2CF8-903C2857B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559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LLM 我用兩個。GPT-3.5 做漲跌分類，F1 大約 0.48，明顯比傳統模型差——這其實是預期的，因為 LLM 不擅長純數值分類。另一個用 Gemini 做小樣本的數值迴歸探索，兩個都是免費額度。它們的定位是輔助解釋，不是主要預測引擎</a:t>
            </a:r>
            <a:endParaRPr dirty="0"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流程上要特別說明交叉驗證。一般 K-Fold 會打亂順序，但時間序列一打亂就會用到未來資料、造成洩漏。所以我用 TimeSeriesSplit，每次訓練集都只用測試集之前的歷史，這對金融預測非常關鍵。</a:t>
            </a:r>
            <a:endParaRPr dirty="0"/>
          </a:p>
        </p:txBody>
      </p:sp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63BC11B1-CB7F-90B0-D6EA-568F13DF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>
            <a:extLst>
              <a:ext uri="{FF2B5EF4-FFF2-40B4-BE49-F238E27FC236}">
                <a16:creationId xmlns:a16="http://schemas.microsoft.com/office/drawing/2014/main" id="{B16D19E2-87CD-CAE4-A0B6-30A661297B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流程上要特別說明交叉驗證。一般 K-Fold 會打亂順序，但時間序列一打亂就會用到未來資料、造成洩漏。所以我用 TimeSeriesSplit，每次訓練集都只用測試集之前的歷史，這對金融預測非常關鍵。</a:t>
            </a:r>
            <a:endParaRPr dirty="0"/>
          </a:p>
        </p:txBody>
      </p:sp>
      <p:sp>
        <p:nvSpPr>
          <p:cNvPr id="256" name="Google Shape;256;p11:notes">
            <a:extLst>
              <a:ext uri="{FF2B5EF4-FFF2-40B4-BE49-F238E27FC236}">
                <a16:creationId xmlns:a16="http://schemas.microsoft.com/office/drawing/2014/main" id="{62CAC9D2-2996-571F-259C-B2E1C4637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37469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資料是三檔 ETF：SPY、QQQ、0050，2016 到 2026 的日資料，特徵用 OHLCV 加上 MA、RSI、波動率，全部以 TimeSeriesSplit 驗證。</a:t>
            </a:r>
            <a:endParaRPr dirty="0"/>
          </a:p>
        </p:txBody>
      </p:sp>
      <p:sp>
        <p:nvSpPr>
          <p:cNvPr id="285" name="Google Shape;2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這是 SPY 的分類結果。最左邊灰色是我加的『永遠猜漲』基準，F1 是 0.736，我用紅色虛線標出來。可以看到四個模型的 F1 全部貼著這條線、甚至更低——最好的雙層 LSTM 也只有 0.733，跟基準打平。這代表在多頭期間，分類的高 F1 主要來自市場本身上漲的偏態，模型並沒有真正超越無腦策略。這就是我把分類定位成輔助、把重心放到後面迴歸和 LLM 的原因。</a:t>
            </a:r>
            <a:endParaRPr dirty="0"/>
          </a:p>
        </p:txBody>
      </p:sp>
      <p:sp>
        <p:nvSpPr>
          <p:cNvPr id="303" name="Google Shape;3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F3AA928B-6B71-FB8E-4357-CFE0A29D6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4FC9BD5C-0D50-043D-DA86-B6CEB5AD45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4480DBDE-DF67-4FD4-B629-1FE441F8B0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05606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F9DE7C20-BD57-C8ED-67ED-6D9672E2F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490899E8-C20F-7520-AF27-017310AA5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640B5A1F-1502-3303-674A-2BE5B10CE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14295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迴歸的結論有三點。第一,用 MAPE 跨市場比較,三個市場的排序都一致:ARIMA 最好、LSTM 次之、樹模型最差,代表在價格預測上,簡單的統計模型反而比複雜模型穩定。第二,樹模型表現最差不是調參問題,是它無法預測超出訓練範圍的新高價,這是結構限制。第三,LLM 是亮點——GPT-4o-mini 在三個市場小樣本上 R² 都穩定在 0.80,不用訓練、只靠提示就能做到,展現它的潛力。整體來說,複雜不一定好,而 LLM 跨市場一致性高,值得後續擴大驗證。</a:t>
            </a:r>
            <a:endParaRPr dirty="0"/>
          </a:p>
        </p:txBody>
      </p:sp>
      <p:sp>
        <p:nvSpPr>
          <p:cNvPr id="333" name="Google Shape;33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zh-TW" altLang="zh-TW" dirty="0"/>
              <a:t>平台用 Streamlit 加 Plotly、SQLite，串接 GPT 或 Gemini 產生風險摘要，端對端延遲 840 毫秒，一般電腦、不用 GPU 就能跑。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3" name="Google Shape;3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綜合發現有三點：沒有單一冠軍模型，不同市場最佳模型不同；迴歸顯示次日走勢本質難預測；所以 LLM 定位在解釋型輔助，而不是當主要算力引擎。</a:t>
            </a:r>
            <a:endParaRPr dirty="0"/>
          </a:p>
        </p:txBody>
      </p:sp>
      <p:sp>
        <p:nvSpPr>
          <p:cNvPr id="387" name="Google Shape;38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15402" y="1571922"/>
            <a:ext cx="9561195" cy="1360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LLM-ETF：</a:t>
            </a: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基於大語言模型輔助之跨市場</a:t>
            </a:r>
            <a:r>
              <a:rPr lang="en-US" sz="28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ETF </a:t>
            </a:r>
            <a:r>
              <a:rPr lang="en-US" sz="28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趨勢預測與模型比較研究</a:t>
            </a:r>
            <a:endParaRPr sz="280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0" y="3465314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Graduate School of Information Engineering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Kun Shan University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-1" y="4644665"/>
            <a:ext cx="12192000" cy="190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研究生：林子瑜		 </a:t>
            </a:r>
            <a:r>
              <a:rPr 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Tzu-Yu Lin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指導教授：李冠榮	副教授　　　　</a:t>
            </a:r>
            <a:r>
              <a:rPr 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Kuan-Rong Lee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dirty="0">
                <a:solidFill>
                  <a:srgbClr val="F3F0DF"/>
                </a:solidFill>
                <a:latin typeface="DM Sans"/>
                <a:ea typeface="Calibri"/>
                <a:cs typeface="Calibri"/>
                <a:sym typeface="DM Sans"/>
              </a:rPr>
              <a:t>JUN 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A31407-651A-0009-080B-59204639F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E43EAE-242F-3CA0-B178-EA17BDEF1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D8B46B7-E8BB-751D-9B4B-6CDDBFA46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303" y="267645"/>
            <a:ext cx="6011114" cy="613495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5DDE8B1-B1CC-3A2F-A5B0-B76A628BF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85" y="86884"/>
            <a:ext cx="4862195" cy="649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19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8D0549-7C53-2918-8D11-23270EC03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CA2BF9-F246-5CA9-EC83-E203826B8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9FBBE74-1419-68CB-E1E1-FCF6C6233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673" y="0"/>
            <a:ext cx="54366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02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0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0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9312" y="2316063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83431" y="30494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前言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背景、動機與研究問題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0" y="231606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545806" y="30494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分析主題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19625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分類問題與迴歸問題</a:t>
            </a:r>
            <a:endParaRPr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67875" y="231606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308181" y="30494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模型介紹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82000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跨世代模型架構分析</a:t>
            </a:r>
            <a:endParaRPr dirty="0"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444966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783431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研究流程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57250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數據處理與實驗設計</a:t>
            </a:r>
            <a:endParaRPr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9312" y="444966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4545806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實驗結果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619625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跨市場表現評估指標</a:t>
            </a:r>
            <a:endParaRPr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91687" y="444966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8308181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結論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382000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關鍵發現與未來方向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簡報大綱 Agenda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35327"/>
            <a:ext cx="4334870" cy="1773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83711"/>
            <a:ext cx="4334870" cy="192961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66775" y="2330601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資訊不對稱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866775" y="4283467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AI </a:t>
            </a:r>
            <a:r>
              <a:rPr lang="en-US" sz="195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潛力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809625" y="856727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研究背景與動機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不同模型與技術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==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&gt;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股票分析</a:t>
            </a:r>
            <a:endParaRPr dirty="0"/>
          </a:p>
        </p:txBody>
      </p:sp>
      <p:sp>
        <p:nvSpPr>
          <p:cNvPr id="137" name="Google Shape;137;p15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29;p15">
            <a:extLst>
              <a:ext uri="{FF2B5EF4-FFF2-40B4-BE49-F238E27FC236}">
                <a16:creationId xmlns:a16="http://schemas.microsoft.com/office/drawing/2014/main" id="{65B060A5-54F5-3C86-B612-950BF19D0DA0}"/>
              </a:ext>
            </a:extLst>
          </p:cNvPr>
          <p:cNvSpPr txBox="1"/>
          <p:nvPr/>
        </p:nvSpPr>
        <p:spPr>
          <a:xfrm>
            <a:off x="809625" y="4793514"/>
            <a:ext cx="319450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深度學習模型「黑箱」問題</a:t>
            </a:r>
            <a:endParaRPr lang="en-US" altLang="zh-TW" sz="1500" b="0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5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提升模型預測可理解度</a:t>
            </a:r>
            <a:endParaRPr lang="zh-TW" altLang="en-US" sz="1500" b="0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E6E3EEA-9ED6-CB95-60E9-A8F4B33BD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3104" y="2035327"/>
            <a:ext cx="6682895" cy="3319798"/>
          </a:xfrm>
          <a:prstGeom prst="rect">
            <a:avLst/>
          </a:prstGeom>
        </p:spPr>
      </p:pic>
      <p:sp>
        <p:nvSpPr>
          <p:cNvPr id="6" name="Google Shape;129;p15">
            <a:extLst>
              <a:ext uri="{FF2B5EF4-FFF2-40B4-BE49-F238E27FC236}">
                <a16:creationId xmlns:a16="http://schemas.microsoft.com/office/drawing/2014/main" id="{60DCBED5-8FB8-058F-637C-3D539110F25A}"/>
              </a:ext>
            </a:extLst>
          </p:cNvPr>
          <p:cNvSpPr txBox="1"/>
          <p:nvPr/>
        </p:nvSpPr>
        <p:spPr>
          <a:xfrm>
            <a:off x="866775" y="2805111"/>
            <a:ext cx="3245566" cy="1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缺乏直觀同步預測工具</a:t>
            </a:r>
            <a:endParaRPr lang="en-US" sz="15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跨市場數據處理複雜度高</a:t>
            </a:r>
            <a:endParaRPr lang="zh-TW" altLang="en-US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6564140" y="1361807"/>
            <a:ext cx="5018259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效能比較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：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統計（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ARIMA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）、機器學習（隨機森林等）、深度學習（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LSTM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）與大語言模型（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在 ETF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預測之優劣</a:t>
            </a:r>
            <a:endParaRPr lang="en-US" sz="20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市場差異：分析 台股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(0050)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與美股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(SPY/QQQ)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之預測難度差異</a:t>
            </a:r>
            <a:endParaRPr lang="en-US" altLang="zh-TW" sz="20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評估指標：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MAPE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（平均絕對百分比誤差）</a:t>
            </a:r>
            <a:endParaRPr lang="en-US" altLang="zh-TW" sz="20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由實作應用：建構 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輔助視覺化平台，提升預測理解度</a:t>
            </a:r>
            <a:endParaRPr lang="en-US" altLang="zh-TW" sz="20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305514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368557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431601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研究目的與問題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F195BE5-5360-7552-27AD-915632A7EA06}"/>
              </a:ext>
            </a:extLst>
          </p:cNvPr>
          <p:cNvSpPr txBox="1"/>
          <p:nvPr/>
        </p:nvSpPr>
        <p:spPr>
          <a:xfrm>
            <a:off x="1029132" y="2733094"/>
            <a:ext cx="2290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ETF </a:t>
            </a:r>
            <a:r>
              <a:rPr lang="zh-TW" altLang="en-US" sz="3600" dirty="0"/>
              <a:t>預測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52DE00-75A1-607E-6CD2-7D64E8D1B8A1}"/>
              </a:ext>
            </a:extLst>
          </p:cNvPr>
          <p:cNvSpPr txBox="1"/>
          <p:nvPr/>
        </p:nvSpPr>
        <p:spPr>
          <a:xfrm>
            <a:off x="577273" y="3609409"/>
            <a:ext cx="7504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統計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90E60A7-743C-AA2A-F38C-54E26B12FA51}"/>
              </a:ext>
            </a:extLst>
          </p:cNvPr>
          <p:cNvSpPr txBox="1"/>
          <p:nvPr/>
        </p:nvSpPr>
        <p:spPr>
          <a:xfrm>
            <a:off x="1495425" y="3597928"/>
            <a:ext cx="540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ML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7460C91-B43A-9268-9A4E-45B8D9FC3C76}"/>
              </a:ext>
            </a:extLst>
          </p:cNvPr>
          <p:cNvSpPr txBox="1"/>
          <p:nvPr/>
        </p:nvSpPr>
        <p:spPr>
          <a:xfrm>
            <a:off x="2374467" y="3641227"/>
            <a:ext cx="665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DL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B0A1F70-C9BC-1F33-411C-DC15FE38CDB9}"/>
              </a:ext>
            </a:extLst>
          </p:cNvPr>
          <p:cNvSpPr txBox="1"/>
          <p:nvPr/>
        </p:nvSpPr>
        <p:spPr>
          <a:xfrm>
            <a:off x="3306185" y="3592186"/>
            <a:ext cx="665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3C10410-E1B0-6091-054A-56873282B650}"/>
              </a:ext>
            </a:extLst>
          </p:cNvPr>
          <p:cNvSpPr txBox="1"/>
          <p:nvPr/>
        </p:nvSpPr>
        <p:spPr>
          <a:xfrm>
            <a:off x="609600" y="2140891"/>
            <a:ext cx="121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台股</a:t>
            </a:r>
            <a:r>
              <a:rPr lang="en-US" altLang="zh-TW" dirty="0"/>
              <a:t>(0050)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7D4ECBF-A024-9B70-8586-3A02DC6F0A3C}"/>
              </a:ext>
            </a:extLst>
          </p:cNvPr>
          <p:cNvSpPr txBox="1"/>
          <p:nvPr/>
        </p:nvSpPr>
        <p:spPr>
          <a:xfrm>
            <a:off x="2115848" y="2162628"/>
            <a:ext cx="14589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美股</a:t>
            </a:r>
            <a:r>
              <a:rPr lang="en-US" altLang="zh-TW" dirty="0"/>
              <a:t>(SPY/QQQ)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35FB4AB-E350-DF11-EFF1-E03CC5EACD10}"/>
              </a:ext>
            </a:extLst>
          </p:cNvPr>
          <p:cNvSpPr txBox="1"/>
          <p:nvPr/>
        </p:nvSpPr>
        <p:spPr>
          <a:xfrm>
            <a:off x="578211" y="4618653"/>
            <a:ext cx="3592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LLM </a:t>
            </a:r>
            <a:r>
              <a:rPr lang="zh-TW" altLang="en-US" sz="3600" dirty="0"/>
              <a:t>視覺化平台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60668CD-1C81-E4CF-E95E-F0138CE135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8" b="10821"/>
          <a:stretch>
            <a:fillRect/>
          </a:stretch>
        </p:blipFill>
        <p:spPr>
          <a:xfrm>
            <a:off x="0" y="1794772"/>
            <a:ext cx="6485335" cy="42340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1117" y="3749565"/>
            <a:ext cx="4051935" cy="112889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809624" y="1704158"/>
            <a:ext cx="5600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目標與任務</a:t>
            </a:r>
            <a:endParaRPr sz="2400"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942974" y="2399986"/>
            <a:ext cx="5334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預測次日收盤價相對於當日是「上漲」或「下跌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」，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定義為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二元分類任務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125" y="3938765"/>
            <a:ext cx="3653920" cy="75049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分析主題1：分類問題 (Classification)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C4606BA-515A-D20B-8E67-BD51C644A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407" y="3668549"/>
            <a:ext cx="4817243" cy="204141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CB251F2-E23F-D6CD-0E9C-E63D1AA06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3407" y="1888824"/>
            <a:ext cx="4817243" cy="15763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116A66DE-AFD6-D41C-BC7D-13978332FD52}"/>
              </a:ext>
            </a:extLst>
          </p:cNvPr>
          <p:cNvSpPr/>
          <p:nvPr/>
        </p:nvSpPr>
        <p:spPr>
          <a:xfrm>
            <a:off x="1629681" y="5454743"/>
            <a:ext cx="8775031" cy="9304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CEDC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3EDD7C6-4C3E-E637-982C-1054D9D2C16E}"/>
              </a:ext>
            </a:extLst>
          </p:cNvPr>
          <p:cNvSpPr/>
          <p:nvPr/>
        </p:nvSpPr>
        <p:spPr>
          <a:xfrm>
            <a:off x="8251658" y="2326103"/>
            <a:ext cx="3695700" cy="2871539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8A64044-FCD5-CA7A-3C88-016077592E5F}"/>
              </a:ext>
            </a:extLst>
          </p:cNvPr>
          <p:cNvSpPr/>
          <p:nvPr/>
        </p:nvSpPr>
        <p:spPr>
          <a:xfrm>
            <a:off x="4248150" y="2326103"/>
            <a:ext cx="3695700" cy="287153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2CBCF95-932B-6112-249E-6962DC9877A2}"/>
              </a:ext>
            </a:extLst>
          </p:cNvPr>
          <p:cNvSpPr/>
          <p:nvPr/>
        </p:nvSpPr>
        <p:spPr>
          <a:xfrm>
            <a:off x="244642" y="2326103"/>
            <a:ext cx="3695700" cy="287153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8" name="Google Shape;198;p19"/>
          <p:cNvSpPr txBox="1"/>
          <p:nvPr/>
        </p:nvSpPr>
        <p:spPr>
          <a:xfrm>
            <a:off x="5670754" y="550115"/>
            <a:ext cx="5949746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2000" dirty="0"/>
              <a:t>ARIMA(自迴歸整合移動平均)是時間序列預測中最常用的統計模型,本研究作為</a:t>
            </a:r>
            <a:r>
              <a:rPr lang="zh-TW" altLang="zh-TW" sz="2000" b="1" dirty="0"/>
              <a:t>基準模型(Baseline)</a:t>
            </a:r>
            <a:r>
              <a:rPr lang="zh-TW" altLang="zh-TW" sz="2000" dirty="0"/>
              <a:t>。對單變量時間序列進行建模與預測。</a:t>
            </a:r>
            <a:endParaRPr sz="1600" dirty="0">
              <a:solidFill>
                <a:srgbClr val="FF0000"/>
              </a:solidFill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809625" y="919311"/>
            <a:ext cx="447294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統計模型：ARIMA</a:t>
            </a:r>
            <a:endParaRPr dirty="0"/>
          </a:p>
        </p:txBody>
      </p:sp>
      <p:sp>
        <p:nvSpPr>
          <p:cNvPr id="200" name="Google Shape;200;p19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637FA63-F862-6308-192D-61222ED55A55}"/>
              </a:ext>
            </a:extLst>
          </p:cNvPr>
          <p:cNvSpPr txBox="1"/>
          <p:nvPr/>
        </p:nvSpPr>
        <p:spPr>
          <a:xfrm>
            <a:off x="369971" y="2546154"/>
            <a:ext cx="3445042" cy="24314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AR</a:t>
            </a:r>
          </a:p>
          <a:p>
            <a:pPr algn="ctr"/>
            <a:r>
              <a:rPr lang="zh-TW" altLang="zh-TW" sz="2800" b="1" dirty="0">
                <a:solidFill>
                  <a:schemeClr val="tx1"/>
                </a:solidFill>
              </a:rPr>
              <a:t>(自迴歸,p)</a:t>
            </a:r>
            <a:endParaRPr lang="en-US" altLang="zh-TW" sz="2800" b="1" dirty="0">
              <a:solidFill>
                <a:schemeClr val="tx1"/>
              </a:solidFill>
            </a:endParaRPr>
          </a:p>
          <a:p>
            <a:pPr algn="ctr"/>
            <a:r>
              <a:rPr lang="zh-TW" altLang="zh-TW" sz="1600" dirty="0">
                <a:solidFill>
                  <a:schemeClr val="tx1"/>
                </a:solidFill>
              </a:rPr>
              <a:t>假設當前值是過去 </a:t>
            </a:r>
            <a:r>
              <a:rPr lang="zh-TW" altLang="zh-TW" sz="1600" b="1" dirty="0">
                <a:solidFill>
                  <a:schemeClr val="tx1"/>
                </a:solidFill>
              </a:rPr>
              <a:t>p 期數值</a:t>
            </a:r>
            <a:r>
              <a:rPr lang="zh-TW" altLang="zh-TW" sz="1600" dirty="0">
                <a:solidFill>
                  <a:schemeClr val="tx1"/>
                </a:solidFill>
              </a:rPr>
              <a:t>的線性組合。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zh-TW" altLang="zh-TW" sz="1600" dirty="0">
                <a:solidFill>
                  <a:schemeClr val="tx1"/>
                </a:solidFill>
              </a:rPr>
              <a:t> 例:AR(1) 代表今天的值主要受昨天影響。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E39DAF2-E36E-040C-5E48-ED9E894BB86E}"/>
              </a:ext>
            </a:extLst>
          </p:cNvPr>
          <p:cNvSpPr txBox="1"/>
          <p:nvPr/>
        </p:nvSpPr>
        <p:spPr>
          <a:xfrm>
            <a:off x="4426117" y="2433528"/>
            <a:ext cx="3339766" cy="267765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</a:rPr>
              <a:t>I</a:t>
            </a:r>
          </a:p>
          <a:p>
            <a:pPr algn="ctr"/>
            <a:r>
              <a:rPr lang="en-US" altLang="zh-TW" sz="2800" b="1" dirty="0">
                <a:solidFill>
                  <a:schemeClr val="tx1"/>
                </a:solidFill>
              </a:rPr>
              <a:t>(</a:t>
            </a:r>
            <a:r>
              <a:rPr lang="zh-TW" altLang="en-US" sz="2800" b="1" dirty="0">
                <a:solidFill>
                  <a:schemeClr val="tx1"/>
                </a:solidFill>
              </a:rPr>
              <a:t>差分整合</a:t>
            </a:r>
            <a:r>
              <a:rPr lang="en-US" altLang="zh-TW" sz="2800" b="1" dirty="0">
                <a:solidFill>
                  <a:schemeClr val="tx1"/>
                </a:solidFill>
              </a:rPr>
              <a:t>,d)</a:t>
            </a: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對原始序列做 </a:t>
            </a:r>
            <a:r>
              <a:rPr lang="en-US" altLang="zh-TW" sz="1600" dirty="0">
                <a:solidFill>
                  <a:schemeClr val="tx1"/>
                </a:solidFill>
              </a:rPr>
              <a:t>d </a:t>
            </a:r>
            <a:r>
              <a:rPr lang="zh-TW" altLang="en-US" sz="1600" dirty="0">
                <a:solidFill>
                  <a:schemeClr val="tx1"/>
                </a:solidFill>
              </a:rPr>
              <a:t>次差分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消除趨勢與單位根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讓序列變成定態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(</a:t>
            </a:r>
            <a:r>
              <a:rPr lang="zh-TW" altLang="en-US" sz="1600" dirty="0">
                <a:solidFill>
                  <a:schemeClr val="tx1"/>
                </a:solidFill>
              </a:rPr>
              <a:t>均值與變異不隨時間漂移</a:t>
            </a:r>
            <a:r>
              <a:rPr lang="en-US" altLang="zh-TW" sz="1600" dirty="0">
                <a:solidFill>
                  <a:schemeClr val="tx1"/>
                </a:solidFill>
              </a:rPr>
              <a:t>)</a:t>
            </a:r>
            <a:r>
              <a:rPr lang="zh-TW" altLang="en-US" sz="1600" dirty="0">
                <a:solidFill>
                  <a:schemeClr val="tx1"/>
                </a:solidFill>
              </a:rPr>
              <a:t>。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這是 </a:t>
            </a:r>
            <a:r>
              <a:rPr lang="en-US" altLang="zh-TW" sz="1600" dirty="0">
                <a:solidFill>
                  <a:schemeClr val="tx1"/>
                </a:solidFill>
              </a:rPr>
              <a:t>ARIMA </a:t>
            </a:r>
            <a:r>
              <a:rPr lang="zh-TW" altLang="en-US" sz="1600" dirty="0">
                <a:solidFill>
                  <a:schemeClr val="tx1"/>
                </a:solidFill>
              </a:rPr>
              <a:t>相較於 </a:t>
            </a:r>
            <a:r>
              <a:rPr lang="en-US" altLang="zh-TW" sz="1600" dirty="0">
                <a:solidFill>
                  <a:schemeClr val="tx1"/>
                </a:solidFill>
              </a:rPr>
              <a:t>ARMA </a:t>
            </a:r>
            <a:r>
              <a:rPr lang="zh-TW" altLang="en-US" sz="1600" dirty="0">
                <a:solidFill>
                  <a:schemeClr val="tx1"/>
                </a:solidFill>
              </a:rPr>
              <a:t>的關鍵擴充。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FDB4866-CF74-1804-118B-53CD6E92464F}"/>
              </a:ext>
            </a:extLst>
          </p:cNvPr>
          <p:cNvSpPr txBox="1"/>
          <p:nvPr/>
        </p:nvSpPr>
        <p:spPr>
          <a:xfrm>
            <a:off x="8415087" y="2546154"/>
            <a:ext cx="3368842" cy="2215991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</a:rPr>
              <a:t>MA</a:t>
            </a:r>
          </a:p>
          <a:p>
            <a:pPr algn="ctr"/>
            <a:r>
              <a:rPr lang="zh-TW" altLang="zh-TW" sz="2800" b="1" dirty="0">
                <a:solidFill>
                  <a:schemeClr val="tx1"/>
                </a:solidFill>
              </a:rPr>
              <a:t>(</a:t>
            </a:r>
            <a:r>
              <a:rPr lang="zh-TW" altLang="en-US" sz="2800" b="1" dirty="0">
                <a:solidFill>
                  <a:schemeClr val="tx1"/>
                </a:solidFill>
              </a:rPr>
              <a:t>移動平均</a:t>
            </a:r>
            <a:r>
              <a:rPr lang="en-US" altLang="zh-TW" sz="2800" b="1" dirty="0">
                <a:solidFill>
                  <a:schemeClr val="tx1"/>
                </a:solidFill>
              </a:rPr>
              <a:t>,q</a:t>
            </a:r>
            <a:r>
              <a:rPr lang="zh-TW" altLang="zh-TW" sz="2800" b="1" dirty="0">
                <a:solidFill>
                  <a:schemeClr val="tx1"/>
                </a:solidFill>
              </a:rPr>
              <a:t>)</a:t>
            </a:r>
            <a:endParaRPr lang="en-US" altLang="zh-TW" sz="2800" b="1" dirty="0">
              <a:solidFill>
                <a:schemeClr val="tx1"/>
              </a:solidFill>
            </a:endParaRPr>
          </a:p>
          <a:p>
            <a:pPr algn="ctr"/>
            <a:endParaRPr lang="en-US" altLang="zh-TW" sz="1800" dirty="0">
              <a:solidFill>
                <a:schemeClr val="tx1"/>
              </a:solidFill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用過去 </a:t>
            </a:r>
            <a:r>
              <a:rPr lang="en-US" altLang="zh-TW" sz="1600" dirty="0">
                <a:solidFill>
                  <a:schemeClr val="tx1"/>
                </a:solidFill>
              </a:rPr>
              <a:t>q </a:t>
            </a:r>
            <a:r>
              <a:rPr lang="zh-TW" altLang="en-US" sz="1600" dirty="0">
                <a:solidFill>
                  <a:schemeClr val="tx1"/>
                </a:solidFill>
              </a:rPr>
              <a:t>期的預測誤差</a:t>
            </a:r>
            <a:r>
              <a:rPr lang="en-US" altLang="zh-TW" sz="1600" dirty="0">
                <a:solidFill>
                  <a:schemeClr val="tx1"/>
                </a:solidFill>
              </a:rPr>
              <a:t>(</a:t>
            </a:r>
            <a:r>
              <a:rPr lang="zh-TW" altLang="en-US" sz="1600" dirty="0">
                <a:solidFill>
                  <a:schemeClr val="tx1"/>
                </a:solidFill>
              </a:rPr>
              <a:t>殘差</a:t>
            </a:r>
            <a:r>
              <a:rPr lang="en-US" altLang="zh-TW" sz="1600" dirty="0">
                <a:solidFill>
                  <a:schemeClr val="tx1"/>
                </a:solidFill>
              </a:rPr>
              <a:t>) </a:t>
            </a:r>
            <a:r>
              <a:rPr lang="zh-TW" altLang="en-US" sz="1600" dirty="0">
                <a:solidFill>
                  <a:schemeClr val="tx1"/>
                </a:solidFill>
              </a:rPr>
              <a:t>修正當期預測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捕捉短期衝擊的影響。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16" name="Google Shape;198;p19">
            <a:extLst>
              <a:ext uri="{FF2B5EF4-FFF2-40B4-BE49-F238E27FC236}">
                <a16:creationId xmlns:a16="http://schemas.microsoft.com/office/drawing/2014/main" id="{0C2EF6FE-834F-1DE6-BA3D-E75271998E3A}"/>
              </a:ext>
            </a:extLst>
          </p:cNvPr>
          <p:cNvSpPr txBox="1"/>
          <p:nvPr/>
        </p:nvSpPr>
        <p:spPr>
          <a:xfrm>
            <a:off x="1934883" y="5523190"/>
            <a:ext cx="8164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TW" altLang="en-US" sz="1800" dirty="0">
                <a:solidFill>
                  <a:schemeClr val="bg2"/>
                </a:solidFill>
              </a:rPr>
              <a:t>本研究三市場最佳參數</a:t>
            </a:r>
            <a:r>
              <a:rPr lang="en-US" altLang="zh-TW" sz="1800" dirty="0">
                <a:solidFill>
                  <a:schemeClr val="bg2"/>
                </a:solidFill>
              </a:rPr>
              <a:t> (</a:t>
            </a:r>
            <a:r>
              <a:rPr lang="zh-TW" altLang="en-US" sz="1800" dirty="0">
                <a:solidFill>
                  <a:schemeClr val="bg2"/>
                </a:solidFill>
              </a:rPr>
              <a:t>經 </a:t>
            </a:r>
            <a:r>
              <a:rPr lang="en-US" altLang="zh-TW" sz="1800" dirty="0">
                <a:solidFill>
                  <a:schemeClr val="bg2"/>
                </a:solidFill>
              </a:rPr>
              <a:t>ADF</a:t>
            </a:r>
            <a:r>
              <a:rPr lang="zh-TW" altLang="en-US" sz="1800" dirty="0">
                <a:solidFill>
                  <a:schemeClr val="bg2"/>
                </a:solidFill>
              </a:rPr>
              <a:t> 定態檢定確認須差分，</a:t>
            </a:r>
            <a:r>
              <a:rPr lang="en-US" altLang="zh-TW" sz="1800" dirty="0" err="1">
                <a:solidFill>
                  <a:schemeClr val="bg2"/>
                </a:solidFill>
              </a:rPr>
              <a:t>auto_arima</a:t>
            </a:r>
            <a:r>
              <a:rPr lang="en-US" altLang="zh-TW" sz="1800" dirty="0">
                <a:solidFill>
                  <a:schemeClr val="bg2"/>
                </a:solidFill>
              </a:rPr>
              <a:t> </a:t>
            </a:r>
            <a:r>
              <a:rPr lang="zh-TW" altLang="en-US" sz="1800" dirty="0">
                <a:solidFill>
                  <a:schemeClr val="bg2"/>
                </a:solidFill>
              </a:rPr>
              <a:t>自動選定</a:t>
            </a:r>
            <a:r>
              <a:rPr lang="en-US" altLang="zh-TW" sz="1800" dirty="0">
                <a:solidFill>
                  <a:schemeClr val="bg2"/>
                </a:solidFill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en-US" sz="1800" dirty="0">
                <a:solidFill>
                  <a:srgbClr val="FF0000"/>
                </a:solidFill>
              </a:rPr>
              <a:t>SPY</a:t>
            </a:r>
            <a:r>
              <a:rPr lang="zh-TW" altLang="en-US" sz="1800" dirty="0">
                <a:solidFill>
                  <a:srgbClr val="FF0000"/>
                </a:solidFill>
              </a:rPr>
              <a:t>：</a:t>
            </a:r>
            <a:r>
              <a:rPr lang="en-US" altLang="zh-TW" sz="1800" dirty="0">
                <a:solidFill>
                  <a:srgbClr val="FF0000"/>
                </a:solidFill>
              </a:rPr>
              <a:t>ARIMA(0,1,2)	QQQ</a:t>
            </a:r>
            <a:r>
              <a:rPr lang="zh-TW" altLang="en-US" sz="1800" dirty="0">
                <a:solidFill>
                  <a:srgbClr val="FF0000"/>
                </a:solidFill>
              </a:rPr>
              <a:t>：</a:t>
            </a:r>
            <a:r>
              <a:rPr lang="en-US" altLang="zh-TW" sz="1800" dirty="0">
                <a:solidFill>
                  <a:srgbClr val="FF0000"/>
                </a:solidFill>
              </a:rPr>
              <a:t>ARIMA(1,1,0)	0050.TW</a:t>
            </a:r>
            <a:r>
              <a:rPr lang="zh-TW" altLang="en-US" sz="1800" dirty="0">
                <a:solidFill>
                  <a:srgbClr val="FF0000"/>
                </a:solidFill>
              </a:rPr>
              <a:t>：</a:t>
            </a:r>
            <a:r>
              <a:rPr lang="en-US" altLang="zh-TW" sz="1800" dirty="0">
                <a:solidFill>
                  <a:srgbClr val="FF0000"/>
                </a:solidFill>
              </a:rPr>
              <a:t>ARIMA(0,1,0)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689" y="1780876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1780876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689" y="4373915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7457" y="206385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1433951" y="2797277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2400" b="1">
                <a:solidFill>
                  <a:srgbClr val="002147"/>
                </a:solidFill>
                <a:latin typeface="+mj-lt"/>
                <a:ea typeface="DM Sans"/>
                <a:cs typeface="DM Sans"/>
              </a:defRPr>
            </a:lvl1pPr>
          </a:lstStyle>
          <a:p>
            <a:r>
              <a:rPr lang="en-US" dirty="0">
                <a:sym typeface="DM Sans"/>
              </a:rPr>
              <a:t>Random Forest</a:t>
            </a:r>
            <a:endParaRPr dirty="0"/>
          </a:p>
        </p:txBody>
      </p:sp>
      <p:sp>
        <p:nvSpPr>
          <p:cNvPr id="211" name="Google Shape;211;p20"/>
          <p:cNvSpPr txBox="1"/>
          <p:nvPr/>
        </p:nvSpPr>
        <p:spPr>
          <a:xfrm>
            <a:off x="1315453" y="3168752"/>
            <a:ext cx="370716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Bagging </a:t>
            </a: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架構，多棵樹平均降低變異數，穩定且不易過擬合。</a:t>
            </a:r>
            <a:endParaRPr sz="1800" dirty="0"/>
          </a:p>
        </p:txBody>
      </p:sp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93968" y="206385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6510462" y="2797277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XGBoost</a:t>
            </a:r>
            <a:endParaRPr sz="2400" dirty="0">
              <a:latin typeface="+mj-lt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508143" y="3168752"/>
            <a:ext cx="364651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Boosting </a:t>
            </a: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經典模型，含正規化項抑制過擬合，速度快、精度高。</a:t>
            </a:r>
            <a:endParaRPr sz="1800" dirty="0"/>
          </a:p>
        </p:txBody>
      </p:sp>
      <p:pic>
        <p:nvPicPr>
          <p:cNvPr id="215" name="Google Shape;21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46032" y="465689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1510151" y="5390316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2147"/>
                </a:solidFill>
                <a:latin typeface="+mj-lt"/>
                <a:sym typeface="DM Sans"/>
              </a:rPr>
              <a:t>AdaBoost</a:t>
            </a:r>
            <a:endParaRPr sz="24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315453" y="5761791"/>
            <a:ext cx="370716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逐輪提高前一輪誤差較大樣本的權重，串聯弱學習器。</a:t>
            </a:r>
            <a:endParaRPr sz="1800" dirty="0"/>
          </a:p>
        </p:txBody>
      </p:sp>
      <p:sp>
        <p:nvSpPr>
          <p:cNvPr id="218" name="Google Shape;218;p20"/>
          <p:cNvSpPr txBox="1"/>
          <p:nvPr/>
        </p:nvSpPr>
        <p:spPr>
          <a:xfrm>
            <a:off x="832434" y="835493"/>
            <a:ext cx="473247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機器學習：</a:t>
            </a:r>
            <a:r>
              <a:rPr lang="en-US" sz="3300" b="1" i="0" u="none" strike="noStrike" cap="none" dirty="0" err="1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集成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迴歸模型</a:t>
            </a:r>
            <a:endParaRPr dirty="0"/>
          </a:p>
        </p:txBody>
      </p:sp>
      <p:sp>
        <p:nvSpPr>
          <p:cNvPr id="219" name="Google Shape;219;p20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6254D067-F4C3-5AA7-BE00-F9A0E03556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3681" y="4373915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15;p20" descr="image.png">
            <a:extLst>
              <a:ext uri="{FF2B5EF4-FFF2-40B4-BE49-F238E27FC236}">
                <a16:creationId xmlns:a16="http://schemas.microsoft.com/office/drawing/2014/main" id="{6DB968F0-3826-C4E2-4E40-283903EB7B0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44024" y="465689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AEFD1A7D-548B-58B3-06D8-A867F1FBADEA}"/>
              </a:ext>
            </a:extLst>
          </p:cNvPr>
          <p:cNvSpPr txBox="1"/>
          <p:nvPr/>
        </p:nvSpPr>
        <p:spPr>
          <a:xfrm>
            <a:off x="6508143" y="5390316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Gradient </a:t>
            </a:r>
            <a:r>
              <a:rPr lang="en-US" sz="2400" b="1" dirty="0">
                <a:solidFill>
                  <a:srgbClr val="002147"/>
                </a:solidFill>
                <a:latin typeface="+mj-lt"/>
                <a:sym typeface="DM Sans"/>
              </a:rPr>
              <a:t>Boosting</a:t>
            </a:r>
            <a:endParaRPr sz="24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4BE8B93D-17F6-581C-C4EB-05036289E0DE}"/>
              </a:ext>
            </a:extLst>
          </p:cNvPr>
          <p:cNvSpPr txBox="1"/>
          <p:nvPr/>
        </p:nvSpPr>
        <p:spPr>
          <a:xfrm>
            <a:off x="6508143" y="5761791"/>
            <a:ext cx="36465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沿損失函數梯度方向逐步擬合殘差，降低偏差。</a:t>
            </a:r>
            <a:endParaRPr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104CB45F-3291-388C-47BE-8C43D9BB2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29B28DC9-AD52-FCE7-AA5D-49C16255E2C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2441014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89FC139C-45A9-8DA5-FFB7-D57D68BADB1F}"/>
              </a:ext>
            </a:extLst>
          </p:cNvPr>
          <p:cNvSpPr txBox="1"/>
          <p:nvPr/>
        </p:nvSpPr>
        <p:spPr>
          <a:xfrm>
            <a:off x="5411665" y="2563647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Bagging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(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裝袋法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)</a:t>
            </a:r>
            <a:endParaRPr sz="1800" dirty="0">
              <a:latin typeface="+mj-lt"/>
            </a:endParaRPr>
          </a:p>
        </p:txBody>
      </p:sp>
      <p:sp>
        <p:nvSpPr>
          <p:cNvPr id="214" name="Google Shape;214;p20">
            <a:extLst>
              <a:ext uri="{FF2B5EF4-FFF2-40B4-BE49-F238E27FC236}">
                <a16:creationId xmlns:a16="http://schemas.microsoft.com/office/drawing/2014/main" id="{94B0A77E-E627-AA55-A157-62E9AD6A68E4}"/>
              </a:ext>
            </a:extLst>
          </p:cNvPr>
          <p:cNvSpPr txBox="1"/>
          <p:nvPr/>
        </p:nvSpPr>
        <p:spPr>
          <a:xfrm>
            <a:off x="5608825" y="2917018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zh-TW" dirty="0"/>
              <a:t>對訓練資料做隨機抽樣(Bootstrap)，產生多個子集，各自訓練一棵樹。</a:t>
            </a:r>
            <a:endParaRPr dirty="0"/>
          </a:p>
        </p:txBody>
      </p:sp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42173FC-64A3-6D5C-A3E0-D0B0BB7D50E9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Random 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Forest：Bagging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集成學習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63585E88-D7E9-23B6-5033-766D3BE1CD9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CF8A16-0A41-07C7-B470-6DFAF21A927D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dirty="0">
                <a:solidFill>
                  <a:schemeClr val="tx1"/>
                </a:solidFill>
                <a:latin typeface="+mn-lt"/>
              </a:rPr>
              <a:t>從訓練資料隨機抽取多個子集</a:t>
            </a:r>
            <a:r>
              <a:rPr lang="zh-TW" altLang="zh-TW" sz="800" dirty="0">
                <a:solidFill>
                  <a:schemeClr val="tx1"/>
                </a:solidFill>
                <a:latin typeface="+mn-lt"/>
              </a:rPr>
              <a:t>，</a:t>
            </a:r>
            <a:r>
              <a:rPr lang="zh-TW" altLang="zh-TW" sz="1600" b="1" dirty="0">
                <a:solidFill>
                  <a:schemeClr val="tx1"/>
                </a:solidFill>
                <a:latin typeface="+mn-lt"/>
              </a:rPr>
              <a:t>各自建立決策樹，再整合結果</a:t>
            </a:r>
            <a:endParaRPr lang="zh-TW" altLang="en-US" sz="16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86A15C1-028F-FDBF-B7F1-15ECD802F1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597" r="58214" b="13667"/>
          <a:stretch>
            <a:fillRect/>
          </a:stretch>
        </p:blipFill>
        <p:spPr>
          <a:xfrm>
            <a:off x="287969" y="2010843"/>
            <a:ext cx="4869695" cy="4697269"/>
          </a:xfrm>
          <a:prstGeom prst="rect">
            <a:avLst/>
          </a:prstGeom>
        </p:spPr>
      </p:pic>
      <p:pic>
        <p:nvPicPr>
          <p:cNvPr id="12" name="Google Shape;207;p20" descr="image.png">
            <a:extLst>
              <a:ext uri="{FF2B5EF4-FFF2-40B4-BE49-F238E27FC236}">
                <a16:creationId xmlns:a16="http://schemas.microsoft.com/office/drawing/2014/main" id="{2B012AFD-D3B4-A67B-7394-E65D9D3774BF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3361756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13;p20">
            <a:extLst>
              <a:ext uri="{FF2B5EF4-FFF2-40B4-BE49-F238E27FC236}">
                <a16:creationId xmlns:a16="http://schemas.microsoft.com/office/drawing/2014/main" id="{A4C80218-B1B3-9476-2CDE-9ED35B523CC5}"/>
              </a:ext>
            </a:extLst>
          </p:cNvPr>
          <p:cNvSpPr txBox="1"/>
          <p:nvPr/>
        </p:nvSpPr>
        <p:spPr>
          <a:xfrm>
            <a:off x="5411665" y="348438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降低變異數</a:t>
            </a:r>
            <a:endParaRPr sz="1800" dirty="0">
              <a:latin typeface="+mj-lt"/>
            </a:endParaRPr>
          </a:p>
        </p:txBody>
      </p:sp>
      <p:sp>
        <p:nvSpPr>
          <p:cNvPr id="14" name="Google Shape;214;p20">
            <a:extLst>
              <a:ext uri="{FF2B5EF4-FFF2-40B4-BE49-F238E27FC236}">
                <a16:creationId xmlns:a16="http://schemas.microsoft.com/office/drawing/2014/main" id="{5C6C5CE7-D295-0DA8-1881-16A3C3B4F777}"/>
              </a:ext>
            </a:extLst>
          </p:cNvPr>
          <p:cNvSpPr txBox="1"/>
          <p:nvPr/>
        </p:nvSpPr>
        <p:spPr>
          <a:xfrm>
            <a:off x="5608825" y="383776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多棵獨立的樹取平均</a:t>
            </a:r>
            <a:r>
              <a:rPr lang="en-US" altLang="zh-TW" dirty="0"/>
              <a:t>(</a:t>
            </a:r>
            <a:r>
              <a:rPr lang="zh-TW" altLang="en-US" dirty="0"/>
              <a:t>或多數決</a:t>
            </a:r>
            <a:r>
              <a:rPr lang="en-US" altLang="zh-TW" dirty="0"/>
              <a:t>)</a:t>
            </a:r>
            <a:r>
              <a:rPr lang="zh-TW" altLang="en-US" dirty="0"/>
              <a:t>，抵消個別樹的過擬合，模型更穩定。</a:t>
            </a:r>
            <a:endParaRPr dirty="0"/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F630E5BE-B007-AFC2-8175-1319DA80B32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4295198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E9D7F9BC-B438-B050-2044-4895881166F9}"/>
              </a:ext>
            </a:extLst>
          </p:cNvPr>
          <p:cNvSpPr txBox="1"/>
          <p:nvPr/>
        </p:nvSpPr>
        <p:spPr>
          <a:xfrm>
            <a:off x="5411665" y="441783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整合決策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C3474797-9785-4447-DFC5-AB3E066174D8}"/>
              </a:ext>
            </a:extLst>
          </p:cNvPr>
          <p:cNvSpPr txBox="1"/>
          <p:nvPr/>
        </p:nvSpPr>
        <p:spPr>
          <a:xfrm>
            <a:off x="5608825" y="4771202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分類用多數決、迴歸取平均，結果優於單一決策樹。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D3821F06-9D20-20F9-4ADF-FB18CF5388C6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5228640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86903EB2-5F47-DDEE-EE81-F7EA700F3565}"/>
              </a:ext>
            </a:extLst>
          </p:cNvPr>
          <p:cNvSpPr txBox="1"/>
          <p:nvPr/>
        </p:nvSpPr>
        <p:spPr>
          <a:xfrm>
            <a:off x="5411665" y="5351273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本研究角色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0B38FFA9-ED6C-08EC-6186-6AD1B966A2D6}"/>
              </a:ext>
            </a:extLst>
          </p:cNvPr>
          <p:cNvSpPr txBox="1"/>
          <p:nvPr/>
        </p:nvSpPr>
        <p:spPr>
          <a:xfrm>
            <a:off x="5608825" y="5704644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作為機器學習</a:t>
            </a:r>
            <a:r>
              <a:rPr lang="en-US" altLang="zh-TW" dirty="0"/>
              <a:t>(ML)</a:t>
            </a:r>
            <a:r>
              <a:rPr lang="zh-TW" altLang="en-US" dirty="0"/>
              <a:t>代表模型，與統計、深度學習、</a:t>
            </a:r>
            <a:r>
              <a:rPr lang="en-US" altLang="zh-TW" dirty="0"/>
              <a:t>LLM </a:t>
            </a:r>
            <a:r>
              <a:rPr lang="zh-TW" altLang="en-US" dirty="0"/>
              <a:t>比較。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356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DF11792C-D066-47F3-4A1C-CB5C04339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>
            <a:extLst>
              <a:ext uri="{FF2B5EF4-FFF2-40B4-BE49-F238E27FC236}">
                <a16:creationId xmlns:a16="http://schemas.microsoft.com/office/drawing/2014/main" id="{8285B4AA-6081-30E6-6F28-6BE037292F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8140" y="2056791"/>
            <a:ext cx="6321399" cy="480120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>
            <a:extLst>
              <a:ext uri="{FF2B5EF4-FFF2-40B4-BE49-F238E27FC236}">
                <a16:creationId xmlns:a16="http://schemas.microsoft.com/office/drawing/2014/main" id="{0F3484DC-F53E-9475-3C65-B918C4FAC321}"/>
              </a:ext>
            </a:extLst>
          </p:cNvPr>
          <p:cNvSpPr txBox="1"/>
          <p:nvPr/>
        </p:nvSpPr>
        <p:spPr>
          <a:xfrm>
            <a:off x="317236" y="2205561"/>
            <a:ext cx="5340904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核心結構：細胞狀態（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Cell State）</a:t>
            </a:r>
            <a:endParaRPr lang="en-US" sz="2000" b="1" dirty="0">
              <a:latin typeface="+mn-lt"/>
              <a:sym typeface="DM San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/>
              <a:t>LSTM </a:t>
            </a:r>
            <a:r>
              <a:rPr lang="zh-TW" altLang="en-US" sz="1600" dirty="0"/>
              <a:t>的關鍵在於細胞狀態，可想像成一條貫穿所有單元的「傳送帶」，資訊在上面流動而保持不變。</a:t>
            </a:r>
            <a:r>
              <a:rPr lang="en-US" altLang="zh-TW" sz="1600" dirty="0"/>
              <a:t>LSTM </a:t>
            </a:r>
            <a:r>
              <a:rPr lang="zh-TW" altLang="en-US" sz="1600" dirty="0"/>
              <a:t>透過三個閘門精細控制這條傳送帶上的資訊增減。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遺忘閘門</a:t>
            </a:r>
            <a:r>
              <a:rPr lang="zh-TW" altLang="en-US" sz="1600" dirty="0"/>
              <a:t>（</a:t>
            </a:r>
            <a:r>
              <a:rPr lang="en-US" altLang="zh-TW" sz="1600" dirty="0"/>
              <a:t>Forget Gate</a:t>
            </a:r>
            <a:r>
              <a:rPr lang="zh-TW" altLang="en-US" sz="1600" dirty="0"/>
              <a:t>）：用 </a:t>
            </a:r>
            <a:r>
              <a:rPr lang="en-US" altLang="zh-TW" sz="1600" dirty="0"/>
              <a:t>Sigmoid </a:t>
            </a:r>
            <a:r>
              <a:rPr lang="zh-TW" altLang="en-US" sz="1600" dirty="0"/>
              <a:t>決定丟棄哪些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資訊輸入閘門</a:t>
            </a:r>
            <a:r>
              <a:rPr lang="zh-TW" altLang="en-US" sz="1600" dirty="0"/>
              <a:t>（</a:t>
            </a:r>
            <a:r>
              <a:rPr lang="en-US" altLang="zh-TW" sz="1600" dirty="0"/>
              <a:t>Input Gate</a:t>
            </a:r>
            <a:r>
              <a:rPr lang="zh-TW" altLang="en-US" sz="1600" dirty="0"/>
              <a:t>）：決定哪些新資訊要寫入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胞狀態輸出閘門</a:t>
            </a:r>
            <a:r>
              <a:rPr lang="zh-TW" altLang="en-US" sz="1600" dirty="0"/>
              <a:t>（</a:t>
            </a:r>
            <a:r>
              <a:rPr lang="en-US" altLang="zh-TW" sz="1600" dirty="0"/>
              <a:t>Output Gate</a:t>
            </a:r>
            <a:r>
              <a:rPr lang="zh-TW" altLang="en-US" sz="1600" dirty="0"/>
              <a:t>）：依細胞狀態決定輸出，成為下一時點的隱藏狀態 </a:t>
            </a:r>
            <a:r>
              <a:rPr lang="en-US" altLang="zh-TW" sz="1600" dirty="0"/>
              <a:t>hₜ</a:t>
            </a:r>
            <a:endParaRPr sz="1600" dirty="0"/>
          </a:p>
        </p:txBody>
      </p:sp>
      <p:pic>
        <p:nvPicPr>
          <p:cNvPr id="227" name="Google Shape;227;p21" descr="image.png">
            <a:extLst>
              <a:ext uri="{FF2B5EF4-FFF2-40B4-BE49-F238E27FC236}">
                <a16:creationId xmlns:a16="http://schemas.microsoft.com/office/drawing/2014/main" id="{25649714-3A1D-1D11-3970-628D91B7B31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-2104" b="37628"/>
          <a:stretch>
            <a:fillRect/>
          </a:stretch>
        </p:blipFill>
        <p:spPr>
          <a:xfrm>
            <a:off x="5934417" y="2013313"/>
            <a:ext cx="5940347" cy="2596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>
            <a:extLst>
              <a:ext uri="{FF2B5EF4-FFF2-40B4-BE49-F238E27FC236}">
                <a16:creationId xmlns:a16="http://schemas.microsoft.com/office/drawing/2014/main" id="{ECF5FBA6-91F8-9084-814C-024B5BB0D23B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長短期記憶網路（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Long Short-Term Memory, LSTM）</a:t>
            </a:r>
            <a:endParaRPr dirty="0"/>
          </a:p>
        </p:txBody>
      </p:sp>
      <p:sp>
        <p:nvSpPr>
          <p:cNvPr id="235" name="Google Shape;235;p21">
            <a:extLst>
              <a:ext uri="{FF2B5EF4-FFF2-40B4-BE49-F238E27FC236}">
                <a16:creationId xmlns:a16="http://schemas.microsoft.com/office/drawing/2014/main" id="{FA2A5BD9-AAFE-4B1F-97FC-EC22BDBFD063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C53EFE5-A78C-3D30-0BF9-5A16E9438FBA}"/>
              </a:ext>
            </a:extLst>
          </p:cNvPr>
          <p:cNvSpPr txBox="1"/>
          <p:nvPr/>
        </p:nvSpPr>
        <p:spPr>
          <a:xfrm>
            <a:off x="647700" y="1633484"/>
            <a:ext cx="8432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透過細胞狀態與三個閘門，記住長期依賴、解決傳統 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RNN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的梯度消失問題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E954576-151A-8287-FA61-C56B33B4C5DC}"/>
              </a:ext>
            </a:extLst>
          </p:cNvPr>
          <p:cNvSpPr txBox="1"/>
          <p:nvPr/>
        </p:nvSpPr>
        <p:spPr>
          <a:xfrm>
            <a:off x="317236" y="5589633"/>
            <a:ext cx="5027420" cy="58477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TW" altLang="zh-TW" sz="1600" dirty="0">
                <a:solidFill>
                  <a:schemeClr val="bg2"/>
                </a:solidFill>
              </a:rPr>
              <a:t>股價為典型時間序列，LSTM 能捕捉長短期價格依賴，</a:t>
            </a:r>
            <a:endParaRPr lang="en-US" altLang="zh-TW" sz="1600" dirty="0">
              <a:solidFill>
                <a:schemeClr val="bg2"/>
              </a:solidFill>
            </a:endParaRPr>
          </a:p>
          <a:p>
            <a:r>
              <a:rPr lang="zh-TW" altLang="zh-TW" sz="1600" dirty="0">
                <a:solidFill>
                  <a:schemeClr val="bg2"/>
                </a:solidFill>
              </a:rPr>
              <a:t>且端到端學習、不需手動特徵工程。</a:t>
            </a:r>
            <a:endParaRPr lang="zh-TW" altLang="en-US" sz="1600" dirty="0">
              <a:solidFill>
                <a:schemeClr val="bg2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1457589-0E05-8A65-0293-72CA42FFC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524" y="4610100"/>
            <a:ext cx="5340904" cy="220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55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96328" y="51976"/>
            <a:ext cx="8799342" cy="720018"/>
          </a:xfrm>
        </p:spPr>
        <p:txBody>
          <a:bodyPr>
            <a:normAutofit/>
          </a:bodyPr>
          <a:lstStyle/>
          <a:p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循環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神經網路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Recurrent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 Neural Network, RNN)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5682" y="3400881"/>
            <a:ext cx="8193199" cy="246478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l="8855" t="30177" r="10108" b="12515"/>
          <a:stretch/>
        </p:blipFill>
        <p:spPr>
          <a:xfrm>
            <a:off x="5612509" y="803568"/>
            <a:ext cx="4580090" cy="150647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706257" y="2459626"/>
            <a:ext cx="55723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訓練</a:t>
            </a:r>
            <a:r>
              <a:rPr lang="en-US" altLang="zh-TW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:Backpropagation Through Time (BPTT)</a:t>
            </a:r>
            <a:endParaRPr lang="zh-TW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86329" y="921577"/>
            <a:ext cx="400237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RNN</a:t>
            </a:r>
            <a:r>
              <a:rPr lang="zh-TW" altLang="en-US" dirty="0"/>
              <a:t>是一種專門處理序列數據 </a:t>
            </a:r>
            <a:r>
              <a:rPr lang="en-US" altLang="zh-TW" dirty="0"/>
              <a:t>(Sequential Data) </a:t>
            </a:r>
            <a:r>
              <a:rPr lang="zh-TW" altLang="en-US" dirty="0"/>
              <a:t>的深度學習模型。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與傳統的前饋神經網路不同，</a:t>
            </a:r>
            <a:r>
              <a:rPr lang="en-US" altLang="zh-TW" dirty="0"/>
              <a:t>RNN </a:t>
            </a:r>
            <a:r>
              <a:rPr lang="zh-TW" altLang="en-US" dirty="0"/>
              <a:t>的神經元之間存在「循環連結」，這讓它能夠保留過去資訊的「記憶」。</a:t>
            </a:r>
          </a:p>
        </p:txBody>
      </p:sp>
      <p:sp>
        <p:nvSpPr>
          <p:cNvPr id="8" name="矩形 7"/>
          <p:cNvSpPr/>
          <p:nvPr/>
        </p:nvSpPr>
        <p:spPr>
          <a:xfrm>
            <a:off x="4574556" y="2945643"/>
            <a:ext cx="592111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https://colah.github.io/posts/2015-08-Understanding-LSTMs/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1652133" y="5951573"/>
            <a:ext cx="35253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長期依賴的問題</a:t>
            </a:r>
            <a:endParaRPr lang="en-US" altLang="zh-TW" dirty="0"/>
          </a:p>
          <a:p>
            <a:r>
              <a:rPr lang="en-US" altLang="zh-TW" dirty="0"/>
              <a:t>The Problem of Long-Term Dependencies</a:t>
            </a:r>
            <a:endParaRPr lang="zh-TW" altLang="en-US" dirty="0"/>
          </a:p>
        </p:txBody>
      </p:sp>
      <p:sp>
        <p:nvSpPr>
          <p:cNvPr id="10" name="向下箭號 9"/>
          <p:cNvSpPr/>
          <p:nvPr/>
        </p:nvSpPr>
        <p:spPr>
          <a:xfrm>
            <a:off x="3008026" y="5598826"/>
            <a:ext cx="329784" cy="4422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弧形接點 11"/>
          <p:cNvCxnSpPr/>
          <p:nvPr/>
        </p:nvCxnSpPr>
        <p:spPr>
          <a:xfrm flipV="1">
            <a:off x="4372709" y="5451778"/>
            <a:ext cx="1146517" cy="822961"/>
          </a:xfrm>
          <a:prstGeom prst="curvedConnector3">
            <a:avLst>
              <a:gd name="adj1" fmla="val 9049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531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70E3209B-3DA7-FC13-85AB-253E808F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>
            <a:extLst>
              <a:ext uri="{FF2B5EF4-FFF2-40B4-BE49-F238E27FC236}">
                <a16:creationId xmlns:a16="http://schemas.microsoft.com/office/drawing/2014/main" id="{45FC5A74-C0C0-1B36-D344-D71ADB17479F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循環神經網路（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Recurrent Neural Network, RNN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）</a:t>
            </a:r>
            <a:endParaRPr dirty="0"/>
          </a:p>
        </p:txBody>
      </p:sp>
      <p:sp>
        <p:nvSpPr>
          <p:cNvPr id="235" name="Google Shape;235;p21">
            <a:extLst>
              <a:ext uri="{FF2B5EF4-FFF2-40B4-BE49-F238E27FC236}">
                <a16:creationId xmlns:a16="http://schemas.microsoft.com/office/drawing/2014/main" id="{55EA61FE-6E21-7D3C-CA87-F356838A189A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E77E59F-CD7C-AF7C-D7F7-AE14923BEC9B}"/>
              </a:ext>
            </a:extLst>
          </p:cNvPr>
          <p:cNvSpPr txBox="1"/>
          <p:nvPr/>
        </p:nvSpPr>
        <p:spPr>
          <a:xfrm>
            <a:off x="647700" y="1633484"/>
            <a:ext cx="8432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處理序列資料的深度學習模型，是 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LSTM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的前身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AF40CE3-53DC-75F9-D4B6-B6A3AAF4EA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311" t="8264" r="11241" b="47090"/>
          <a:stretch>
            <a:fillRect/>
          </a:stretch>
        </p:blipFill>
        <p:spPr>
          <a:xfrm>
            <a:off x="6527157" y="1623051"/>
            <a:ext cx="4440989" cy="3326840"/>
          </a:xfrm>
          <a:prstGeom prst="rect">
            <a:avLst/>
          </a:prstGeom>
        </p:spPr>
      </p:pic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C68A8ED9-AD55-8E91-D8DC-0095EEC1E34C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2485686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CA7511A7-4783-7EBA-1E81-D9A84300B166}"/>
              </a:ext>
            </a:extLst>
          </p:cNvPr>
          <p:cNvSpPr txBox="1"/>
          <p:nvPr/>
        </p:nvSpPr>
        <p:spPr>
          <a:xfrm>
            <a:off x="540483" y="260831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什麼是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RNN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2A7E6B47-6C16-71FF-0BC0-D654F580A118}"/>
              </a:ext>
            </a:extLst>
          </p:cNvPr>
          <p:cNvSpPr txBox="1"/>
          <p:nvPr/>
        </p:nvSpPr>
        <p:spPr>
          <a:xfrm>
            <a:off x="737643" y="296169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專門處理序列資料</a:t>
            </a:r>
            <a:r>
              <a:rPr lang="en-US" altLang="zh-TW" dirty="0"/>
              <a:t>(Sequential Data)</a:t>
            </a:r>
            <a:r>
              <a:rPr lang="zh-TW" altLang="en-US" dirty="0"/>
              <a:t>的深度學習模型。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19964A24-03E9-DEEA-3293-F21A352E68F4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3406428"/>
            <a:ext cx="6063915" cy="101611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DA3C7DEA-37C0-C573-160B-64EF4712EEC3}"/>
              </a:ext>
            </a:extLst>
          </p:cNvPr>
          <p:cNvSpPr txBox="1"/>
          <p:nvPr/>
        </p:nvSpPr>
        <p:spPr>
          <a:xfrm>
            <a:off x="540483" y="352906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循環連結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= 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記憶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241A2874-84EA-F71E-8606-6500C3A8DF9B}"/>
              </a:ext>
            </a:extLst>
          </p:cNvPr>
          <p:cNvSpPr txBox="1"/>
          <p:nvPr/>
        </p:nvSpPr>
        <p:spPr>
          <a:xfrm>
            <a:off x="737642" y="3882432"/>
            <a:ext cx="55798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神經元之間存在「循環連結」，能保留過去資訊的「記憶」，這是與前饋神經網路最大的不同。</a:t>
            </a:r>
            <a:endParaRPr dirty="0"/>
          </a:p>
        </p:txBody>
      </p:sp>
      <p:pic>
        <p:nvPicPr>
          <p:cNvPr id="21" name="Google Shape;207;p20" descr="image.png">
            <a:extLst>
              <a:ext uri="{FF2B5EF4-FFF2-40B4-BE49-F238E27FC236}">
                <a16:creationId xmlns:a16="http://schemas.microsoft.com/office/drawing/2014/main" id="{44C6E8CE-C866-9BB7-77F4-1EC6D545320B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4529204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13;p20">
            <a:extLst>
              <a:ext uri="{FF2B5EF4-FFF2-40B4-BE49-F238E27FC236}">
                <a16:creationId xmlns:a16="http://schemas.microsoft.com/office/drawing/2014/main" id="{1C3B3FED-FA0D-67B8-0FFB-3AA3EB71F1A0}"/>
              </a:ext>
            </a:extLst>
          </p:cNvPr>
          <p:cNvSpPr txBox="1"/>
          <p:nvPr/>
        </p:nvSpPr>
        <p:spPr>
          <a:xfrm>
            <a:off x="540483" y="4651837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1800" b="1">
                <a:solidFill>
                  <a:srgbClr val="002147"/>
                </a:solidFill>
                <a:latin typeface="+mj-lt"/>
                <a:ea typeface="DM Sans"/>
                <a:cs typeface="DM Sans"/>
              </a:defRPr>
            </a:lvl1pPr>
          </a:lstStyle>
          <a:p>
            <a:r>
              <a:rPr lang="zh-TW" altLang="en-US" dirty="0"/>
              <a:t>訓練方式</a:t>
            </a:r>
            <a:endParaRPr dirty="0"/>
          </a:p>
        </p:txBody>
      </p:sp>
      <p:sp>
        <p:nvSpPr>
          <p:cNvPr id="23" name="Google Shape;214;p20">
            <a:extLst>
              <a:ext uri="{FF2B5EF4-FFF2-40B4-BE49-F238E27FC236}">
                <a16:creationId xmlns:a16="http://schemas.microsoft.com/office/drawing/2014/main" id="{C2804BD9-3746-7389-2FE5-64413FB84FC1}"/>
              </a:ext>
            </a:extLst>
          </p:cNvPr>
          <p:cNvSpPr txBox="1"/>
          <p:nvPr/>
        </p:nvSpPr>
        <p:spPr>
          <a:xfrm>
            <a:off x="737643" y="5005208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透過時間的反向傳播 </a:t>
            </a:r>
            <a:r>
              <a:rPr lang="en-US" altLang="zh-TW" dirty="0"/>
              <a:t>Backpropagation Through Time (BPTT)</a:t>
            </a:r>
            <a:r>
              <a:rPr lang="zh-TW" altLang="en-US" dirty="0"/>
              <a:t>。</a:t>
            </a:r>
            <a:endParaRPr dirty="0"/>
          </a:p>
        </p:txBody>
      </p:sp>
      <p:pic>
        <p:nvPicPr>
          <p:cNvPr id="24" name="Google Shape;207;p20" descr="image.png">
            <a:extLst>
              <a:ext uri="{FF2B5EF4-FFF2-40B4-BE49-F238E27FC236}">
                <a16:creationId xmlns:a16="http://schemas.microsoft.com/office/drawing/2014/main" id="{AE0F85A1-F440-9A6A-8FBF-B34C70BD9351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5462646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13;p20">
            <a:extLst>
              <a:ext uri="{FF2B5EF4-FFF2-40B4-BE49-F238E27FC236}">
                <a16:creationId xmlns:a16="http://schemas.microsoft.com/office/drawing/2014/main" id="{2BD76BFF-0FE2-05B9-F657-42CE796EE373}"/>
              </a:ext>
            </a:extLst>
          </p:cNvPr>
          <p:cNvSpPr txBox="1"/>
          <p:nvPr/>
        </p:nvSpPr>
        <p:spPr>
          <a:xfrm>
            <a:off x="540483" y="558527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長期依賴問題</a:t>
            </a:r>
            <a:endParaRPr sz="1800" dirty="0">
              <a:latin typeface="+mj-lt"/>
            </a:endParaRPr>
          </a:p>
        </p:txBody>
      </p:sp>
      <p:sp>
        <p:nvSpPr>
          <p:cNvPr id="26" name="Google Shape;214;p20">
            <a:extLst>
              <a:ext uri="{FF2B5EF4-FFF2-40B4-BE49-F238E27FC236}">
                <a16:creationId xmlns:a16="http://schemas.microsoft.com/office/drawing/2014/main" id="{370524C5-274A-17DF-2050-7F1706BCEFB9}"/>
              </a:ext>
            </a:extLst>
          </p:cNvPr>
          <p:cNvSpPr txBox="1"/>
          <p:nvPr/>
        </p:nvSpPr>
        <p:spPr>
          <a:xfrm>
            <a:off x="737643" y="593865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標準 </a:t>
            </a:r>
            <a:r>
              <a:rPr lang="en-US" altLang="zh-TW" dirty="0"/>
              <a:t>RNN </a:t>
            </a:r>
            <a:r>
              <a:rPr lang="zh-TW" altLang="en-US" dirty="0"/>
              <a:t>難以記住長期資訊</a:t>
            </a:r>
            <a:r>
              <a:rPr lang="en-US" altLang="zh-TW" dirty="0"/>
              <a:t>(</a:t>
            </a:r>
            <a:r>
              <a:rPr lang="zh-TW" altLang="en-US" dirty="0"/>
              <a:t>梯度消失</a:t>
            </a:r>
            <a:r>
              <a:rPr lang="en-US" altLang="zh-TW" dirty="0"/>
              <a:t>) → </a:t>
            </a:r>
            <a:r>
              <a:rPr lang="zh-TW" altLang="en-US" dirty="0"/>
              <a:t>因此發展出 </a:t>
            </a:r>
            <a:r>
              <a:rPr lang="en-US" altLang="zh-TW" dirty="0"/>
              <a:t>LSTM</a:t>
            </a:r>
            <a:r>
              <a:rPr lang="zh-TW" altLang="en-US" dirty="0"/>
              <a:t>、</a:t>
            </a:r>
            <a:r>
              <a:rPr lang="en-US" altLang="zh-TW" dirty="0"/>
              <a:t>GRU</a:t>
            </a:r>
            <a:r>
              <a:rPr lang="zh-TW" altLang="en-US" dirty="0"/>
              <a:t>。</a:t>
            </a:r>
            <a:endParaRPr dirty="0"/>
          </a:p>
        </p:txBody>
      </p:sp>
      <p:pic>
        <p:nvPicPr>
          <p:cNvPr id="27" name="Google Shape;207;p20" descr="image.png">
            <a:extLst>
              <a:ext uri="{FF2B5EF4-FFF2-40B4-BE49-F238E27FC236}">
                <a16:creationId xmlns:a16="http://schemas.microsoft.com/office/drawing/2014/main" id="{B07F20A7-E3AA-B796-17F4-987E5E61A6A2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721642" y="4934901"/>
            <a:ext cx="4716379" cy="141587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A81EA22F-AF41-D3BB-72FA-79083552CC3C}"/>
              </a:ext>
            </a:extLst>
          </p:cNvPr>
          <p:cNvSpPr txBox="1"/>
          <p:nvPr/>
        </p:nvSpPr>
        <p:spPr>
          <a:xfrm>
            <a:off x="6721642" y="5007783"/>
            <a:ext cx="4716379" cy="125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1800" b="1" dirty="0">
                <a:solidFill>
                  <a:schemeClr val="bg2"/>
                </a:solidFill>
              </a:rPr>
              <a:t>家族演進</a:t>
            </a:r>
            <a:endParaRPr lang="en-US" altLang="zh-TW" sz="1800" b="1" dirty="0">
              <a:solidFill>
                <a:schemeClr val="bg2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TW" sz="2000" dirty="0">
                <a:solidFill>
                  <a:srgbClr val="00B0F0"/>
                </a:solidFill>
                <a:latin typeface="Amasis MT Pro Medium" panose="020F0502020204030204" pitchFamily="18" charset="0"/>
              </a:rPr>
              <a:t>RNN → LSTM → GRU</a:t>
            </a:r>
          </a:p>
          <a:p>
            <a:pPr algn="ctr"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</a:rPr>
              <a:t>逐步解決長期依賴與梯度消失問題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662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00CAD4E5-2108-78C9-8CE4-74DC8F533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5D33970-8974-323E-DD13-8E60C978BAFC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各式各樣的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LSTM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：單向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vs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雙向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3CE3B2F-43D5-4464-33BB-EA391C3F144E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DF97BB5-8EB6-BD4B-DE3D-E616BB282160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依資訊流動方向，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LSTM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可分為單向與雙向兩種</a:t>
            </a:r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69CE7B00-EDE0-DEDD-BEA1-2A0A95DF397A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18966" y="4685668"/>
            <a:ext cx="5145584" cy="167301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B4F2CE3A-702C-F985-2BFE-8BA519508C04}"/>
              </a:ext>
            </a:extLst>
          </p:cNvPr>
          <p:cNvSpPr txBox="1"/>
          <p:nvPr/>
        </p:nvSpPr>
        <p:spPr>
          <a:xfrm>
            <a:off x="647700" y="4808301"/>
            <a:ext cx="4816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單向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LSTM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8D0746E8-13D5-132F-757F-7856CE31F02F}"/>
              </a:ext>
            </a:extLst>
          </p:cNvPr>
          <p:cNvSpPr txBox="1"/>
          <p:nvPr/>
        </p:nvSpPr>
        <p:spPr>
          <a:xfrm>
            <a:off x="647700" y="5269392"/>
            <a:ext cx="481685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只用「過去」資訊預測未來，</a:t>
            </a:r>
            <a:endParaRPr lang="en-US" altLang="zh-TW" dirty="0"/>
          </a:p>
          <a:p>
            <a:pPr lvl="0"/>
            <a:r>
              <a:rPr lang="zh-TW" altLang="en-US" dirty="0"/>
              <a:t>符合真實預測情境（不偷看未來）。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r>
              <a:rPr lang="zh-TW" altLang="en-US" dirty="0"/>
              <a:t>本研究分為單層、雙層兩種。</a:t>
            </a:r>
            <a:endParaRPr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AED718B-44AB-9344-142B-DD499DD50D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22" t="17954" r="57044" b="52534"/>
          <a:stretch>
            <a:fillRect/>
          </a:stretch>
        </p:blipFill>
        <p:spPr>
          <a:xfrm>
            <a:off x="194762" y="1935866"/>
            <a:ext cx="5722726" cy="2673431"/>
          </a:xfrm>
          <a:prstGeom prst="rect">
            <a:avLst/>
          </a:prstGeom>
        </p:spPr>
      </p:pic>
      <p:pic>
        <p:nvPicPr>
          <p:cNvPr id="3" name="Google Shape;207;p20" descr="image.png">
            <a:extLst>
              <a:ext uri="{FF2B5EF4-FFF2-40B4-BE49-F238E27FC236}">
                <a16:creationId xmlns:a16="http://schemas.microsoft.com/office/drawing/2014/main" id="{69BEE738-36C0-BFD6-2ECD-D69C3F49E13A}"/>
              </a:ext>
            </a:extLst>
          </p:cNvPr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917488" y="4650592"/>
            <a:ext cx="5145584" cy="167301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3;p20">
            <a:extLst>
              <a:ext uri="{FF2B5EF4-FFF2-40B4-BE49-F238E27FC236}">
                <a16:creationId xmlns:a16="http://schemas.microsoft.com/office/drawing/2014/main" id="{CD2A99BB-9CCF-54D1-9E2A-9233AECB2C82}"/>
              </a:ext>
            </a:extLst>
          </p:cNvPr>
          <p:cNvSpPr txBox="1"/>
          <p:nvPr/>
        </p:nvSpPr>
        <p:spPr>
          <a:xfrm>
            <a:off x="6246222" y="4773225"/>
            <a:ext cx="4816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雙向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LSTM (</a:t>
            </a:r>
            <a:r>
              <a:rPr lang="en-US" altLang="zh-TW" sz="1800" b="1" i="0" u="none" strike="noStrike" cap="none" dirty="0" err="1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BiLSTM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)</a:t>
            </a:r>
            <a:endParaRPr sz="1800" dirty="0">
              <a:latin typeface="+mj-lt"/>
            </a:endParaRPr>
          </a:p>
        </p:txBody>
      </p:sp>
      <p:sp>
        <p:nvSpPr>
          <p:cNvPr id="5" name="Google Shape;214;p20">
            <a:extLst>
              <a:ext uri="{FF2B5EF4-FFF2-40B4-BE49-F238E27FC236}">
                <a16:creationId xmlns:a16="http://schemas.microsoft.com/office/drawing/2014/main" id="{B726C9F3-4C04-743A-3E2B-F17C50797A64}"/>
              </a:ext>
            </a:extLst>
          </p:cNvPr>
          <p:cNvSpPr txBox="1"/>
          <p:nvPr/>
        </p:nvSpPr>
        <p:spPr>
          <a:xfrm>
            <a:off x="6246222" y="5269392"/>
            <a:ext cx="453407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同時讀取前後文資訊。用於預測「未來」時等於偷看未來，造成資訊洩漏</a:t>
            </a:r>
            <a:r>
              <a:rPr lang="en-US" altLang="zh-TW" dirty="0"/>
              <a:t>——</a:t>
            </a:r>
            <a:r>
              <a:rPr lang="zh-TW" altLang="en-US" dirty="0"/>
              <a:t>這正是本研究中 </a:t>
            </a:r>
            <a:r>
              <a:rPr lang="en-US" altLang="zh-TW" dirty="0" err="1"/>
              <a:t>BiLSTM</a:t>
            </a:r>
            <a:r>
              <a:rPr lang="en-US" altLang="zh-TW" dirty="0"/>
              <a:t> </a:t>
            </a:r>
            <a:r>
              <a:rPr lang="zh-TW" altLang="en-US" dirty="0"/>
              <a:t>表現最差的原因。</a:t>
            </a:r>
            <a:endParaRPr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03C81FA-0A64-7C33-76A6-DE95CA65F7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741" t="17954" r="9758" b="52534"/>
          <a:stretch>
            <a:fillRect/>
          </a:stretch>
        </p:blipFill>
        <p:spPr>
          <a:xfrm>
            <a:off x="5767266" y="1939088"/>
            <a:ext cx="5302744" cy="250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830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4700" y="2801073"/>
            <a:ext cx="3524250" cy="2685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7075" y="2801073"/>
            <a:ext cx="3524250" cy="2685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33256" y="2801073"/>
            <a:ext cx="3524250" cy="268532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1010900" y="4022024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GPT-3.5</a:t>
            </a:r>
            <a:endParaRPr sz="2400" dirty="0"/>
          </a:p>
        </p:txBody>
      </p:sp>
      <p:sp>
        <p:nvSpPr>
          <p:cNvPr id="245" name="Google Shape;245;p22"/>
          <p:cNvSpPr txBox="1"/>
          <p:nvPr/>
        </p:nvSpPr>
        <p:spPr>
          <a:xfrm>
            <a:off x="1158537" y="4494473"/>
            <a:ext cx="2952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分類任務（漲跌）</a:t>
            </a:r>
            <a:endParaRPr sz="1800" dirty="0"/>
          </a:p>
        </p:txBody>
      </p:sp>
      <p:sp>
        <p:nvSpPr>
          <p:cNvPr id="247" name="Google Shape;247;p22"/>
          <p:cNvSpPr txBox="1"/>
          <p:nvPr/>
        </p:nvSpPr>
        <p:spPr>
          <a:xfrm>
            <a:off x="4909006" y="4016275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GPT-4o-mini</a:t>
            </a:r>
            <a:endParaRPr sz="2400" dirty="0"/>
          </a:p>
        </p:txBody>
      </p:sp>
      <p:sp>
        <p:nvSpPr>
          <p:cNvPr id="248" name="Google Shape;248;p22"/>
          <p:cNvSpPr txBox="1"/>
          <p:nvPr/>
        </p:nvSpPr>
        <p:spPr>
          <a:xfrm>
            <a:off x="5056643" y="4488724"/>
            <a:ext cx="2952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小樣本數值迴歸</a:t>
            </a:r>
            <a:endParaRPr sz="1800" dirty="0"/>
          </a:p>
        </p:txBody>
      </p:sp>
      <p:pic>
        <p:nvPicPr>
          <p:cNvPr id="249" name="Google Shape;24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85704" y="3311631"/>
            <a:ext cx="566989" cy="558238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8645187" y="4016275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Prompt Engineering</a:t>
            </a:r>
            <a:endParaRPr sz="2400" dirty="0"/>
          </a:p>
        </p:txBody>
      </p:sp>
      <p:sp>
        <p:nvSpPr>
          <p:cNvPr id="251" name="Google Shape;251;p22"/>
          <p:cNvSpPr txBox="1"/>
          <p:nvPr/>
        </p:nvSpPr>
        <p:spPr>
          <a:xfrm>
            <a:off x="8792824" y="4488724"/>
            <a:ext cx="2952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技術指標數值轉文字，引導模型零樣本預測</a:t>
            </a:r>
            <a:endParaRPr sz="1800" dirty="0"/>
          </a:p>
        </p:txBody>
      </p:sp>
      <p:sp>
        <p:nvSpPr>
          <p:cNvPr id="252" name="Google Shape;252;p22"/>
          <p:cNvSpPr txBox="1"/>
          <p:nvPr/>
        </p:nvSpPr>
        <p:spPr>
          <a:xfrm>
            <a:off x="809625" y="919311"/>
            <a:ext cx="654641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大語言模型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LLM：金融輔助決策</a:t>
            </a:r>
            <a:endParaRPr dirty="0"/>
          </a:p>
        </p:txBody>
      </p:sp>
      <p:sp>
        <p:nvSpPr>
          <p:cNvPr id="253" name="Google Shape;253;p22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45;p22">
            <a:extLst>
              <a:ext uri="{FF2B5EF4-FFF2-40B4-BE49-F238E27FC236}">
                <a16:creationId xmlns:a16="http://schemas.microsoft.com/office/drawing/2014/main" id="{7FF8DCA4-76B3-479C-CFE4-23BB0B58CE0D}"/>
              </a:ext>
            </a:extLst>
          </p:cNvPr>
          <p:cNvSpPr txBox="1"/>
          <p:nvPr/>
        </p:nvSpPr>
        <p:spPr>
          <a:xfrm>
            <a:off x="910887" y="5756923"/>
            <a:ext cx="34480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0" i="0" u="none" strike="noStrike" cap="none" dirty="0">
                <a:solidFill>
                  <a:srgbClr val="FF0000"/>
                </a:solidFill>
                <a:highlight>
                  <a:srgbClr val="FFFF00"/>
                </a:highlight>
                <a:latin typeface="DM Sans"/>
                <a:ea typeface="DM Sans"/>
                <a:cs typeface="DM Sans"/>
                <a:sym typeface="DM Sans"/>
              </a:rPr>
              <a:t>F1 </a:t>
            </a:r>
            <a:r>
              <a:rPr lang="zh-TW" altLang="en-US" sz="1800" b="0" i="0" u="none" strike="noStrike" cap="none" dirty="0">
                <a:solidFill>
                  <a:srgbClr val="FF0000"/>
                </a:solidFill>
                <a:highlight>
                  <a:srgbClr val="FFFF00"/>
                </a:highlight>
                <a:latin typeface="DM Sans"/>
                <a:ea typeface="DM Sans"/>
                <a:cs typeface="DM Sans"/>
                <a:sym typeface="DM Sans"/>
              </a:rPr>
              <a:t>約 </a:t>
            </a:r>
            <a:r>
              <a:rPr lang="en-US" altLang="zh-TW" sz="1800" b="0" i="0" u="none" strike="noStrike" cap="none" dirty="0">
                <a:solidFill>
                  <a:srgbClr val="FF0000"/>
                </a:solidFill>
                <a:highlight>
                  <a:srgbClr val="FFFF00"/>
                </a:highlight>
                <a:latin typeface="DM Sans"/>
                <a:ea typeface="DM Sans"/>
                <a:cs typeface="DM Sans"/>
                <a:sym typeface="DM Sans"/>
              </a:rPr>
              <a:t>0.48</a:t>
            </a:r>
            <a:r>
              <a:rPr lang="zh-TW" altLang="en-US" sz="1800" b="0" i="0" u="none" strike="noStrike" cap="none" dirty="0">
                <a:solidFill>
                  <a:srgbClr val="FF0000"/>
                </a:solidFill>
                <a:highlight>
                  <a:srgbClr val="FFFF00"/>
                </a:highlight>
                <a:latin typeface="DM Sans"/>
                <a:ea typeface="DM Sans"/>
                <a:cs typeface="DM Sans"/>
                <a:sym typeface="DM Sans"/>
              </a:rPr>
              <a:t>，遜於傳統模型，但能提供可解釋文本</a:t>
            </a:r>
            <a:endParaRPr sz="18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6" name="圖片 5" descr="ChatGPT 人工智能標誌圖標| Premium矢量">
            <a:extLst>
              <a:ext uri="{FF2B5EF4-FFF2-40B4-BE49-F238E27FC236}">
                <a16:creationId xmlns:a16="http://schemas.microsoft.com/office/drawing/2014/main" id="{CDCB6382-6871-4FE8-F8DB-ADCD445826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D4AF37"/>
              </a:clrFrom>
              <a:clrTo>
                <a:srgbClr val="D4AF37">
                  <a:alpha val="0"/>
                </a:srgbClr>
              </a:clrTo>
            </a:clrChange>
          </a:blip>
          <a:stretch/>
        </p:blipFill>
        <p:spPr>
          <a:xfrm>
            <a:off x="2178964" y="3105612"/>
            <a:ext cx="764257" cy="764257"/>
          </a:xfrm>
          <a:prstGeom prst="rect">
            <a:avLst/>
          </a:prstGeom>
          <a:noFill/>
        </p:spPr>
      </p:pic>
      <p:pic>
        <p:nvPicPr>
          <p:cNvPr id="7" name="圖片 6" descr="Gemini for macOS：原生AI 電腦版應用程式">
            <a:extLst>
              <a:ext uri="{FF2B5EF4-FFF2-40B4-BE49-F238E27FC236}">
                <a16:creationId xmlns:a16="http://schemas.microsoft.com/office/drawing/2014/main" id="{FD830594-1296-CA10-698F-FD54B06529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598549" y="3105612"/>
            <a:ext cx="1721300" cy="882577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52CE5C19-DCBB-C4A6-A756-E66F21936786}"/>
              </a:ext>
            </a:extLst>
          </p:cNvPr>
          <p:cNvSpPr txBox="1"/>
          <p:nvPr/>
        </p:nvSpPr>
        <p:spPr>
          <a:xfrm>
            <a:off x="3048000" y="327912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/>
          <p:nvPr/>
        </p:nvSpPr>
        <p:spPr>
          <a:xfrm>
            <a:off x="455381" y="343551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資料來源</a:t>
            </a:r>
            <a:endParaRPr sz="2400" dirty="0"/>
          </a:p>
        </p:txBody>
      </p:sp>
      <p:sp>
        <p:nvSpPr>
          <p:cNvPr id="260" name="Google Shape;260;p23"/>
          <p:cNvSpPr txBox="1"/>
          <p:nvPr/>
        </p:nvSpPr>
        <p:spPr>
          <a:xfrm>
            <a:off x="491290" y="4238491"/>
            <a:ext cx="143634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Yahoo Finance API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2057367" y="343551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預處理</a:t>
            </a:r>
            <a:endParaRPr sz="2400"/>
          </a:p>
        </p:txBody>
      </p:sp>
      <p:sp>
        <p:nvSpPr>
          <p:cNvPr id="262" name="Google Shape;262;p23"/>
          <p:cNvSpPr txBox="1"/>
          <p:nvPr/>
        </p:nvSpPr>
        <p:spPr>
          <a:xfrm>
            <a:off x="2093275" y="4238491"/>
            <a:ext cx="143634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清洗、缺失值插補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3659353" y="343551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EDA</a:t>
            </a:r>
            <a:endParaRPr sz="2400"/>
          </a:p>
        </p:txBody>
      </p:sp>
      <p:sp>
        <p:nvSpPr>
          <p:cNvPr id="264" name="Google Shape;264;p23"/>
          <p:cNvSpPr txBox="1"/>
          <p:nvPr/>
        </p:nvSpPr>
        <p:spPr>
          <a:xfrm>
            <a:off x="3565828" y="4238491"/>
            <a:ext cx="1731419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皮爾森相關分析</a:t>
            </a:r>
            <a:endParaRPr dirty="0"/>
          </a:p>
        </p:txBody>
      </p:sp>
      <p:sp>
        <p:nvSpPr>
          <p:cNvPr id="265" name="Google Shape;265;p23"/>
          <p:cNvSpPr txBox="1"/>
          <p:nvPr/>
        </p:nvSpPr>
        <p:spPr>
          <a:xfrm>
            <a:off x="5261339" y="343551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特徵選擇</a:t>
            </a:r>
            <a:endParaRPr sz="2400"/>
          </a:p>
        </p:txBody>
      </p:sp>
      <p:sp>
        <p:nvSpPr>
          <p:cNvPr id="266" name="Google Shape;266;p23"/>
          <p:cNvSpPr txBox="1"/>
          <p:nvPr/>
        </p:nvSpPr>
        <p:spPr>
          <a:xfrm>
            <a:off x="5297247" y="4238491"/>
            <a:ext cx="143634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僅對 ML 執行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863325" y="343551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模型訓練</a:t>
            </a:r>
            <a:endParaRPr sz="2400"/>
          </a:p>
        </p:txBody>
      </p:sp>
      <p:sp>
        <p:nvSpPr>
          <p:cNvPr id="268" name="Google Shape;268;p23"/>
          <p:cNvSpPr txBox="1"/>
          <p:nvPr/>
        </p:nvSpPr>
        <p:spPr>
          <a:xfrm>
            <a:off x="6769496" y="4203736"/>
            <a:ext cx="173142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TimeSeriesSplit</a:t>
            </a:r>
            <a:endParaRPr dirty="0"/>
          </a:p>
        </p:txBody>
      </p:sp>
      <p:sp>
        <p:nvSpPr>
          <p:cNvPr id="269" name="Google Shape;269;p23"/>
          <p:cNvSpPr txBox="1"/>
          <p:nvPr/>
        </p:nvSpPr>
        <p:spPr>
          <a:xfrm>
            <a:off x="8465311" y="343551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超參調教</a:t>
            </a:r>
            <a:endParaRPr sz="2400"/>
          </a:p>
        </p:txBody>
      </p:sp>
      <p:sp>
        <p:nvSpPr>
          <p:cNvPr id="270" name="Google Shape;270;p23"/>
          <p:cNvSpPr txBox="1"/>
          <p:nvPr/>
        </p:nvSpPr>
        <p:spPr>
          <a:xfrm>
            <a:off x="8537128" y="4238491"/>
            <a:ext cx="143634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網格搜尋</a:t>
            </a:r>
            <a:endParaRPr dirty="0"/>
          </a:p>
        </p:txBody>
      </p:sp>
      <p:sp>
        <p:nvSpPr>
          <p:cNvPr id="271" name="Google Shape;271;p23"/>
          <p:cNvSpPr txBox="1"/>
          <p:nvPr/>
        </p:nvSpPr>
        <p:spPr>
          <a:xfrm>
            <a:off x="10067297" y="343551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性能評估</a:t>
            </a:r>
            <a:endParaRPr sz="2400"/>
          </a:p>
        </p:txBody>
      </p:sp>
      <p:sp>
        <p:nvSpPr>
          <p:cNvPr id="272" name="Google Shape;272;p23"/>
          <p:cNvSpPr txBox="1"/>
          <p:nvPr/>
        </p:nvSpPr>
        <p:spPr>
          <a:xfrm>
            <a:off x="10103205" y="4238491"/>
            <a:ext cx="143634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計算各項</a:t>
            </a:r>
            <a:r>
              <a:rPr lang="en-US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Metrics</a:t>
            </a:r>
            <a:endParaRPr dirty="0"/>
          </a:p>
        </p:txBody>
      </p:sp>
      <p:sp>
        <p:nvSpPr>
          <p:cNvPr id="273" name="Google Shape;273;p23"/>
          <p:cNvSpPr/>
          <p:nvPr/>
        </p:nvSpPr>
        <p:spPr>
          <a:xfrm>
            <a:off x="455381" y="2963779"/>
            <a:ext cx="11049000" cy="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研究流程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Pipeline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(Machine Learning)</a:t>
            </a:r>
            <a:endParaRPr dirty="0"/>
          </a:p>
        </p:txBody>
      </p:sp>
      <p:sp>
        <p:nvSpPr>
          <p:cNvPr id="275" name="Google Shape;275;p23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1091336" y="28494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2693322" y="28494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295307" y="28494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897293" y="28494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7499279" y="28494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9101265" y="28494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10703251" y="28494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DEFE47-2665-0ABF-F6D1-3398B6F23B49}"/>
              </a:ext>
            </a:extLst>
          </p:cNvPr>
          <p:cNvSpPr txBox="1"/>
          <p:nvPr/>
        </p:nvSpPr>
        <p:spPr>
          <a:xfrm>
            <a:off x="5581689" y="5122439"/>
            <a:ext cx="4292379" cy="584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zh-TW" sz="1600" dirty="0">
                <a:solidFill>
                  <a:srgbClr val="FF0000"/>
                </a:solidFill>
              </a:rPr>
              <a:t>傳統 K-Fold 會打亂時間造成未來資料洩漏；TimeSeriesSplit 確保訓練集永遠早於測試集。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>
          <a:extLst>
            <a:ext uri="{FF2B5EF4-FFF2-40B4-BE49-F238E27FC236}">
              <a16:creationId xmlns:a16="http://schemas.microsoft.com/office/drawing/2014/main" id="{4ACDD218-367C-88BC-F6D5-C2E75395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>
            <a:extLst>
              <a:ext uri="{FF2B5EF4-FFF2-40B4-BE49-F238E27FC236}">
                <a16:creationId xmlns:a16="http://schemas.microsoft.com/office/drawing/2014/main" id="{160979E7-6E60-3AD2-673B-C0CAB6B2E477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機器學習流程 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</a:t>
            </a:r>
            <a:r>
              <a:rPr 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Learning Pipeline)</a:t>
            </a:r>
            <a:endParaRPr dirty="0"/>
          </a:p>
        </p:txBody>
      </p:sp>
      <p:sp>
        <p:nvSpPr>
          <p:cNvPr id="275" name="Google Shape;275;p23">
            <a:extLst>
              <a:ext uri="{FF2B5EF4-FFF2-40B4-BE49-F238E27FC236}">
                <a16:creationId xmlns:a16="http://schemas.microsoft.com/office/drawing/2014/main" id="{3881B20B-EDEE-DD24-99F3-BF8581C235B7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7;p20" descr="image.png">
            <a:extLst>
              <a:ext uri="{FF2B5EF4-FFF2-40B4-BE49-F238E27FC236}">
                <a16:creationId xmlns:a16="http://schemas.microsoft.com/office/drawing/2014/main" id="{039DCC1B-18C1-7818-7AA5-E0BF361CF55E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48817" y="1976714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>
            <a:extLst>
              <a:ext uri="{FF2B5EF4-FFF2-40B4-BE49-F238E27FC236}">
                <a16:creationId xmlns:a16="http://schemas.microsoft.com/office/drawing/2014/main" id="{192E414F-5E2F-499E-871A-B62A15A2CBA5}"/>
              </a:ext>
            </a:extLst>
          </p:cNvPr>
          <p:cNvSpPr txBox="1"/>
          <p:nvPr/>
        </p:nvSpPr>
        <p:spPr>
          <a:xfrm>
            <a:off x="527778" y="2162693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資料收集</a:t>
            </a:r>
            <a:endParaRPr sz="1800" dirty="0"/>
          </a:p>
        </p:txBody>
      </p:sp>
      <p:pic>
        <p:nvPicPr>
          <p:cNvPr id="21" name="Google Shape;207;p20" descr="image.png">
            <a:extLst>
              <a:ext uri="{FF2B5EF4-FFF2-40B4-BE49-F238E27FC236}">
                <a16:creationId xmlns:a16="http://schemas.microsoft.com/office/drawing/2014/main" id="{CED82B38-D8D2-A18D-E7A6-8C4F28418751}"/>
              </a:ext>
            </a:extLst>
          </p:cNvPr>
          <p:cNvPicPr preferRelativeResize="0"/>
          <p:nvPr/>
        </p:nvPicPr>
        <p:blipFill rotWithShape="1">
          <a:blip r:embed="rId5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965182" y="1976969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59;p23">
            <a:extLst>
              <a:ext uri="{FF2B5EF4-FFF2-40B4-BE49-F238E27FC236}">
                <a16:creationId xmlns:a16="http://schemas.microsoft.com/office/drawing/2014/main" id="{A00B725A-FE08-75D9-8E68-A6716B713D1C}"/>
              </a:ext>
            </a:extLst>
          </p:cNvPr>
          <p:cNvSpPr txBox="1"/>
          <p:nvPr/>
        </p:nvSpPr>
        <p:spPr>
          <a:xfrm>
            <a:off x="2144143" y="2162948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資料前處理</a:t>
            </a:r>
            <a:endParaRPr sz="1800" dirty="0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638DAFA7-9A92-46AB-3C71-1965B10BFF98}"/>
              </a:ext>
            </a:extLst>
          </p:cNvPr>
          <p:cNvSpPr/>
          <p:nvPr/>
        </p:nvSpPr>
        <p:spPr>
          <a:xfrm>
            <a:off x="3465913" y="2301029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4B33AFCD-C9AF-13E8-81AC-0F45D0FA2C7F}"/>
              </a:ext>
            </a:extLst>
          </p:cNvPr>
          <p:cNvSpPr/>
          <p:nvPr/>
        </p:nvSpPr>
        <p:spPr>
          <a:xfrm>
            <a:off x="1849548" y="2300774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Google Shape;207;p20" descr="image.png">
            <a:extLst>
              <a:ext uri="{FF2B5EF4-FFF2-40B4-BE49-F238E27FC236}">
                <a16:creationId xmlns:a16="http://schemas.microsoft.com/office/drawing/2014/main" id="{FFD8BB03-FF77-A74F-442D-8B89064D3C4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tx2">
                <a:lumMod val="9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581547" y="197353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9;p23">
            <a:extLst>
              <a:ext uri="{FF2B5EF4-FFF2-40B4-BE49-F238E27FC236}">
                <a16:creationId xmlns:a16="http://schemas.microsoft.com/office/drawing/2014/main" id="{8704E6A5-6ABC-67F6-0AF9-E6849894C1C6}"/>
              </a:ext>
            </a:extLst>
          </p:cNvPr>
          <p:cNvSpPr txBox="1"/>
          <p:nvPr/>
        </p:nvSpPr>
        <p:spPr>
          <a:xfrm>
            <a:off x="3760508" y="215951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特徵工程</a:t>
            </a:r>
            <a:endParaRPr sz="1800" dirty="0"/>
          </a:p>
        </p:txBody>
      </p:sp>
      <p:sp>
        <p:nvSpPr>
          <p:cNvPr id="26" name="箭號: 向右 25">
            <a:extLst>
              <a:ext uri="{FF2B5EF4-FFF2-40B4-BE49-F238E27FC236}">
                <a16:creationId xmlns:a16="http://schemas.microsoft.com/office/drawing/2014/main" id="{376AF579-6EC6-23F7-9AFC-EB236FFB7DEC}"/>
              </a:ext>
            </a:extLst>
          </p:cNvPr>
          <p:cNvSpPr/>
          <p:nvPr/>
        </p:nvSpPr>
        <p:spPr>
          <a:xfrm>
            <a:off x="5082278" y="229759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3217C314-97F1-3EE0-E645-DE1E58FD3B6E}"/>
              </a:ext>
            </a:extLst>
          </p:cNvPr>
          <p:cNvSpPr/>
          <p:nvPr/>
        </p:nvSpPr>
        <p:spPr>
          <a:xfrm>
            <a:off x="3465913" y="229734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8" name="Google Shape;207;p20" descr="image.png">
            <a:extLst>
              <a:ext uri="{FF2B5EF4-FFF2-40B4-BE49-F238E27FC236}">
                <a16:creationId xmlns:a16="http://schemas.microsoft.com/office/drawing/2014/main" id="{B017D1C0-5D59-FF6C-386D-D653DB71DA7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6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197912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59;p23">
            <a:extLst>
              <a:ext uri="{FF2B5EF4-FFF2-40B4-BE49-F238E27FC236}">
                <a16:creationId xmlns:a16="http://schemas.microsoft.com/office/drawing/2014/main" id="{7610FD10-658A-F830-FD6C-0544E738B33B}"/>
              </a:ext>
            </a:extLst>
          </p:cNvPr>
          <p:cNvSpPr txBox="1"/>
          <p:nvPr/>
        </p:nvSpPr>
        <p:spPr>
          <a:xfrm>
            <a:off x="5376873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特徵選擇</a:t>
            </a:r>
            <a:endParaRPr sz="1800" dirty="0"/>
          </a:p>
        </p:txBody>
      </p:sp>
      <p:sp>
        <p:nvSpPr>
          <p:cNvPr id="30" name="箭號: 向右 29">
            <a:extLst>
              <a:ext uri="{FF2B5EF4-FFF2-40B4-BE49-F238E27FC236}">
                <a16:creationId xmlns:a16="http://schemas.microsoft.com/office/drawing/2014/main" id="{C2C3C4F4-B08B-F2E2-EC78-EFCE3AD19EEA}"/>
              </a:ext>
            </a:extLst>
          </p:cNvPr>
          <p:cNvSpPr/>
          <p:nvPr/>
        </p:nvSpPr>
        <p:spPr>
          <a:xfrm>
            <a:off x="6698643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右 30">
            <a:extLst>
              <a:ext uri="{FF2B5EF4-FFF2-40B4-BE49-F238E27FC236}">
                <a16:creationId xmlns:a16="http://schemas.microsoft.com/office/drawing/2014/main" id="{E20DA94C-AAB4-F8DA-D259-BA4ADBF6A5AD}"/>
              </a:ext>
            </a:extLst>
          </p:cNvPr>
          <p:cNvSpPr/>
          <p:nvPr/>
        </p:nvSpPr>
        <p:spPr>
          <a:xfrm>
            <a:off x="5082278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2" name="Google Shape;207;p20" descr="image.png">
            <a:extLst>
              <a:ext uri="{FF2B5EF4-FFF2-40B4-BE49-F238E27FC236}">
                <a16:creationId xmlns:a16="http://schemas.microsoft.com/office/drawing/2014/main" id="{3E5091FA-1D37-DB23-EFD2-16EAE6A9588D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14277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259;p23">
            <a:extLst>
              <a:ext uri="{FF2B5EF4-FFF2-40B4-BE49-F238E27FC236}">
                <a16:creationId xmlns:a16="http://schemas.microsoft.com/office/drawing/2014/main" id="{227DE703-F0C3-19A0-DCA5-EE679C88BC48}"/>
              </a:ext>
            </a:extLst>
          </p:cNvPr>
          <p:cNvSpPr txBox="1"/>
          <p:nvPr/>
        </p:nvSpPr>
        <p:spPr>
          <a:xfrm>
            <a:off x="6993238" y="2013493"/>
            <a:ext cx="117335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訓練模型</a:t>
            </a:r>
            <a:endParaRPr lang="en-US" altLang="zh-TW" sz="1800" b="1" i="0" u="none" strike="noStrike" cap="none" dirty="0">
              <a:solidFill>
                <a:srgbClr val="00214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dirty="0">
                <a:solidFill>
                  <a:srgbClr val="002147"/>
                </a:solidFill>
                <a:latin typeface="DM Sans"/>
                <a:sym typeface="DM Sans"/>
              </a:rPr>
              <a:t>+</a:t>
            </a:r>
            <a:r>
              <a:rPr lang="zh-TW" altLang="en-US" sz="1800" b="1" dirty="0">
                <a:solidFill>
                  <a:srgbClr val="002147"/>
                </a:solidFill>
                <a:latin typeface="DM Sans"/>
                <a:sym typeface="DM Sans"/>
              </a:rPr>
              <a:t>交叉驗證</a:t>
            </a:r>
            <a:endParaRPr sz="1800" dirty="0"/>
          </a:p>
        </p:txBody>
      </p:sp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9BDCA237-7DC5-A4AA-E885-B6C9001914B6}"/>
              </a:ext>
            </a:extLst>
          </p:cNvPr>
          <p:cNvSpPr/>
          <p:nvPr/>
        </p:nvSpPr>
        <p:spPr>
          <a:xfrm>
            <a:off x="8315008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箭號: 向右 34">
            <a:extLst>
              <a:ext uri="{FF2B5EF4-FFF2-40B4-BE49-F238E27FC236}">
                <a16:creationId xmlns:a16="http://schemas.microsoft.com/office/drawing/2014/main" id="{A889E5BE-2CF7-F1E3-A99F-17F7C0949064}"/>
              </a:ext>
            </a:extLst>
          </p:cNvPr>
          <p:cNvSpPr/>
          <p:nvPr/>
        </p:nvSpPr>
        <p:spPr>
          <a:xfrm>
            <a:off x="6698643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6" name="Google Shape;207;p20" descr="image.png">
            <a:extLst>
              <a:ext uri="{FF2B5EF4-FFF2-40B4-BE49-F238E27FC236}">
                <a16:creationId xmlns:a16="http://schemas.microsoft.com/office/drawing/2014/main" id="{58EDB6AA-6632-BF13-5149-D65A7BFB8478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4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432349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259;p23">
            <a:extLst>
              <a:ext uri="{FF2B5EF4-FFF2-40B4-BE49-F238E27FC236}">
                <a16:creationId xmlns:a16="http://schemas.microsoft.com/office/drawing/2014/main" id="{158D2075-0F75-B005-EF35-A2C39AB156AA}"/>
              </a:ext>
            </a:extLst>
          </p:cNvPr>
          <p:cNvSpPr txBox="1"/>
          <p:nvPr/>
        </p:nvSpPr>
        <p:spPr>
          <a:xfrm>
            <a:off x="8611310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超參數調整</a:t>
            </a:r>
            <a:endParaRPr sz="1800" dirty="0"/>
          </a:p>
        </p:txBody>
      </p:sp>
      <p:sp>
        <p:nvSpPr>
          <p:cNvPr id="38" name="箭號: 向右 37">
            <a:extLst>
              <a:ext uri="{FF2B5EF4-FFF2-40B4-BE49-F238E27FC236}">
                <a16:creationId xmlns:a16="http://schemas.microsoft.com/office/drawing/2014/main" id="{8F98CF4D-4212-820C-F558-D179E3E5E24D}"/>
              </a:ext>
            </a:extLst>
          </p:cNvPr>
          <p:cNvSpPr/>
          <p:nvPr/>
        </p:nvSpPr>
        <p:spPr>
          <a:xfrm>
            <a:off x="9933080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箭號: 向右 38">
            <a:extLst>
              <a:ext uri="{FF2B5EF4-FFF2-40B4-BE49-F238E27FC236}">
                <a16:creationId xmlns:a16="http://schemas.microsoft.com/office/drawing/2014/main" id="{BE834372-2306-251F-C4A7-CA3D7AC61651}"/>
              </a:ext>
            </a:extLst>
          </p:cNvPr>
          <p:cNvSpPr/>
          <p:nvPr/>
        </p:nvSpPr>
        <p:spPr>
          <a:xfrm>
            <a:off x="8316715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0" name="Google Shape;207;p20" descr="image.png">
            <a:extLst>
              <a:ext uri="{FF2B5EF4-FFF2-40B4-BE49-F238E27FC236}">
                <a16:creationId xmlns:a16="http://schemas.microsoft.com/office/drawing/2014/main" id="{68B3313E-F9BE-87A8-BBC3-B5A40B700D2F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2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047007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259;p23">
            <a:extLst>
              <a:ext uri="{FF2B5EF4-FFF2-40B4-BE49-F238E27FC236}">
                <a16:creationId xmlns:a16="http://schemas.microsoft.com/office/drawing/2014/main" id="{99B386C1-95D5-D358-1CE8-55E0998F9F9B}"/>
              </a:ext>
            </a:extLst>
          </p:cNvPr>
          <p:cNvSpPr txBox="1"/>
          <p:nvPr/>
        </p:nvSpPr>
        <p:spPr>
          <a:xfrm>
            <a:off x="10225968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模型評估</a:t>
            </a:r>
            <a:endParaRPr sz="1800" dirty="0"/>
          </a:p>
        </p:txBody>
      </p:sp>
      <p:sp>
        <p:nvSpPr>
          <p:cNvPr id="43" name="箭號: 向右 42">
            <a:extLst>
              <a:ext uri="{FF2B5EF4-FFF2-40B4-BE49-F238E27FC236}">
                <a16:creationId xmlns:a16="http://schemas.microsoft.com/office/drawing/2014/main" id="{A0AF033C-5CB2-DCFE-6736-459C0A22DC7D}"/>
              </a:ext>
            </a:extLst>
          </p:cNvPr>
          <p:cNvSpPr/>
          <p:nvPr/>
        </p:nvSpPr>
        <p:spPr>
          <a:xfrm>
            <a:off x="9931373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85499C38-297D-1C17-DD55-002911440446}"/>
              </a:ext>
            </a:extLst>
          </p:cNvPr>
          <p:cNvSpPr/>
          <p:nvPr/>
        </p:nvSpPr>
        <p:spPr>
          <a:xfrm>
            <a:off x="348817" y="2999874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1. </a:t>
            </a:r>
            <a:r>
              <a:rPr lang="zh-TW" altLang="zh-TW" sz="1600" b="1" dirty="0">
                <a:solidFill>
                  <a:schemeClr val="bg2"/>
                </a:solidFill>
              </a:rPr>
              <a:t>資料收集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蒐集原始資料(資料庫、API 等)，資料品質直接影響表現。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4573EA3A-CBF3-345C-3BD4-059D5C97A595}"/>
              </a:ext>
            </a:extLst>
          </p:cNvPr>
          <p:cNvSpPr/>
          <p:nvPr/>
        </p:nvSpPr>
        <p:spPr>
          <a:xfrm>
            <a:off x="337946" y="3819880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2. 資料前處理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清理資料、處理缺失值；特徵工程(標準化、編碼)；切分訓練/驗證/測試集。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7E315CFA-E09A-92D4-ABB6-EEBC3D5D96C7}"/>
              </a:ext>
            </a:extLst>
          </p:cNvPr>
          <p:cNvSpPr/>
          <p:nvPr/>
        </p:nvSpPr>
        <p:spPr>
          <a:xfrm>
            <a:off x="337945" y="4639886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3. 模型選擇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分類:邏輯迴歸、決策樹、隨機森林、SVM、神經網路。 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迴歸:線性迴歸、Ridge、Lasso、XGBoost。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52087EFD-B9DF-B39C-7064-2C3084DC8C1A}"/>
              </a:ext>
            </a:extLst>
          </p:cNvPr>
          <p:cNvSpPr/>
          <p:nvPr/>
        </p:nvSpPr>
        <p:spPr>
          <a:xfrm>
            <a:off x="348816" y="5459892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4. 模型訓練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用訓練集學習，調整超參數，並以交叉驗證(Cross-Validation)評估穩定度。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AE3E97E0-B699-F1BC-94EA-8413C80AED82}"/>
              </a:ext>
            </a:extLst>
          </p:cNvPr>
          <p:cNvSpPr/>
          <p:nvPr/>
        </p:nvSpPr>
        <p:spPr>
          <a:xfrm>
            <a:off x="6149050" y="2993024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5. </a:t>
            </a:r>
            <a:r>
              <a:rPr lang="zh-TW" altLang="en-US" sz="1600" b="1" dirty="0">
                <a:solidFill>
                  <a:schemeClr val="bg2"/>
                </a:solidFill>
              </a:rPr>
              <a:t>模型評估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分類</a:t>
            </a:r>
            <a:r>
              <a:rPr lang="en-US" altLang="zh-TW" dirty="0">
                <a:solidFill>
                  <a:schemeClr val="tx1"/>
                </a:solidFill>
              </a:rPr>
              <a:t>:Accuracy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Precision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Recall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F1-score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ROC-AUC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迴歸</a:t>
            </a:r>
            <a:r>
              <a:rPr lang="en-US" altLang="zh-TW" dirty="0">
                <a:solidFill>
                  <a:schemeClr val="tx1"/>
                </a:solidFill>
              </a:rPr>
              <a:t>:MSE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RMSE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MAE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R²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MAPE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411E3E6E-BC65-0F33-18D6-45F04C6B35B2}"/>
              </a:ext>
            </a:extLst>
          </p:cNvPr>
          <p:cNvSpPr/>
          <p:nvPr/>
        </p:nvSpPr>
        <p:spPr>
          <a:xfrm>
            <a:off x="6138179" y="3813030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6. </a:t>
            </a:r>
            <a:r>
              <a:rPr lang="zh-TW" altLang="en-US" sz="1600" b="1" dirty="0">
                <a:solidFill>
                  <a:schemeClr val="bg2"/>
                </a:solidFill>
              </a:rPr>
              <a:t>模型調整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以超參數調整</a:t>
            </a:r>
            <a:r>
              <a:rPr lang="en-US" altLang="zh-TW" dirty="0">
                <a:solidFill>
                  <a:schemeClr val="tx1"/>
                </a:solidFill>
              </a:rPr>
              <a:t>(Grid Search</a:t>
            </a:r>
            <a:r>
              <a:rPr lang="zh-TW" altLang="en-US" dirty="0">
                <a:solidFill>
                  <a:schemeClr val="tx1"/>
                </a:solidFill>
              </a:rPr>
              <a:t>、貝葉斯優化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或特徵工程改進效能。</a:t>
            </a: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E5CB1832-3F23-3EFF-8EA8-EE17E242E633}"/>
              </a:ext>
            </a:extLst>
          </p:cNvPr>
          <p:cNvSpPr/>
          <p:nvPr/>
        </p:nvSpPr>
        <p:spPr>
          <a:xfrm>
            <a:off x="6138178" y="4633036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7. </a:t>
            </a:r>
            <a:r>
              <a:rPr lang="zh-TW" altLang="en-US" sz="1600" b="1" dirty="0">
                <a:solidFill>
                  <a:schemeClr val="bg2"/>
                </a:solidFill>
              </a:rPr>
              <a:t>部署與監控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部署至實際系統</a:t>
            </a:r>
            <a:r>
              <a:rPr lang="en-US" altLang="zh-TW" dirty="0">
                <a:solidFill>
                  <a:schemeClr val="tx1"/>
                </a:solidFill>
              </a:rPr>
              <a:t>(API</a:t>
            </a:r>
            <a:r>
              <a:rPr lang="zh-TW" altLang="en-US" dirty="0">
                <a:solidFill>
                  <a:schemeClr val="tx1"/>
                </a:solidFill>
              </a:rPr>
              <a:t>、雲端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；持續監控、避免概念漂移</a:t>
            </a:r>
            <a:r>
              <a:rPr lang="en-US" altLang="zh-TW" dirty="0">
                <a:solidFill>
                  <a:schemeClr val="tx1"/>
                </a:solidFill>
              </a:rPr>
              <a:t>(Concept Drift)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9B211294-E7F7-140C-45B4-8607BE7F8348}"/>
              </a:ext>
            </a:extLst>
          </p:cNvPr>
          <p:cNvSpPr/>
          <p:nvPr/>
        </p:nvSpPr>
        <p:spPr>
          <a:xfrm>
            <a:off x="6149049" y="5453042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en-US" sz="1600" b="1" dirty="0">
                <a:solidFill>
                  <a:schemeClr val="bg2"/>
                </a:solidFill>
              </a:rPr>
              <a:t>★ 本研究重點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採 </a:t>
            </a:r>
            <a:r>
              <a:rPr lang="en-US" altLang="zh-TW" dirty="0" err="1">
                <a:solidFill>
                  <a:schemeClr val="tx1"/>
                </a:solidFill>
              </a:rPr>
              <a:t>TimeSeriesSplit</a:t>
            </a:r>
            <a:r>
              <a:rPr lang="en-US" altLang="zh-TW" dirty="0">
                <a:solidFill>
                  <a:schemeClr val="tx1"/>
                </a:solidFill>
              </a:rPr>
              <a:t> </a:t>
            </a:r>
            <a:r>
              <a:rPr lang="zh-TW" altLang="en-US" dirty="0">
                <a:solidFill>
                  <a:schemeClr val="tx1"/>
                </a:solidFill>
              </a:rPr>
              <a:t>時序交叉驗證，確保不洩漏未來資料。</a:t>
            </a:r>
          </a:p>
        </p:txBody>
      </p:sp>
    </p:spTree>
    <p:extLst>
      <p:ext uri="{BB962C8B-B14F-4D97-AF65-F5344CB8AC3E}">
        <p14:creationId xmlns:p14="http://schemas.microsoft.com/office/powerpoint/2010/main" val="847625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" name="Google Shape;288;p24"/>
          <p:cNvGraphicFramePr/>
          <p:nvPr>
            <p:extLst>
              <p:ext uri="{D42A27DB-BD31-4B8C-83A1-F6EECF244321}">
                <p14:modId xmlns:p14="http://schemas.microsoft.com/office/powerpoint/2010/main" val="3905991023"/>
              </p:ext>
            </p:extLst>
          </p:nvPr>
        </p:nvGraphicFramePr>
        <p:xfrm>
          <a:off x="609600" y="2214586"/>
          <a:ext cx="10158302" cy="3305125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297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24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類型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細節描述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預測標的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SPY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美股大盤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), QQQ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科技股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), 0050.TW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台股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資料期間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2016 – 2026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（日級別資料）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原始特徵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OHLCV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開、高、低、收、量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技術指標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MA20, MA60, RSI(14),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年化波動率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(20)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交叉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驗證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TimeSeriesSplit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時間序列交叉驗證，確保訓練集早於測試集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9" name="Google Shape;289;p24"/>
          <p:cNvSpPr/>
          <p:nvPr/>
        </p:nvSpPr>
        <p:spPr>
          <a:xfrm>
            <a:off x="797718" y="37146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797718" y="426710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797718" y="48195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797718" y="537200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797718" y="59244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實驗設計：資料集與特徵</a:t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C854F3D-289B-B3B9-E6B9-432EFCFF88C4}"/>
              </a:ext>
            </a:extLst>
          </p:cNvPr>
          <p:cNvSpPr txBox="1"/>
          <p:nvPr/>
        </p:nvSpPr>
        <p:spPr>
          <a:xfrm>
            <a:off x="2229853" y="589335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dirty="0"/>
              <a:t>迴歸另採落後價（Lag1/2/5）與 MA10/MA50、波動率特徵</a:t>
            </a:r>
            <a:endParaRPr lang="zh-TW" alt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 txBox="1"/>
          <p:nvPr/>
        </p:nvSpPr>
        <p:spPr>
          <a:xfrm>
            <a:off x="405852" y="5302890"/>
            <a:ext cx="557837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zh-TW" sz="1800" b="1" dirty="0">
                <a:solidFill>
                  <a:srgbClr val="FF0000"/>
                </a:solidFill>
              </a:rPr>
              <a:t>觀察：</a:t>
            </a:r>
            <a:r>
              <a:rPr lang="zh-TW" altLang="zh-TW" sz="1800" dirty="0"/>
              <a:t>四個模型 F1 均貼近或低於 Always-Up 基準（0.736），顯示分類的高分主要來自多頭市場的上漲</a:t>
            </a:r>
            <a:endParaRPr lang="en-US" altLang="zh-TW" sz="1800" dirty="0"/>
          </a:p>
          <a:p>
            <a:pPr lvl="0"/>
            <a:r>
              <a:rPr lang="zh-TW" altLang="zh-TW" sz="1800" dirty="0"/>
              <a:t>偏態；雙向 LSTM 因引入未來資訊反而最差。</a:t>
            </a:r>
            <a:endParaRPr sz="1800" dirty="0"/>
          </a:p>
        </p:txBody>
      </p:sp>
      <p:sp>
        <p:nvSpPr>
          <p:cNvPr id="313" name="Google Shape;313;p25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2B5A617-5E5C-D89F-9C2F-CC8BD7FB2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7" y="1851339"/>
            <a:ext cx="5679577" cy="315532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3B5A04D-EBA5-EB33-EADE-4F5CACF8E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459" y="608577"/>
            <a:ext cx="5843189" cy="3246216"/>
          </a:xfrm>
          <a:prstGeom prst="rect">
            <a:avLst/>
          </a:prstGeom>
        </p:spPr>
      </p:pic>
      <p:sp>
        <p:nvSpPr>
          <p:cNvPr id="312" name="Google Shape;312;p25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分類問題結果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(SPY/QQQ/0050.TW))</a:t>
            </a:r>
            <a:endParaRPr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A4F57C2-667D-A92D-8A47-FE9D677DB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741877"/>
            <a:ext cx="5619648" cy="312202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DEDD243C-FCC9-6A67-AC48-5C16576C0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image.png">
            <a:extLst>
              <a:ext uri="{FF2B5EF4-FFF2-40B4-BE49-F238E27FC236}">
                <a16:creationId xmlns:a16="http://schemas.microsoft.com/office/drawing/2014/main" id="{E0E00825-3E09-63D3-44A6-39A969B946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5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A9CB5CCB-F2F5-7541-BF7E-A1B6F57EBAD1}"/>
              </a:ext>
            </a:extLst>
          </p:cNvPr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迴歸結果：機器學習效能</a:t>
            </a:r>
            <a:endParaRPr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C0B2E3F2-556D-95D9-A3D1-C5F8C319B300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2D9C51C-E83F-925A-6775-0CF49F69D3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840"/>
          <a:stretch>
            <a:fillRect/>
          </a:stretch>
        </p:blipFill>
        <p:spPr>
          <a:xfrm>
            <a:off x="313135" y="2341511"/>
            <a:ext cx="7754949" cy="3597177"/>
          </a:xfrm>
          <a:prstGeom prst="rect">
            <a:avLst/>
          </a:prstGeom>
        </p:spPr>
      </p:pic>
      <p:sp>
        <p:nvSpPr>
          <p:cNvPr id="7" name="Google Shape;338;p27">
            <a:extLst>
              <a:ext uri="{FF2B5EF4-FFF2-40B4-BE49-F238E27FC236}">
                <a16:creationId xmlns:a16="http://schemas.microsoft.com/office/drawing/2014/main" id="{5A9C0CA6-CB6E-15B9-112C-831A655CB9FE}"/>
              </a:ext>
            </a:extLst>
          </p:cNvPr>
          <p:cNvSpPr txBox="1"/>
          <p:nvPr/>
        </p:nvSpPr>
        <p:spPr>
          <a:xfrm>
            <a:off x="647700" y="5888920"/>
            <a:ext cx="1123116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四個集成模型 </a:t>
            </a:r>
            <a:r>
              <a:rPr lang="en-US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R² </a:t>
            </a:r>
            <a:r>
              <a:rPr lang="zh-TW" altLang="en-US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約 </a:t>
            </a:r>
            <a:r>
              <a:rPr lang="en-US" altLang="zh-TW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0.77–0.83</a:t>
            </a:r>
            <a:r>
              <a:rPr lang="zh-TW" altLang="en-US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，均低於隨機漫步基準（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今天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=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昨天</a:t>
            </a:r>
            <a:r>
              <a:rPr lang="zh-TW" altLang="en-US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），顯示價格水準之高 </a:t>
            </a:r>
            <a:r>
              <a:rPr lang="en-US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R² </a:t>
            </a:r>
            <a:r>
              <a:rPr lang="zh-TW" altLang="en-US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主要源自序列自相關，而非真實預測能力（</a:t>
            </a:r>
            <a:r>
              <a:rPr lang="en-US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López de Prado, 2018）。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323076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BC758F3C-B17B-DC10-0FD9-87E2B750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image.png">
            <a:extLst>
              <a:ext uri="{FF2B5EF4-FFF2-40B4-BE49-F238E27FC236}">
                <a16:creationId xmlns:a16="http://schemas.microsoft.com/office/drawing/2014/main" id="{F8B88803-01C9-316C-F944-ADAC5A2991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5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C8A6446B-548B-210D-951A-102010E2CBFB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效能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(SPY/QQQ)</a:t>
            </a:r>
            <a:endParaRPr lang="zh-TW" altLang="en-US" sz="3600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93715043-A18B-8B19-7ACD-A2827722C9AD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288;p24">
            <a:extLst>
              <a:ext uri="{FF2B5EF4-FFF2-40B4-BE49-F238E27FC236}">
                <a16:creationId xmlns:a16="http://schemas.microsoft.com/office/drawing/2014/main" id="{6DA9B66A-A2E2-59AD-62F5-58DBC2828A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8212151"/>
              </p:ext>
            </p:extLst>
          </p:nvPr>
        </p:nvGraphicFramePr>
        <p:xfrm>
          <a:off x="1194635" y="1759331"/>
          <a:ext cx="7722268" cy="2203400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1326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1890050924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2339667790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52852720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2000" b="1" i="0" u="none" strike="noStrike" cap="none" dirty="0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市場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R²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MSE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RMSE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MAE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SPY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43.23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6.58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5.23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QQQ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66.11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8.13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6.62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0050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0.21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0.46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0.35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6AAA3622-C22D-7F76-58C1-2802233C1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5" y="3962731"/>
            <a:ext cx="5841865" cy="292093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8CDB7C0-A6D4-739C-8FCE-57DE9C91FC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4264" y="3955979"/>
            <a:ext cx="5841865" cy="292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54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5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效能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(0050.tw)</a:t>
            </a:r>
            <a:endParaRPr lang="zh-TW" altLang="en-US" sz="3600" dirty="0"/>
          </a:p>
        </p:txBody>
      </p:sp>
      <p:sp>
        <p:nvSpPr>
          <p:cNvPr id="340" name="Google Shape;340;p27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506AA77-23CA-9B7A-4347-1EC4E5E44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27" y="2022851"/>
            <a:ext cx="5621353" cy="281067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91ABF53-CA56-1B65-D73E-C7C5D08102D6}"/>
              </a:ext>
            </a:extLst>
          </p:cNvPr>
          <p:cNvSpPr txBox="1"/>
          <p:nvPr/>
        </p:nvSpPr>
        <p:spPr>
          <a:xfrm>
            <a:off x="5495547" y="1904498"/>
            <a:ext cx="669645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一、模型排序一致：ARIMA &lt; LSTM &lt; </a:t>
            </a:r>
            <a:r>
              <a:rPr lang="en-US" altLang="zh-TW" sz="1600" dirty="0"/>
              <a:t>RF</a:t>
            </a:r>
            <a:endParaRPr lang="zh-TW" altLang="en-US" sz="1600" dirty="0"/>
          </a:p>
          <a:p>
            <a:r>
              <a:rPr lang="zh-TW" altLang="en-US" sz="1600" dirty="0"/>
              <a:t>　　以 MAPE（跨市場可比）衡量，三個市場排序一致：</a:t>
            </a:r>
          </a:p>
          <a:p>
            <a:r>
              <a:rPr lang="zh-TW" altLang="en-US" sz="1600" dirty="0"/>
              <a:t>　　ARIMA（0.7~1.1%）優於 LSTM（2~4%）優於樹模型（8~11%）。</a:t>
            </a:r>
          </a:p>
          <a:p>
            <a:r>
              <a:rPr lang="zh-TW" altLang="en-US" sz="1600" dirty="0"/>
              <a:t>　　顯示在價格預測上，較簡單的統計模型反而比複雜模型穩定。</a:t>
            </a:r>
            <a:endParaRPr lang="en-US" altLang="zh-TW" sz="1600" dirty="0"/>
          </a:p>
          <a:p>
            <a:endParaRPr lang="zh-TW" altLang="en-US" sz="1600" dirty="0"/>
          </a:p>
          <a:p>
            <a:r>
              <a:rPr lang="zh-TW" altLang="en-US" sz="1600" dirty="0"/>
              <a:t>二、</a:t>
            </a:r>
            <a:r>
              <a:rPr lang="en-US" altLang="zh-TW" sz="1600" dirty="0"/>
              <a:t>RF</a:t>
            </a:r>
            <a:r>
              <a:rPr lang="zh-TW" altLang="en-US" sz="1600" dirty="0"/>
              <a:t>的限制：無法外推</a:t>
            </a:r>
          </a:p>
          <a:p>
            <a:r>
              <a:rPr lang="zh-TW" altLang="en-US" sz="1600" dirty="0"/>
              <a:t>　　樹模型(RF/XGBoost等)無法預測超出訓練範圍的新高價，</a:t>
            </a:r>
          </a:p>
          <a:p>
            <a:r>
              <a:rPr lang="zh-TW" altLang="en-US" sz="1600" dirty="0"/>
              <a:t>　　在長期上漲的測試期誤差最大，這是其結構限制而非調參問題。</a:t>
            </a:r>
            <a:endParaRPr lang="en-US" altLang="zh-TW" sz="1600" dirty="0"/>
          </a:p>
          <a:p>
            <a:endParaRPr lang="zh-TW" altLang="en-US" sz="1600" dirty="0"/>
          </a:p>
          <a:p>
            <a:r>
              <a:rPr lang="zh-TW" altLang="en-US" sz="1600" dirty="0"/>
              <a:t>三、LLM 展現潛力：三市場 R² 一致達 0.80</a:t>
            </a:r>
          </a:p>
          <a:p>
            <a:r>
              <a:rPr lang="zh-TW" altLang="en-US" sz="1600" dirty="0"/>
              <a:t>　　GPT-4o-mini 在小樣本(50天)下，SPY/QQQ/0050 的 R² 皆約 0.80，</a:t>
            </a:r>
          </a:p>
          <a:p>
            <a:r>
              <a:rPr lang="zh-TW" altLang="en-US" sz="1600" dirty="0"/>
              <a:t>　　無需訓練、僅靠提示即可達此水準，顯示 LLM 在數值預測上的潛力。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85B2A03-03E3-FF6A-87FF-F15EDDD6DAAB}"/>
              </a:ext>
            </a:extLst>
          </p:cNvPr>
          <p:cNvSpPr txBox="1"/>
          <p:nvPr/>
        </p:nvSpPr>
        <p:spPr>
          <a:xfrm>
            <a:off x="1604211" y="5445628"/>
            <a:ext cx="8357937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EDCE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sz="1800" b="1" spc="300" dirty="0">
                <a:solidFill>
                  <a:schemeClr val="accent2">
                    <a:lumMod val="75000"/>
                  </a:schemeClr>
                </a:solidFill>
              </a:rPr>
              <a:t>→ 綜合而言：價格預測上「複雜模型不一定優於簡單模型」；</a:t>
            </a:r>
          </a:p>
          <a:p>
            <a:r>
              <a:rPr lang="zh-TW" altLang="en-US" sz="1800" b="1" spc="300" dirty="0">
                <a:solidFill>
                  <a:schemeClr val="accent2">
                    <a:lumMod val="75000"/>
                  </a:schemeClr>
                </a:solidFill>
              </a:rPr>
              <a:t>　 LLM 雖為小樣本探索，但跨市場一致性高，值得後續擴大驗證。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9"/>
          <p:cNvSpPr txBox="1"/>
          <p:nvPr/>
        </p:nvSpPr>
        <p:spPr>
          <a:xfrm>
            <a:off x="571500" y="4959250"/>
            <a:ext cx="4953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低延遲保證在一般終端設備亦能順暢執行，極具商用價值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sp>
        <p:nvSpPr>
          <p:cNvPr id="358" name="Google Shape;358;p29"/>
          <p:cNvSpPr txBox="1"/>
          <p:nvPr/>
        </p:nvSpPr>
        <p:spPr>
          <a:xfrm>
            <a:off x="1047750" y="3063775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Streamlit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+ Plotly + SQLite</a:t>
            </a:r>
            <a:endParaRPr sz="1800" dirty="0"/>
          </a:p>
        </p:txBody>
      </p:sp>
      <p:sp>
        <p:nvSpPr>
          <p:cNvPr id="359" name="Google Shape;359;p29"/>
          <p:cNvSpPr/>
          <p:nvPr/>
        </p:nvSpPr>
        <p:spPr>
          <a:xfrm>
            <a:off x="571500" y="348287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 txBox="1"/>
          <p:nvPr/>
        </p:nvSpPr>
        <p:spPr>
          <a:xfrm>
            <a:off x="1047750" y="3644413"/>
            <a:ext cx="4476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GPT-3.5 / Gemini API </a:t>
            </a:r>
            <a:r>
              <a:rPr lang="zh-TW" alt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即時風險摘要</a:t>
            </a:r>
            <a:endParaRPr sz="1800" dirty="0"/>
          </a:p>
        </p:txBody>
      </p:sp>
      <p:sp>
        <p:nvSpPr>
          <p:cNvPr id="361" name="Google Shape;361;p29"/>
          <p:cNvSpPr/>
          <p:nvPr/>
        </p:nvSpPr>
        <p:spPr>
          <a:xfrm>
            <a:off x="571500" y="4063900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 txBox="1"/>
          <p:nvPr/>
        </p:nvSpPr>
        <p:spPr>
          <a:xfrm>
            <a:off x="1047750" y="4225438"/>
            <a:ext cx="4476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平均延遲：</a:t>
            </a:r>
            <a:r>
              <a:rPr lang="en-US" sz="18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840 毫秒</a:t>
            </a:r>
            <a:endParaRPr sz="1800"/>
          </a:p>
        </p:txBody>
      </p:sp>
      <p:sp>
        <p:nvSpPr>
          <p:cNvPr id="363" name="Google Shape;363;p29"/>
          <p:cNvSpPr/>
          <p:nvPr/>
        </p:nvSpPr>
        <p:spPr>
          <a:xfrm>
            <a:off x="571500" y="464492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571500" y="348287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571500" y="4063900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571500" y="464492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09235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6861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49638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9"/>
          <p:cNvSpPr txBox="1"/>
          <p:nvPr/>
        </p:nvSpPr>
        <p:spPr>
          <a:xfrm>
            <a:off x="809625" y="1884610"/>
            <a:ext cx="49506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LLM-ETF 平台實作</a:t>
            </a:r>
            <a:endParaRPr/>
          </a:p>
        </p:txBody>
      </p:sp>
      <p:sp>
        <p:nvSpPr>
          <p:cNvPr id="371" name="Google Shape;371;p29"/>
          <p:cNvSpPr/>
          <p:nvPr/>
        </p:nvSpPr>
        <p:spPr>
          <a:xfrm>
            <a:off x="571500" y="1884610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92D2DF1-8899-CD1A-2145-6E63CFC27C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6425" y="510072"/>
            <a:ext cx="6407288" cy="59646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53871"/>
            <a:ext cx="5334000" cy="2550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53871"/>
            <a:ext cx="5334000" cy="255069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0"/>
          <p:cNvSpPr txBox="1"/>
          <p:nvPr/>
        </p:nvSpPr>
        <p:spPr>
          <a:xfrm>
            <a:off x="866775" y="3100790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分類任務</a:t>
            </a: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漲跌</a:t>
            </a: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2400" dirty="0"/>
          </a:p>
        </p:txBody>
      </p:sp>
      <p:sp>
        <p:nvSpPr>
          <p:cNvPr id="380" name="Google Shape;380;p30"/>
          <p:cNvSpPr txBox="1"/>
          <p:nvPr/>
        </p:nvSpPr>
        <p:spPr>
          <a:xfrm>
            <a:off x="866775" y="3681815"/>
            <a:ext cx="4743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雖然直覺，但缺乏幅度資訊。實務上難以判斷波動大小，投資價值受限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sp>
        <p:nvSpPr>
          <p:cNvPr id="381" name="Google Shape;381;p30"/>
          <p:cNvSpPr txBox="1"/>
          <p:nvPr/>
        </p:nvSpPr>
        <p:spPr>
          <a:xfrm>
            <a:off x="6581775" y="3100790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迴歸任務 (數值)</a:t>
            </a:r>
            <a:endParaRPr sz="2400"/>
          </a:p>
        </p:txBody>
      </p:sp>
      <p:sp>
        <p:nvSpPr>
          <p:cNvPr id="382" name="Google Shape;382;p30"/>
          <p:cNvSpPr txBox="1"/>
          <p:nvPr/>
        </p:nvSpPr>
        <p:spPr>
          <a:xfrm>
            <a:off x="6581775" y="3681815"/>
            <a:ext cx="4743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能精確計算損益與風險比率，更符合專業投資機構之決策需求。</a:t>
            </a:r>
            <a:endParaRPr sz="1800"/>
          </a:p>
        </p:txBody>
      </p:sp>
      <p:sp>
        <p:nvSpPr>
          <p:cNvPr id="383" name="Google Shape;383;p30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結論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：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分類與迴歸之抉擇</a:t>
            </a:r>
            <a:endParaRPr dirty="0"/>
          </a:p>
        </p:txBody>
      </p:sp>
      <p:sp>
        <p:nvSpPr>
          <p:cNvPr id="384" name="Google Shape;384;p30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43200"/>
            <a:ext cx="3524250" cy="266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2743200"/>
            <a:ext cx="3524250" cy="266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58149" y="2743200"/>
            <a:ext cx="3524250" cy="266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95500" y="319409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1"/>
          <p:cNvSpPr txBox="1"/>
          <p:nvPr/>
        </p:nvSpPr>
        <p:spPr>
          <a:xfrm>
            <a:off x="809625" y="3884850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無單一冠軍</a:t>
            </a:r>
            <a:endParaRPr sz="2400" dirty="0"/>
          </a:p>
        </p:txBody>
      </p:sp>
      <p:sp>
        <p:nvSpPr>
          <p:cNvPr id="395" name="Google Shape;395;p31"/>
          <p:cNvSpPr txBox="1"/>
          <p:nvPr/>
        </p:nvSpPr>
        <p:spPr>
          <a:xfrm>
            <a:off x="957262" y="4426089"/>
            <a:ext cx="2952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不同市場與不同時段，最佳模型各異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pic>
        <p:nvPicPr>
          <p:cNvPr id="396" name="Google Shape;396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57875" y="319409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1"/>
          <p:cNvSpPr txBox="1"/>
          <p:nvPr/>
        </p:nvSpPr>
        <p:spPr>
          <a:xfrm>
            <a:off x="4572000" y="3846098"/>
            <a:ext cx="31003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價格 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R² </a:t>
            </a:r>
            <a:r>
              <a:rPr lang="zh-TW" altLang="en-US" sz="20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高但輸基準</a:t>
            </a:r>
            <a:endParaRPr lang="en-US" altLang="zh-TW" sz="2000" b="1" i="0" u="none" strike="noStrike" cap="none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8" name="Google Shape;398;p31"/>
          <p:cNvSpPr txBox="1"/>
          <p:nvPr/>
        </p:nvSpPr>
        <p:spPr>
          <a:xfrm>
            <a:off x="4719637" y="4426089"/>
            <a:ext cx="2952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次日走勢難預測，故分類與 </a:t>
            </a:r>
            <a:r>
              <a:rPr lang="en-US" altLang="zh-TW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r>
              <a:rPr lang="zh-TW" alt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為輔助</a:t>
            </a:r>
            <a:endParaRPr sz="1800" dirty="0"/>
          </a:p>
        </p:txBody>
      </p:sp>
      <p:pic>
        <p:nvPicPr>
          <p:cNvPr id="399" name="Google Shape;399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55956" y="3199269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1"/>
          <p:cNvSpPr txBox="1"/>
          <p:nvPr/>
        </p:nvSpPr>
        <p:spPr>
          <a:xfrm>
            <a:off x="8270081" y="3890029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LLM 定位</a:t>
            </a:r>
            <a:endParaRPr sz="2400"/>
          </a:p>
        </p:txBody>
      </p:sp>
      <p:sp>
        <p:nvSpPr>
          <p:cNvPr id="401" name="Google Shape;401;p31"/>
          <p:cNvSpPr txBox="1"/>
          <p:nvPr/>
        </p:nvSpPr>
        <p:spPr>
          <a:xfrm>
            <a:off x="8417718" y="4431268"/>
            <a:ext cx="2952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適合作為「解釋型」輔助，而非純算力引擎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sp>
        <p:nvSpPr>
          <p:cNvPr id="402" name="Google Shape;402;p31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結論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：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模型比較關鍵發現</a:t>
            </a:r>
            <a:endParaRPr dirty="0"/>
          </a:p>
        </p:txBody>
      </p:sp>
      <p:sp>
        <p:nvSpPr>
          <p:cNvPr id="403" name="Google Shape;403;p31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93156"/>
            <a:ext cx="5334000" cy="2611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93156"/>
            <a:ext cx="5334000" cy="2611981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2"/>
          <p:cNvSpPr txBox="1"/>
          <p:nvPr/>
        </p:nvSpPr>
        <p:spPr>
          <a:xfrm>
            <a:off x="295275" y="5202138"/>
            <a:ext cx="11601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簡報結束，敬請指導</a:t>
            </a:r>
            <a:endParaRPr sz="2400" dirty="0"/>
          </a:p>
        </p:txBody>
      </p:sp>
      <p:sp>
        <p:nvSpPr>
          <p:cNvPr id="412" name="Google Shape;412;p32"/>
          <p:cNvSpPr txBox="1"/>
          <p:nvPr/>
        </p:nvSpPr>
        <p:spPr>
          <a:xfrm>
            <a:off x="866775" y="2688431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本研究貢獻</a:t>
            </a:r>
            <a:endParaRPr sz="2400" dirty="0"/>
          </a:p>
        </p:txBody>
      </p:sp>
      <p:sp>
        <p:nvSpPr>
          <p:cNvPr id="413" name="Google Shape;413;p32"/>
          <p:cNvSpPr txBox="1"/>
          <p:nvPr/>
        </p:nvSpPr>
        <p:spPr>
          <a:xfrm>
            <a:off x="6581775" y="2688431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未來展望</a:t>
            </a:r>
            <a:endParaRPr sz="2400"/>
          </a:p>
        </p:txBody>
      </p:sp>
      <p:sp>
        <p:nvSpPr>
          <p:cNvPr id="426" name="Google Shape;426;p32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結論與未來研究方向</a:t>
            </a:r>
            <a:endParaRPr dirty="0"/>
          </a:p>
        </p:txBody>
      </p:sp>
      <p:sp>
        <p:nvSpPr>
          <p:cNvPr id="427" name="Google Shape;427;p32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90EF307-A7F2-3724-B068-BD51B5CF8A18}"/>
              </a:ext>
            </a:extLst>
          </p:cNvPr>
          <p:cNvSpPr txBox="1"/>
          <p:nvPr/>
        </p:nvSpPr>
        <p:spPr>
          <a:xfrm>
            <a:off x="571500" y="3338573"/>
            <a:ext cx="533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建立跨市場</a:t>
            </a:r>
            <a:r>
              <a:rPr lang="en-US" altLang="zh-TW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(</a:t>
            </a: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台</a:t>
            </a:r>
            <a:r>
              <a:rPr lang="en-US" altLang="zh-TW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/</a:t>
            </a: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美</a:t>
            </a:r>
            <a:r>
              <a:rPr lang="en-US" altLang="zh-TW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)</a:t>
            </a: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預測基準比較。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揭示台股受國際連動影響之預測難點。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實作 </a:t>
            </a:r>
            <a:r>
              <a:rPr lang="en-US" altLang="zh-TW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LLM </a:t>
            </a: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輔助開源平台。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53F690D-E60C-6686-A658-86DCDA59AD5B}"/>
              </a:ext>
            </a:extLst>
          </p:cNvPr>
          <p:cNvSpPr txBox="1"/>
          <p:nvPr/>
        </p:nvSpPr>
        <p:spPr>
          <a:xfrm>
            <a:off x="6286500" y="3232443"/>
            <a:ext cx="52758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  <a:effectLst/>
                <a:latin typeface="DM Sans" pitchFamily="2" charset="0"/>
              </a:defRPr>
            </a:lvl1pPr>
          </a:lstStyle>
          <a:p>
            <a:r>
              <a:rPr lang="zh-TW" altLang="en-US" dirty="0"/>
              <a:t>導入新聞情緒與總經指標分析。</a:t>
            </a:r>
          </a:p>
          <a:p>
            <a:r>
              <a:rPr lang="zh-TW" altLang="en-US" dirty="0"/>
              <a:t>開發 </a:t>
            </a:r>
            <a:r>
              <a:rPr lang="en-US" altLang="zh-TW" dirty="0"/>
              <a:t>LSTM-ARIMA </a:t>
            </a:r>
            <a:r>
              <a:rPr lang="zh-TW" altLang="en-US" dirty="0"/>
              <a:t>混合模型。</a:t>
            </a:r>
          </a:p>
          <a:p>
            <a:r>
              <a:rPr lang="zh-TW" altLang="en-US" dirty="0"/>
              <a:t>進行正式使用者 </a:t>
            </a:r>
            <a:r>
              <a:rPr lang="en-US" altLang="zh-TW" dirty="0"/>
              <a:t>SUS </a:t>
            </a:r>
            <a:r>
              <a:rPr lang="zh-TW" altLang="en-US" dirty="0"/>
              <a:t>量表研究。</a:t>
            </a:r>
            <a:endParaRPr lang="en-US" altLang="zh-TW" dirty="0"/>
          </a:p>
          <a:p>
            <a:r>
              <a:rPr lang="zh-TW" altLang="zh-TW" dirty="0"/>
              <a:t>擴大 LLM 迴歸樣本至完整測試集 </a:t>
            </a:r>
            <a:endParaRPr lang="en-US" altLang="zh-TW" dirty="0"/>
          </a:p>
          <a:p>
            <a:r>
              <a:rPr lang="zh-TW" altLang="zh-TW" dirty="0"/>
              <a:t>比較多種 LLM（Gemini、Llama、Gemma）</a:t>
            </a:r>
            <a:endParaRPr lang="zh-TW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3"/>
          <p:cNvSpPr/>
          <p:nvPr/>
        </p:nvSpPr>
        <p:spPr>
          <a:xfrm>
            <a:off x="571500" y="2458938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3"/>
          <p:cNvSpPr/>
          <p:nvPr/>
        </p:nvSpPr>
        <p:spPr>
          <a:xfrm>
            <a:off x="571500" y="3230463"/>
            <a:ext cx="1104900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3"/>
          <p:cNvSpPr/>
          <p:nvPr/>
        </p:nvSpPr>
        <p:spPr>
          <a:xfrm>
            <a:off x="571500" y="4097238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3"/>
          <p:cNvSpPr/>
          <p:nvPr/>
        </p:nvSpPr>
        <p:spPr>
          <a:xfrm>
            <a:off x="571500" y="32209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3"/>
          <p:cNvSpPr/>
          <p:nvPr/>
        </p:nvSpPr>
        <p:spPr>
          <a:xfrm>
            <a:off x="571500" y="32209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3"/>
          <p:cNvSpPr/>
          <p:nvPr/>
        </p:nvSpPr>
        <p:spPr>
          <a:xfrm>
            <a:off x="571500" y="408771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3"/>
          <p:cNvSpPr/>
          <p:nvPr/>
        </p:nvSpPr>
        <p:spPr>
          <a:xfrm>
            <a:off x="571500" y="408771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3"/>
          <p:cNvSpPr/>
          <p:nvPr/>
        </p:nvSpPr>
        <p:spPr>
          <a:xfrm>
            <a:off x="571500" y="48592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3"/>
          <p:cNvSpPr/>
          <p:nvPr/>
        </p:nvSpPr>
        <p:spPr>
          <a:xfrm>
            <a:off x="571500" y="48592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2" name="Google Shape;442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018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3"/>
          <p:cNvSpPr txBox="1"/>
          <p:nvPr/>
        </p:nvSpPr>
        <p:spPr>
          <a:xfrm>
            <a:off x="1666875" y="2635150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https://img.freepik.com/free-vector/global-business-background-with-stock-chart-blue-tone_53876-117483.jpg</a:t>
            </a:r>
            <a:endParaRPr/>
          </a:p>
        </p:txBody>
      </p:sp>
      <p:sp>
        <p:nvSpPr>
          <p:cNvPr id="444" name="Google Shape;444;p33"/>
          <p:cNvSpPr txBox="1"/>
          <p:nvPr/>
        </p:nvSpPr>
        <p:spPr>
          <a:xfrm>
            <a:off x="1666875" y="2844700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www.freepik.com</a:t>
            </a:r>
            <a:endParaRPr/>
          </a:p>
        </p:txBody>
      </p:sp>
      <p:pic>
        <p:nvPicPr>
          <p:cNvPr id="445" name="Google Shape;445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2096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3"/>
          <p:cNvSpPr txBox="1"/>
          <p:nvPr/>
        </p:nvSpPr>
        <p:spPr>
          <a:xfrm>
            <a:off x="1666875" y="3373338"/>
            <a:ext cx="99536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https://media.istockphoto.com/id/1179291552/vector/abstract-financial-chart-with-bulls-and-bear-in-stock-market-on-blue-colour-background.jpg?s=1024x1024&amp;w=is&amp;k=20&amp;c=69puchKZqipsWjW8mqqju9dZPS9s5BluKcPZA8Jwblg=</a:t>
            </a:r>
            <a:endParaRPr/>
          </a:p>
        </p:txBody>
      </p:sp>
      <p:sp>
        <p:nvSpPr>
          <p:cNvPr id="447" name="Google Shape;447;p33"/>
          <p:cNvSpPr txBox="1"/>
          <p:nvPr/>
        </p:nvSpPr>
        <p:spPr>
          <a:xfrm>
            <a:off x="1666875" y="3744813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www.istockphoto.com</a:t>
            </a:r>
            <a:endParaRPr/>
          </a:p>
        </p:txBody>
      </p:sp>
      <p:pic>
        <p:nvPicPr>
          <p:cNvPr id="448" name="Google Shape;448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401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3"/>
          <p:cNvSpPr txBox="1"/>
          <p:nvPr/>
        </p:nvSpPr>
        <p:spPr>
          <a:xfrm>
            <a:off x="1666875" y="4273450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https://miro.medium.com/1*laH0_xXEkFE0lKJu54gkFQ.png</a:t>
            </a:r>
            <a:endParaRPr/>
          </a:p>
        </p:txBody>
      </p:sp>
      <p:sp>
        <p:nvSpPr>
          <p:cNvPr id="450" name="Google Shape;450;p33"/>
          <p:cNvSpPr txBox="1"/>
          <p:nvPr/>
        </p:nvSpPr>
        <p:spPr>
          <a:xfrm>
            <a:off x="1666875" y="4483000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blog.mlreview.com</a:t>
            </a:r>
            <a:endParaRPr/>
          </a:p>
        </p:txBody>
      </p:sp>
      <p:pic>
        <p:nvPicPr>
          <p:cNvPr id="451" name="Google Shape;451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0116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3"/>
          <p:cNvSpPr txBox="1"/>
          <p:nvPr/>
        </p:nvSpPr>
        <p:spPr>
          <a:xfrm>
            <a:off x="1666875" y="5044975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https://storage.googleapis.com/blink-451505.firebasestorage.app/screenshots/ai-stock-trading-prediction-alert-app-yqdydsj5.sites.blink.new-1755329598984.webp</a:t>
            </a:r>
            <a:endParaRPr/>
          </a:p>
        </p:txBody>
      </p:sp>
      <p:sp>
        <p:nvSpPr>
          <p:cNvPr id="453" name="Google Shape;453;p33"/>
          <p:cNvSpPr txBox="1"/>
          <p:nvPr/>
        </p:nvSpPr>
        <p:spPr>
          <a:xfrm>
            <a:off x="1666875" y="5254525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blink.new</a:t>
            </a:r>
            <a:endParaRPr/>
          </a:p>
        </p:txBody>
      </p:sp>
      <p:sp>
        <p:nvSpPr>
          <p:cNvPr id="454" name="Google Shape;454;p33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455" name="Google Shape;455;p33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1347</TotalTime>
  <Words>3891</Words>
  <Application>Microsoft Office PowerPoint</Application>
  <PresentationFormat>寬螢幕</PresentationFormat>
  <Paragraphs>279</Paragraphs>
  <Slides>27</Slides>
  <Notes>24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4" baseType="lpstr">
      <vt:lpstr>Calibri</vt:lpstr>
      <vt:lpstr>DM Sans</vt:lpstr>
      <vt:lpstr>Amasis MT Pro Medium</vt:lpstr>
      <vt:lpstr>Merriweather</vt:lpstr>
      <vt:lpstr>Arial</vt:lpstr>
      <vt:lpstr>標楷體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循環神經網路(Recurrent Neural Network, RNN)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子瑜 林</cp:lastModifiedBy>
  <cp:revision>87</cp:revision>
  <dcterms:modified xsi:type="dcterms:W3CDTF">2026-06-08T15:39:26Z</dcterms:modified>
</cp:coreProperties>
</file>