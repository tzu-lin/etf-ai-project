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553" r:id="rId9"/>
    <p:sldId id="566" r:id="rId10"/>
    <p:sldId id="565" r:id="rId11"/>
    <p:sldId id="567" r:id="rId12"/>
    <p:sldId id="568" r:id="rId13"/>
    <p:sldId id="557" r:id="rId14"/>
    <p:sldId id="556" r:id="rId15"/>
    <p:sldId id="555" r:id="rId16"/>
    <p:sldId id="265" r:id="rId17"/>
    <p:sldId id="558" r:id="rId18"/>
    <p:sldId id="266" r:id="rId19"/>
    <p:sldId id="267" r:id="rId20"/>
    <p:sldId id="268" r:id="rId21"/>
    <p:sldId id="564" r:id="rId22"/>
    <p:sldId id="563" r:id="rId23"/>
    <p:sldId id="562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embeddedFontLst>
    <p:embeddedFont>
      <p:font typeface="Amasis MT Pro Medium" panose="02040604050005020304" pitchFamily="18" charset="0"/>
      <p:regular r:id="rId31"/>
      <p:italic r:id="rId32"/>
    </p:embeddedFont>
    <p:embeddedFont>
      <p:font typeface="DM Sans" pitchFamily="2" charset="0"/>
      <p:regular r:id="rId33"/>
      <p:bold r:id="rId34"/>
      <p:italic r:id="rId35"/>
      <p:boldItalic r:id="rId36"/>
    </p:embeddedFont>
    <p:embeddedFont>
      <p:font typeface="Merriweather" panose="000005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5013" autoAdjust="0"/>
  </p:normalViewPr>
  <p:slideViewPr>
    <p:cSldViewPr snapToGrid="0">
      <p:cViewPr>
        <p:scale>
          <a:sx n="50" d="100"/>
          <a:sy n="50" d="100"/>
        </p:scale>
        <p:origin x="29" y="6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這頁用預測曲線把上面的數字視覺化。黑色是實際收盤價</a:t>
            </a:r>
            <a:r>
              <a:rPr lang="en-US" altLang="zh-TW" dirty="0"/>
              <a:t>,</a:t>
            </a:r>
            <a:r>
              <a:rPr lang="zh-TW" altLang="en-US" dirty="0"/>
              <a:t>綠色 </a:t>
            </a:r>
            <a:r>
              <a:rPr lang="en-US" altLang="zh-TW" dirty="0"/>
              <a:t>ARIMA </a:t>
            </a:r>
            <a:r>
              <a:rPr lang="zh-TW" altLang="en-US" dirty="0"/>
              <a:t>幾乎完全貼合、看不太出來</a:t>
            </a:r>
            <a:r>
              <a:rPr lang="en-US" altLang="zh-TW" dirty="0"/>
              <a:t>,</a:t>
            </a:r>
            <a:r>
              <a:rPr lang="zh-TW" altLang="en-US" dirty="0"/>
              <a:t>所以它誤差最小。橘色 </a:t>
            </a:r>
            <a:r>
              <a:rPr lang="en-US" altLang="zh-TW" dirty="0"/>
              <a:t>Random Forest </a:t>
            </a:r>
            <a:r>
              <a:rPr lang="zh-TW" altLang="en-US" dirty="0"/>
              <a:t>整條躺平</a:t>
            </a:r>
            <a:r>
              <a:rPr lang="en-US" altLang="zh-TW" dirty="0"/>
              <a:t>——</a:t>
            </a:r>
            <a:r>
              <a:rPr lang="zh-TW" altLang="en-US" dirty="0"/>
              <a:t>因為樹模型無法預測超出訓練範圍的新高價</a:t>
            </a:r>
            <a:r>
              <a:rPr lang="en-US" altLang="zh-TW" dirty="0"/>
              <a:t>,</a:t>
            </a:r>
            <a:r>
              <a:rPr lang="zh-TW" altLang="en-US" dirty="0"/>
              <a:t>測試期一突破就卡住了。藍色 </a:t>
            </a:r>
            <a:r>
              <a:rPr lang="en-US" altLang="zh-TW" dirty="0"/>
              <a:t>LSTM </a:t>
            </a:r>
            <a:r>
              <a:rPr lang="zh-TW" altLang="en-US" dirty="0"/>
              <a:t>能跟上趨勢</a:t>
            </a:r>
            <a:r>
              <a:rPr lang="en-US" altLang="zh-TW" dirty="0"/>
              <a:t>,</a:t>
            </a:r>
            <a:r>
              <a:rPr lang="zh-TW" altLang="en-US" dirty="0"/>
              <a:t>但有一段落差。這張圖直觀說明</a:t>
            </a:r>
            <a:r>
              <a:rPr lang="en-US" altLang="zh-TW" dirty="0"/>
              <a:t>:</a:t>
            </a:r>
            <a:r>
              <a:rPr lang="zh-TW" altLang="en-US" dirty="0"/>
              <a:t>在價格預測上</a:t>
            </a:r>
            <a:r>
              <a:rPr lang="en-US" altLang="zh-TW" dirty="0"/>
              <a:t>,</a:t>
            </a:r>
            <a:r>
              <a:rPr lang="zh-TW" altLang="en-US" dirty="0"/>
              <a:t>簡單的 </a:t>
            </a:r>
            <a:r>
              <a:rPr lang="en-US" altLang="zh-TW" dirty="0"/>
              <a:t>ARIMA </a:t>
            </a:r>
            <a:r>
              <a:rPr lang="zh-TW" altLang="en-US" dirty="0"/>
              <a:t>反而比複雜的樹模型穩定</a:t>
            </a:r>
            <a:r>
              <a:rPr lang="en-US" altLang="zh-TW" dirty="0"/>
              <a:t>,</a:t>
            </a:r>
            <a:r>
              <a:rPr lang="zh-TW" altLang="en-US" dirty="0"/>
              <a:t>複雜不一定比較好。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綜合發現有三點：沒有單一冠軍模型，不同市場最佳模型不同；迴歸顯示次日走勢本質難預測；所以 LLM 定位在解釋型輔助，而不是當主要算力引擎。</a:t>
            </a:r>
            <a:endParaRPr dirty="0"/>
          </a:p>
        </p:txBody>
      </p:sp>
      <p:sp>
        <p:nvSpPr>
          <p:cNvPr id="387" name="Google Shape;38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361807"/>
            <a:ext cx="5018259" cy="3939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由實作應用：建構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2000" dirty="0"/>
              <a:t>ARIMA(自迴歸整合移動平均)是時間序列預測中最常用的統計模型,本研究作為</a:t>
            </a:r>
            <a:r>
              <a:rPr lang="zh-TW" altLang="zh-TW" sz="2000" b="1" dirty="0"/>
              <a:t>基準模型(Baseline)</a:t>
            </a:r>
            <a:r>
              <a:rPr lang="zh-TW" altLang="zh-TW" sz="2000" dirty="0"/>
              <a:t>。對單變量時間序列進行建模與預測。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09360" y="2675265"/>
            <a:ext cx="5162501" cy="150747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50706360-B23B-99AC-91C2-7F28D44AE618}"/>
              </a:ext>
            </a:extLst>
          </p:cNvPr>
          <p:cNvSpPr txBox="1"/>
          <p:nvPr/>
        </p:nvSpPr>
        <p:spPr>
          <a:xfrm>
            <a:off x="6309359" y="2805752"/>
            <a:ext cx="516250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隨機森林在 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基礎上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,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額外在特徵選擇引入隨機性</a:t>
            </a:r>
            <a:endParaRPr lang="en-US" altLang="zh-TW" sz="1800" b="1" i="0" u="none" strike="noStrike" cap="none" spc="300" dirty="0">
              <a:solidFill>
                <a:srgbClr val="002147"/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每次分裂隨機選部分特徵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spc="300" dirty="0">
              <a:latin typeface="+mj-lt"/>
            </a:endParaRPr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68977"/>
              </p:ext>
            </p:extLst>
          </p:nvPr>
        </p:nvGraphicFramePr>
        <p:xfrm>
          <a:off x="565734" y="2262425"/>
          <a:ext cx="5530264" cy="3760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較穩定、泛化好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可解釋性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537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樣本權重隨輪次變化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44979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殘差逐步縮小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70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7075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3256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1010900" y="4022024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GPT-3.5</a:t>
            </a:r>
            <a:endParaRPr sz="24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1158537" y="4494473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分類任務（漲跌）</a:t>
            </a:r>
            <a:endParaRPr sz="1800" dirty="0"/>
          </a:p>
        </p:txBody>
      </p:sp>
      <p:sp>
        <p:nvSpPr>
          <p:cNvPr id="247" name="Google Shape;247;p22"/>
          <p:cNvSpPr txBox="1"/>
          <p:nvPr/>
        </p:nvSpPr>
        <p:spPr>
          <a:xfrm>
            <a:off x="4909006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GPT-4o-mini</a:t>
            </a:r>
            <a:endParaRPr sz="2400"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5056643" y="4488724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小樣本數值迴歸</a:t>
            </a:r>
            <a:endParaRPr sz="1800" dirty="0"/>
          </a:p>
        </p:txBody>
      </p:sp>
      <p:pic>
        <p:nvPicPr>
          <p:cNvPr id="249" name="Google Shape;24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5704" y="3311631"/>
            <a:ext cx="566989" cy="55823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2"/>
          <p:cNvSpPr txBox="1"/>
          <p:nvPr/>
        </p:nvSpPr>
        <p:spPr>
          <a:xfrm>
            <a:off x="8645187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Prompt Engineering</a:t>
            </a:r>
            <a:endParaRPr sz="2400"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792824" y="448872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技術指標數值轉文字，引導模型零樣本預測</a:t>
            </a:r>
            <a:endParaRPr sz="1800" dirty="0"/>
          </a:p>
        </p:txBody>
      </p:sp>
      <p:sp>
        <p:nvSpPr>
          <p:cNvPr id="252" name="Google Shape;252;p22"/>
          <p:cNvSpPr txBox="1"/>
          <p:nvPr/>
        </p:nvSpPr>
        <p:spPr>
          <a:xfrm>
            <a:off x="809625" y="919311"/>
            <a:ext cx="654641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LLM：金融輔助決策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45;p22">
            <a:extLst>
              <a:ext uri="{FF2B5EF4-FFF2-40B4-BE49-F238E27FC236}">
                <a16:creationId xmlns:a16="http://schemas.microsoft.com/office/drawing/2014/main" id="{7FF8DCA4-76B3-479C-CFE4-23BB0B58CE0D}"/>
              </a:ext>
            </a:extLst>
          </p:cNvPr>
          <p:cNvSpPr txBox="1"/>
          <p:nvPr/>
        </p:nvSpPr>
        <p:spPr>
          <a:xfrm>
            <a:off x="910887" y="5756923"/>
            <a:ext cx="34480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約 </a:t>
            </a: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0.48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，遜於傳統模型，但能提供可解釋文本</a:t>
            </a:r>
            <a:endParaRPr sz="18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6" name="圖片 5" descr="ChatGPT 人工智能標誌圖標| Premium矢量">
            <a:extLst>
              <a:ext uri="{FF2B5EF4-FFF2-40B4-BE49-F238E27FC236}">
                <a16:creationId xmlns:a16="http://schemas.microsoft.com/office/drawing/2014/main" id="{CDCB6382-6871-4FE8-F8DB-ADCD445826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D4AF37"/>
              </a:clrFrom>
              <a:clrTo>
                <a:srgbClr val="D4AF37">
                  <a:alpha val="0"/>
                </a:srgbClr>
              </a:clrTo>
            </a:clrChange>
          </a:blip>
          <a:stretch/>
        </p:blipFill>
        <p:spPr>
          <a:xfrm>
            <a:off x="2178964" y="3105612"/>
            <a:ext cx="764257" cy="764257"/>
          </a:xfrm>
          <a:prstGeom prst="rect">
            <a:avLst/>
          </a:prstGeom>
          <a:noFill/>
        </p:spPr>
      </p:pic>
      <p:pic>
        <p:nvPicPr>
          <p:cNvPr id="7" name="圖片 6" descr="Gemini for macOS：原生AI 電腦版應用程式">
            <a:extLst>
              <a:ext uri="{FF2B5EF4-FFF2-40B4-BE49-F238E27FC236}">
                <a16:creationId xmlns:a16="http://schemas.microsoft.com/office/drawing/2014/main" id="{FD830594-1296-CA10-698F-FD54B0652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598549" y="3105612"/>
            <a:ext cx="1721300" cy="88257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52CE5C19-DCBB-C4A6-A756-E66F21936786}"/>
              </a:ext>
            </a:extLst>
          </p:cNvPr>
          <p:cNvSpPr txBox="1"/>
          <p:nvPr/>
        </p:nvSpPr>
        <p:spPr>
          <a:xfrm>
            <a:off x="3048000" y="327912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06793" y="1645951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830073" y="4054795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30816" y="3975409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63289" y="166700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27674" y="4005357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998065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17991" y="5188843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946582" y="209143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729038" y="258241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190395" y="459129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277333" y="52972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354042" y="2188537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698552" y="2701864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19057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354966" y="53345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</a:t>
            </a:r>
            <a:r>
              <a:rPr lang="en-US" altLang="zh-TW" dirty="0"/>
              <a:t>Random Forest</a:t>
            </a:r>
            <a:r>
              <a:rPr lang="zh-TW" altLang="en-US" dirty="0"/>
              <a:t>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5015359"/>
            <a:ext cx="5211723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</a:t>
            </a:r>
            <a:r>
              <a:rPr lang="zh-TW" altLang="en-US" dirty="0"/>
              <a:t>綠線</a:t>
            </a:r>
            <a:r>
              <a:rPr lang="en-US" altLang="zh-TW" dirty="0"/>
              <a:t>(ARIMA)</a:t>
            </a:r>
            <a:r>
              <a:rPr lang="zh-TW" altLang="en-US" dirty="0"/>
              <a:t>幾乎貼合實際值；橘線</a:t>
            </a:r>
            <a:r>
              <a:rPr lang="en-US" altLang="zh-TW" dirty="0"/>
              <a:t>(Random Forest)</a:t>
            </a:r>
            <a:r>
              <a:rPr lang="zh-TW" altLang="en-US" dirty="0"/>
              <a:t>無法外推、預測躺平；</a:t>
            </a:r>
            <a:endParaRPr lang="en-US" altLang="zh-TW" dirty="0"/>
          </a:p>
          <a:p>
            <a:r>
              <a:rPr lang="zh-TW" altLang="en-US" dirty="0"/>
              <a:t>藍線</a:t>
            </a:r>
            <a:r>
              <a:rPr lang="en-US" altLang="zh-TW" dirty="0"/>
              <a:t>(LSTM)</a:t>
            </a:r>
            <a:r>
              <a:rPr lang="zh-TW" altLang="en-US" dirty="0"/>
              <a:t>能跟上趨勢但略有落差。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F8B88803-01C9-316C-F944-ADAC5A299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8212151"/>
              </p:ext>
            </p:extLst>
          </p:nvPr>
        </p:nvGraphicFramePr>
        <p:xfrm>
          <a:off x="1194635" y="1759331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一、模型排序一致：ARIMA &lt; LSTM &lt; </a:t>
            </a:r>
            <a:r>
              <a:rPr lang="en-US" altLang="zh-TW" sz="1600" dirty="0"/>
              <a:t>RF</a:t>
            </a:r>
            <a:endParaRPr lang="zh-TW" altLang="en-US" sz="1600" dirty="0"/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en-US" altLang="zh-TW" sz="1600" dirty="0"/>
              <a:t>RF</a:t>
            </a:r>
            <a:r>
              <a:rPr lang="zh-TW" altLang="en-US" sz="1600" dirty="0"/>
              <a:t>的限制：無法外推</a:t>
            </a:r>
          </a:p>
          <a:p>
            <a:r>
              <a:rPr lang="zh-TW" altLang="en-US" sz="1600" dirty="0"/>
              <a:t>　　樹模型(RF/XGBoost等)無法預測超出訓練範圍的新高價，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低延遲保證在一般終端設備亦能順暢執行，極具商用價值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553871"/>
            <a:ext cx="5334000" cy="2550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553871"/>
            <a:ext cx="5334000" cy="2550694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3100790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漲跌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3681815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雖然直覺，但缺乏幅度資訊。實務上難以判斷波動大小，投資價值受限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3100790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 (數值)</a:t>
            </a:r>
            <a:endParaRPr sz="240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3681815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能精確計算損益與風險比率，更符合專業投資機構之決策需求。</a:t>
            </a:r>
            <a:endParaRPr sz="1800"/>
          </a:p>
        </p:txBody>
      </p:sp>
      <p:sp>
        <p:nvSpPr>
          <p:cNvPr id="383" name="Google Shape;383;p30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8149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95500" y="319409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 txBox="1"/>
          <p:nvPr/>
        </p:nvSpPr>
        <p:spPr>
          <a:xfrm>
            <a:off x="80962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無單一冠軍</a:t>
            </a:r>
            <a:endParaRPr sz="2400" dirty="0"/>
          </a:p>
        </p:txBody>
      </p:sp>
      <p:sp>
        <p:nvSpPr>
          <p:cNvPr id="395" name="Google Shape;395;p31"/>
          <p:cNvSpPr txBox="1"/>
          <p:nvPr/>
        </p:nvSpPr>
        <p:spPr>
          <a:xfrm>
            <a:off x="95726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不同市場與不同時段，最佳模型各異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396" name="Google Shape;396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57875" y="319409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1"/>
          <p:cNvSpPr txBox="1"/>
          <p:nvPr/>
        </p:nvSpPr>
        <p:spPr>
          <a:xfrm>
            <a:off x="4572000" y="3846098"/>
            <a:ext cx="31003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價格 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高但輸基準</a:t>
            </a:r>
            <a:endParaRPr lang="en-US" altLang="zh-TW" sz="2000" b="1" i="0" u="none" strike="noStrike" cap="none" dirty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98" name="Google Shape;398;p31"/>
          <p:cNvSpPr txBox="1"/>
          <p:nvPr/>
        </p:nvSpPr>
        <p:spPr>
          <a:xfrm>
            <a:off x="4719637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次日走勢難預測，故分類與 </a:t>
            </a:r>
            <a:r>
              <a:rPr lang="en-US" altLang="zh-TW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為輔助</a:t>
            </a:r>
            <a:endParaRPr sz="1800" dirty="0"/>
          </a:p>
        </p:txBody>
      </p:sp>
      <p:pic>
        <p:nvPicPr>
          <p:cNvPr id="399" name="Google Shape;399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55956" y="3199269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1"/>
          <p:cNvSpPr txBox="1"/>
          <p:nvPr/>
        </p:nvSpPr>
        <p:spPr>
          <a:xfrm>
            <a:off x="8270081" y="3890029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定位</a:t>
            </a:r>
            <a:endParaRPr sz="2400"/>
          </a:p>
        </p:txBody>
      </p:sp>
      <p:sp>
        <p:nvSpPr>
          <p:cNvPr id="401" name="Google Shape;401;p31"/>
          <p:cNvSpPr txBox="1"/>
          <p:nvPr/>
        </p:nvSpPr>
        <p:spPr>
          <a:xfrm>
            <a:off x="8417718" y="4431268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適合作為「解釋型」輔助，而非純算力引擎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402" name="Google Shape;402;p31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模型比較關鍵發現</a:t>
            </a:r>
            <a:endParaRPr dirty="0"/>
          </a:p>
        </p:txBody>
      </p:sp>
      <p:sp>
        <p:nvSpPr>
          <p:cNvPr id="403" name="Google Shape;403;p3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5202138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338573"/>
            <a:ext cx="533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建立跨市場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(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台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/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美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)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預測基準比較。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揭示台股受國際連動影響之預測難點。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實作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LLM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3232443"/>
            <a:ext cx="527589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r>
              <a:rPr lang="zh-TW" altLang="en-US" dirty="0"/>
              <a:t>導入新聞情緒與總經指標分析。</a:t>
            </a:r>
          </a:p>
          <a:p>
            <a:r>
              <a:rPr lang="zh-TW" altLang="en-US" dirty="0"/>
              <a:t>開發 </a:t>
            </a:r>
            <a:r>
              <a:rPr lang="en-US" altLang="zh-TW" dirty="0"/>
              <a:t>LSTM-ARIMA </a:t>
            </a:r>
            <a:r>
              <a:rPr lang="zh-TW" altLang="en-US" dirty="0"/>
              <a:t>混合模型。</a:t>
            </a:r>
          </a:p>
          <a:p>
            <a:r>
              <a:rPr lang="zh-TW" altLang="en-US" dirty="0"/>
              <a:t>進行正式使用者 </a:t>
            </a:r>
            <a:r>
              <a:rPr lang="en-US" altLang="zh-TW" dirty="0"/>
              <a:t>SUS </a:t>
            </a:r>
            <a:r>
              <a:rPr lang="zh-TW" altLang="en-US" dirty="0"/>
              <a:t>量表研究。</a:t>
            </a:r>
            <a:endParaRPr lang="en-US" altLang="zh-TW" dirty="0"/>
          </a:p>
          <a:p>
            <a:r>
              <a:rPr lang="zh-TW" altLang="zh-TW" dirty="0"/>
              <a:t>擴大 LLM 迴歸樣本至完整測試集 </a:t>
            </a:r>
            <a:endParaRPr lang="en-US" altLang="zh-TW" dirty="0"/>
          </a:p>
          <a:p>
            <a:r>
              <a:rPr lang="zh-TW" altLang="zh-TW" dirty="0"/>
              <a:t>比較多種 LLM（Gemini、Llama、Gemma）</a:t>
            </a:r>
            <a:endParaRPr lang="zh-TW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1527</TotalTime>
  <Words>5292</Words>
  <Application>Microsoft Office PowerPoint</Application>
  <PresentationFormat>寬螢幕</PresentationFormat>
  <Paragraphs>389</Paragraphs>
  <Slides>28</Slides>
  <Notes>28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4" baseType="lpstr">
      <vt:lpstr>DM Sans</vt:lpstr>
      <vt:lpstr>Calibri</vt:lpstr>
      <vt:lpstr>Amasis MT Pro Medium</vt:lpstr>
      <vt:lpstr>Merriweather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子瑜 林</cp:lastModifiedBy>
  <cp:revision>123</cp:revision>
  <dcterms:modified xsi:type="dcterms:W3CDTF">2026-06-09T07:46:18Z</dcterms:modified>
</cp:coreProperties>
</file>