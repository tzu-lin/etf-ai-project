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578" r:id="rId4"/>
    <p:sldId id="579" r:id="rId5"/>
    <p:sldId id="258" r:id="rId6"/>
    <p:sldId id="259" r:id="rId7"/>
    <p:sldId id="260" r:id="rId8"/>
    <p:sldId id="262" r:id="rId9"/>
    <p:sldId id="570" r:id="rId10"/>
    <p:sldId id="263" r:id="rId11"/>
    <p:sldId id="553" r:id="rId12"/>
    <p:sldId id="566" r:id="rId13"/>
    <p:sldId id="568" r:id="rId14"/>
    <p:sldId id="565" r:id="rId15"/>
    <p:sldId id="567" r:id="rId16"/>
    <p:sldId id="575" r:id="rId17"/>
    <p:sldId id="571" r:id="rId18"/>
    <p:sldId id="556" r:id="rId19"/>
    <p:sldId id="557" r:id="rId20"/>
    <p:sldId id="555" r:id="rId21"/>
    <p:sldId id="572" r:id="rId22"/>
    <p:sldId id="576" r:id="rId23"/>
    <p:sldId id="265" r:id="rId24"/>
    <p:sldId id="577" r:id="rId25"/>
    <p:sldId id="573" r:id="rId26"/>
    <p:sldId id="558" r:id="rId27"/>
    <p:sldId id="266" r:id="rId28"/>
    <p:sldId id="267" r:id="rId29"/>
    <p:sldId id="268" r:id="rId30"/>
    <p:sldId id="564" r:id="rId31"/>
    <p:sldId id="563" r:id="rId32"/>
    <p:sldId id="562" r:id="rId33"/>
    <p:sldId id="270" r:id="rId34"/>
    <p:sldId id="272" r:id="rId35"/>
    <p:sldId id="273" r:id="rId36"/>
    <p:sldId id="275" r:id="rId37"/>
  </p:sldIdLst>
  <p:sldSz cx="12192000" cy="6858000"/>
  <p:notesSz cx="6858000" cy="9144000"/>
  <p:embeddedFontLst>
    <p:embeddedFont>
      <p:font typeface="Amasis MT Pro Medium" panose="02040604050005020304" pitchFamily="18" charset="0"/>
      <p:regular r:id="rId39"/>
      <p:italic r:id="rId40"/>
    </p:embeddedFont>
    <p:embeddedFont>
      <p:font typeface="DM Sans" pitchFamily="2" charset="0"/>
      <p:regular r:id="rId41"/>
      <p:bold r:id="rId42"/>
      <p:italic r:id="rId43"/>
      <p:boldItalic r:id="rId44"/>
    </p:embeddedFont>
    <p:embeddedFont>
      <p:font typeface="Merriweather" panose="00000500000000000000" pitchFamily="2" charset="0"/>
      <p:regular r:id="rId45"/>
      <p:bold r:id="rId46"/>
      <p:italic r:id="rId47"/>
      <p:boldItalic r:id="rId48"/>
    </p:embeddedFont>
    <p:embeddedFont>
      <p:font typeface="Noto Sans TC" panose="020B0200000000000000" pitchFamily="34" charset="-12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73390" autoAdjust="0"/>
  </p:normalViewPr>
  <p:slideViewPr>
    <p:cSldViewPr snapToGrid="0">
      <p:cViewPr varScale="1">
        <p:scale>
          <a:sx n="60" d="100"/>
          <a:sy n="60" d="100"/>
        </p:scale>
        <p:origin x="78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667E425-7DE3-CDE3-CC02-C6EBC081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B8E6FC52-5299-CFC4-67EB-1274E1D75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77322D38-4337-33CC-0D7F-DBDDC1D62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26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96CAC0D-CB76-E161-BD50-10ACCB83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>
            <a:extLst>
              <a:ext uri="{FF2B5EF4-FFF2-40B4-BE49-F238E27FC236}">
                <a16:creationId xmlns:a16="http://schemas.microsoft.com/office/drawing/2014/main" id="{FBB44B69-C235-FEC7-6711-C0F90EE08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2A44208-8816-B13B-6821-BE607BAB5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788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F051989-D53C-D7EC-2E19-96DDE00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BDF80A3-8051-9931-7626-AF25104A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A07FAC0-47F3-EAE9-3959-8B0FA5F8C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90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zh-TW" dirty="0"/>
              <a:t>這頁比較決策樹和隨機森林。左邊表先看性質：決策樹是單一模型、容易過擬合、</a:t>
            </a:r>
            <a:r>
              <a:rPr lang="zh-TW" altLang="en-US" dirty="0"/>
              <a:t>結構透明度</a:t>
            </a:r>
            <a:r>
              <a:rPr lang="zh-TW" altLang="zh-TW" dirty="0"/>
              <a:t>但準確度中等；隨機森林是多棵樹的集成，比較穩定。</a:t>
            </a:r>
          </a:p>
          <a:p>
            <a:r>
              <a:rPr lang="zh-TW" altLang="zh-TW" dirty="0"/>
              <a:t>右邊是我實際跑的結果，重點請看紅框。</a:t>
            </a:r>
            <a:r>
              <a:rPr lang="zh-TW" altLang="zh-TW" b="1" dirty="0"/>
              <a:t>決策樹在三個市場的訓練 MSE 都是全場最低</a:t>
            </a:r>
            <a:r>
              <a:rPr lang="zh-TW" altLang="zh-TW" dirty="0"/>
              <a:t>，代表它把訓練資料背得最熟；</a:t>
            </a:r>
            <a:r>
              <a:rPr lang="zh-TW" altLang="zh-TW" b="1" dirty="0"/>
              <a:t>但同一個決策樹的測試 MSE 反而都比隨機森林高</a:t>
            </a:r>
            <a:r>
              <a:rPr lang="zh-TW" altLang="zh-TW" dirty="0"/>
              <a:t>——以 SPY 為例，訓練只有 2.0、測試卻跳到 2782，比隨機森林的 2725 還高;0050 更明顯，測試 45.9 對隨機森林的 35.1。</a:t>
            </a:r>
          </a:p>
          <a:p>
            <a:r>
              <a:rPr lang="zh-TW" altLang="zh-TW" b="1" dirty="0"/>
              <a:t>過擬合</a:t>
            </a:r>
            <a:r>
              <a:rPr lang="zh-TW" altLang="zh-TW" dirty="0"/>
              <a:t>：單棵樹學得太細、記住了雜訊，所以一換到沒看過的資料就變差。隨機森林靠很多棵樹平均、降低變異，泛化就比較穩。這也印證了左表「準確度：隨機森林通常較高」這一列。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「Gradient Boosting 不是加重樣本，而是去補『還差多少』。先做一個粗略預測，算出實際和預測的差距，叫殘差;接著訓練新的樹專門預測這個殘差、把它補回去。像圖上紅塊一輪一輪縮小，整體誤差就越來越低。所謂梯度，就是數學上決定往哪個方向補最有效。」</a:t>
            </a:r>
            <a:br>
              <a:rPr lang="en-US" altLang="zh-TW" dirty="0"/>
            </a:br>
            <a:r>
              <a:rPr lang="zh-TW" altLang="zh-TW" dirty="0"/>
              <a:t>「兩個都是把弱模型一棵棵串起來。差別是 AdaBoost 調整『樣本權重』、加重做錯的;Gradient Boosting 直接『擬合殘差』、去補還差的部分。XGBoost 則是在 GBM 上再加正規化和平行運算的強化版。」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/>
            </a:br>
            <a:r>
              <a:rPr lang="zh-TW" altLang="zh-TW"/>
              <a:t>兩者都是 Boosting、都是循序修正錯誤，但修正方式不同。AdaBoost 是</a:t>
            </a:r>
            <a:r>
              <a:rPr lang="zh-TW" altLang="zh-TW" b="1"/>
              <a:t>調整樣本權重</a:t>
            </a:r>
            <a:r>
              <a:rPr lang="zh-TW" altLang="zh-TW"/>
              <a:t>——把上一輪預測錯比較多的樣本權重調高，讓下一棵樹更重視它；Gradient Boosting 則是</a:t>
            </a:r>
            <a:r>
              <a:rPr lang="zh-TW" altLang="zh-TW" b="1"/>
              <a:t>直接去擬合殘差</a:t>
            </a:r>
            <a:r>
              <a:rPr lang="zh-TW" altLang="zh-TW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E6D3ECD-A64E-C8BC-82D3-6F06A75C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726D0C72-D753-5AB3-C460-1C98A5B50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前面分別介紹了 AdaBoost 和 Gradient Boosting，這頁把三種 Boosting 並排比較，加上 XGBoost。</a:t>
            </a:r>
          </a:p>
          <a:p>
            <a:pPr marL="158750" indent="0">
              <a:buNone/>
            </a:pPr>
            <a:r>
              <a:rPr lang="zh-TW" altLang="zh-TW" b="1" dirty="0"/>
              <a:t>核心機制</a:t>
            </a:r>
            <a:r>
              <a:rPr lang="zh-TW" altLang="zh-TW" dirty="0"/>
              <a:t>先快速回顧：AdaBoost 是調整樣本權重、加重做錯的;Gradient Boosting 是直接擬合殘差、去補還差的;XGBoost 則是 Gradient Boosting 的工程強化版。</a:t>
            </a:r>
          </a:p>
          <a:p>
            <a:pPr marL="158750" indent="0">
              <a:buNone/>
            </a:pPr>
            <a:r>
              <a:rPr lang="zh-TW" altLang="zh-TW" dirty="0"/>
              <a:t>差別主要在三點。</a:t>
            </a:r>
            <a:r>
              <a:rPr lang="zh-TW" altLang="zh-TW" b="1" dirty="0"/>
              <a:t>防過擬合</a:t>
            </a:r>
            <a:r>
              <a:rPr lang="zh-TW" altLang="zh-TW" dirty="0"/>
              <a:t>：XGBoost 多了正規化和學習率控制，最完整。</a:t>
            </a:r>
            <a:r>
              <a:rPr lang="zh-TW" altLang="zh-TW" b="1" dirty="0"/>
              <a:t>運算效率</a:t>
            </a:r>
            <a:r>
              <a:rPr lang="zh-TW" altLang="zh-TW" dirty="0"/>
              <a:t>：AdaBoost 和 GBM 都是一棵接一棵的序列訓練、比較慢，XGBoost 用平行運算，最快。</a:t>
            </a:r>
            <a:r>
              <a:rPr lang="zh-TW" altLang="zh-TW" b="1" dirty="0"/>
              <a:t>對離群值</a:t>
            </a:r>
            <a:r>
              <a:rPr lang="zh-TW" altLang="zh-TW" dirty="0"/>
              <a:t>：AdaBoost 因為會加重分錯的樣本，對離群值比較敏感，另外兩個相對穩健。</a:t>
            </a:r>
          </a:p>
          <a:p>
            <a:pPr marL="158750" indent="0">
              <a:buNone/>
            </a:pPr>
            <a:r>
              <a:rPr lang="zh-TW" altLang="zh-TW" dirty="0"/>
              <a:t>不過要強調的是——看最下面兩列，我實測 SPY 的結果，</a:t>
            </a:r>
            <a:r>
              <a:rPr lang="zh-TW" altLang="zh-TW" b="1" dirty="0"/>
              <a:t>三者的 MSE 和 MAPE 其實很接近</a:t>
            </a:r>
            <a:r>
              <a:rPr lang="zh-TW" altLang="zh-TW" dirty="0"/>
              <a:t>（2797 到 3398、都落在 8 到 10%）。也就是說，雖然 XGBoost 理論上最強，但在這個股價預測任務上，三種 Boosting 差異不大;而且它們</a:t>
            </a:r>
            <a:r>
              <a:rPr lang="zh-TW" altLang="zh-TW" b="1" dirty="0"/>
              <a:t>全都遠輸給 ARIMA 和 LSTM</a:t>
            </a:r>
            <a:r>
              <a:rPr lang="zh-TW" altLang="zh-TW" dirty="0"/>
              <a:t>，原因就是前面說的——樹系模型無法外推。這也呼應我的主結論：複雜模型未必比較好。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4595E89-75DC-A607-291E-69E1A85DC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2942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622A4B-9FCE-DE79-FE49-53599DF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1B77590-90B4-2B6F-7D88-D55B66E0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「這頁是四種樹系集成模型的核心程式碼，用 scikit-learn 加 xgboost，並以 TimeSeriesSplit 做驗證。</a:t>
            </a:r>
          </a:p>
          <a:p>
            <a:pPr marL="158750" indent="0">
              <a:buNone/>
            </a:pPr>
            <a:r>
              <a:rPr lang="zh-TW" altLang="zh-TW" dirty="0"/>
              <a:t>重點看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models()</a:t>
            </a:r>
            <a:r>
              <a:rPr lang="zh-TW" altLang="zh-TW" dirty="0"/>
              <a:t> 這個函式，裡面定義了 Random Forest、XGBoost、AdaBoost、Gradient Boosting 四個模型，參數都固定 random_state=42 確保可重現。以 XGBoost 為例，我設 n_estimators=100、max_depth=4、learning_rate=0.1——這幾個參數共同控制模型複雜度、抑制過擬合。</a:t>
            </a:r>
          </a:p>
          <a:p>
            <a:pPr marL="158750" indent="0">
              <a:buNone/>
            </a:pPr>
            <a:r>
              <a:rPr lang="zh-TW" altLang="zh-TW" dirty="0"/>
              <a:t>最下面說明的第二點很關鍵：四個模型都用 TimeSeriesSplit 時序交叉驗證，依時間切分、訓練集永遠早於驗證集，避免用未來資料預測過去，也就是防止資料洩漏。」</a:t>
            </a:r>
            <a:br>
              <a:rPr lang="en-US" altLang="zh-TW" dirty="0"/>
            </a:br>
            <a:r>
              <a:rPr lang="zh-TW" altLang="zh-TW" dirty="0"/>
              <a:t>「learning_rate 是每加一棵樹時，更新幅度的縮放係數。設太大（像 0.3）每步走太猛，容易過擬合、訓練也不穩；設太小收斂太慢，要堆很多樹才有效果。0.1 是實務上最常用、最穩健的折衷值，所以我用 0.1。它會跟 n_estimators 一起調——學習率小就要更多樹，我固定 100 棵搭配 0.1，是常見的穩定組合。」</a:t>
            </a:r>
            <a:br>
              <a:rPr lang="en-US" altLang="zh-TW" dirty="0"/>
            </a:b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sklearn.ensemble</a:t>
            </a:r>
            <a:r>
              <a:rPr lang="zh-TW" altLang="zh-TW" dirty="0"/>
              <a:t>：「這是 scikit-learn 放集成模型的模組，RF、AdaBoost、GBM 都從這裡來；XGBoost 不在裡面，是另一個套件。」 「learning_rate 設 0.1 是因為它會縮小每一步的更新幅度、讓提升過程更保守、防止過擬合，0.1 是常用穩健值。」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3D6AB008-FD05-195F-217D-05038DAE2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003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42379A2-2DD8-E93A-D928-60F23F26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A19D64E-C0EE-1D11-B033-29AC8B2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這頁是深度學習 LSTM 的核心程式碼，用 TensorFlow 的 Keras 寫的。</a:t>
            </a:r>
          </a:p>
          <a:p>
            <a:pPr marL="158750" indent="0">
              <a:buNone/>
            </a:pPr>
            <a:r>
              <a:rPr lang="zh-TW" altLang="zh-TW" dirty="0"/>
              <a:t>我用 Keras 的 Sequential 把模型一層層疊起來。上面是單層 LSTM：先用 Input 定義輸入形狀，接一層 LSTM、設 50 個神經元，最後用 Dense(1) 輸出一個數值，也就是預測的次日收盤價。</a:t>
            </a:r>
          </a:p>
          <a:p>
            <a:pPr marL="158750" indent="0">
              <a:buNone/>
            </a:pPr>
            <a:r>
              <a:rPr lang="zh-TW" altLang="zh-TW" dirty="0"/>
              <a:t>下面是雙層 LSTM，差別在疊了兩層 LSTM——注意第一層要設 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return_sequences=True</a:t>
            </a:r>
            <a:r>
              <a:rPr lang="zh-TW" altLang="zh-TW" dirty="0"/>
              <a:t>，讓它回傳每個時間步的輸出，第二層才有完整的序列可以接著學。</a:t>
            </a:r>
            <a:br>
              <a:rPr lang="zh-TW" altLang="zh-TW" dirty="0"/>
            </a:br>
            <a:br>
              <a:rPr lang="zh-TW" altLang="zh-TW" dirty="0"/>
            </a:br>
            <a:r>
              <a:rPr lang="zh-TW" altLang="zh-TW" dirty="0"/>
              <a:t>最關鍵的是最後這行：因為我要預測的是「連續的價格數值」，所以輸出層 Dense(1) 不接 sigmoid、損失函數用 mse（均方誤差）——這就是迴歸版本。如果是做漲跌分類，才會改成 sigmoid 加交叉熵。</a:t>
            </a:r>
            <a:br>
              <a:rPr lang="en-US" altLang="zh-TW" dirty="0"/>
            </a:br>
            <a:r>
              <a:rPr lang="zh-TW" altLang="zh-TW" b="1" dirty="0"/>
              <a:t>Q：LSTM 是什麼、為什麼用它？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「LSTM 是一種能記住長期序列關係的循環神經網路，適合處理像股價這種有時間先後的資料，所以我用它來抓價格的時間趨勢。」</a:t>
            </a:r>
          </a:p>
          <a:p>
            <a:pPr marL="158750" indent="0">
              <a:buNone/>
            </a:pPr>
            <a:r>
              <a:rPr lang="zh-TW" altLang="zh-TW" b="1" dirty="0"/>
              <a:t>Q：50 個神經元怎麼決定的？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「50 是常用的中等設定，太大容易過擬合、訓練也慢。我先用 50 當基準，重點是比較不同模型，不是調到最佳。」</a:t>
            </a:r>
          </a:p>
          <a:p>
            <a:pPr marL="158750" indent="0">
              <a:buNone/>
            </a:pPr>
            <a:r>
              <a:rPr lang="zh-TW" altLang="zh-TW" b="1" dirty="0"/>
              <a:t>Q：為什麼單層之外還做雙層？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「想看看加深網路能不能學到更複雜的型態。結果雙層沒有明顯比單層好，這也呼應我的結論——複雜模型未必較佳。」</a:t>
            </a:r>
          </a:p>
          <a:p>
            <a:pPr marL="158750" indent="0">
              <a:buNone/>
            </a:pPr>
            <a:r>
              <a:rPr lang="zh-TW" altLang="zh-TW" b="1" dirty="0"/>
              <a:t>Q：為什麼確定這是迴歸不是分類？</a:t>
            </a:r>
            <a:endParaRPr lang="zh-TW" altLang="zh-TW" dirty="0"/>
          </a:p>
          <a:p>
            <a:pPr marL="158750" indent="0">
              <a:buNone/>
            </a:pPr>
            <a:r>
              <a:rPr lang="zh-TW" altLang="zh-TW" dirty="0"/>
              <a:t>「看最後兩個地方：Dense(1) 輸出單一連續值、loss 用 mse。分類會用 sigmoid 加交叉熵，這裡都沒有，所以是迴歸。」</a:t>
            </a:r>
          </a:p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1E316C8-D2AC-AB3A-B3F2-70DFCFFE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05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212C9C9-2DA8-2C01-8CCC-87D23A8F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4F0CD18B-58FE-DA5B-AC91-C39F582A13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這頁是雙向 LSTM。前面的單層、雙層 LSTM 都是『單向』，只從過去往未來讀;雙向 LSTM 多了一個反方向，會同時從未來往過去再讀一次，把兩個方向的結果合併，理論上能擷取更完整的前後文資訊。</a:t>
            </a:r>
          </a:p>
          <a:p>
            <a:pPr marL="158750" indent="0">
              <a:buNone/>
            </a:pPr>
            <a:r>
              <a:rPr lang="zh-TW" altLang="zh-TW" dirty="0"/>
              <a:t>實作上就是用 Keras 的 Bidirectional 把 LSTM 包起來。單層就是 Bidirectional(LSTM(50)) 加 Dense(1);雙層一樣疊兩層、第一層設 return_sequences=True。其餘設定和前面一致，optimizer 用 adam、loss 用 mse，所以同樣是迴歸版本。</a:t>
            </a:r>
            <a:br>
              <a:rPr lang="en-US" altLang="zh-TW" dirty="0"/>
            </a:br>
            <a:r>
              <a:rPr lang="zh-TW" altLang="zh-TW" dirty="0"/>
              <a:t>不過要特別說明——雖然雙向理論上資訊更多，但在我的『預測』任務裡，反向等於讓模型偷看到未來的資料，造成資料洩漏，所以雙向 LSTM 在結果裡反而表現最差。這也呼應我後面的發現：更複雜的模型在這個任務上未必更好。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90D9A89D-AB33-65CB-FDB9-1337FAA03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798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的分類任務，我用 GPT-3.5，把近期的技術指標整理成提示詞，要它預測次日漲跌。</a:t>
            </a:r>
          </a:p>
          <a:p>
            <a:pPr marL="158750" indent="0">
              <a:buNone/>
            </a:pPr>
            <a:r>
              <a:rPr lang="zh-TW" altLang="zh-TW" dirty="0"/>
              <a:t>看上面四個指標：F1 是 0.524、準確率 0.51、精確率 0.454、召回率 0.621。</a:t>
            </a:r>
            <a:r>
              <a:rPr lang="zh-TW" altLang="zh-TW" b="1" dirty="0"/>
              <a:t>準確率剛好過半、F1 約 0.52，都接近隨機猜測的水準</a:t>
            </a:r>
            <a:r>
              <a:rPr lang="zh-TW" altLang="zh-TW" dirty="0"/>
              <a:t>——也就是說，GPT-3.5 在漲跌方向上幾乎沒有預測力。</a:t>
            </a:r>
          </a:p>
          <a:p>
            <a:pPr marL="158750" indent="0">
              <a:buNone/>
            </a:pPr>
            <a:r>
              <a:rPr lang="zh-TW" altLang="zh-TW" dirty="0"/>
              <a:t>這裡要補充一點：雖然我的 RF 和 LSTM 分類 F1 有 0.69 到 0.73、看起來比 LLM 高，</a:t>
            </a:r>
            <a:r>
              <a:rPr lang="zh-TW" altLang="zh-TW" b="1" dirty="0"/>
              <a:t>但它們同樣沒有超越 Always-Up 基準 0.736</a:t>
            </a:r>
            <a:r>
              <a:rPr lang="zh-TW" altLang="zh-TW" dirty="0"/>
              <a:t>，那個高分主要是多頭市場一直漲、猜漲就中的偏態造成的，不是真的學會判斷方向。從混淆矩陣也看得到，GPT-3.5 一樣傾向一直猜「漲」。所以</a:t>
            </a:r>
            <a:r>
              <a:rPr lang="zh-TW" altLang="zh-TW" b="1" dirty="0"/>
              <a:t>不管哪種模型，分類都沒有實質效果</a:t>
            </a:r>
            <a:r>
              <a:rPr lang="zh-TW" altLang="zh-TW" dirty="0"/>
              <a:t>。</a:t>
            </a:r>
          </a:p>
          <a:p>
            <a:pPr marL="158750" indent="0">
              <a:buNone/>
            </a:pPr>
            <a:r>
              <a:rPr lang="zh-TW" altLang="zh-TW" dirty="0"/>
              <a:t>但對比很有意思——同一個 LLM 改去做數值迴歸，用 GPT-4o-mini，三個市場的 R² 一致達到 0.80。這說明 </a:t>
            </a:r>
            <a:r>
              <a:rPr lang="zh-TW" altLang="zh-TW" b="1" dirty="0"/>
              <a:t>LLM 擅長的是『數值預測』，而不是『漲跌分類』</a:t>
            </a:r>
            <a:r>
              <a:rPr lang="zh-TW" altLang="zh-TW" dirty="0"/>
              <a:t>，這也是我研究的重要發現之一。</a:t>
            </a:r>
            <a:br>
              <a:rPr lang="en-US" altLang="zh-TW" dirty="0"/>
            </a:br>
            <a:r>
              <a:rPr lang="zh-TW" altLang="zh-TW" dirty="0"/>
              <a:t>F1-score 是精確率和召回率的調和平均。精確率是『模型說會漲的，有幾次真的漲』；召回率是『真正漲的日子，模型抓到幾成』；F1 把兩者綜合起來。</a:t>
            </a:r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6B1143D1-3C36-DFFF-7D4C-CF306EF6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>
            <a:extLst>
              <a:ext uri="{FF2B5EF4-FFF2-40B4-BE49-F238E27FC236}">
                <a16:creationId xmlns:a16="http://schemas.microsoft.com/office/drawing/2014/main" id="{BFC5291E-39F3-2D1A-2057-89CF920C5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>
                <a:effectLst/>
              </a:rPr>
              <a:t>這頁是 LLM 的迴歸任務，三個市場都跑了。模型用 gpt-4o-mini，把過去 60 天的五個技術指標整理成提示詞，要它輸出次日收盤價，每個市場測 50 筆。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結果三市場的 R² 非常一致，都在 0.80 左右。要注意 MSE 和 RMSE 不能跨市場比——因為 0050 股價幾十元、SPY 和 QQQ 是幾百元，平方後尺度差很大;跨市場要看標準化的 R²，三個都約 0.80，代表 LLM 的數值預測能力是穩定的。</a:t>
            </a:r>
          </a:p>
          <a:p>
            <a:pPr marL="158750" indent="0">
              <a:buNone/>
            </a:pPr>
            <a:r>
              <a:rPr lang="zh-TW" altLang="zh-TW" dirty="0">
                <a:effectLst/>
              </a:rPr>
              <a:t>對比同一個 LLM 做漲跌分類只有 F1 0.48，這說明 LLM 擅長數值預測、不擅長方向分類，定位是解釋型輔助。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Q：0050 的 MSE 0.22 是不是特別準？</a:t>
            </a:r>
            <a:r>
              <a:rPr lang="zh-TW" altLang="zh-TW" dirty="0">
                <a:effectLst/>
              </a:rPr>
              <a:t> →「不是，是股價尺度小所以 MSE 小;看 R² 三市場其實一樣，都約 0.80。」</a:t>
            </a:r>
          </a:p>
          <a:p>
            <a:pPr marL="158750" indent="0">
              <a:buNone/>
            </a:pPr>
            <a:r>
              <a:rPr lang="zh-TW" altLang="zh-TW" b="1" dirty="0">
                <a:effectLst/>
              </a:rPr>
              <a:t>Q：R² 0.80 比 ARIMA 好嗎？</a:t>
            </a:r>
            <a:r>
              <a:rPr lang="zh-TW" altLang="zh-TW" dirty="0">
                <a:effectLst/>
              </a:rPr>
              <a:t> →「沒有，ARIMA 更好;重點是證明 LLM 零訓練、純提示詞也能達到 0.80 的數值預測力。</a:t>
            </a:r>
          </a:p>
        </p:txBody>
      </p:sp>
      <p:sp>
        <p:nvSpPr>
          <p:cNvPr id="238" name="Google Shape;238;p10:notes">
            <a:extLst>
              <a:ext uri="{FF2B5EF4-FFF2-40B4-BE49-F238E27FC236}">
                <a16:creationId xmlns:a16="http://schemas.microsoft.com/office/drawing/2014/main" id="{BCAFEEF2-24AF-A1F2-C76E-C3B2CED84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0718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2410B51-C3B3-862E-7DE3-B85900B3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20F2394-FA7A-81DA-8A6C-FDAB4DC3E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 LLM 迴歸的核心程式碼。我用 OpenAI 的 API 呼叫 gpt-4o-mini，把整理好的提示詞傳進去，要它預測次日收盤價。</a:t>
            </a:r>
          </a:p>
          <a:p>
            <a:pPr marL="158750" indent="0">
              <a:buNone/>
            </a:pPr>
            <a:r>
              <a:rPr lang="zh-TW" altLang="zh-TW" dirty="0"/>
              <a:t>這裡 temperature 設 0.7。temperature 控制輸出的隨機性，範圍從 0 到 2，數值越高輸出越多樣。0.7 是業界處理 LLM 時最常用的設定，即使是預測任務也通常採 0.7 左右，而不是設成 0。</a:t>
            </a:r>
          </a:p>
          <a:p>
            <a:pPr marL="158750" indent="0">
              <a:buNone/>
            </a:pPr>
            <a:r>
              <a:rPr lang="zh-TW" altLang="zh-TW" dirty="0"/>
              <a:t>另外我用 response_format 強制模型回傳 JSON 格式，程式再從裡面取出 predicted_close 這個欄位，作為預測的收盤價。</a:t>
            </a:r>
            <a:br>
              <a:rPr lang="en-US" altLang="zh-TW" dirty="0"/>
            </a:br>
            <a:r>
              <a:rPr lang="zh-TW" altLang="zh-TW" dirty="0"/>
              <a:t>雖然 0.7 會帶來一點隨機性，但我重跑後三個市場的 R² 仍然維持在 0.8 左右，代表 LLM 的數值預測能力是穩定的，並不依賴把 temperature 設成 0。</a:t>
            </a:r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1EA3EC1-200C-5CDF-ED5F-32CFB39F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9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pPr marL="158750" indent="0">
              <a:buNone/>
            </a:pPr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pPr marL="158750" indent="0">
              <a:buNone/>
            </a:pPr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pPr marL="158750" indent="0">
              <a:buNone/>
            </a:pPr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pPr marL="158750" indent="0">
              <a:buNone/>
            </a:pPr>
            <a:r>
              <a:rPr lang="zh-TW" altLang="zh-TW" dirty="0"/>
              <a:t>第四,模型訓練:所有迴歸模型統一採 TimeSeriesSplit 五折時序交叉驗證,確保訓練集永遠早於測試集。其中 ARIMA 在每一折的測試段內採逐日 rolling forecast(1 步預測、每步以真值更新),使其與樹模型、LSTM 同為「1 步預測」,達到公平比較。之所以不用一般的 K-Fold,是因為它會打亂時間順序、造成未來資料洩漏。</a:t>
            </a:r>
            <a:br>
              <a:rPr lang="en-US" altLang="zh-TW" dirty="0"/>
            </a:br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100" dirty="0">
                <a:solidFill>
                  <a:srgbClr val="FF0000"/>
                </a:solidFill>
              </a:rPr>
              <a:t>Q:</a:t>
            </a:r>
            <a:r>
              <a:rPr lang="zh-TW" altLang="zh-TW" sz="1100" dirty="0">
                <a:solidFill>
                  <a:srgbClr val="FF0000"/>
                </a:solidFill>
              </a:rPr>
              <a:t>Always-Up 基準（0.736）</a:t>
            </a:r>
            <a:r>
              <a:rPr lang="zh-TW" altLang="en-US" sz="1100" dirty="0">
                <a:solidFill>
                  <a:srgbClr val="FF0000"/>
                </a:solidFill>
              </a:rPr>
              <a:t>為什麼要寫這個</a:t>
            </a:r>
            <a:br>
              <a:rPr lang="en-US" altLang="zh-TW" dirty="0"/>
            </a:br>
            <a:r>
              <a:rPr lang="zh-TW" altLang="zh-TW" dirty="0"/>
              <a:t>Always-Up 是『每天都猜漲』的天真基準，多頭期間光猜漲就有 0.736。它是及格線——模型贏不過它，就代表方向沒真的學到，高分來自市場偏態</a:t>
            </a:r>
            <a:br>
              <a:rPr lang="en-US" altLang="zh-TW" dirty="0"/>
            </a:br>
            <a:r>
              <a:rPr lang="en-US" altLang="zh-TW" dirty="0"/>
              <a:t>Q:</a:t>
            </a:r>
            <a:r>
              <a:rPr lang="zh-TW" altLang="zh-TW" dirty="0"/>
              <a:t>隨機森林 F1 為什麼這麼爛（0050 只有 0.599）？</a:t>
            </a:r>
            <a:br>
              <a:rPr lang="en-US" altLang="zh-TW" dirty="0"/>
            </a:br>
            <a:r>
              <a:rPr lang="zh-TW" altLang="zh-TW" dirty="0"/>
              <a:t>隨機森林只在台股 0050 特別差（0.599），因為它靠特徵硬分、沒跟著『多頭猜漲』的偏態走;加上台股雜訊高、受國際連動，方向更難抓，所以低於基準。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zh-TW" altLang="zh-TW"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zh-TW" dirty="0"/>
              <a:t>這頁是我實作的 LLM-ETF 平台。技術上用 Streamlit 做介面、Plotly 畫互動圖表、SQLite 存資料。</a:t>
            </a:r>
          </a:p>
          <a:p>
            <a:pPr marL="158750" indent="0">
              <a:buNone/>
            </a:pPr>
            <a:r>
              <a:rPr lang="zh-TW" altLang="zh-TW" dirty="0"/>
              <a:t>平台以迴歸預測次日收盤價為主——這裡我做了修正，改成預測報酬率再換算回價格，避免樹模型無法外推的問題，所以右邊可以看到最新價 693、預測明日 694，是合理的。下方還整合了 GPT 生成的風險摘要當輔助。</a:t>
            </a:r>
          </a:p>
          <a:p>
            <a:pPr marL="158750" indent="0">
              <a:buNone/>
            </a:pPr>
            <a:r>
              <a:rPr lang="zh-TW" altLang="zh-TW" dirty="0"/>
              <a:t>圖表的部分支援即時互動，可以縮放、查看每一天的數值、切換時間範圍，我也準備了操作影片示範。</a:t>
            </a:r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56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研究背景與問題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跨市場投資的痛點、研究問題</a:t>
            </a:r>
            <a:endParaRPr sz="1600"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跨世代模型介紹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統計、機器學習、深度學習、大語言模型</a:t>
            </a:r>
            <a:endParaRPr sz="1600"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3125" y="44496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83431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實驗結果與跨市場比較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分類與迴歸</a:t>
            </a:r>
            <a:r>
              <a:rPr lang="zh-TW" altLang="en-US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、</a:t>
            </a:r>
            <a:r>
              <a:rPr lang="en-US" altLang="zh-TW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評估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056" y="23160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81987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資料處理與實驗設計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355806" y="3430488"/>
            <a:ext cx="29527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三檔 </a:t>
            </a:r>
            <a:r>
              <a:rPr lang="en-US" altLang="zh-TW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ETF</a:t>
            </a: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、技術指標特徵、</a:t>
            </a:r>
            <a:endParaRPr lang="en-US" altLang="zh-TW" b="0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時序交叉驗證</a:t>
            </a:r>
            <a:endParaRPr sz="1600" dirty="0"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LLM-ETF </a:t>
            </a: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平台實作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互動平台、風險摘要</a:t>
            </a:r>
            <a:endParaRPr sz="1600" dirty="0"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結論與未來方向</a:t>
            </a:r>
            <a:endParaRPr lang="zh-TW" altLang="en-US"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研究貢獻與後續延伸</a:t>
            </a:r>
            <a:endParaRPr sz="1600"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E9A153F2-9055-D9A9-AFEF-DAC671E7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image.png">
            <a:extLst>
              <a:ext uri="{FF2B5EF4-FFF2-40B4-BE49-F238E27FC236}">
                <a16:creationId xmlns:a16="http://schemas.microsoft.com/office/drawing/2014/main" id="{483CF0E5-9BEE-B76F-9612-4893B4CFC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89" y="5469656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9DC9AF68-C4A7-2E42-7299-8636B8BBFF66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一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：集成學習與台股預測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325A4923-28F7-D6E6-0EEA-256C127098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ECB02B9-5582-A658-FA72-C6CD0F7D32A7}"/>
              </a:ext>
            </a:extLst>
          </p:cNvPr>
          <p:cNvSpPr txBox="1"/>
          <p:nvPr/>
        </p:nvSpPr>
        <p:spPr>
          <a:xfrm>
            <a:off x="572002" y="1533357"/>
            <a:ext cx="6090345" cy="390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zh-TW" altLang="zh-TW" b="0" dirty="0">
                <a:effectLst/>
              </a:rPr>
            </a:b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徐維延 (2019)：TAIEX 趨勢預測研究</a:t>
            </a:r>
            <a:br>
              <a:rPr lang="zh-TW" altLang="zh-TW" b="0" dirty="0">
                <a:effectLst/>
              </a:rPr>
            </a:br>
            <a:endParaRPr lang="zh-TW" altLang="zh-TW" b="0" dirty="0">
              <a:effectLst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核心方法：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使用 1999-2018 年共 20 年資料，整合 192 個特徵（含技術面、國際股市與總經指標）。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模型：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隨機森林 (RF) 與 AdaBoost 混合模型，採用「增長式視窗滾動法」驗證。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關鍵發現：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集成模型受「外推限制」影響，無法預測超出訓練範圍的新高價。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dirty="0">
                <a:solidFill>
                  <a:srgbClr val="1E293B"/>
                </a:solidFill>
                <a:latin typeface="DM Sans"/>
              </a:rPr>
              <a:t>驗證了本研究中集成模型在歷史高點易出現「預測躺平」的結構性限制。</a:t>
            </a:r>
          </a:p>
        </p:txBody>
      </p:sp>
      <p:pic>
        <p:nvPicPr>
          <p:cNvPr id="8" name="圖片 7" descr="image.png">
            <a:extLst>
              <a:ext uri="{FF2B5EF4-FFF2-40B4-BE49-F238E27FC236}">
                <a16:creationId xmlns:a16="http://schemas.microsoft.com/office/drawing/2014/main" id="{0A2B7CDE-EBB1-E740-37AE-CACC27BE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915" y="1528709"/>
            <a:ext cx="4573127" cy="419958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8FF992-E99B-A6D9-99D5-C5543FD474CA}"/>
              </a:ext>
            </a:extLst>
          </p:cNvPr>
          <p:cNvSpPr txBox="1"/>
          <p:nvPr/>
        </p:nvSpPr>
        <p:spPr>
          <a:xfrm>
            <a:off x="706980" y="5523574"/>
            <a:ext cx="7636042" cy="83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研究啟發：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複雜的混合模型未顯著優於單一隨機森林。</a:t>
            </a:r>
            <a:endParaRPr lang="en-US" altLang="zh-TW" sz="1600" b="1" dirty="0">
              <a:solidFill>
                <a:srgbClr val="1E293B"/>
              </a:solidFill>
              <a:latin typeface="DM Sans"/>
            </a:endParaRPr>
          </a:p>
          <a:p>
            <a:pPr>
              <a:lnSpc>
                <a:spcPct val="160000"/>
              </a:lnSpc>
            </a:pP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本研究採用 TimeSeriesSplit 確保時序邏輯一致。</a:t>
            </a:r>
          </a:p>
        </p:txBody>
      </p:sp>
    </p:spTree>
    <p:extLst>
      <p:ext uri="{BB962C8B-B14F-4D97-AF65-F5344CB8AC3E}">
        <p14:creationId xmlns:p14="http://schemas.microsoft.com/office/powerpoint/2010/main" val="269656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8415EB6-3870-0F3B-EEBB-DEEF164E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image.png">
            <a:extLst>
              <a:ext uri="{FF2B5EF4-FFF2-40B4-BE49-F238E27FC236}">
                <a16:creationId xmlns:a16="http://schemas.microsoft.com/office/drawing/2014/main" id="{C0F5F140-8390-68E5-DA91-58F7128A9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180" y="1545558"/>
            <a:ext cx="4656820" cy="3491663"/>
          </a:xfrm>
          <a:prstGeom prst="rect">
            <a:avLst/>
          </a:prstGeom>
        </p:spPr>
      </p:pic>
      <p:pic>
        <p:nvPicPr>
          <p:cNvPr id="13" name="圖片 12" descr="image.png">
            <a:extLst>
              <a:ext uri="{FF2B5EF4-FFF2-40B4-BE49-F238E27FC236}">
                <a16:creationId xmlns:a16="http://schemas.microsoft.com/office/drawing/2014/main" id="{12801054-BE5B-5EC3-CF00-97A5C24EB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91" y="5658051"/>
            <a:ext cx="7167625" cy="938065"/>
          </a:xfrm>
          <a:prstGeom prst="rect">
            <a:avLst/>
          </a:prstGeom>
        </p:spPr>
      </p:pic>
      <p:sp>
        <p:nvSpPr>
          <p:cNvPr id="117" name="Google Shape;117;p14">
            <a:extLst>
              <a:ext uri="{FF2B5EF4-FFF2-40B4-BE49-F238E27FC236}">
                <a16:creationId xmlns:a16="http://schemas.microsoft.com/office/drawing/2014/main" id="{A052FC13-29A7-E7EE-0BC6-8CADA4EB040E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文獻探討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二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)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ARIMA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與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sym typeface="Merriweather"/>
              </a:rPr>
              <a:t>LSTM 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比較</a:t>
            </a:r>
          </a:p>
        </p:txBody>
      </p:sp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84E7867B-2E09-0674-0401-793BC15C3E4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ACB22B-1914-8A37-BCA9-222144AEA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389068"/>
              </p:ext>
            </p:extLst>
          </p:nvPr>
        </p:nvGraphicFramePr>
        <p:xfrm>
          <a:off x="420291" y="4561662"/>
          <a:ext cx="7167625" cy="876300"/>
        </p:xfrm>
        <a:graphic>
          <a:graphicData uri="http://schemas.openxmlformats.org/drawingml/2006/table">
            <a:tbl>
              <a:tblPr/>
              <a:tblGrid>
                <a:gridCol w="1749242">
                  <a:extLst>
                    <a:ext uri="{9D8B030D-6E8A-4147-A177-3AD203B41FA5}">
                      <a16:colId xmlns:a16="http://schemas.microsoft.com/office/drawing/2014/main" val="3084911989"/>
                    </a:ext>
                  </a:extLst>
                </a:gridCol>
                <a:gridCol w="5418383">
                  <a:extLst>
                    <a:ext uri="{9D8B030D-6E8A-4147-A177-3AD203B41FA5}">
                      <a16:colId xmlns:a16="http://schemas.microsoft.com/office/drawing/2014/main" val="996712117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準確率優勢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(MAPE 0.66-1.07%) &gt; LSTM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63117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1600" b="0" i="0" u="none" strike="noStrike" cap="none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運算效率</a:t>
                      </a:r>
                      <a:endParaRPr lang="zh-TW" altLang="en-US" sz="1600" b="0" i="0" u="none" strike="noStrike" cap="none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LSTM 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遠快於 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ARIMA (</a:t>
                      </a:r>
                      <a:r>
                        <a:rPr lang="zh-TW" altLang="en-US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後者需頻繁重建模</a:t>
                      </a:r>
                      <a:r>
                        <a:rPr lang="en-US" altLang="zh-TW" sz="16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Noto Sans TC" panose="020B0200000000000000" pitchFamily="34" charset="-120"/>
                          <a:cs typeface="Arial"/>
                          <a:sym typeface="Arial"/>
                        </a:rPr>
                        <a:t>)</a:t>
                      </a:r>
                      <a:endParaRPr lang="zh-TW" altLang="en-US" sz="1600" b="0" i="0" u="none" strike="noStrike" cap="none" dirty="0">
                        <a:solidFill>
                          <a:srgbClr val="1E293B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86324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D09D0E92-B124-0736-A919-020D43016C30}"/>
              </a:ext>
            </a:extLst>
          </p:cNvPr>
          <p:cNvSpPr txBox="1"/>
          <p:nvPr/>
        </p:nvSpPr>
        <p:spPr>
          <a:xfrm>
            <a:off x="32975" y="1729722"/>
            <a:ext cx="755263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800" b="1" dirty="0">
                <a:solidFill>
                  <a:srgbClr val="1E293B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	</a:t>
            </a:r>
            <a:r>
              <a:rPr lang="zh-TW" altLang="zh-TW" sz="1800" b="1" dirty="0">
                <a:solidFill>
                  <a:srgbClr val="1E293B"/>
                </a:solidFill>
                <a:latin typeface="DM Sans"/>
              </a:rPr>
              <a:t>吳冠霆 (2025)：跨市場指數預測效能比對</a:t>
            </a:r>
          </a:p>
          <a:p>
            <a:pPr>
              <a:buNone/>
            </a:pPr>
            <a:endParaRPr lang="zh-TW" altLang="zh-TW" sz="1600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資料範圍：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涵蓋台、美、日、港</a:t>
            </a:r>
            <a:r>
              <a:rPr lang="zh-TW" altLang="en-US" sz="1600" dirty="0">
                <a:solidFill>
                  <a:schemeClr val="tx1"/>
                </a:solidFill>
                <a:latin typeface="DM Sans"/>
              </a:rPr>
              <a:t>主要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指數 (2010-2024)。</a:t>
            </a:r>
            <a:endParaRPr lang="zh-TW" altLang="zh-TW" sz="1600" b="1" dirty="0">
              <a:solidFill>
                <a:schemeClr val="bg2">
                  <a:lumMod val="75000"/>
                </a:schemeClr>
              </a:solidFill>
              <a:latin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績效對比：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ARIMA 模型在 MAPE 等指標上全面優於深度學習模型 LSTM，且曲線更貼近實際走勢。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架構優化： </a:t>
            </a:r>
            <a:r>
              <a:rPr lang="zh-TW" altLang="zh-TW" sz="1600" dirty="0">
                <a:solidFill>
                  <a:schemeClr val="tx1"/>
                </a:solidFill>
                <a:latin typeface="DM Sans"/>
              </a:rPr>
              <a:t>單層 LSTM (512/1024 單位) 搭配 Sigmoid 函數為最佳配置；增加層數無法提升能力。</a:t>
            </a:r>
          </a:p>
          <a:p>
            <a:pPr>
              <a:buNone/>
            </a:pPr>
            <a:endParaRPr lang="zh-TW" altLang="zh-TW" b="0" dirty="0">
              <a:effectLst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438BC05-9F7A-1613-BE65-23A36B9ED247}"/>
              </a:ext>
            </a:extLst>
          </p:cNvPr>
          <p:cNvSpPr txBox="1"/>
          <p:nvPr/>
        </p:nvSpPr>
        <p:spPr>
          <a:xfrm>
            <a:off x="647700" y="585906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TW" altLang="zh-TW" sz="1600" b="1" dirty="0">
                <a:solidFill>
                  <a:schemeClr val="bg2">
                    <a:lumMod val="75000"/>
                  </a:schemeClr>
                </a:solidFill>
                <a:latin typeface="DM Sans"/>
              </a:rPr>
              <a:t>關聯： </a:t>
            </a:r>
            <a:r>
              <a:rPr lang="zh-TW" altLang="zh-TW" sz="1600" b="1" dirty="0">
                <a:solidFill>
                  <a:srgbClr val="1E293B"/>
                </a:solidFill>
                <a:latin typeface="DM Sans"/>
              </a:rPr>
              <a:t>支持本研究中「簡單模型 (ARIMA) 優於複雜模型 (LSTM)」的實驗結果與參數設定。</a:t>
            </a:r>
          </a:p>
        </p:txBody>
      </p:sp>
      <p:pic>
        <p:nvPicPr>
          <p:cNvPr id="14" name="圖片 13" descr="image.png">
            <a:extLst>
              <a:ext uri="{FF2B5EF4-FFF2-40B4-BE49-F238E27FC236}">
                <a16:creationId xmlns:a16="http://schemas.microsoft.com/office/drawing/2014/main" id="{F8BB2892-F4F7-70C0-4F61-F01ED42F7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042" y="2138151"/>
            <a:ext cx="4416190" cy="230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0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79" y="1923032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2367" y="4241818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315954" y="2218305"/>
            <a:ext cx="324556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① 缺乏比較工具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327642" y="4541574"/>
            <a:ext cx="373425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② 模型缺乏系統性比較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1258804" y="5051621"/>
            <a:ext cx="380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從統計到深度學習模型眾多</a:t>
            </a: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少有研究在同一套資料、同樣任務上公平比較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824" y="1653587"/>
            <a:ext cx="4574482" cy="2272422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1258804" y="2692816"/>
            <a:ext cx="38030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市面上缺乏能並排比較台股與美股、又整理得直觀好懂的工具</a:t>
            </a:r>
            <a:endParaRPr dirty="0"/>
          </a:p>
        </p:txBody>
      </p:sp>
      <p:pic>
        <p:nvPicPr>
          <p:cNvPr id="5" name="Google Shape;124;p15" descr="image.png">
            <a:extLst>
              <a:ext uri="{FF2B5EF4-FFF2-40B4-BE49-F238E27FC236}">
                <a16:creationId xmlns:a16="http://schemas.microsoft.com/office/drawing/2014/main" id="{0A6B3009-D9A4-894E-C914-5F835E1896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512" y="4241817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9;p15">
            <a:extLst>
              <a:ext uri="{FF2B5EF4-FFF2-40B4-BE49-F238E27FC236}">
                <a16:creationId xmlns:a16="http://schemas.microsoft.com/office/drawing/2014/main" id="{B3F57579-A430-75D8-7290-2B1F803DFA81}"/>
              </a:ext>
            </a:extLst>
          </p:cNvPr>
          <p:cNvSpPr txBox="1"/>
          <p:nvPr/>
        </p:nvSpPr>
        <p:spPr>
          <a:xfrm>
            <a:off x="5957787" y="5011602"/>
            <a:ext cx="36208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GPT 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為最新世代工具</a:t>
            </a:r>
            <a:r>
              <a:rPr lang="en-US" altLang="zh-TW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探索其數值預測能力與白話摘要的輔助價值</a:t>
            </a:r>
            <a:endParaRPr dirty="0"/>
          </a:p>
        </p:txBody>
      </p:sp>
      <p:sp>
        <p:nvSpPr>
          <p:cNvPr id="10" name="Google Shape;126;p15">
            <a:extLst>
              <a:ext uri="{FF2B5EF4-FFF2-40B4-BE49-F238E27FC236}">
                <a16:creationId xmlns:a16="http://schemas.microsoft.com/office/drawing/2014/main" id="{E17C7E94-9E5D-FB79-3737-091AFE14AFA5}"/>
              </a:ext>
            </a:extLst>
          </p:cNvPr>
          <p:cNvSpPr txBox="1"/>
          <p:nvPr/>
        </p:nvSpPr>
        <p:spPr>
          <a:xfrm>
            <a:off x="5957787" y="4541574"/>
            <a:ext cx="324556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③ 大語言模型的可能性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1041720"/>
            <a:ext cx="5018259" cy="45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4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</a:t>
            </a:r>
            <a:endParaRPr lang="en-US" sz="2400" b="1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RQ1: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RQ2: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RQ3: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評估指標差異：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RMSE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RQ4: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 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559951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4" y="3417804"/>
            <a:ext cx="5149740" cy="229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632" y="3607004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8D9F1D2-160B-937C-2901-127BF0BB9100}"/>
              </a:ext>
            </a:extLst>
          </p:cNvPr>
          <p:cNvSpPr txBox="1"/>
          <p:nvPr/>
        </p:nvSpPr>
        <p:spPr>
          <a:xfrm>
            <a:off x="1008632" y="4664398"/>
            <a:ext cx="45865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預測目標為「次日」單步預測,以利模型公平比較;</a:t>
            </a:r>
            <a:endParaRPr lang="en-US" altLang="zh-TW" dirty="0"/>
          </a:p>
          <a:p>
            <a:r>
              <a:rPr lang="zh-TW" altLang="zh-TW" dirty="0"/>
              <a:t>標籤可延伸為一週(t+5)、一個月(t+20)以做中長期預測,</a:t>
            </a:r>
            <a:endParaRPr lang="en-US" altLang="zh-TW" dirty="0"/>
          </a:p>
          <a:p>
            <a:r>
              <a:rPr lang="zh-TW" altLang="zh-TW" dirty="0"/>
              <a:t>列為後續方向。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369970" y="5454743"/>
            <a:ext cx="11577387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875521" y="782610"/>
            <a:ext cx="5995638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/>
              <a:t>ARIMA(自迴歸整合移動平均)是時間序列預測中最常用的統計模型,本研究作為</a:t>
            </a:r>
            <a:r>
              <a:rPr lang="zh-TW" altLang="zh-TW" sz="1600" b="1" dirty="0"/>
              <a:t>基準模型(Baseline)</a:t>
            </a:r>
            <a:r>
              <a:rPr lang="zh-TW" altLang="zh-TW" sz="1600" dirty="0"/>
              <a:t>。對單變量時間序列進行建模與預測。</a:t>
            </a:r>
            <a:endParaRPr sz="12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369971" y="5712215"/>
            <a:ext cx="1157738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三市場差分階數一致為 </a:t>
            </a:r>
            <a:r>
              <a:rPr lang="en-US" altLang="zh-TW" sz="1800" dirty="0">
                <a:solidFill>
                  <a:schemeClr val="bg2"/>
                </a:solidFill>
              </a:rPr>
              <a:t>d=1(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 </a:t>
            </a:r>
            <a:r>
              <a:rPr lang="zh-TW" altLang="en-US" sz="1800" dirty="0">
                <a:solidFill>
                  <a:schemeClr val="bg2"/>
                </a:solidFill>
              </a:rPr>
              <a:t>檢定確認須差分</a:t>
            </a:r>
            <a:r>
              <a:rPr lang="en-US" altLang="zh-TW" sz="1800" dirty="0">
                <a:solidFill>
                  <a:schemeClr val="bg2"/>
                </a:solidFill>
              </a:rPr>
              <a:t>);(</a:t>
            </a:r>
            <a:r>
              <a:rPr lang="en-US" altLang="zh-TW" sz="1800" dirty="0" err="1">
                <a:solidFill>
                  <a:schemeClr val="bg2"/>
                </a:solidFill>
              </a:rPr>
              <a:t>p,q</a:t>
            </a:r>
            <a:r>
              <a:rPr lang="en-US" altLang="zh-TW" sz="1800" dirty="0">
                <a:solidFill>
                  <a:schemeClr val="bg2"/>
                </a:solidFill>
              </a:rPr>
              <a:t>) </a:t>
            </a:r>
            <a:r>
              <a:rPr lang="zh-TW" altLang="en-US" sz="1800" dirty="0">
                <a:solidFill>
                  <a:schemeClr val="bg2"/>
                </a:solidFill>
              </a:rPr>
              <a:t>因五折各折而異</a:t>
            </a:r>
            <a:r>
              <a:rPr lang="en-US" altLang="zh-TW" sz="1800" dirty="0">
                <a:solidFill>
                  <a:schemeClr val="bg2"/>
                </a:solidFill>
              </a:rPr>
              <a:t>,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自動選定。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4F66D-ED00-D7D0-EB06-8D1834B75E57}"/>
              </a:ext>
            </a:extLst>
          </p:cNvPr>
          <p:cNvSpPr txBox="1"/>
          <p:nvPr/>
        </p:nvSpPr>
        <p:spPr>
          <a:xfrm>
            <a:off x="216669" y="1581764"/>
            <a:ext cx="5658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>
                <a:solidFill>
                  <a:schemeClr val="tx1"/>
                </a:solidFill>
              </a:rPr>
              <a:t>為何 </a:t>
            </a:r>
            <a:r>
              <a:rPr lang="en-US" altLang="zh-TW" sz="1600" dirty="0">
                <a:solidFill>
                  <a:schemeClr val="tx1"/>
                </a:solidFill>
              </a:rPr>
              <a:t>d=1</a:t>
            </a:r>
            <a:r>
              <a:rPr lang="zh-TW" altLang="en-US" sz="1600" dirty="0">
                <a:solidFill>
                  <a:schemeClr val="tx1"/>
                </a:solidFill>
              </a:rPr>
              <a:t>：股價為非定態（有趨勢），須一次差分轉為定態，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才能建模；</a:t>
            </a:r>
            <a:r>
              <a:rPr lang="en-US" altLang="zh-TW" sz="1600" dirty="0">
                <a:solidFill>
                  <a:schemeClr val="tx1"/>
                </a:solidFill>
              </a:rPr>
              <a:t>d=0 </a:t>
            </a:r>
            <a:r>
              <a:rPr lang="zh-TW" altLang="en-US" sz="1600" dirty="0">
                <a:solidFill>
                  <a:schemeClr val="tx1"/>
                </a:solidFill>
              </a:rPr>
              <a:t>不差分會殘留趨勢、預測失準。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A262AA3-6D40-08EE-2856-15E2AAD5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277AC1F2-7C23-65D6-56F7-9F0EA1BAD548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ARIMA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CD247E8-5C59-214F-AB9E-49CC1BE800F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AA47984B-B105-67F8-E9CD-CFD1718B931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0FA69091-3B6A-AFCC-AE38-FCFD1C0FA660}"/>
              </a:ext>
            </a:extLst>
          </p:cNvPr>
          <p:cNvSpPr txBox="1"/>
          <p:nvPr/>
        </p:nvSpPr>
        <p:spPr>
          <a:xfrm>
            <a:off x="346464" y="2971745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參數說明：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CEFB1-FA05-8DF0-957B-12928AD2ED0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 err="1">
                <a:solidFill>
                  <a:schemeClr val="tx1"/>
                </a:solidFill>
              </a:rPr>
              <a:t>pmdarima</a:t>
            </a:r>
            <a:r>
              <a:rPr lang="zh-TW" altLang="en-US" sz="1600" b="1" dirty="0">
                <a:solidFill>
                  <a:schemeClr val="tx1"/>
                </a:solidFill>
              </a:rPr>
              <a:t>：</a:t>
            </a:r>
            <a:r>
              <a:rPr lang="en-US" altLang="zh-TW" sz="1600" b="1" dirty="0" err="1">
                <a:solidFill>
                  <a:schemeClr val="tx1"/>
                </a:solidFill>
              </a:rPr>
              <a:t>auto_arima</a:t>
            </a:r>
            <a:r>
              <a:rPr lang="en-US" altLang="zh-TW" sz="1600" b="1" dirty="0">
                <a:solidFill>
                  <a:schemeClr val="tx1"/>
                </a:solidFill>
              </a:rPr>
              <a:t> </a:t>
            </a:r>
            <a:r>
              <a:rPr lang="zh-TW" altLang="en-US" sz="1600" b="1" dirty="0">
                <a:solidFill>
                  <a:schemeClr val="tx1"/>
                </a:solidFill>
              </a:rPr>
              <a:t>自動選參數 </a:t>
            </a:r>
            <a:r>
              <a:rPr lang="en-US" altLang="zh-TW" sz="1600" b="1" dirty="0">
                <a:solidFill>
                  <a:schemeClr val="tx1"/>
                </a:solidFill>
              </a:rPr>
              <a:t>+ rolling forecast</a:t>
            </a:r>
            <a:r>
              <a:rPr lang="zh-TW" altLang="en-US" sz="1600" b="1" dirty="0">
                <a:solidFill>
                  <a:schemeClr val="tx1"/>
                </a:solidFill>
              </a:rPr>
              <a:t>（</a:t>
            </a:r>
            <a:r>
              <a:rPr lang="en-US" altLang="zh-TW" sz="1600" b="1" dirty="0">
                <a:solidFill>
                  <a:schemeClr val="tx1"/>
                </a:solidFill>
              </a:rPr>
              <a:t>arima_baseline.py</a:t>
            </a:r>
            <a:r>
              <a:rPr lang="zh-TW" altLang="en-US" sz="1600" b="1" dirty="0">
                <a:solidFill>
                  <a:schemeClr val="tx1"/>
                </a:solidFill>
              </a:rPr>
              <a:t>）</a:t>
            </a:r>
            <a:endParaRPr lang="zh-TW" altLang="en-US" sz="16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135360D-83C9-4D2C-3695-FE08DEB9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427"/>
          <a:stretch>
            <a:fillRect/>
          </a:stretch>
        </p:blipFill>
        <p:spPr>
          <a:xfrm>
            <a:off x="1947076" y="2102945"/>
            <a:ext cx="8297847" cy="7846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C5AD3E-E081-F6CD-F123-66B7939F26A7}"/>
              </a:ext>
            </a:extLst>
          </p:cNvPr>
          <p:cNvSpPr txBox="1"/>
          <p:nvPr/>
        </p:nvSpPr>
        <p:spPr>
          <a:xfrm>
            <a:off x="721896" y="3310220"/>
            <a:ext cx="95230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start_p=</a:t>
            </a:r>
            <a:r>
              <a:rPr lang="en-US" altLang="zh-TW" sz="1600" dirty="0"/>
              <a:t>1</a:t>
            </a:r>
            <a:r>
              <a:rPr lang="zh-TW" altLang="zh-TW" sz="1600" dirty="0"/>
              <a:t>, start_q=</a:t>
            </a:r>
            <a:r>
              <a:rPr lang="en-US" altLang="zh-TW" sz="1600" dirty="0"/>
              <a:t>1</a:t>
            </a:r>
            <a:r>
              <a:rPr lang="zh-TW" altLang="zh-TW" sz="1600" dirty="0"/>
              <a:t>：AR、MA 階數的搜尋起點。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max_p=5, max_q=5：限制最大階數，避免過度複雜。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d=None:</a:t>
            </a:r>
            <a:r>
              <a:rPr lang="zh-TW" altLang="en-US" sz="1600" dirty="0"/>
              <a:t>差分階數不固定</a:t>
            </a:r>
            <a:r>
              <a:rPr lang="en-US" altLang="zh-TW" sz="1600" dirty="0"/>
              <a:t>,</a:t>
            </a:r>
            <a:r>
              <a:rPr lang="zh-TW" altLang="en-US" sz="1600" dirty="0"/>
              <a:t>由 </a:t>
            </a:r>
            <a:r>
              <a:rPr lang="en-US" altLang="zh-TW" sz="1600" dirty="0" err="1"/>
              <a:t>auto_arima</a:t>
            </a:r>
            <a:r>
              <a:rPr lang="en-US" altLang="zh-TW" sz="1600" dirty="0"/>
              <a:t> </a:t>
            </a:r>
            <a:r>
              <a:rPr lang="zh-TW" altLang="en-US" sz="1600" dirty="0"/>
              <a:t>自動依檢定決定</a:t>
            </a:r>
            <a:r>
              <a:rPr lang="en-US" altLang="zh-TW" sz="1600" dirty="0"/>
              <a:t>(</a:t>
            </a:r>
            <a:r>
              <a:rPr lang="zh-TW" altLang="en-US" sz="1600" dirty="0"/>
              <a:t>本研究三市場皆得 </a:t>
            </a:r>
            <a:r>
              <a:rPr lang="en-US" altLang="zh-TW" sz="1600" dirty="0"/>
              <a:t>d=1)</a:t>
            </a:r>
            <a:r>
              <a:rPr lang="zh-TW" altLang="zh-TW" sz="1600" dirty="0"/>
              <a:t>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seasonal=False：股價日資料無固定季節週期，關閉季節項（不跑 SARIMA）。 information_criterion='aic'：以 AIC 在候選模型中選最佳（兼顧配適度與複雜度）。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stepwise=True：逐步搜尋而非窮舉，速度快且穩定。 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error_action='ignore', suppress_warnings=True：跳過無法配適的組合、抑制警告。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01A688-D880-2F90-7F1F-7B8FC157A13B}"/>
              </a:ext>
            </a:extLst>
          </p:cNvPr>
          <p:cNvSpPr txBox="1"/>
          <p:nvPr/>
        </p:nvSpPr>
        <p:spPr>
          <a:xfrm>
            <a:off x="1485965" y="5891260"/>
            <a:ext cx="7994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highlight>
                  <a:srgbClr val="FFFF00"/>
                </a:highlight>
              </a:rPr>
              <a:t>三市場 </a:t>
            </a:r>
            <a:r>
              <a:rPr lang="en-US" altLang="zh-TW" sz="1600" b="1" dirty="0">
                <a:highlight>
                  <a:srgbClr val="FFFF00"/>
                </a:highlight>
              </a:rPr>
              <a:t>d </a:t>
            </a:r>
            <a:r>
              <a:rPr lang="zh-TW" altLang="en-US" sz="1600" b="1" dirty="0">
                <a:highlight>
                  <a:srgbClr val="FFFF00"/>
                </a:highlight>
              </a:rPr>
              <a:t>皆為 </a:t>
            </a:r>
            <a:r>
              <a:rPr lang="en-US" altLang="zh-TW" sz="1600" b="1" dirty="0">
                <a:highlight>
                  <a:srgbClr val="FFFF00"/>
                </a:highlight>
              </a:rPr>
              <a:t>1,</a:t>
            </a:r>
            <a:r>
              <a:rPr lang="zh-TW" altLang="en-US" sz="1600" b="1" dirty="0">
                <a:highlight>
                  <a:srgbClr val="FFFF00"/>
                </a:highlight>
              </a:rPr>
              <a:t>與 </a:t>
            </a:r>
            <a:r>
              <a:rPr lang="en-US" altLang="zh-TW" sz="1600" b="1" dirty="0">
                <a:highlight>
                  <a:srgbClr val="FFFF00"/>
                </a:highlight>
              </a:rPr>
              <a:t>ADF </a:t>
            </a:r>
            <a:r>
              <a:rPr lang="zh-TW" altLang="en-US" sz="1600" b="1" dirty="0">
                <a:highlight>
                  <a:srgbClr val="FFFF00"/>
                </a:highlight>
              </a:rPr>
              <a:t>一致</a:t>
            </a:r>
            <a:r>
              <a:rPr lang="en-US" altLang="zh-TW" sz="1600" b="1" dirty="0">
                <a:highlight>
                  <a:srgbClr val="FFFF00"/>
                </a:highlight>
              </a:rPr>
              <a:t>;(</a:t>
            </a:r>
            <a:r>
              <a:rPr lang="en-US" altLang="zh-TW" sz="1600" b="1" dirty="0" err="1">
                <a:highlight>
                  <a:srgbClr val="FFFF00"/>
                </a:highlight>
              </a:rPr>
              <a:t>p,q</a:t>
            </a:r>
            <a:r>
              <a:rPr lang="en-US" altLang="zh-TW" sz="1600" b="1" dirty="0">
                <a:highlight>
                  <a:srgbClr val="FFFF00"/>
                </a:highlight>
              </a:rPr>
              <a:t>) </a:t>
            </a:r>
            <a:r>
              <a:rPr lang="zh-TW" altLang="en-US" sz="1600" b="1" dirty="0">
                <a:highlight>
                  <a:srgbClr val="FFFF00"/>
                </a:highlight>
              </a:rPr>
              <a:t>隨各折變動</a:t>
            </a:r>
            <a:r>
              <a:rPr lang="en-US" altLang="zh-TW" sz="1600" b="1" dirty="0">
                <a:highlight>
                  <a:srgbClr val="FFFF00"/>
                </a:highlight>
              </a:rPr>
              <a:t>,</a:t>
            </a:r>
            <a:r>
              <a:rPr lang="zh-TW" altLang="en-US" sz="1600" b="1" dirty="0">
                <a:highlight>
                  <a:srgbClr val="FFFF00"/>
                </a:highlight>
              </a:rPr>
              <a:t>由 </a:t>
            </a:r>
            <a:r>
              <a:rPr lang="en-US" altLang="zh-TW" sz="1600" b="1" dirty="0" err="1">
                <a:highlight>
                  <a:srgbClr val="FFFF00"/>
                </a:highlight>
              </a:rPr>
              <a:t>auto_arima</a:t>
            </a:r>
            <a:r>
              <a:rPr lang="en-US" altLang="zh-TW" sz="1600" b="1" dirty="0">
                <a:highlight>
                  <a:srgbClr val="FFFF00"/>
                </a:highlight>
              </a:rPr>
              <a:t> </a:t>
            </a:r>
            <a:r>
              <a:rPr lang="zh-TW" altLang="en-US" sz="1600" b="1" dirty="0">
                <a:highlight>
                  <a:srgbClr val="FFFF00"/>
                </a:highlight>
              </a:rPr>
              <a:t>自動選定。</a:t>
            </a:r>
          </a:p>
        </p:txBody>
      </p:sp>
    </p:spTree>
    <p:extLst>
      <p:ext uri="{BB962C8B-B14F-4D97-AF65-F5344CB8AC3E}">
        <p14:creationId xmlns:p14="http://schemas.microsoft.com/office/powerpoint/2010/main" val="269905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AF6C39-AB7D-F445-419E-7D88FB686807}"/>
              </a:ext>
            </a:extLst>
          </p:cNvPr>
          <p:cNvSpPr txBox="1"/>
          <p:nvPr/>
        </p:nvSpPr>
        <p:spPr>
          <a:xfrm>
            <a:off x="1103230" y="3899315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2000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F902D42-C811-7DC2-C636-C654294B5C85}"/>
              </a:ext>
            </a:extLst>
          </p:cNvPr>
          <p:cNvCxnSpPr/>
          <p:nvPr/>
        </p:nvCxnSpPr>
        <p:spPr>
          <a:xfrm>
            <a:off x="1524000" y="429519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973B3895-3AC3-9652-9FA9-E89B1C9D6768}"/>
              </a:ext>
            </a:extLst>
          </p:cNvPr>
          <p:cNvSpPr txBox="1"/>
          <p:nvPr/>
        </p:nvSpPr>
        <p:spPr>
          <a:xfrm>
            <a:off x="2426704" y="3893865"/>
            <a:ext cx="841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800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1BB03A2-8D19-272E-6E1A-FE1A9948441C}"/>
              </a:ext>
            </a:extLst>
          </p:cNvPr>
          <p:cNvCxnSpPr/>
          <p:nvPr/>
        </p:nvCxnSpPr>
        <p:spPr>
          <a:xfrm>
            <a:off x="2847474" y="4289748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6029ADD-A388-AB01-7114-9572CF30ED60}"/>
              </a:ext>
            </a:extLst>
          </p:cNvPr>
          <p:cNvSpPr txBox="1"/>
          <p:nvPr/>
        </p:nvSpPr>
        <p:spPr>
          <a:xfrm>
            <a:off x="3792184" y="3904458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1300</a:t>
            </a:r>
            <a:r>
              <a:rPr lang="zh-TW" altLang="en-US" sz="1400" dirty="0"/>
              <a:t>筆</a:t>
            </a:r>
            <a:endParaRPr lang="zh-TW" altLang="en-US" dirty="0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AEFE71E8-3B82-E84F-C603-3D6A5CE1A704}"/>
              </a:ext>
            </a:extLst>
          </p:cNvPr>
          <p:cNvCxnSpPr/>
          <p:nvPr/>
        </p:nvCxnSpPr>
        <p:spPr>
          <a:xfrm>
            <a:off x="4212954" y="4300341"/>
            <a:ext cx="0" cy="691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B01535B-EE4F-289A-5588-B1B77059D741}"/>
              </a:ext>
            </a:extLst>
          </p:cNvPr>
          <p:cNvSpPr txBox="1"/>
          <p:nvPr/>
        </p:nvSpPr>
        <p:spPr>
          <a:xfrm>
            <a:off x="849230" y="3760810"/>
            <a:ext cx="841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EX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76800" y="5615574"/>
            <a:ext cx="6466737" cy="1042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89641"/>
              </p:ext>
            </p:extLst>
          </p:nvPr>
        </p:nvGraphicFramePr>
        <p:xfrm>
          <a:off x="503901" y="1909499"/>
          <a:ext cx="5530264" cy="3304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結構透明度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47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47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89028C05-F4C2-9DAE-6A7D-0461D31EB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169" y="1909499"/>
            <a:ext cx="4483125" cy="339724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4AD0A74-C971-BD39-6A39-18060183072F}"/>
              </a:ext>
            </a:extLst>
          </p:cNvPr>
          <p:cNvSpPr txBox="1"/>
          <p:nvPr/>
        </p:nvSpPr>
        <p:spPr>
          <a:xfrm>
            <a:off x="1137221" y="5813898"/>
            <a:ext cx="646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實測：決策樹「訓練誤差最低、測試誤差最大」＝過擬合；</a:t>
            </a:r>
            <a:endParaRPr lang="en-US" altLang="zh-TW" sz="18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800" b="1" dirty="0">
                <a:solidFill>
                  <a:schemeClr val="bg2">
                    <a:lumMod val="75000"/>
                  </a:schemeClr>
                </a:solidFill>
              </a:rPr>
              <a:t>隨機森林泛化更佳，印證上表準確度差異。</a:t>
            </a:r>
            <a:endParaRPr lang="zh-TW" altLang="en-US" sz="18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9DA750-B6B4-A8AF-BF04-3977412D2082}"/>
              </a:ext>
            </a:extLst>
          </p:cNvPr>
          <p:cNvSpPr/>
          <p:nvPr/>
        </p:nvSpPr>
        <p:spPr>
          <a:xfrm>
            <a:off x="9763125" y="4545865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9F28B9-25BC-0A8D-2399-EE169BE0E328}"/>
              </a:ext>
            </a:extLst>
          </p:cNvPr>
          <p:cNvSpPr/>
          <p:nvPr/>
        </p:nvSpPr>
        <p:spPr>
          <a:xfrm>
            <a:off x="9763125" y="3368808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EB4F3D-18D5-E311-98DD-441F72EAB715}"/>
              </a:ext>
            </a:extLst>
          </p:cNvPr>
          <p:cNvSpPr/>
          <p:nvPr/>
        </p:nvSpPr>
        <p:spPr>
          <a:xfrm>
            <a:off x="9801325" y="2188207"/>
            <a:ext cx="542624" cy="322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29605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粗略預測</a:t>
            </a:r>
            <a:endParaRPr sz="1800" dirty="0">
              <a:solidFill>
                <a:schemeClr val="bg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  <p:sp>
        <p:nvSpPr>
          <p:cNvPr id="3" name="Google Shape;214;p20">
            <a:extLst>
              <a:ext uri="{FF2B5EF4-FFF2-40B4-BE49-F238E27FC236}">
                <a16:creationId xmlns:a16="http://schemas.microsoft.com/office/drawing/2014/main" id="{0E462CDD-7CBF-0D22-B22E-0D3E262DF0FB}"/>
              </a:ext>
            </a:extLst>
          </p:cNvPr>
          <p:cNvSpPr txBox="1"/>
          <p:nvPr/>
        </p:nvSpPr>
        <p:spPr>
          <a:xfrm>
            <a:off x="5840387" y="264942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算出「實際值 − 預測值」＝殘差（還差多少）</a:t>
            </a:r>
          </a:p>
        </p:txBody>
      </p:sp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52635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en-US" altLang="zh-TW" sz="3300" b="1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lang="zh-TW" altLang="en-US" sz="3600"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j-lt"/>
                <a:ea typeface="DM Sans"/>
                <a:cs typeface="DM Sans"/>
                <a:sym typeface="DM Sans"/>
              </a:rPr>
              <a:t>弱學習器</a:t>
            </a:r>
            <a:endParaRPr lang="en-US" altLang="zh-TW" sz="1800" b="1" i="0" u="none" strike="noStrike" cap="none" dirty="0">
              <a:solidFill>
                <a:schemeClr val="bg2">
                  <a:lumMod val="75000"/>
                </a:schemeClr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用全部資料訓練一棵很淺的樹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C039C04-62C8-BD6A-4B81-17758701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78C19A5-B1C4-291B-E90E-260B7FEC6B26}"/>
              </a:ext>
            </a:extLst>
          </p:cNvPr>
          <p:cNvSpPr txBox="1"/>
          <p:nvPr/>
        </p:nvSpPr>
        <p:spPr>
          <a:xfrm>
            <a:off x="832433" y="835493"/>
            <a:ext cx="994786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 err="1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、</a:t>
            </a:r>
            <a:r>
              <a:rPr lang="en-US" altLang="zh-TW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、</a:t>
            </a:r>
            <a:r>
              <a:rPr lang="en-US" altLang="zh-TW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</a:t>
            </a:r>
            <a:r>
              <a:rPr lang="zh-TW" altLang="en-US" sz="3300" b="1" i="0" u="none" strike="noStrike" cap="none" dirty="0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 比較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97975E4-DBAF-93E5-8E4E-C083B9B459F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20">
            <a:extLst>
              <a:ext uri="{FF2B5EF4-FFF2-40B4-BE49-F238E27FC236}">
                <a16:creationId xmlns:a16="http://schemas.microsoft.com/office/drawing/2014/main" id="{DBB83271-2132-0C17-5271-E7ADBC25FC6C}"/>
              </a:ext>
            </a:extLst>
          </p:cNvPr>
          <p:cNvSpPr txBox="1"/>
          <p:nvPr/>
        </p:nvSpPr>
        <p:spPr>
          <a:xfrm>
            <a:off x="734929" y="5730119"/>
            <a:ext cx="107221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600" dirty="0" err="1">
                <a:solidFill>
                  <a:srgbClr val="404040"/>
                </a:solidFill>
                <a:latin typeface="+mn-lt"/>
              </a:rPr>
              <a:t>三者皆為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Boosting，XGBoost</a:t>
            </a:r>
            <a:r>
              <a:rPr sz="1600" dirty="0">
                <a:solidFill>
                  <a:srgbClr val="404040"/>
                </a:solidFill>
                <a:latin typeface="+mn-lt"/>
              </a:rPr>
              <a:t> 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在防過擬合與速度上最完整；但本研究中三者迴歸誤差相近，且均遠大於</a:t>
            </a:r>
            <a:r>
              <a:rPr sz="1600" dirty="0">
                <a:solidFill>
                  <a:srgbClr val="404040"/>
                </a:solidFill>
                <a:latin typeface="+mn-lt"/>
              </a:rPr>
              <a:t> ARIMA/</a:t>
            </a:r>
            <a:r>
              <a:rPr sz="1600" dirty="0" err="1">
                <a:solidFill>
                  <a:srgbClr val="404040"/>
                </a:solidFill>
                <a:latin typeface="+mn-lt"/>
              </a:rPr>
              <a:t>LSTM（受集成模型無法外推所限</a:t>
            </a:r>
            <a:r>
              <a:rPr sz="1600" dirty="0">
                <a:solidFill>
                  <a:srgbClr val="404040"/>
                </a:solidFill>
                <a:latin typeface="+mn-lt"/>
              </a:rPr>
              <a:t>）。</a:t>
            </a:r>
          </a:p>
        </p:txBody>
      </p:sp>
      <p:graphicFrame>
        <p:nvGraphicFramePr>
          <p:cNvPr id="5" name="Google Shape;288;p24">
            <a:extLst>
              <a:ext uri="{FF2B5EF4-FFF2-40B4-BE49-F238E27FC236}">
                <a16:creationId xmlns:a16="http://schemas.microsoft.com/office/drawing/2014/main" id="{604CC519-9D94-441E-EC2B-D8DA999565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4856049"/>
              </p:ext>
            </p:extLst>
          </p:nvPr>
        </p:nvGraphicFramePr>
        <p:xfrm>
          <a:off x="571500" y="1999312"/>
          <a:ext cx="10722142" cy="336166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29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672645720"/>
                    </a:ext>
                  </a:extLst>
                </a:gridCol>
                <a:gridCol w="2807469">
                  <a:extLst>
                    <a:ext uri="{9D8B030D-6E8A-4147-A177-3AD203B41FA5}">
                      <a16:colId xmlns:a16="http://schemas.microsoft.com/office/drawing/2014/main" val="198529925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比較項目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AdaBoost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Gradient Boosting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XGBoost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核心機制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逐輪提高被分錯樣本的權重，串聯弱學習器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沿損失函數梯度逐步擬合前一輪殘差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 GBM 為基礎，做多項工程強化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防過擬合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弱學習器(淺樹)串聯逐步補強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以學習率縮小每步更新幅度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L1/L2 正規化 + 學習率 0.1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運算效率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序列訓練、較慢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二階梯度近似 + 平行運算，最快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對離群值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較敏感（會加大其權重）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相對穩健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本研究 SPY 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3398.31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/>
                        <a:t>2821.29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600" dirty="0"/>
                        <a:t>2797.95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55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BB67074C-D8AA-5BF5-D0A6-C9E9046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700A459B-CEBF-25F5-B3B6-C7A7BB76783E}"/>
              </a:ext>
            </a:extLst>
          </p:cNvPr>
          <p:cNvSpPr txBox="1"/>
          <p:nvPr/>
        </p:nvSpPr>
        <p:spPr>
          <a:xfrm>
            <a:off x="832434" y="835493"/>
            <a:ext cx="702017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樹模型：四種集成模型核心程式碼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C656C5F-D67B-70B4-662E-C1DD4D0988F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18B66522-C661-2965-7425-D24F26F0D64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F8F9C82D-E68C-9B7A-49EC-EDA8724158EE}"/>
              </a:ext>
            </a:extLst>
          </p:cNvPr>
          <p:cNvSpPr txBox="1"/>
          <p:nvPr/>
        </p:nvSpPr>
        <p:spPr>
          <a:xfrm>
            <a:off x="282295" y="5400343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6BAEDED2-9812-7DEE-DDF1-F936D4795FE0}"/>
              </a:ext>
            </a:extLst>
          </p:cNvPr>
          <p:cNvSpPr txBox="1"/>
          <p:nvPr/>
        </p:nvSpPr>
        <p:spPr>
          <a:xfrm>
            <a:off x="1069808" y="5822984"/>
            <a:ext cx="10052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RF / AdaBoost / GBM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sklearn.ensemble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來自 </a:t>
            </a:r>
            <a:r>
              <a:rPr lang="en-US" altLang="zh-TW" sz="1600" dirty="0" err="1"/>
              <a:t>xgboost</a:t>
            </a:r>
            <a:r>
              <a:rPr lang="en-US" altLang="zh-TW" sz="1600" dirty="0"/>
              <a:t> </a:t>
            </a:r>
            <a:r>
              <a:rPr lang="zh-TW" altLang="en-US" sz="1600" dirty="0"/>
              <a:t>套件。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四個模型皆以 </a:t>
            </a:r>
            <a:r>
              <a:rPr lang="en-US" altLang="zh-TW" sz="1600" dirty="0" err="1"/>
              <a:t>TimeSeriesSplit</a:t>
            </a:r>
            <a:r>
              <a:rPr lang="zh-TW" altLang="en-US" sz="1600" dirty="0"/>
              <a:t>（時序交叉驗證）評估，</a:t>
            </a:r>
            <a:r>
              <a:rPr lang="zh-TW" altLang="en-US" sz="1600" dirty="0">
                <a:solidFill>
                  <a:schemeClr val="tx1"/>
                </a:solidFill>
              </a:rPr>
              <a:t>依時間切分、訓練集永遠早於驗證集，避免用未來資料預測過去（資料洩漏）。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8089C-F9E2-87F8-F4CB-A3F79B9BF0B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sklearn.ensemble</a:t>
            </a:r>
            <a:r>
              <a:rPr lang="en-US" altLang="zh-TW" sz="1600" dirty="0"/>
              <a:t> + </a:t>
            </a:r>
            <a:r>
              <a:rPr lang="en-US" altLang="zh-TW" sz="1600" dirty="0" err="1"/>
              <a:t>xgboost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TimeSeriesSplit</a:t>
            </a:r>
            <a:r>
              <a:rPr lang="en-US" altLang="zh-TW" sz="1600" dirty="0"/>
              <a:t> </a:t>
            </a:r>
            <a:r>
              <a:rPr lang="zh-TW" altLang="en-US" sz="1600" dirty="0"/>
              <a:t>驗證（</a:t>
            </a:r>
            <a:r>
              <a:rPr lang="en-US" altLang="zh-TW" sz="1600" dirty="0"/>
              <a:t>run_regression.py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6C2329-EB80-684A-8A14-FB6DB2E5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7" y="3739031"/>
            <a:ext cx="10264725" cy="14152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806C22-B56D-46E7-710F-CB8D17E0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67" y="2184902"/>
            <a:ext cx="10264725" cy="11828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CB6A95A-7BF5-7BA8-DAC0-18DD31CBF24C}"/>
              </a:ext>
            </a:extLst>
          </p:cNvPr>
          <p:cNvSpPr/>
          <p:nvPr/>
        </p:nvSpPr>
        <p:spPr>
          <a:xfrm>
            <a:off x="2005263" y="2184902"/>
            <a:ext cx="1684421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FF330-D1B4-6101-6B37-2AFAB125A231}"/>
              </a:ext>
            </a:extLst>
          </p:cNvPr>
          <p:cNvSpPr/>
          <p:nvPr/>
        </p:nvSpPr>
        <p:spPr>
          <a:xfrm>
            <a:off x="2005263" y="2981825"/>
            <a:ext cx="721896" cy="177005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09C41B-8B22-8D54-748F-992A980DA381}"/>
              </a:ext>
            </a:extLst>
          </p:cNvPr>
          <p:cNvSpPr/>
          <p:nvPr/>
        </p:nvSpPr>
        <p:spPr>
          <a:xfrm>
            <a:off x="6729664" y="4114258"/>
            <a:ext cx="1211178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44370-87DD-9B03-DBCB-1FB6209638E0}"/>
              </a:ext>
            </a:extLst>
          </p:cNvPr>
          <p:cNvSpPr/>
          <p:nvPr/>
        </p:nvSpPr>
        <p:spPr>
          <a:xfrm>
            <a:off x="7122696" y="4324832"/>
            <a:ext cx="1459830" cy="17046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B48A443-7476-6545-83D0-48E9102FAC97}"/>
              </a:ext>
            </a:extLst>
          </p:cNvPr>
          <p:cNvSpPr txBox="1"/>
          <p:nvPr/>
        </p:nvSpPr>
        <p:spPr>
          <a:xfrm>
            <a:off x="7852611" y="120316"/>
            <a:ext cx="3872163" cy="1708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sklearn.ensemble</a:t>
            </a:r>
            <a:r>
              <a:rPr lang="zh-TW" altLang="en-US" sz="1500" b="0" dirty="0">
                <a:solidFill>
                  <a:srgbClr val="404040"/>
                </a:solidFill>
              </a:rPr>
              <a:t>：集成模型模組，隨機森林以多棵決策樹平均、抑制過擬合。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n_estimators</a:t>
            </a:r>
            <a:r>
              <a:rPr lang="en-US" altLang="zh-TW" sz="1500" b="0" dirty="0">
                <a:solidFill>
                  <a:srgbClr val="404040"/>
                </a:solidFill>
              </a:rPr>
              <a:t>=100 </a:t>
            </a:r>
            <a:r>
              <a:rPr lang="zh-TW" altLang="en-US" sz="1500" b="0" dirty="0">
                <a:solidFill>
                  <a:srgbClr val="404040"/>
                </a:solidFill>
              </a:rPr>
              <a:t>樹的數量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r>
              <a:rPr lang="en-US" altLang="zh-TW" sz="1500" b="0" dirty="0" err="1">
                <a:solidFill>
                  <a:srgbClr val="404040"/>
                </a:solidFill>
              </a:rPr>
              <a:t>max_depth</a:t>
            </a:r>
            <a:r>
              <a:rPr lang="en-US" altLang="zh-TW" sz="1500" b="0" dirty="0">
                <a:solidFill>
                  <a:srgbClr val="404040"/>
                </a:solidFill>
              </a:rPr>
              <a:t> </a:t>
            </a:r>
            <a:r>
              <a:rPr lang="zh-TW" altLang="en-US" sz="1500" b="0" dirty="0">
                <a:solidFill>
                  <a:srgbClr val="404040"/>
                </a:solidFill>
              </a:rPr>
              <a:t>樹深</a:t>
            </a:r>
            <a:r>
              <a:rPr lang="en-US" altLang="zh-TW" sz="1500" b="0" dirty="0">
                <a:solidFill>
                  <a:srgbClr val="404040"/>
                </a:solidFill>
              </a:rPr>
              <a:t>(RF 10</a:t>
            </a:r>
            <a:r>
              <a:rPr lang="zh-TW" altLang="en-US" sz="1500" b="0" dirty="0">
                <a:solidFill>
                  <a:srgbClr val="404040"/>
                </a:solidFill>
              </a:rPr>
              <a:t>／</a:t>
            </a:r>
            <a:r>
              <a:rPr lang="en-US" altLang="zh-TW" sz="1500" b="0" dirty="0">
                <a:solidFill>
                  <a:srgbClr val="404040"/>
                </a:solidFill>
              </a:rPr>
              <a:t>XGB·GBM 4)</a:t>
            </a:r>
            <a:r>
              <a:rPr lang="zh-TW" altLang="en-US" sz="1500" b="0" dirty="0">
                <a:solidFill>
                  <a:srgbClr val="404040"/>
                </a:solidFill>
              </a:rPr>
              <a:t>｜</a:t>
            </a:r>
            <a:endParaRPr lang="en-US" altLang="zh-TW" sz="1500" b="0" dirty="0">
              <a:solidFill>
                <a:srgbClr val="404040"/>
              </a:solidFill>
            </a:endParaRPr>
          </a:p>
          <a:p>
            <a:r>
              <a:rPr lang="en-US" altLang="zh-TW" sz="1500" b="0" dirty="0" err="1">
                <a:solidFill>
                  <a:srgbClr val="404040"/>
                </a:solidFill>
              </a:rPr>
              <a:t>learning_rate</a:t>
            </a:r>
            <a:r>
              <a:rPr lang="en-US" altLang="zh-TW" sz="1500" b="0" dirty="0">
                <a:solidFill>
                  <a:srgbClr val="404040"/>
                </a:solidFill>
              </a:rPr>
              <a:t>=0.1 </a:t>
            </a:r>
            <a:r>
              <a:rPr lang="zh-TW" altLang="en-US" sz="1500" b="0" dirty="0">
                <a:solidFill>
                  <a:srgbClr val="404040"/>
                </a:solidFill>
              </a:rPr>
              <a:t>步長縮減防過擬合｜</a:t>
            </a:r>
            <a:r>
              <a:rPr lang="en-US" altLang="zh-TW" sz="1500" b="0" dirty="0" err="1">
                <a:solidFill>
                  <a:srgbClr val="404040"/>
                </a:solidFill>
              </a:rPr>
              <a:t>random_state</a:t>
            </a:r>
            <a:r>
              <a:rPr lang="en-US" altLang="zh-TW" sz="1500" b="0" dirty="0">
                <a:solidFill>
                  <a:srgbClr val="404040"/>
                </a:solidFill>
              </a:rPr>
              <a:t>=42 </a:t>
            </a:r>
            <a:r>
              <a:rPr lang="zh-TW" altLang="en-US" sz="1500" b="0" dirty="0">
                <a:solidFill>
                  <a:srgbClr val="404040"/>
                </a:solidFill>
              </a:rPr>
              <a:t>固定種子可重現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778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各種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單向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單層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雙層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7902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依資訊流動方向分單向與雙向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,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再依網路深度分單層與雙層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,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本研究共四種變體。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30274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160435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</a:t>
            </a:r>
            <a:endParaRPr lang="en-US" altLang="zh-TW" dirty="0"/>
          </a:p>
          <a:p>
            <a:pPr lvl="0"/>
            <a:r>
              <a:rPr lang="zh-TW" altLang="en-US" dirty="0"/>
              <a:t>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zh-TW" dirty="0"/>
              <a:t>本研究同樣實作單層、雙層兩種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EF08C6F-AEAF-5AE1-BD76-22FFC769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TensorFlow - 維基百科，自由的百科全書">
            <a:extLst>
              <a:ext uri="{FF2B5EF4-FFF2-40B4-BE49-F238E27FC236}">
                <a16:creationId xmlns:a16="http://schemas.microsoft.com/office/drawing/2014/main" id="{D4D1F5E0-934B-54A7-03ED-747B8D70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12" y="927970"/>
            <a:ext cx="1622957" cy="1033841"/>
          </a:xfrm>
          <a:prstGeom prst="rect">
            <a:avLst/>
          </a:prstGeom>
        </p:spPr>
      </p:pic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E4A635C2-9C91-D605-A65B-60EFE86A0F2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A80AD10-9C52-1979-57E0-FE63364DF7E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9280F5A1-BB28-BE22-D38B-85C952F07024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118A581C-7C2E-CAFD-68F5-6D405B0CE605}"/>
              </a:ext>
            </a:extLst>
          </p:cNvPr>
          <p:cNvSpPr txBox="1"/>
          <p:nvPr/>
        </p:nvSpPr>
        <p:spPr>
          <a:xfrm>
            <a:off x="98861" y="5778338"/>
            <a:ext cx="18899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10AC17E-41BE-04E6-BC47-ED6EE662C4BD}"/>
              </a:ext>
            </a:extLst>
          </p:cNvPr>
          <p:cNvSpPr txBox="1"/>
          <p:nvPr/>
        </p:nvSpPr>
        <p:spPr>
          <a:xfrm>
            <a:off x="1841527" y="5819351"/>
            <a:ext cx="77596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600" dirty="0"/>
              <a:t>單層 LSTM：一層 LSTM(50) + Dense(1) 輸出數值。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雙層 LSTM：疊兩層 LSTM（第一層 return_sequences=True）。 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zh-TW" sz="1600" dirty="0"/>
              <a:t>關鍵：Dense(1) 無 sigmoid、loss='mse'，即為迴歸版本。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8AFD01-DECC-44AB-11CA-9AE19764FCCC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51109F-382E-CDBF-1E63-45C5BC48C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380" y="2148357"/>
            <a:ext cx="9503532" cy="6703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4C20F97-9C1B-1784-E976-8A6BCC0AEC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688" b="52344"/>
          <a:stretch>
            <a:fillRect/>
          </a:stretch>
        </p:blipFill>
        <p:spPr>
          <a:xfrm>
            <a:off x="1237000" y="2923944"/>
            <a:ext cx="9503532" cy="2719573"/>
          </a:xfrm>
          <a:prstGeom prst="rect">
            <a:avLst/>
          </a:prstGeom>
        </p:spPr>
      </p:pic>
      <p:pic>
        <p:nvPicPr>
          <p:cNvPr id="9" name="圖片 8" descr="主页- Keras 中文文档">
            <a:extLst>
              <a:ext uri="{FF2B5EF4-FFF2-40B4-BE49-F238E27FC236}">
                <a16:creationId xmlns:a16="http://schemas.microsoft.com/office/drawing/2014/main" id="{2D4142AD-25A4-99B3-BE2C-5B82E72C9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412" y="326959"/>
            <a:ext cx="1419309" cy="41183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B72A38-5954-DAF9-0D38-57E55655FA09}"/>
              </a:ext>
            </a:extLst>
          </p:cNvPr>
          <p:cNvSpPr txBox="1"/>
          <p:nvPr/>
        </p:nvSpPr>
        <p:spPr>
          <a:xfrm>
            <a:off x="7539144" y="120316"/>
            <a:ext cx="426153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chemeClr val="bg2">
                    <a:lumMod val="75000"/>
                  </a:schemeClr>
                </a:solidFill>
              </a:rPr>
              <a:t>參數說明</a:t>
            </a:r>
            <a:endParaRPr lang="en-US" altLang="zh-TW" sz="15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TW" altLang="zh-TW" sz="1500" b="1" dirty="0"/>
              <a:t>LSTM(50)</a:t>
            </a:r>
            <a:r>
              <a:rPr lang="zh-TW" altLang="zh-TW" sz="1500" dirty="0"/>
              <a:t>：50 個神經元（隱藏狀態維度）。</a:t>
            </a:r>
            <a:br>
              <a:rPr lang="zh-TW" altLang="zh-TW" sz="1500" dirty="0"/>
            </a:br>
            <a:r>
              <a:rPr lang="zh-TW" altLang="zh-TW" sz="1500" b="1" dirty="0"/>
              <a:t>return_sequences=True</a:t>
            </a:r>
            <a:r>
              <a:rPr lang="zh-TW" altLang="zh-TW" sz="1500" dirty="0"/>
              <a:t>：回傳每個時間步輸出，供下一層 LSTM 使用（疊雙層時第一層需設）。</a:t>
            </a:r>
            <a:br>
              <a:rPr lang="zh-TW" altLang="zh-TW" sz="1500" dirty="0"/>
            </a:br>
            <a:r>
              <a:rPr lang="zh-TW" altLang="zh-TW" sz="1500" b="1" dirty="0"/>
              <a:t>Dense(1)</a:t>
            </a:r>
            <a:r>
              <a:rPr lang="zh-TW" altLang="zh-TW" sz="1500" dirty="0"/>
              <a:t>：輸出 1 個數值（次日收盤價）。</a:t>
            </a:r>
            <a:br>
              <a:rPr lang="zh-TW" altLang="zh-TW" sz="1500" dirty="0"/>
            </a:br>
            <a:r>
              <a:rPr lang="zh-TW" altLang="zh-TW" sz="1500" b="1" dirty="0"/>
              <a:t>optimizer='adam'</a:t>
            </a:r>
            <a:r>
              <a:rPr lang="zh-TW" altLang="zh-TW" sz="1500" dirty="0"/>
              <a:t>：Adam 最佳化器，收斂穩定。</a:t>
            </a:r>
            <a:br>
              <a:rPr lang="zh-TW" altLang="zh-TW" sz="1500" dirty="0"/>
            </a:br>
            <a:r>
              <a:rPr lang="zh-TW" altLang="zh-TW" sz="1500" b="1" dirty="0"/>
              <a:t>loss='mse'</a:t>
            </a:r>
            <a:r>
              <a:rPr lang="zh-TW" altLang="zh-TW" sz="1500" dirty="0"/>
              <a:t>：均方誤差；</a:t>
            </a:r>
            <a:endParaRPr lang="en-US" altLang="zh-TW" sz="1500" dirty="0"/>
          </a:p>
          <a:p>
            <a:r>
              <a:rPr lang="zh-TW" altLang="zh-TW" sz="1500" dirty="0"/>
              <a:t>用 mse＋無 sigmoid＝迴歸版本。</a:t>
            </a:r>
            <a:endParaRPr lang="en-US" altLang="zh-TW" sz="1500" b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28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7370271-6DF3-3642-05D0-1896C693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06D70C9F-714D-0222-C12F-8A4980FB4AB6}"/>
              </a:ext>
            </a:extLst>
          </p:cNvPr>
          <p:cNvSpPr txBox="1"/>
          <p:nvPr/>
        </p:nvSpPr>
        <p:spPr>
          <a:xfrm>
            <a:off x="832434" y="835493"/>
            <a:ext cx="940242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深度學習：雙向 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LSTM (</a:t>
            </a:r>
            <a:r>
              <a:rPr lang="en-US" altLang="zh-TW" sz="3300" b="1" i="0" u="none" strike="noStrike" cap="none" dirty="0" err="1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BiLSTM</a:t>
            </a:r>
            <a:r>
              <a:rPr lang="en-US" altLang="zh-TW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) </a:t>
            </a:r>
            <a:r>
              <a:rPr lang="zh-TW" altLang="en-US" sz="33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DD9AEA12-C36E-55DD-9093-BDCE420AFA6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F1215932-1CB7-FEFE-53DC-AB4641C19DF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682ECDFE-B3D1-3F20-A8EF-2BDBFE56AE41}"/>
              </a:ext>
            </a:extLst>
          </p:cNvPr>
          <p:cNvSpPr txBox="1"/>
          <p:nvPr/>
        </p:nvSpPr>
        <p:spPr>
          <a:xfrm>
            <a:off x="676822" y="5653750"/>
            <a:ext cx="97596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3C806A2-4620-4DB3-6509-7E218538657B}"/>
              </a:ext>
            </a:extLst>
          </p:cNvPr>
          <p:cNvSpPr txBox="1"/>
          <p:nvPr/>
        </p:nvSpPr>
        <p:spPr>
          <a:xfrm>
            <a:off x="1822177" y="5792250"/>
            <a:ext cx="984304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Bidirectional</a:t>
            </a:r>
            <a:r>
              <a:rPr lang="zh-TW" altLang="en-US" sz="1600" dirty="0"/>
              <a:t>：同時正向＋反向讀序列再合併，擷取更完整前後文。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單層＝</a:t>
            </a:r>
            <a:r>
              <a:rPr lang="en-US" altLang="zh-TW" sz="1600" dirty="0"/>
              <a:t>Bidirectional(LSTM(50))</a:t>
            </a:r>
            <a:r>
              <a:rPr lang="zh-TW" altLang="en-US" sz="1600" dirty="0"/>
              <a:t>；雙層＝第一層 </a:t>
            </a:r>
            <a:r>
              <a:rPr lang="en-US" altLang="zh-TW" sz="1600" dirty="0" err="1"/>
              <a:t>return_sequences</a:t>
            </a:r>
            <a:r>
              <a:rPr lang="en-US" altLang="zh-TW" sz="1600" dirty="0"/>
              <a:t>=True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en-US" altLang="zh-TW" sz="1600" dirty="0" err="1"/>
              <a:t>adam</a:t>
            </a:r>
            <a:r>
              <a:rPr lang="zh-TW" altLang="en-US" sz="1600" dirty="0"/>
              <a:t>／</a:t>
            </a:r>
            <a:r>
              <a:rPr lang="en-US" altLang="zh-TW" sz="1600" dirty="0" err="1"/>
              <a:t>mse</a:t>
            </a:r>
            <a:r>
              <a:rPr lang="zh-TW" altLang="en-US" sz="1600" dirty="0"/>
              <a:t>／</a:t>
            </a:r>
            <a:r>
              <a:rPr lang="en-US" altLang="zh-TW" sz="1600" dirty="0"/>
              <a:t>Dense(1) </a:t>
            </a:r>
            <a:r>
              <a:rPr lang="zh-TW" altLang="en-US" sz="1600" dirty="0"/>
              <a:t>無 </a:t>
            </a:r>
            <a:r>
              <a:rPr lang="en-US" altLang="zh-TW" sz="1600" dirty="0"/>
              <a:t>sigmoid</a:t>
            </a:r>
            <a:r>
              <a:rPr lang="zh-TW" altLang="en-US" sz="1600" dirty="0"/>
              <a:t>＝迴歸版本。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CD5199-DA2D-932E-4D4A-2B97CE3B7331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/>
              <a:t>Keras Sequential</a:t>
            </a:r>
            <a:r>
              <a:rPr lang="zh-TW" altLang="en-US" sz="1600"/>
              <a:t>，</a:t>
            </a:r>
            <a:r>
              <a:rPr lang="en-US" altLang="zh-TW" sz="1600"/>
              <a:t>Bidirectional </a:t>
            </a:r>
            <a:r>
              <a:rPr lang="zh-TW" altLang="en-US" sz="1600"/>
              <a:t>包住 </a:t>
            </a:r>
            <a:r>
              <a:rPr lang="en-US" altLang="zh-TW" sz="1600"/>
              <a:t>LSTM </a:t>
            </a:r>
            <a:r>
              <a:rPr lang="zh-TW" altLang="en-US" sz="1600"/>
              <a:t>做迴歸（</a:t>
            </a:r>
            <a:r>
              <a:rPr lang="en-US" altLang="zh-TW" sz="1600"/>
              <a:t>models.py</a:t>
            </a:r>
            <a:r>
              <a:rPr lang="zh-TW" altLang="en-US" sz="1600"/>
              <a:t>）</a:t>
            </a:r>
            <a:endParaRPr lang="zh-TW" altLang="en-US" sz="1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0E9AC9-3106-82A5-4933-9BF16E7CC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95" y="2090944"/>
            <a:ext cx="8545187" cy="358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1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0.524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0.51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準確率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0.454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精確率</a:t>
            </a:r>
            <a:endParaRPr lang="en-US" altLang="zh-TW" sz="2000" b="1" i="0" u="none" strike="noStrike" cap="none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0.621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dirty="0">
                <a:solidFill>
                  <a:srgbClr val="FFFF00"/>
                </a:solidFill>
              </a:rPr>
              <a:t>召回率</a:t>
            </a:r>
            <a:endParaRPr lang="en-US" altLang="zh-TW" sz="2000" b="1" dirty="0">
              <a:solidFill>
                <a:srgbClr val="FFFF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/>
            <a:r>
              <a:rPr lang="en-US" altLang="zh-TW" sz="2000" b="1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lang="en-US" altLang="zh-TW"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結果接近隨機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約 </a:t>
            </a:r>
            <a:r>
              <a:rPr lang="en-US" altLang="zh-TW" dirty="0">
                <a:solidFill>
                  <a:schemeClr val="tx1"/>
                </a:solidFill>
              </a:rPr>
              <a:t>0.52</a:t>
            </a:r>
            <a:r>
              <a:rPr lang="zh-TW" altLang="en-US" dirty="0">
                <a:solidFill>
                  <a:schemeClr val="tx1"/>
                </a:solidFill>
              </a:rPr>
              <a:t>；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雖達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，但同樣未超越持續看漲 </a:t>
            </a:r>
            <a:r>
              <a:rPr lang="en-US" altLang="zh-TW" dirty="0">
                <a:solidFill>
                  <a:schemeClr val="tx1"/>
                </a:solidFill>
              </a:rPr>
              <a:t>(Always-Up </a:t>
            </a:r>
            <a:r>
              <a:rPr lang="zh-TW" altLang="en-US" dirty="0">
                <a:solidFill>
                  <a:schemeClr val="tx1"/>
                </a:solidFill>
              </a:rPr>
              <a:t>基準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0.736</a:t>
            </a:r>
            <a:r>
              <a:rPr lang="zh-TW" altLang="en-US" dirty="0">
                <a:solidFill>
                  <a:schemeClr val="tx1"/>
                </a:solidFill>
              </a:rPr>
              <a:t>，方向預測皆無實質效果。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以文字推理漲跌方向，傾向一致猜「漲」，難以穩定判別次日方向。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3181809" y="5715675"/>
            <a:ext cx="5457664" cy="93312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改做數值迴歸（</a:t>
            </a:r>
            <a:r>
              <a:rPr lang="en-US" altLang="zh-TW" dirty="0">
                <a:solidFill>
                  <a:schemeClr val="tx1"/>
                </a:solidFill>
              </a:rPr>
              <a:t>GPT-4o-mini</a:t>
            </a:r>
            <a:r>
              <a:rPr lang="zh-TW" altLang="en-US" dirty="0">
                <a:solidFill>
                  <a:schemeClr val="tx1"/>
                </a:solidFill>
              </a:rPr>
              <a:t>），三市場 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一致達 </a:t>
            </a:r>
            <a:r>
              <a:rPr lang="en-US" altLang="zh-TW" dirty="0">
                <a:solidFill>
                  <a:schemeClr val="tx1"/>
                </a:solidFill>
              </a:rPr>
              <a:t>0.80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2582E059-24F8-DF9B-C212-4382F2C5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>
            <a:extLst>
              <a:ext uri="{FF2B5EF4-FFF2-40B4-BE49-F238E27FC236}">
                <a16:creationId xmlns:a16="http://schemas.microsoft.com/office/drawing/2014/main" id="{A7C5713E-B02A-1914-8C80-0C27D5BF6935}"/>
              </a:ext>
            </a:extLst>
          </p:cNvPr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（預測次日收盤價）</a:t>
            </a:r>
            <a:endParaRPr dirty="0"/>
          </a:p>
        </p:txBody>
      </p:sp>
      <p:sp>
        <p:nvSpPr>
          <p:cNvPr id="253" name="Google Shape;253;p22">
            <a:extLst>
              <a:ext uri="{FF2B5EF4-FFF2-40B4-BE49-F238E27FC236}">
                <a16:creationId xmlns:a16="http://schemas.microsoft.com/office/drawing/2014/main" id="{F7F0E63E-8530-0425-9CAD-DA09B3BB331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4192100-784E-48DB-3185-68BDBB2BF412}"/>
              </a:ext>
            </a:extLst>
          </p:cNvPr>
          <p:cNvSpPr txBox="1"/>
          <p:nvPr/>
        </p:nvSpPr>
        <p:spPr>
          <a:xfrm>
            <a:off x="809624" y="1528709"/>
            <a:ext cx="8438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600"/>
            </a:lvl1pPr>
          </a:lstStyle>
          <a:p>
            <a:r>
              <a:rPr lang="zh-TW" altLang="zh-TW" dirty="0"/>
              <a:t>以 60 天技術指標讓 GPT-4o-mini 預測次日收盤價，SPY 共 50 筆（llm_regression.py）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EF156BA-D605-A3ED-FAE3-F7016E1CAD04}"/>
              </a:ext>
            </a:extLst>
          </p:cNvPr>
          <p:cNvSpPr txBox="1"/>
          <p:nvPr/>
        </p:nvSpPr>
        <p:spPr>
          <a:xfrm>
            <a:off x="5666221" y="2186242"/>
            <a:ext cx="6096000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sz="1600" b="1" dirty="0"/>
              <a:t>設定：</a:t>
            </a:r>
            <a:r>
              <a:rPr lang="zh-TW" altLang="zh-TW" sz="1600" dirty="0"/>
              <a:t>模型 gpt-4o-mini，temperature=0</a:t>
            </a:r>
            <a:r>
              <a:rPr lang="en-US" altLang="zh-TW" sz="1600" dirty="0"/>
              <a:t>.7</a:t>
            </a:r>
            <a:r>
              <a:rPr lang="zh-TW" altLang="zh-TW" sz="1600" dirty="0"/>
              <a:t>；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輸入過去 60 天 5 指標（Close、MA20、MA60、RSI、波動率），</a:t>
            </a:r>
            <a:endParaRPr lang="en-US" altLang="zh-TW" sz="1600" dirty="0"/>
          </a:p>
          <a:p>
            <a:pPr>
              <a:buNone/>
            </a:pPr>
            <a:r>
              <a:rPr lang="zh-TW" altLang="zh-TW" sz="1600" dirty="0"/>
              <a:t>輸出 JSON 次日收盤價；測試集 2022 年後各 50 筆。</a:t>
            </a:r>
          </a:p>
          <a:p>
            <a:pPr>
              <a:buNone/>
            </a:pPr>
            <a:r>
              <a:rPr lang="zh-TW" altLang="zh-TW" sz="1600" b="1" dirty="0"/>
              <a:t>觀察：</a:t>
            </a:r>
            <a:r>
              <a:rPr lang="zh-TW" altLang="zh-TW" sz="1600" dirty="0"/>
              <a:t>三市場 R² 一致落在 0.80 左右（0.7</a:t>
            </a:r>
            <a:r>
              <a:rPr lang="en-US" altLang="zh-TW" sz="1600" dirty="0"/>
              <a:t>84</a:t>
            </a:r>
            <a:r>
              <a:rPr lang="zh-TW" altLang="zh-TW" sz="1600" dirty="0"/>
              <a:t>~0.8</a:t>
            </a:r>
            <a:r>
              <a:rPr lang="en-US" altLang="zh-TW" sz="1600" dirty="0"/>
              <a:t>15</a:t>
            </a:r>
            <a:r>
              <a:rPr lang="zh-TW" altLang="zh-TW" sz="1600" dirty="0"/>
              <a:t>），顯示 LLM 具穩定的數值預測能力。</a:t>
            </a:r>
          </a:p>
          <a:p>
            <a:pPr>
              <a:buNone/>
            </a:pPr>
            <a:r>
              <a:rPr lang="zh-TW" altLang="zh-TW" sz="1600" b="1" dirty="0"/>
              <a:t>⚠ MSE/RMSE 不可跨市場比</a:t>
            </a:r>
            <a:r>
              <a:rPr lang="zh-TW" altLang="zh-TW" sz="1600" dirty="0"/>
              <a:t>（受股價尺度影響：0050 約 50 元、SPY/QQQ 數百元）；跨市場要看 </a:t>
            </a:r>
            <a:r>
              <a:rPr lang="zh-TW" altLang="zh-TW" sz="1600" b="1" dirty="0"/>
              <a:t>R²</a:t>
            </a:r>
            <a:r>
              <a:rPr lang="zh-TW" altLang="zh-TW" sz="1600" dirty="0"/>
              <a:t>（標準化、可比）。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C4F286DB-C3C0-3F8D-720E-1253228F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017" y="4055646"/>
            <a:ext cx="4928948" cy="205372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05E6631D-9663-DA86-9E21-9EA259136364}"/>
              </a:ext>
            </a:extLst>
          </p:cNvPr>
          <p:cNvSpPr/>
          <p:nvPr/>
        </p:nvSpPr>
        <p:spPr>
          <a:xfrm>
            <a:off x="7403432" y="5355358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68FC9BEE-87B2-AF34-D141-F5BBBDAB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5646"/>
            <a:ext cx="4956330" cy="205372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5186AA-9C03-7852-BB43-6EB0A68E83E4}"/>
              </a:ext>
            </a:extLst>
          </p:cNvPr>
          <p:cNvSpPr/>
          <p:nvPr/>
        </p:nvSpPr>
        <p:spPr>
          <a:xfrm>
            <a:off x="2414337" y="535535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2B516C6B-E70A-A3AB-C755-7E78AE82F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038"/>
            <a:ext cx="4956329" cy="191208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E371DA8-E719-74A5-0848-672B89AC930E}"/>
              </a:ext>
            </a:extLst>
          </p:cNvPr>
          <p:cNvSpPr/>
          <p:nvPr/>
        </p:nvSpPr>
        <p:spPr>
          <a:xfrm>
            <a:off x="2271622" y="3310689"/>
            <a:ext cx="882316" cy="2366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940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BF7FA5D-4A19-73A2-8D53-1928861D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CAC14968-9803-EED6-50FD-2DFE00CC577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870A2D8-7AB6-5AA7-EC32-15C6D8E5C7F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80D1E6E2-516C-B8DE-546C-E1555EFBB73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ED10ACE4-9182-E0D0-88D1-41C6714C32B4}"/>
              </a:ext>
            </a:extLst>
          </p:cNvPr>
          <p:cNvSpPr txBox="1"/>
          <p:nvPr/>
        </p:nvSpPr>
        <p:spPr>
          <a:xfrm>
            <a:off x="571500" y="5395032"/>
            <a:ext cx="11741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18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5882777B-F296-C5EA-C7C3-655E1ED0118B}"/>
              </a:ext>
            </a:extLst>
          </p:cNvPr>
          <p:cNvSpPr txBox="1"/>
          <p:nvPr/>
        </p:nvSpPr>
        <p:spPr>
          <a:xfrm>
            <a:off x="1456419" y="5776285"/>
            <a:ext cx="97088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600" dirty="0"/>
              <a:t>temperature=0.7</a:t>
            </a:r>
            <a:r>
              <a:rPr lang="zh-TW" altLang="en-US" sz="1600" dirty="0"/>
              <a:t>：控制輸出隨機性（範圍 </a:t>
            </a:r>
            <a:r>
              <a:rPr lang="en-US" altLang="zh-TW" sz="1600" dirty="0"/>
              <a:t>0~2</a:t>
            </a:r>
            <a:r>
              <a:rPr lang="zh-TW" altLang="en-US" sz="1600" dirty="0"/>
              <a:t>）。</a:t>
            </a:r>
            <a:endParaRPr lang="en-US" altLang="zh-TW" sz="1600" dirty="0"/>
          </a:p>
          <a:p>
            <a:pPr marL="285750" lvl="0" indent="-285750">
              <a:buFontTx/>
              <a:buChar char="-"/>
            </a:pPr>
            <a:r>
              <a:rPr lang="zh-TW" altLang="en-US" sz="1600" dirty="0"/>
              <a:t>雖然 </a:t>
            </a:r>
            <a:r>
              <a:rPr lang="en-US" altLang="zh-TW" sz="1600" dirty="0"/>
              <a:t>0.7 </a:t>
            </a:r>
            <a:r>
              <a:rPr lang="zh-TW" altLang="en-US" sz="1600" dirty="0"/>
              <a:t>會帶來一點隨機性，但我重跑後三個市場的 </a:t>
            </a:r>
            <a:r>
              <a:rPr lang="en-US" altLang="zh-TW" sz="1600" dirty="0"/>
              <a:t>R² </a:t>
            </a:r>
            <a:r>
              <a:rPr lang="zh-TW" altLang="en-US" sz="1600" dirty="0"/>
              <a:t>仍然維持在 </a:t>
            </a:r>
            <a:r>
              <a:rPr lang="en-US" altLang="zh-TW" sz="1600" dirty="0"/>
              <a:t>0.8 </a:t>
            </a:r>
            <a:r>
              <a:rPr lang="zh-TW" altLang="en-US" sz="1600" dirty="0"/>
              <a:t>左右，代表 </a:t>
            </a:r>
            <a:r>
              <a:rPr lang="en-US" altLang="zh-TW" sz="1600" dirty="0"/>
              <a:t>LLM </a:t>
            </a:r>
            <a:r>
              <a:rPr lang="zh-TW" altLang="en-US" sz="1600" dirty="0"/>
              <a:t>的數值預測能力是穩定的。</a:t>
            </a:r>
            <a:endParaRPr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85144F-FB0E-7E32-3E92-522E770D6F3D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OpenAI API</a:t>
            </a:r>
            <a:r>
              <a:rPr lang="zh-TW" altLang="en-US" sz="1600" dirty="0"/>
              <a:t>，</a:t>
            </a:r>
            <a:r>
              <a:rPr lang="en-US" altLang="zh-TW" sz="1600" dirty="0"/>
              <a:t>temperature=</a:t>
            </a:r>
            <a:r>
              <a:rPr lang="en-US" altLang="zh-TW" sz="1600"/>
              <a:t>0.7 </a:t>
            </a:r>
            <a:r>
              <a:rPr lang="zh-TW" altLang="en-US" sz="1600"/>
              <a:t>（</a:t>
            </a:r>
            <a:r>
              <a:rPr lang="en-US" altLang="zh-TW" sz="1600" dirty="0"/>
              <a:t>llm_regression.py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9CDE4F7-A4B7-D597-A501-AFD7BE35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420" y="2233990"/>
            <a:ext cx="6596716" cy="28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2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53533" y="4000122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903143" y="1660264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77556" y="1637021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12760" y="399366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90112" y="1650070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1060503" y="226414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80429" y="2833556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896053" y="441809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678509" y="490907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237135" y="2252905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324073" y="2958821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400782" y="4542708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745292" y="5056035"/>
            <a:ext cx="276819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 / LSTM / ARIMA: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 err="1">
                <a:latin typeface="DM Sans"/>
                <a:ea typeface="DM Sans"/>
                <a:cs typeface="DM Sans"/>
                <a:sym typeface="DM Sans"/>
              </a:rPr>
              <a:t>TimeSeriesSplit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(5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折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於每折內採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1 </a:t>
            </a:r>
            <a:r>
              <a:rPr lang="zh-TW" altLang="en-US" sz="1600" dirty="0">
                <a:latin typeface="DM Sans"/>
                <a:ea typeface="DM Sans"/>
                <a:cs typeface="DM Sans"/>
                <a:sym typeface="DM Sans"/>
              </a:rPr>
              <a:t>步 </a:t>
            </a: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rolling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92127" y="2224899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428036" y="2939978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2429923742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開盤價、最高價、最低價、收盤價、成交量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324890" y="5006660"/>
            <a:ext cx="5578377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/>
              <a:t>四個模型 F1 均貼近或低於基準（0.736）：高分主要來自多頭市場的</a:t>
            </a:r>
            <a:r>
              <a:rPr lang="zh-TW" altLang="zh-TW" sz="1600" b="1" dirty="0">
                <a:solidFill>
                  <a:srgbClr val="FF0000"/>
                </a:solidFill>
              </a:rPr>
              <a:t>上漲偏態</a:t>
            </a:r>
            <a:r>
              <a:rPr lang="zh-TW" altLang="zh-TW" sz="1600" dirty="0"/>
              <a:t>，而非具備方向判斷力；雙向 LSTM 最差。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隨機森林在 </a:t>
            </a:r>
            <a:r>
              <a:rPr lang="en-US" altLang="zh-TW" sz="1600" dirty="0"/>
              <a:t>0050 </a:t>
            </a:r>
            <a:r>
              <a:rPr lang="zh-TW" altLang="en-US" sz="1600" dirty="0"/>
              <a:t>僅 </a:t>
            </a:r>
            <a:r>
              <a:rPr lang="en-US" altLang="zh-TW" sz="1600" dirty="0"/>
              <a:t>0.599</a:t>
            </a:r>
            <a:r>
              <a:rPr lang="zh-TW" altLang="en-US" sz="1600" dirty="0"/>
              <a:t>（低於基準）：</a:t>
            </a:r>
            <a:r>
              <a:rPr lang="en-US" altLang="zh-TW" sz="1600" dirty="0"/>
              <a:t>LSTM </a:t>
            </a:r>
            <a:r>
              <a:rPr lang="zh-TW" altLang="en-US" sz="1600" dirty="0"/>
              <a:t>數據上較貼近基準，而隨機森林嘗試以特徵判斷方向、偶爾預測跌，在 </a:t>
            </a:r>
            <a:r>
              <a:rPr lang="en-US" altLang="zh-TW" sz="1600" dirty="0"/>
              <a:t>0050 </a:t>
            </a:r>
            <a:r>
              <a:rPr lang="zh-TW" altLang="en-US" sz="1600" dirty="0"/>
              <a:t>的表現反而低於單純猜漲。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b="1" dirty="0">
                <a:solidFill>
                  <a:srgbClr val="FF0000"/>
                </a:solidFill>
              </a:rPr>
              <a:t>核心結論</a:t>
            </a:r>
            <a:r>
              <a:rPr lang="zh-TW" altLang="zh-TW" sz="1600" dirty="0"/>
              <a:t>：多頭偏態下，</a:t>
            </a:r>
            <a:r>
              <a:rPr lang="zh-TW" altLang="zh-TW" sz="1600" b="1" dirty="0"/>
              <a:t>分類任務的 F1 指標鑑別力有限</a:t>
            </a:r>
            <a:r>
              <a:rPr lang="zh-TW" altLang="zh-TW" sz="1600" dirty="0"/>
              <a:t>。</a:t>
            </a:r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229" y="656703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2575728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19.57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21.53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雙層 </a:t>
                      </a:r>
                      <a:r>
                        <a:rPr lang="en-US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2376350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zh-TW" dirty="0"/>
                        <a:t>0.79%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0.87%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</a:t>
            </a:r>
            <a:r>
              <a:rPr lang="zh-TW" altLang="en-US" dirty="0"/>
              <a:t>為百分比，可跨市場比較。 </a:t>
            </a:r>
            <a:endParaRPr lang="en-US" altLang="zh-TW" dirty="0"/>
          </a:p>
          <a:p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4539007"/>
            <a:ext cx="6294124" cy="1669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400" dirty="0"/>
              <a:t>※ </a:t>
            </a:r>
            <a:r>
              <a:rPr lang="zh-TW" altLang="en-US" sz="1400" dirty="0"/>
              <a:t>綠線</a:t>
            </a:r>
            <a:r>
              <a:rPr lang="en-US" altLang="zh-TW" sz="1400" dirty="0"/>
              <a:t>(ARIMA)</a:t>
            </a:r>
            <a:r>
              <a:rPr lang="zh-TW" altLang="en-US" sz="1400" dirty="0"/>
              <a:t>幾乎貼合實際值；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橘線</a:t>
            </a:r>
            <a:r>
              <a:rPr lang="en-US" altLang="zh-TW" sz="1400" dirty="0"/>
              <a:t>(Random Forest)</a:t>
            </a:r>
            <a:r>
              <a:rPr lang="zh-TW" altLang="en-US" sz="1400" dirty="0"/>
              <a:t>無法外推、預測躺平；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zh-TW" altLang="en-US" sz="1400" dirty="0"/>
              <a:t>藍線</a:t>
            </a:r>
            <a:r>
              <a:rPr lang="en-US" altLang="zh-TW" sz="1400" dirty="0"/>
              <a:t>(LSTM)</a:t>
            </a:r>
            <a:r>
              <a:rPr lang="zh-TW" altLang="en-US" sz="1400" dirty="0"/>
              <a:t>能跟上趨勢但略有落差。</a:t>
            </a:r>
            <a:endParaRPr lang="en-US" altLang="zh-TW" sz="1400" dirty="0"/>
          </a:p>
          <a:p>
            <a:pPr>
              <a:lnSpc>
                <a:spcPct val="150000"/>
              </a:lnSpc>
            </a:pPr>
            <a:r>
              <a:rPr lang="en-US" altLang="zh-TW" sz="1400" dirty="0"/>
              <a:t>※</a:t>
            </a:r>
            <a:r>
              <a:rPr lang="zh-TW" altLang="en-US" sz="1400" dirty="0"/>
              <a:t>樹模型預測值是訓練樣本葉節點平均，必落在訓練價格範圍內，</a:t>
            </a:r>
          </a:p>
          <a:p>
            <a:pPr>
              <a:lnSpc>
                <a:spcPct val="150000"/>
              </a:lnSpc>
            </a:pPr>
            <a:r>
              <a:rPr lang="zh-TW" altLang="en-US" sz="1400" dirty="0"/>
              <a:t>猜不出新高價。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迴歸任務小結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</a:t>
            </a:r>
            <a:r>
              <a:rPr lang="zh-TW" altLang="en-US" sz="2000" b="1" dirty="0"/>
              <a:t>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</a:t>
            </a:r>
            <a:r>
              <a:rPr lang="en-US" altLang="zh-TW" sz="1600" dirty="0"/>
              <a:t>2</a:t>
            </a:r>
            <a:r>
              <a:rPr lang="zh-TW" altLang="en-US" sz="1600" dirty="0"/>
              <a:t>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</a:t>
            </a:r>
            <a:r>
              <a:rPr lang="zh-TW" altLang="en-US" sz="2000" b="1" dirty="0"/>
              <a:t>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</a:t>
            </a:r>
            <a:r>
              <a:rPr lang="zh-TW" altLang="en-US" sz="2000" b="1" dirty="0"/>
              <a:t>LLM 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112588" y="5073937"/>
            <a:ext cx="5203364" cy="123061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298182" y="5211999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本平台整合迴歸預測與 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LLM </a:t>
            </a: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風險摘要，圖表支援即時互動（縮放、查看數值、切換時間範圍）；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介面輕量、一般設備即可執行，適合作為教學示範與輔助參考工具。</a:t>
            </a:r>
            <a:endParaRPr sz="1600" dirty="0">
              <a:latin typeface="+mn-lt"/>
            </a:endParaRPr>
          </a:p>
        </p:txBody>
      </p:sp>
      <p:sp>
        <p:nvSpPr>
          <p:cNvPr id="358" name="Google Shape;358;p29"/>
          <p:cNvSpPr txBox="1"/>
          <p:nvPr/>
        </p:nvSpPr>
        <p:spPr>
          <a:xfrm>
            <a:off x="337473" y="2899722"/>
            <a:ext cx="487441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技術架構</a:t>
            </a:r>
            <a:r>
              <a:rPr lang="zh-TW" altLang="zh-TW" sz="1800" dirty="0"/>
              <a:t>：Streamlit + Plotly + SQLite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迴歸預測</a:t>
            </a:r>
            <a:r>
              <a:rPr lang="zh-TW" altLang="zh-TW" sz="1800" dirty="0"/>
              <a:t>：預測次日報酬率，再換算回收盤價（避免外推問題）</a:t>
            </a:r>
            <a:endParaRPr lang="en-US" altLang="zh-TW" sz="1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800" b="1" dirty="0"/>
              <a:t>AI 輔助</a:t>
            </a:r>
            <a:r>
              <a:rPr lang="zh-TW" altLang="zh-TW" sz="1800" dirty="0"/>
              <a:t>：整合 GPT 生成風險摘要</a:t>
            </a:r>
            <a:endParaRPr sz="1800" dirty="0"/>
          </a:p>
        </p:txBody>
      </p:sp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平台實作</a:t>
            </a:r>
            <a:endParaRPr dirty="0"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7EA853-A5E6-550F-67FA-64B32E10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877" y="1208099"/>
            <a:ext cx="6633920" cy="49604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5115FE-9D54-E5EC-9285-4BA8549019AC}"/>
              </a:ext>
            </a:extLst>
          </p:cNvPr>
          <p:cNvSpPr/>
          <p:nvPr/>
        </p:nvSpPr>
        <p:spPr>
          <a:xfrm>
            <a:off x="2042159" y="4445728"/>
            <a:ext cx="8077201" cy="2223200"/>
          </a:xfrm>
          <a:prstGeom prst="roundRect">
            <a:avLst/>
          </a:prstGeom>
          <a:effectLst/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884" y="2043999"/>
            <a:ext cx="5538536" cy="222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1620" y="2043999"/>
            <a:ext cx="5903495" cy="222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730417" y="2162806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分類任務</a:t>
            </a:r>
            <a:r>
              <a:rPr 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 </a:t>
            </a: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（預測漲跌方向）</a:t>
            </a:r>
            <a:endParaRPr sz="2000" dirty="0">
              <a:latin typeface="+mn-lt"/>
            </a:endParaRPr>
          </a:p>
        </p:txBody>
      </p:sp>
      <p:sp>
        <p:nvSpPr>
          <p:cNvPr id="380" name="Google Shape;380;p30"/>
          <p:cNvSpPr txBox="1"/>
          <p:nvPr/>
        </p:nvSpPr>
        <p:spPr>
          <a:xfrm>
            <a:off x="571500" y="2651264"/>
            <a:ext cx="49806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涵蓋模型</a:t>
            </a:r>
            <a:r>
              <a:rPr lang="zh-TW" altLang="zh-TW" sz="1600" dirty="0"/>
              <a:t>：機器學習（隨機森林）、深度學習（單/雙向 LSTM）、大語言模型（GPT-3.5）。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發現</a:t>
            </a:r>
            <a:r>
              <a:rPr lang="zh-TW" altLang="zh-TW" sz="1600" dirty="0"/>
              <a:t>：</a:t>
            </a:r>
            <a:r>
              <a:rPr lang="en-US" altLang="zh-TW" sz="1600" dirty="0"/>
              <a:t>F1 </a:t>
            </a:r>
            <a:r>
              <a:rPr lang="zh-TW" altLang="en-US" sz="1600" dirty="0"/>
              <a:t>貼近基準</a:t>
            </a:r>
            <a:r>
              <a:rPr lang="en-US" altLang="zh-TW" sz="1600" dirty="0"/>
              <a:t>,</a:t>
            </a:r>
            <a:r>
              <a:rPr lang="zh-TW" altLang="en-US" sz="1600" dirty="0"/>
              <a:t>方向預測無實質效果</a:t>
            </a:r>
            <a:endParaRPr lang="en-US" altLang="zh-TW" sz="1600" dirty="0"/>
          </a:p>
          <a:p>
            <a:pPr>
              <a:lnSpc>
                <a:spcPct val="150000"/>
              </a:lnSpc>
            </a:pPr>
            <a:endParaRPr lang="en-US" altLang="zh-TW" sz="1600" b="1" dirty="0"/>
          </a:p>
        </p:txBody>
      </p:sp>
      <p:sp>
        <p:nvSpPr>
          <p:cNvPr id="381" name="Google Shape;381;p30"/>
          <p:cNvSpPr txBox="1"/>
          <p:nvPr/>
        </p:nvSpPr>
        <p:spPr>
          <a:xfrm>
            <a:off x="6268953" y="2162805"/>
            <a:ext cx="4474544" cy="31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+mn-lt"/>
                <a:ea typeface="DM Sans"/>
                <a:cs typeface="DM Sans"/>
                <a:sym typeface="DM Sans"/>
              </a:rPr>
              <a:t>迴歸任務（預測收盤價）</a:t>
            </a:r>
            <a:endParaRPr sz="2000" dirty="0">
              <a:latin typeface="+mn-lt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6110035" y="2637808"/>
            <a:ext cx="574508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涵蓋模型</a:t>
            </a:r>
            <a:r>
              <a:rPr lang="zh-TW" altLang="zh-TW" sz="1600" dirty="0"/>
              <a:t>：統計（ARIMA）、機器學習（隨機森林/XGBoost/AdaBoost/GBM）、深度學習（單/雙層 LSTM）、大語言模型（GPT-4o-mini 零樣本預測）。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1600" b="1" dirty="0"/>
              <a:t>發現</a:t>
            </a:r>
            <a:r>
              <a:rPr lang="zh-TW" altLang="zh-TW" sz="1600" dirty="0"/>
              <a:t>：</a:t>
            </a:r>
            <a:r>
              <a:rPr lang="zh-TW" altLang="en-US" sz="1600" dirty="0"/>
              <a:t>排序一致</a:t>
            </a:r>
            <a:r>
              <a:rPr lang="en-US" altLang="zh-TW" sz="1600" dirty="0"/>
              <a:t>,ARIMA </a:t>
            </a:r>
            <a:r>
              <a:rPr lang="zh-TW" altLang="en-US" sz="1600" dirty="0"/>
              <a:t>最佳</a:t>
            </a:r>
            <a:r>
              <a:rPr lang="en-US" altLang="zh-TW" sz="1600" dirty="0"/>
              <a:t>;</a:t>
            </a:r>
            <a:r>
              <a:rPr lang="zh-TW" altLang="en-US" sz="1600" dirty="0"/>
              <a:t>集成無法外推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6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  <p:sp>
        <p:nvSpPr>
          <p:cNvPr id="5" name="Google Shape;394;p31">
            <a:extLst>
              <a:ext uri="{FF2B5EF4-FFF2-40B4-BE49-F238E27FC236}">
                <a16:creationId xmlns:a16="http://schemas.microsoft.com/office/drawing/2014/main" id="{10A165C8-523F-9F85-F109-0B1D232994CC}"/>
              </a:ext>
            </a:extLst>
          </p:cNvPr>
          <p:cNvSpPr txBox="1"/>
          <p:nvPr/>
        </p:nvSpPr>
        <p:spPr>
          <a:xfrm>
            <a:off x="2433989" y="4861009"/>
            <a:ext cx="73240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① 因任務而異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迴歸三市場皆 </a:t>
            </a:r>
            <a:r>
              <a:rPr lang="en-US" altLang="zh-TW" sz="1600" b="1" dirty="0">
                <a:solidFill>
                  <a:schemeClr val="bg1"/>
                </a:solidFill>
              </a:rPr>
              <a:t>ARIMA </a:t>
            </a:r>
            <a:r>
              <a:rPr lang="zh-TW" altLang="en-US" sz="1600" b="1" dirty="0">
                <a:solidFill>
                  <a:schemeClr val="bg1"/>
                </a:solidFill>
              </a:rPr>
              <a:t>最佳</a:t>
            </a:r>
            <a:r>
              <a:rPr lang="en-US" altLang="zh-TW" sz="1600" b="1" dirty="0">
                <a:solidFill>
                  <a:schemeClr val="bg1"/>
                </a:solidFill>
              </a:rPr>
              <a:t>;</a:t>
            </a: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分類各市場最佳僅貼近基準</a:t>
            </a:r>
            <a:r>
              <a:rPr lang="en-US" altLang="zh-TW" sz="1600" b="1" dirty="0">
                <a:solidFill>
                  <a:schemeClr val="bg1"/>
                </a:solidFill>
              </a:rPr>
              <a:t>(SPY/0050 </a:t>
            </a:r>
            <a:r>
              <a:rPr lang="zh-TW" altLang="en-US" sz="1600" b="1" dirty="0">
                <a:solidFill>
                  <a:schemeClr val="bg1"/>
                </a:solidFill>
              </a:rPr>
              <a:t>單層 </a:t>
            </a:r>
            <a:r>
              <a:rPr lang="en-US" altLang="zh-TW" sz="1600" b="1" dirty="0">
                <a:solidFill>
                  <a:schemeClr val="bg1"/>
                </a:solidFill>
              </a:rPr>
              <a:t>LSTM</a:t>
            </a:r>
            <a:r>
              <a:rPr lang="zh-TW" altLang="en-US" sz="1600" b="1" dirty="0">
                <a:solidFill>
                  <a:schemeClr val="bg1"/>
                </a:solidFill>
              </a:rPr>
              <a:t>、</a:t>
            </a:r>
            <a:r>
              <a:rPr lang="en-US" altLang="zh-TW" sz="1600" b="1" dirty="0">
                <a:solidFill>
                  <a:schemeClr val="bg1"/>
                </a:solidFill>
              </a:rPr>
              <a:t>QQQ </a:t>
            </a:r>
            <a:r>
              <a:rPr lang="zh-TW" altLang="en-US" sz="1600" b="1" dirty="0">
                <a:solidFill>
                  <a:schemeClr val="bg1"/>
                </a:solidFill>
              </a:rPr>
              <a:t>隨機森林</a:t>
            </a:r>
            <a:r>
              <a:rPr lang="en-US" altLang="zh-TW" sz="1600" b="1" dirty="0">
                <a:solidFill>
                  <a:schemeClr val="bg1"/>
                </a:solidFill>
              </a:rPr>
              <a:t>)</a:t>
            </a:r>
            <a:r>
              <a:rPr lang="zh-TW" altLang="en-US" sz="1600" b="1" dirty="0">
                <a:solidFill>
                  <a:schemeClr val="bg1"/>
                </a:solidFill>
              </a:rPr>
              <a:t>。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② 指標影響結論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分類 </a:t>
            </a:r>
            <a:r>
              <a:rPr lang="en-US" altLang="zh-TW" sz="1600" b="1" dirty="0">
                <a:solidFill>
                  <a:schemeClr val="bg1"/>
                </a:solidFill>
              </a:rPr>
              <a:t>F1 </a:t>
            </a:r>
            <a:r>
              <a:rPr lang="zh-TW" altLang="en-US" sz="1600" b="1" dirty="0">
                <a:solidFill>
                  <a:schemeClr val="bg1"/>
                </a:solidFill>
              </a:rPr>
              <a:t>受偏態干擾難分優劣</a:t>
            </a:r>
            <a:r>
              <a:rPr lang="en-US" altLang="zh-TW" sz="1600" b="1" dirty="0">
                <a:solidFill>
                  <a:schemeClr val="bg1"/>
                </a:solidFill>
              </a:rPr>
              <a:t>,</a:t>
            </a:r>
            <a:r>
              <a:rPr lang="zh-TW" altLang="en-US" sz="1600" b="1" dirty="0">
                <a:solidFill>
                  <a:schemeClr val="bg1"/>
                </a:solidFill>
              </a:rPr>
              <a:t>改用迴歸 </a:t>
            </a:r>
            <a:r>
              <a:rPr lang="en-US" altLang="zh-TW" sz="1600" b="1" dirty="0">
                <a:solidFill>
                  <a:schemeClr val="bg1"/>
                </a:solidFill>
              </a:rPr>
              <a:t>MAPE </a:t>
            </a:r>
            <a:r>
              <a:rPr lang="zh-TW" altLang="en-US" sz="1600" b="1" dirty="0">
                <a:solidFill>
                  <a:schemeClr val="bg1"/>
                </a:solidFill>
              </a:rPr>
              <a:t>排序才清晰。</a:t>
            </a:r>
            <a:endParaRPr lang="en-US" altLang="zh-TW" sz="1600" b="1" dirty="0">
              <a:solidFill>
                <a:schemeClr val="bg1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TW" altLang="en-US" sz="1600" b="1" dirty="0">
                <a:solidFill>
                  <a:schemeClr val="bg1"/>
                </a:solidFill>
              </a:rPr>
              <a:t>③ </a:t>
            </a:r>
            <a:r>
              <a:rPr lang="en-US" altLang="zh-TW" sz="1600" b="1" dirty="0">
                <a:solidFill>
                  <a:schemeClr val="bg1"/>
                </a:solidFill>
              </a:rPr>
              <a:t>LLM </a:t>
            </a:r>
            <a:r>
              <a:rPr lang="zh-TW" altLang="en-US" sz="1600" b="1" dirty="0">
                <a:solidFill>
                  <a:schemeClr val="bg1"/>
                </a:solidFill>
              </a:rPr>
              <a:t>定位</a:t>
            </a:r>
            <a:r>
              <a:rPr lang="en-US" altLang="zh-TW" sz="1600" b="1" dirty="0">
                <a:solidFill>
                  <a:schemeClr val="bg1"/>
                </a:solidFill>
              </a:rPr>
              <a:t>:</a:t>
            </a:r>
            <a:r>
              <a:rPr lang="zh-TW" altLang="en-US" sz="1600" b="1" dirty="0">
                <a:solidFill>
                  <a:schemeClr val="bg1"/>
                </a:solidFill>
              </a:rPr>
              <a:t>適合作「解釋型」輔助</a:t>
            </a:r>
            <a:r>
              <a:rPr lang="en-US" altLang="zh-TW" sz="1600" b="1" dirty="0">
                <a:solidFill>
                  <a:schemeClr val="bg1"/>
                </a:solidFill>
              </a:rPr>
              <a:t>,</a:t>
            </a:r>
            <a:r>
              <a:rPr lang="zh-TW" altLang="en-US" sz="1600" b="1" dirty="0">
                <a:solidFill>
                  <a:schemeClr val="bg1"/>
                </a:solidFill>
              </a:rPr>
              <a:t>而非純預測引擎。</a:t>
            </a:r>
          </a:p>
        </p:txBody>
      </p:sp>
      <p:sp>
        <p:nvSpPr>
          <p:cNvPr id="4" name="Google Shape;370;p29">
            <a:extLst>
              <a:ext uri="{FF2B5EF4-FFF2-40B4-BE49-F238E27FC236}">
                <a16:creationId xmlns:a16="http://schemas.microsoft.com/office/drawing/2014/main" id="{1D1F9463-51D9-BE05-53DE-190C74A2566F}"/>
              </a:ext>
            </a:extLst>
          </p:cNvPr>
          <p:cNvSpPr txBox="1"/>
          <p:nvPr/>
        </p:nvSpPr>
        <p:spPr>
          <a:xfrm>
            <a:off x="869106" y="831759"/>
            <a:ext cx="49506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sym typeface="Merriweather"/>
              </a:rPr>
              <a:t>結論：分類與回歸比較</a:t>
            </a:r>
            <a:endParaRPr dirty="0"/>
          </a:p>
        </p:txBody>
      </p:sp>
      <p:sp>
        <p:nvSpPr>
          <p:cNvPr id="8" name="Google Shape;371;p29">
            <a:extLst>
              <a:ext uri="{FF2B5EF4-FFF2-40B4-BE49-F238E27FC236}">
                <a16:creationId xmlns:a16="http://schemas.microsoft.com/office/drawing/2014/main" id="{25607BA3-F70C-F03F-421F-3291C8021806}"/>
              </a:ext>
            </a:extLst>
          </p:cNvPr>
          <p:cNvSpPr/>
          <p:nvPr/>
        </p:nvSpPr>
        <p:spPr>
          <a:xfrm>
            <a:off x="630981" y="831759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4" y="1631130"/>
            <a:ext cx="5014916" cy="342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4375" y="1631131"/>
            <a:ext cx="6012297" cy="342213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4" y="5767779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760693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</a:t>
            </a: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貢獻</a:t>
            </a:r>
            <a:endParaRPr sz="20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5905500" y="1910453"/>
            <a:ext cx="4980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000" dirty="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459458" y="2629156"/>
            <a:ext cx="4850732" cy="1222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建立跨市場、跨世代比較基準 </a:t>
            </a:r>
            <a:endParaRPr lang="en-US" altLang="zh-TW" sz="1600" dirty="0"/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揭示集成無法外推的結構限制 </a:t>
            </a:r>
            <a:endParaRPr lang="en-US" altLang="zh-TW" sz="1600" dirty="0"/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sz="1600" dirty="0"/>
              <a:t>實作開源 LLM 輔助平台</a:t>
            </a:r>
            <a:endParaRPr lang="zh-TW" altLang="en-US" sz="1600" dirty="0">
              <a:solidFill>
                <a:srgbClr val="1E293B"/>
              </a:solidFill>
              <a:latin typeface="+mn-l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5744342" y="2345647"/>
            <a:ext cx="5324712" cy="25796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en-US" sz="1600" b="1" dirty="0"/>
              <a:t>盤中即時預測</a:t>
            </a:r>
            <a:r>
              <a:rPr lang="en-US" altLang="zh-TW" sz="1600" dirty="0"/>
              <a:t>:</a:t>
            </a:r>
            <a:r>
              <a:rPr lang="zh-TW" altLang="en-US" sz="1600" dirty="0"/>
              <a:t>從日線收盤預測</a:t>
            </a:r>
            <a:r>
              <a:rPr lang="en-US" altLang="zh-TW" sz="1600" dirty="0"/>
              <a:t>,</a:t>
            </a:r>
            <a:r>
              <a:rPr lang="zh-TW" altLang="en-US" sz="1600" dirty="0"/>
              <a:t>延伸到盤中串流</a:t>
            </a:r>
            <a:r>
              <a:rPr lang="en-US" altLang="zh-TW" sz="1600" dirty="0"/>
              <a:t>(Kafka/Redis)</a:t>
            </a:r>
            <a:r>
              <a:rPr lang="zh-TW" altLang="en-US" sz="1600" dirty="0"/>
              <a:t>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擴大 LLM 樣本</a:t>
            </a:r>
            <a:r>
              <a:rPr lang="zh-TW" altLang="zh-TW" sz="1600" dirty="0"/>
              <a:t>:從每市場 50 筆擴至完整測試集 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加入更多資訊</a:t>
            </a:r>
            <a:r>
              <a:rPr lang="zh-TW" altLang="zh-TW" sz="1600" dirty="0"/>
              <a:t>:導入新聞情緒與總經指標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比較更多 LLM</a:t>
            </a:r>
            <a:r>
              <a:rPr lang="zh-TW" altLang="zh-TW" sz="1600" dirty="0"/>
              <a:t>:測試 Gemini、Llama、Gemma 等 </a:t>
            </a:r>
            <a:r>
              <a:rPr lang="zh-TW" altLang="zh-TW" sz="1600" b="1" dirty="0"/>
              <a:t>平台</a:t>
            </a:r>
            <a:endParaRPr lang="en-US" altLang="zh-TW" sz="1600" b="1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zh-TW" altLang="zh-TW" sz="1600" b="1" dirty="0"/>
              <a:t>可用性評估</a:t>
            </a:r>
            <a:r>
              <a:rPr lang="zh-TW" altLang="zh-TW" sz="1600" dirty="0"/>
              <a:t>:以 SUS 量表做使用者實測</a:t>
            </a:r>
            <a:endParaRPr lang="zh-TW" altLang="en-US" sz="16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3512</TotalTime>
  <Words>8993</Words>
  <Application>Microsoft Office PowerPoint</Application>
  <PresentationFormat>寬螢幕</PresentationFormat>
  <Paragraphs>544</Paragraphs>
  <Slides>36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3" baseType="lpstr">
      <vt:lpstr>DM Sans</vt:lpstr>
      <vt:lpstr>Arial</vt:lpstr>
      <vt:lpstr>Noto Sans TC</vt:lpstr>
      <vt:lpstr>Amasis MT Pro Medium</vt:lpstr>
      <vt:lpstr>Merriweather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Zoelin</dc:creator>
  <cp:lastModifiedBy>子瑜 林</cp:lastModifiedBy>
  <cp:revision>343</cp:revision>
  <dcterms:modified xsi:type="dcterms:W3CDTF">2026-06-27T18:12:54Z</dcterms:modified>
</cp:coreProperties>
</file>