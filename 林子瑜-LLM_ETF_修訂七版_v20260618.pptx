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57" r:id="rId3"/>
    <p:sldId id="578" r:id="rId4"/>
    <p:sldId id="579" r:id="rId5"/>
    <p:sldId id="258" r:id="rId6"/>
    <p:sldId id="259" r:id="rId7"/>
    <p:sldId id="260" r:id="rId8"/>
    <p:sldId id="262" r:id="rId9"/>
    <p:sldId id="570" r:id="rId10"/>
    <p:sldId id="263" r:id="rId11"/>
    <p:sldId id="553" r:id="rId12"/>
    <p:sldId id="566" r:id="rId13"/>
    <p:sldId id="568" r:id="rId14"/>
    <p:sldId id="565" r:id="rId15"/>
    <p:sldId id="567" r:id="rId16"/>
    <p:sldId id="575" r:id="rId17"/>
    <p:sldId id="571" r:id="rId18"/>
    <p:sldId id="556" r:id="rId19"/>
    <p:sldId id="557" r:id="rId20"/>
    <p:sldId id="555" r:id="rId21"/>
    <p:sldId id="572" r:id="rId22"/>
    <p:sldId id="576" r:id="rId23"/>
    <p:sldId id="265" r:id="rId24"/>
    <p:sldId id="577" r:id="rId25"/>
    <p:sldId id="573" r:id="rId26"/>
    <p:sldId id="558" r:id="rId27"/>
    <p:sldId id="266" r:id="rId28"/>
    <p:sldId id="267" r:id="rId29"/>
    <p:sldId id="268" r:id="rId30"/>
    <p:sldId id="564" r:id="rId31"/>
    <p:sldId id="563" r:id="rId32"/>
    <p:sldId id="562" r:id="rId33"/>
    <p:sldId id="270" r:id="rId34"/>
    <p:sldId id="272" r:id="rId35"/>
    <p:sldId id="273" r:id="rId36"/>
    <p:sldId id="275" r:id="rId37"/>
  </p:sldIdLst>
  <p:sldSz cx="12192000" cy="6858000"/>
  <p:notesSz cx="6858000" cy="9144000"/>
  <p:embeddedFontLst>
    <p:embeddedFont>
      <p:font typeface="Amasis MT Pro Medium" panose="02040604050005020304" pitchFamily="18" charset="0"/>
      <p:regular r:id="rId39"/>
      <p:italic r:id="rId40"/>
    </p:embeddedFont>
    <p:embeddedFont>
      <p:font typeface="DM Sans" pitchFamily="2" charset="0"/>
      <p:regular r:id="rId41"/>
      <p:bold r:id="rId42"/>
      <p:italic r:id="rId43"/>
      <p:boldItalic r:id="rId44"/>
    </p:embeddedFont>
    <p:embeddedFont>
      <p:font typeface="Merriweather" panose="00000500000000000000" pitchFamily="2" charset="0"/>
      <p:regular r:id="rId45"/>
      <p:bold r:id="rId46"/>
      <p:italic r:id="rId47"/>
      <p:boldItalic r:id="rId48"/>
    </p:embeddedFont>
    <p:embeddedFont>
      <p:font typeface="Noto Sans TC" panose="020B0200000000000000" pitchFamily="34" charset="-120"/>
      <p:regular r:id="rId49"/>
      <p:bold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FFFFFF"/>
    <a:srgbClr val="CED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3394A8-6561-4F67-BD20-A1EB724447CB}">
  <a:tblStyle styleId="{C63394A8-6561-4F67-BD20-A1EB724447C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73633" autoAdjust="0"/>
  </p:normalViewPr>
  <p:slideViewPr>
    <p:cSldViewPr snapToGrid="0">
      <p:cViewPr varScale="1">
        <p:scale>
          <a:sx n="60" d="100"/>
          <a:sy n="60" d="100"/>
        </p:scale>
        <p:origin x="78" y="5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0667E425-7DE3-CDE3-CC02-C6EBC0819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B8E6FC52-5299-CFC4-67EB-1274E1D75A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77322D38-4337-33CC-0D7F-DBDDC1D62C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326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796CAC0D-CB76-E161-BD50-10ACCB834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BB44B69-C235-FEC7-6711-C0F90EE08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E2A44208-8816-B13B-6821-BE607BAB5D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788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台美市場連動緊密，但缺乏直觀同步預測工具</a:t>
            </a:r>
            <a:endParaRPr lang="zh-TW" altLang="en-US" sz="12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跨市場數據處理複雜度高，一般投資者難以負擔</a:t>
            </a:r>
            <a:endParaRPr lang="zh-TW" altLang="en-US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由於 SPY、QQQ 股價約數百美元，而 0050.TW 僅數十至百餘元台幣，若採用 MSE 等絕對誤差指標，會因股價數值大小不同而無法跨市場比較。故本研究採用 MAPE，以「百分比」衡量誤差，消除價格尺度與幣別差異，使三個市場的預測難度能在同一基準上公平比較。</a:t>
            </a:r>
            <a:br>
              <a:rPr lang="en-US" altLang="zh-TW" dirty="0"/>
            </a:br>
            <a:r>
              <a:rPr lang="zh-TW" altLang="en-US" dirty="0"/>
              <a:t>程式在</a:t>
            </a:r>
            <a:r>
              <a:rPr lang="en-US" altLang="zh-TW" dirty="0" err="1"/>
              <a:t>github</a:t>
            </a:r>
            <a:r>
              <a:rPr lang="en-US" altLang="zh-TW" dirty="0"/>
              <a:t>-&gt;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arima_baseline.py</a:t>
            </a:r>
            <a:r>
              <a:rPr lang="zh-TW" altLang="zh-TW" dirty="0"/>
              <a:t>、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run_regression.py</a:t>
            </a:r>
            <a:r>
              <a:rPr lang="zh-TW" altLang="zh-TW" dirty="0"/>
              <a:t>、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run_lstm_regression.py</a:t>
            </a:r>
            <a:endParaRPr dirty="0"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是時間序列最常用的統計模型,我把它當作基準。它由三個元件組成,寫成 p、d、q:AR 自迴歸的 p,代表用過去 p 期的數值來預測,例如 AR(1) 就是今天主要受昨天影響;I 差分的 d,代表做 d 次差分把序列變成定態,這是 ARIMA 比 ARMA 多的地方;MA 移動平均的 q,是用過去的預測誤差來修正當期。我三個市場的最佳參數分別是 SPY(0,1,2)、QQQ(1,1,0)、0050(0,1,0),都是先用 ADF 檢定確認需要差分,再自動選參數定出來的。</a:t>
            </a:r>
            <a:endParaRPr dirty="0"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9F051989-D53C-D7EC-2E19-96DDE00B2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EBDF80A3-8051-9931-7626-AF25104A7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我用 pmdarima 的 auto_arima,它會自動依 AIC 選最佳的 p、d、q,不用手動試。預測採 rolling forecast——每預測一天,就把真實值更新進模型再預測下一天,這是 ARIMA 的標準評估方式。最後算測試集的 MSE 和 MAPE。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6A07FAC0-47F3-EAE9-3959-8B0FA5F8C0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4790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959CDA8A-12C7-F967-4009-772F6F0C1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6D45493E-AB57-AFEA-FEE3-ADE1A4699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71ED5A95-C654-A2B5-0E09-0FFD28A5E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8104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DBE726C1-8783-FCCE-AB55-61DDC167B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118DDC3C-0ADC-3044-D09C-3396B9D73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TW" altLang="zh-TW" dirty="0"/>
              <a:t>這頁比較決策樹和隨機森林。左邊表先看性質：決策樹是單一模型、容易過擬合、</a:t>
            </a:r>
            <a:r>
              <a:rPr lang="zh-TW" altLang="en-US" dirty="0"/>
              <a:t>結構透明度</a:t>
            </a:r>
            <a:r>
              <a:rPr lang="zh-TW" altLang="zh-TW" dirty="0"/>
              <a:t>但準確度中等；隨機森林是多棵樹的集成，比較穩定。</a:t>
            </a:r>
          </a:p>
          <a:p>
            <a:r>
              <a:rPr lang="zh-TW" altLang="zh-TW" dirty="0"/>
              <a:t>右邊是我實際跑的結果，重點請看紅框。</a:t>
            </a:r>
            <a:r>
              <a:rPr lang="zh-TW" altLang="zh-TW" b="1" dirty="0"/>
              <a:t>決策樹在三個市場的訓練 MSE 都是全場最低</a:t>
            </a:r>
            <a:r>
              <a:rPr lang="zh-TW" altLang="zh-TW" dirty="0"/>
              <a:t>，代表它把訓練資料背得最熟；</a:t>
            </a:r>
            <a:r>
              <a:rPr lang="zh-TW" altLang="zh-TW" b="1" dirty="0"/>
              <a:t>但同一個決策樹的測試 MSE 反而都比隨機森林高</a:t>
            </a:r>
            <a:r>
              <a:rPr lang="zh-TW" altLang="zh-TW" dirty="0"/>
              <a:t>——以 SPY 為例，訓練只有 2.0、測試卻跳到 2782，比隨機森林的 2725 還高;0050 更明顯，測試 45.9 對隨機森林的 35.1。</a:t>
            </a:r>
          </a:p>
          <a:p>
            <a:r>
              <a:rPr lang="zh-TW" altLang="zh-TW" b="1" dirty="0"/>
              <a:t>過擬合</a:t>
            </a:r>
            <a:r>
              <a:rPr lang="zh-TW" altLang="zh-TW" dirty="0"/>
              <a:t>：單棵樹學得太細、記住了雜訊，所以一換到沒看過的資料就變差。隨機森林靠很多棵樹平均、降低變異，泛化就比較穩。這也印證了左表「準確度：隨機森林通常較高」這一列。</a:t>
            </a:r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6392DE20-D2BD-EAEE-C450-C8A64B9FB4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226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CF0E9610-5BC8-CFB5-C70D-5110206AB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1A70CA79-6DB7-602D-9F9D-ABD381F80E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「Gradient Boosting 不是加重樣本，而是去補『還差多少』。先做一個粗略預測，算出實際和預測的差距，叫殘差;接著訓練新的樹專門預測這個殘差、把它補回去。像圖上紅塊一輪一輪縮小，整體誤差就越來越低。所謂梯度，就是數學上決定往哪個方向補最有效。」</a:t>
            </a:r>
            <a:br>
              <a:rPr lang="en-US" altLang="zh-TW" dirty="0"/>
            </a:br>
            <a:r>
              <a:rPr lang="zh-TW" altLang="zh-TW" dirty="0"/>
              <a:t>「兩個都是把弱模型一棵棵串起來。差別是 AdaBoost 調整『樣本權重』、加重做錯的;Gradient Boosting 直接『擬合殘差』、去補還差的部分。XGBoost 則是在 GBM 上再加正規化和平行運算的強化版。」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C44E2063-5D05-9CA7-E476-CDDE13F4E6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1035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CACF2C4B-08F9-B851-2B7B-EF5F71F7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ED312822-6799-3309-7116-73C6B6AD6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FC905F3E-C508-0E87-3151-F78AB4ABB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48119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CF2B444-DD83-19A0-7993-80DF367C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50B81CC1-9CE1-B7CE-5829-63F62BE635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/>
            </a:br>
            <a:r>
              <a:rPr lang="zh-TW" altLang="zh-TW"/>
              <a:t>兩者都是 Boosting、都是循序修正錯誤，但修正方式不同。AdaBoost 是</a:t>
            </a:r>
            <a:r>
              <a:rPr lang="zh-TW" altLang="zh-TW" b="1"/>
              <a:t>調整樣本權重</a:t>
            </a:r>
            <a:r>
              <a:rPr lang="zh-TW" altLang="zh-TW"/>
              <a:t>——把上一輪預測錯比較多的樣本權重調高，讓下一棵樹更重視它；Gradient Boosting 則是</a:t>
            </a:r>
            <a:r>
              <a:rPr lang="zh-TW" altLang="zh-TW" b="1"/>
              <a:t>直接去擬合殘差</a:t>
            </a:r>
            <a:r>
              <a:rPr lang="zh-TW" altLang="zh-TW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BB2EF076-75E3-F6D4-7D49-12FF37775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491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DE6D3ECD-A64E-C8BC-82D3-6F06A75C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726D0C72-D753-5AB3-C460-1C98A5B50B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前面分別介紹了 AdaBoost 和 Gradient Boosting，這頁把三種 Boosting 並排比較，加上 XGBoost。</a:t>
            </a:r>
          </a:p>
          <a:p>
            <a:pPr marL="158750" indent="0">
              <a:buNone/>
            </a:pPr>
            <a:r>
              <a:rPr lang="zh-TW" altLang="zh-TW" b="1" dirty="0"/>
              <a:t>核心機制</a:t>
            </a:r>
            <a:r>
              <a:rPr lang="zh-TW" altLang="zh-TW" dirty="0"/>
              <a:t>先快速回顧：AdaBoost 是調整樣本權重、加重做錯的;Gradient Boosting 是直接擬合殘差、去補還差的;XGBoost 則是 Gradient Boosting 的工程強化版。</a:t>
            </a:r>
          </a:p>
          <a:p>
            <a:pPr marL="158750" indent="0">
              <a:buNone/>
            </a:pPr>
            <a:r>
              <a:rPr lang="zh-TW" altLang="zh-TW" dirty="0"/>
              <a:t>差別主要在三點。</a:t>
            </a:r>
            <a:r>
              <a:rPr lang="zh-TW" altLang="zh-TW" b="1" dirty="0"/>
              <a:t>防過擬合</a:t>
            </a:r>
            <a:r>
              <a:rPr lang="zh-TW" altLang="zh-TW" dirty="0"/>
              <a:t>：XGBoost 多了正規化和學習率控制，最完整。</a:t>
            </a:r>
            <a:r>
              <a:rPr lang="zh-TW" altLang="zh-TW" b="1" dirty="0"/>
              <a:t>運算效率</a:t>
            </a:r>
            <a:r>
              <a:rPr lang="zh-TW" altLang="zh-TW" dirty="0"/>
              <a:t>：AdaBoost 和 GBM 都是一棵接一棵的序列訓練、比較慢，XGBoost 用平行運算，最快。</a:t>
            </a:r>
            <a:r>
              <a:rPr lang="zh-TW" altLang="zh-TW" b="1" dirty="0"/>
              <a:t>對離群值</a:t>
            </a:r>
            <a:r>
              <a:rPr lang="zh-TW" altLang="zh-TW" dirty="0"/>
              <a:t>：AdaBoost 因為會加重分錯的樣本，對離群值比較敏感，另外兩個相對穩健。</a:t>
            </a:r>
          </a:p>
          <a:p>
            <a:pPr marL="158750" indent="0">
              <a:buNone/>
            </a:pPr>
            <a:r>
              <a:rPr lang="zh-TW" altLang="zh-TW" dirty="0"/>
              <a:t>不過要強調的是——看最下面兩列，我實測 SPY 的結果，</a:t>
            </a:r>
            <a:r>
              <a:rPr lang="zh-TW" altLang="zh-TW" b="1" dirty="0"/>
              <a:t>三者的 MSE 和 MAPE 其實很接近</a:t>
            </a:r>
            <a:r>
              <a:rPr lang="zh-TW" altLang="zh-TW" dirty="0"/>
              <a:t>（2797 到 3398、都落在 8 到 10%）。也就是說，雖然 XGBoost 理論上最強，但在這個股價預測任務上，三種 Boosting 差異不大;而且它們</a:t>
            </a:r>
            <a:r>
              <a:rPr lang="zh-TW" altLang="zh-TW" b="1" dirty="0"/>
              <a:t>全都遠輸給 ARIMA 和 LSTM</a:t>
            </a:r>
            <a:r>
              <a:rPr lang="zh-TW" altLang="zh-TW" dirty="0"/>
              <a:t>，原因就是前面說的——樹系模型無法外推。這也呼應我的主結論：複雜模型未必比較好。</a:t>
            </a:r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04595E89-75DC-A607-291E-69E1A85DC6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9428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F5622A4B-9FCE-DE79-FE49-53599DF2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01B77590-90B4-2B6F-7D88-D55B66E02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「這頁是四種樹系集成模型的核心程式碼，用 scikit-learn 加 xgboost，並以 TimeSeriesSplit 做驗證。</a:t>
            </a:r>
          </a:p>
          <a:p>
            <a:pPr marL="158750" indent="0">
              <a:buNone/>
            </a:pPr>
            <a:r>
              <a:rPr lang="zh-TW" altLang="zh-TW" dirty="0"/>
              <a:t>重點看 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models()</a:t>
            </a:r>
            <a:r>
              <a:rPr lang="zh-TW" altLang="zh-TW" dirty="0"/>
              <a:t> 這個函式，裡面定義了 Random Forest、XGBoost、AdaBoost、Gradient Boosting 四個模型，參數都固定 random_state=42 確保可重現。以 XGBoost 為例，我設 n_estimators=100、max_depth=4、learning_rate=0.1——這幾個參數共同控制模型複雜度、抑制過擬合。</a:t>
            </a:r>
          </a:p>
          <a:p>
            <a:pPr marL="158750" indent="0">
              <a:buNone/>
            </a:pPr>
            <a:r>
              <a:rPr lang="zh-TW" altLang="zh-TW" dirty="0"/>
              <a:t>最下面說明的第二點很關鍵：四個模型都用 TimeSeriesSplit 時序交叉驗證，依時間切分、訓練集永遠早於驗證集，避免用未來資料預測過去，也就是防止資料洩漏。」</a:t>
            </a:r>
            <a:br>
              <a:rPr lang="en-US" altLang="zh-TW" dirty="0"/>
            </a:br>
            <a:r>
              <a:rPr lang="zh-TW" altLang="zh-TW" dirty="0"/>
              <a:t>「learning_rate 是每加一棵樹時，更新幅度的縮放係數。設太大（像 0.3）每步走太猛，容易過擬合、訓練也不穩；設太小收斂太慢，要堆很多樹才有效果。0.1 是實務上最常用、最穩健的折衷值，所以我用 0.1。它會跟 n_estimators 一起調——學習率小就要更多樹，我固定 100 棵搭配 0.1，是常見的穩定組合。」</a:t>
            </a:r>
            <a:br>
              <a:rPr lang="en-US" altLang="zh-TW" dirty="0"/>
            </a:b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sklearn.ensemble</a:t>
            </a:r>
            <a:r>
              <a:rPr lang="zh-TW" altLang="zh-TW" dirty="0"/>
              <a:t>：「這是 scikit-learn 放集成模型的模組，RF、AdaBoost、GBM 都從這裡來；XGBoost 不在裡面，是另一個套件。」 「learning_rate 設 0.1 是因為它會縮小每一步的更新幅度、讓提升過程更保守、防止過擬合，0.1 是常用穩健值。」</a:t>
            </a:r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3D6AB008-FD05-195F-217D-05038DAE2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0038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E4D6E503-A0DC-8D6D-E543-632E8D95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02C4EDFE-DC29-5B01-9729-6201EA8A4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LSTM 的內部結構。最上面那條貫穿的線是細胞狀態,可以想像成一條傳送帶,記憶在上面流動。它靠三個閘門控制:遺忘閘門決定丟掉哪些舊資訊、輸入閘門決定存入哪些新資訊、輸出閘門決定輸出什麼。圖中 σ 是 Sigmoid、tanh 是雙曲正切,負責非線性轉換;Xₜ 是輸入,Cₜ₋₁ 和 hₜ₋₁ 是上一個時點傳來的記憶和輸出。這個閘門設計讓 LSTM 能記住長期依賴,所以很適合股價這種時間序列。</a:t>
            </a:r>
            <a:endParaRPr dirty="0"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63DD07D6-9217-DC52-0A51-E600B8F63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0725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6DC33C8D-1107-B90B-BBD0-170A6F87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56CAF279-6EAE-F736-5C9B-02FD99876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LSTM 的內部結構。最上面那條貫穿的線是細胞狀態,可以想像成一條傳送帶,記憶在上面流動。它靠三個閘門控制:遺忘閘門決定丟掉哪些舊資訊、輸入閘門決定存入哪些新資訊、輸出閘門決定輸出什麼。圖中 σ 是 Sigmoid、tanh 是雙曲正切,負責非線性轉換;Xₜ 是輸入,Cₜ₋₁ 和 hₜ₋₁ 是上一個時點傳來的記憶和輸出。這個閘門設計讓 LSTM 能記住長期依賴,所以很適合股價這種時間序列。</a:t>
            </a:r>
            <a:endParaRPr dirty="0"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015EF8DC-3E3F-A956-5AEA-B3F92ADF0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7328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CBBD7EA-BA22-5FCB-98A3-B9B4AF6ED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094B4CE2-E374-997C-29E2-955C7EF9F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496954F9-106B-C699-2CF8-903C2857B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5598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E42379A2-2DD8-E93A-D928-60F23F261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3A19D64E-C0EE-1D11-B033-29AC8B2BE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這頁是深度學習 LSTM 的核心程式碼，用 TensorFlow 的 Keras 寫的。</a:t>
            </a:r>
          </a:p>
          <a:p>
            <a:pPr marL="158750" indent="0">
              <a:buNone/>
            </a:pPr>
            <a:r>
              <a:rPr lang="zh-TW" altLang="zh-TW" dirty="0"/>
              <a:t>我用 Keras 的 Sequential 把模型一層層疊起來。上面是單層 LSTM：先用 Input 定義輸入形狀，接一層 LSTM、設 50 個神經元，最後用 Dense(1) 輸出一個數值，也就是預測的次日收盤價。</a:t>
            </a:r>
          </a:p>
          <a:p>
            <a:pPr marL="158750" indent="0">
              <a:buNone/>
            </a:pPr>
            <a:r>
              <a:rPr lang="zh-TW" altLang="zh-TW" dirty="0"/>
              <a:t>下面是雙層 LSTM，差別在疊了兩層 LSTM——注意第一層要設 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return_sequences=True</a:t>
            </a:r>
            <a:r>
              <a:rPr lang="zh-TW" altLang="zh-TW" dirty="0"/>
              <a:t>，讓它回傳每個時間步的輸出，第二層才有完整的序列可以接著學。</a:t>
            </a:r>
            <a:br>
              <a:rPr lang="zh-TW" altLang="zh-TW" dirty="0"/>
            </a:br>
            <a:br>
              <a:rPr lang="zh-TW" altLang="zh-TW" dirty="0"/>
            </a:br>
            <a:r>
              <a:rPr lang="zh-TW" altLang="zh-TW" dirty="0"/>
              <a:t>最關鍵的是最後這行：因為我要預測的是「連續的價格數值」，所以輸出層 Dense(1) 不接 sigmoid、損失函數用 mse（均方誤差）——這就是迴歸版本。如果是做漲跌分類，才會改成 sigmoid 加交叉熵。</a:t>
            </a:r>
            <a:br>
              <a:rPr lang="en-US" altLang="zh-TW" dirty="0"/>
            </a:br>
            <a:r>
              <a:rPr lang="zh-TW" altLang="zh-TW" b="1" dirty="0"/>
              <a:t>Q：LSTM 是什麼、為什麼用它？</a:t>
            </a:r>
            <a:endParaRPr lang="zh-TW" altLang="zh-TW" dirty="0"/>
          </a:p>
          <a:p>
            <a:pPr marL="158750" indent="0">
              <a:buNone/>
            </a:pPr>
            <a:r>
              <a:rPr lang="zh-TW" altLang="zh-TW" dirty="0"/>
              <a:t>「LSTM 是一種能記住長期序列關係的循環神經網路，適合處理像股價這種有時間先後的資料，所以我用它來抓價格的時間趨勢。」</a:t>
            </a:r>
          </a:p>
          <a:p>
            <a:pPr marL="158750" indent="0">
              <a:buNone/>
            </a:pPr>
            <a:r>
              <a:rPr lang="zh-TW" altLang="zh-TW" b="1" dirty="0"/>
              <a:t>Q：50 個神經元怎麼決定的？</a:t>
            </a:r>
            <a:endParaRPr lang="zh-TW" altLang="zh-TW" dirty="0"/>
          </a:p>
          <a:p>
            <a:pPr marL="158750" indent="0">
              <a:buNone/>
            </a:pPr>
            <a:r>
              <a:rPr lang="zh-TW" altLang="zh-TW" dirty="0"/>
              <a:t>「50 是常用的中等設定，太大容易過擬合、訓練也慢。我先用 50 當基準，重點是比較不同模型，不是調到最佳。」</a:t>
            </a:r>
          </a:p>
          <a:p>
            <a:pPr marL="158750" indent="0">
              <a:buNone/>
            </a:pPr>
            <a:r>
              <a:rPr lang="zh-TW" altLang="zh-TW" b="1" dirty="0"/>
              <a:t>Q：為什麼單層之外還做雙層？</a:t>
            </a:r>
            <a:endParaRPr lang="zh-TW" altLang="zh-TW" dirty="0"/>
          </a:p>
          <a:p>
            <a:pPr marL="158750" indent="0">
              <a:buNone/>
            </a:pPr>
            <a:r>
              <a:rPr lang="zh-TW" altLang="zh-TW" dirty="0"/>
              <a:t>「想看看加深網路能不能學到更複雜的型態。結果雙層沒有明顯比單層好，這也呼應我的結論——複雜模型未必較佳。」</a:t>
            </a:r>
          </a:p>
          <a:p>
            <a:pPr marL="158750" indent="0">
              <a:buNone/>
            </a:pPr>
            <a:r>
              <a:rPr lang="zh-TW" altLang="zh-TW" b="1" dirty="0"/>
              <a:t>Q：為什麼確定這是迴歸不是分類？</a:t>
            </a:r>
            <a:endParaRPr lang="zh-TW" altLang="zh-TW" dirty="0"/>
          </a:p>
          <a:p>
            <a:pPr marL="158750" indent="0">
              <a:buNone/>
            </a:pPr>
            <a:r>
              <a:rPr lang="zh-TW" altLang="zh-TW" dirty="0"/>
              <a:t>「看最後兩個地方：Dense(1) 輸出單一連續值、loss 用 mse。分類會用 sigmoid 加交叉熵，這裡都沒有，所以是迴歸。」</a:t>
            </a:r>
          </a:p>
          <a:p>
            <a:pPr marL="158750" indent="0">
              <a:buNone/>
            </a:pPr>
            <a:endParaRPr lang="zh-TW" altLang="zh-TW"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01E316C8-D2AC-AB3A-B3F2-70DFCFFED6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55050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E212C9C9-2DA8-2C01-8CCC-87D23A8F1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4F0CD18B-58FE-DA5B-AC91-C39F582A13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這頁是雙向 LSTM。前面的單層、雙層 LSTM 都是『單向』，只從過去往未來讀;雙向 LSTM 多了一個反方向，會同時從未來往過去再讀一次，把兩個方向的結果合併，理論上能擷取更完整的前後文資訊。</a:t>
            </a:r>
          </a:p>
          <a:p>
            <a:pPr marL="158750" indent="0">
              <a:buNone/>
            </a:pPr>
            <a:r>
              <a:rPr lang="zh-TW" altLang="zh-TW" dirty="0"/>
              <a:t>實作上就是用 Keras 的 Bidirectional 把 LSTM 包起來。單層就是 Bidirectional(LSTM(50)) 加 Dense(1);雙層一樣疊兩層、第一層設 return_sequences=True。其餘設定和前面一致，optimizer 用 adam、loss 用 mse，所以同樣是迴歸版本。</a:t>
            </a:r>
            <a:br>
              <a:rPr lang="en-US" altLang="zh-TW" dirty="0"/>
            </a:br>
            <a:r>
              <a:rPr lang="zh-TW" altLang="zh-TW" dirty="0"/>
              <a:t>不過要特別說明——雖然雙向理論上資訊更多，但在我的『預測』任務裡，反向等於讓模型偷看到未來的資料，造成資料洩漏，所以雙向 LSTM 在結果裡反而表現最差。這也呼應我後面的發現：更複雜的模型在這個任務上未必更好。</a:t>
            </a:r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90D9A89D-AB33-65CB-FDB9-1337FAA03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83798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 LLM 的分類任務，我用 GPT-3.5，把近期的技術指標整理成提示詞，要它預測次日漲跌。</a:t>
            </a:r>
          </a:p>
          <a:p>
            <a:pPr marL="158750" indent="0">
              <a:buNone/>
            </a:pPr>
            <a:r>
              <a:rPr lang="zh-TW" altLang="zh-TW" dirty="0"/>
              <a:t>看上面四個指標：F1 是 0.524、準確率 0.51、精確率 0.454、召回率 0.621。</a:t>
            </a:r>
            <a:r>
              <a:rPr lang="zh-TW" altLang="zh-TW" b="1" dirty="0"/>
              <a:t>準確率剛好過半、F1 約 0.52，都接近隨機猜測的水準</a:t>
            </a:r>
            <a:r>
              <a:rPr lang="zh-TW" altLang="zh-TW" dirty="0"/>
              <a:t>——也就是說，GPT-3.5 在漲跌方向上幾乎沒有預測力。</a:t>
            </a:r>
          </a:p>
          <a:p>
            <a:pPr marL="158750" indent="0">
              <a:buNone/>
            </a:pPr>
            <a:r>
              <a:rPr lang="zh-TW" altLang="zh-TW" dirty="0"/>
              <a:t>這裡要補充一點：雖然我的 RF 和 LSTM 分類 F1 有 0.69 到 0.73、看起來比 LLM 高，</a:t>
            </a:r>
            <a:r>
              <a:rPr lang="zh-TW" altLang="zh-TW" b="1" dirty="0"/>
              <a:t>但它們同樣沒有超越 Always-Up 基準 0.736</a:t>
            </a:r>
            <a:r>
              <a:rPr lang="zh-TW" altLang="zh-TW" dirty="0"/>
              <a:t>，那個高分主要是多頭市場一直漲、猜漲就中的偏態造成的，不是真的學會判斷方向。從混淆矩陣也看得到，GPT-3.5 一樣傾向一直猜「漲」。所以</a:t>
            </a:r>
            <a:r>
              <a:rPr lang="zh-TW" altLang="zh-TW" b="1" dirty="0"/>
              <a:t>不管哪種模型，分類都沒有實質效果</a:t>
            </a:r>
            <a:r>
              <a:rPr lang="zh-TW" altLang="zh-TW" dirty="0"/>
              <a:t>。</a:t>
            </a:r>
          </a:p>
          <a:p>
            <a:pPr marL="158750" indent="0">
              <a:buNone/>
            </a:pPr>
            <a:r>
              <a:rPr lang="zh-TW" altLang="zh-TW" dirty="0"/>
              <a:t>但對比很有意思——同一個 LLM 改去做數值迴歸，用 GPT-4o-mini，三個市場的 R² 一致達到 0.80。這說明 </a:t>
            </a:r>
            <a:r>
              <a:rPr lang="zh-TW" altLang="zh-TW" b="1" dirty="0"/>
              <a:t>LLM 擅長的是『數值預測』，而不是『漲跌分類』</a:t>
            </a:r>
            <a:r>
              <a:rPr lang="zh-TW" altLang="zh-TW" dirty="0"/>
              <a:t>，這也是我研究的重要發現之一。</a:t>
            </a:r>
            <a:br>
              <a:rPr lang="en-US" altLang="zh-TW" dirty="0"/>
            </a:br>
            <a:r>
              <a:rPr lang="zh-TW" altLang="zh-TW" dirty="0"/>
              <a:t>F1-score 是精確率和召回率的調和平均。精確率是『模型說會漲的，有幾次真的漲』；召回率是『真正漲的日子，模型抓到幾成』；F1 把兩者綜合起來。</a:t>
            </a:r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>
          <a:extLst>
            <a:ext uri="{FF2B5EF4-FFF2-40B4-BE49-F238E27FC236}">
              <a16:creationId xmlns:a16="http://schemas.microsoft.com/office/drawing/2014/main" id="{6B1143D1-3C36-DFFF-7D4C-CF306EF6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>
            <a:extLst>
              <a:ext uri="{FF2B5EF4-FFF2-40B4-BE49-F238E27FC236}">
                <a16:creationId xmlns:a16="http://schemas.microsoft.com/office/drawing/2014/main" id="{BFC5291E-39F3-2D1A-2057-89CF920C5A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>
                <a:effectLst/>
              </a:rPr>
              <a:t>這頁是 LLM 的迴歸任務，三個市場都跑了。模型用 gpt-4o-mini，把過去 60 天的五個技術指標整理成提示詞，要它輸出次日收盤價，每個市場測 50 筆。</a:t>
            </a:r>
          </a:p>
          <a:p>
            <a:pPr marL="158750" indent="0">
              <a:buNone/>
            </a:pPr>
            <a:r>
              <a:rPr lang="zh-TW" altLang="zh-TW" dirty="0">
                <a:effectLst/>
              </a:rPr>
              <a:t>結果三市場的 R² 非常一致，都在 0.80 左右。要注意 MSE 和 RMSE 不能跨市場比——因為 0050 股價幾十元、SPY 和 QQQ 是幾百元，平方後尺度差很大;跨市場要看標準化的 R²，三個都約 0.80，代表 LLM 的數值預測能力是穩定的。</a:t>
            </a:r>
          </a:p>
          <a:p>
            <a:pPr marL="158750" indent="0">
              <a:buNone/>
            </a:pPr>
            <a:r>
              <a:rPr lang="zh-TW" altLang="zh-TW" dirty="0">
                <a:effectLst/>
              </a:rPr>
              <a:t>對比同一個 LLM 做漲跌分類只有 F1 0.48，這說明 LLM 擅長數值預測、不擅長方向分類，定位是解釋型輔助。</a:t>
            </a:r>
          </a:p>
          <a:p>
            <a:pPr marL="158750" indent="0">
              <a:buNone/>
            </a:pPr>
            <a:r>
              <a:rPr lang="zh-TW" altLang="zh-TW" b="1" dirty="0">
                <a:effectLst/>
              </a:rPr>
              <a:t>Q：0050 的 MSE 0.22 是不是特別準？</a:t>
            </a:r>
            <a:r>
              <a:rPr lang="zh-TW" altLang="zh-TW" dirty="0">
                <a:effectLst/>
              </a:rPr>
              <a:t> →「不是，是股價尺度小所以 MSE 小;看 R² 三市場其實一樣，都約 0.80。」</a:t>
            </a:r>
          </a:p>
          <a:p>
            <a:pPr marL="158750" indent="0">
              <a:buNone/>
            </a:pPr>
            <a:r>
              <a:rPr lang="zh-TW" altLang="zh-TW" b="1" dirty="0">
                <a:effectLst/>
              </a:rPr>
              <a:t>Q：R² 0.80 比 ARIMA 好嗎？</a:t>
            </a:r>
            <a:r>
              <a:rPr lang="zh-TW" altLang="zh-TW" dirty="0">
                <a:effectLst/>
              </a:rPr>
              <a:t> →「沒有，ARIMA 更好;重點是證明 LLM 零訓練、純提示詞也能達到 0.80 的數值預測力。</a:t>
            </a:r>
          </a:p>
        </p:txBody>
      </p:sp>
      <p:sp>
        <p:nvSpPr>
          <p:cNvPr id="238" name="Google Shape;238;p10:notes">
            <a:extLst>
              <a:ext uri="{FF2B5EF4-FFF2-40B4-BE49-F238E27FC236}">
                <a16:creationId xmlns:a16="http://schemas.microsoft.com/office/drawing/2014/main" id="{BCAFEEF2-24AF-A1F2-C76E-C3B2CED84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0718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22410B51-C3B3-862E-7DE3-B85900B3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D20F2394-FA7A-81DA-8A6C-FDAB4DC3E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 LLM 迴歸的核心程式碼。我用 OpenAI 的 API 呼叫 gpt-4o-mini，把整理好的提示詞傳進去，要它預測次日收盤價。</a:t>
            </a:r>
          </a:p>
          <a:p>
            <a:pPr marL="158750" indent="0">
              <a:buNone/>
            </a:pPr>
            <a:r>
              <a:rPr lang="zh-TW" altLang="zh-TW" dirty="0"/>
              <a:t>這裡 temperature 設 0.7。temperature 控制輸出的隨機性，範圍從 0 到 2，數值越高輸出越多樣。0.7 是業界處理 LLM 時最常用的設定，即使是預測任務也通常採 0.7 左右，而不是設成 0。</a:t>
            </a:r>
          </a:p>
          <a:p>
            <a:pPr marL="158750" indent="0">
              <a:buNone/>
            </a:pPr>
            <a:r>
              <a:rPr lang="zh-TW" altLang="zh-TW" dirty="0"/>
              <a:t>另外我用 response_format 強制模型回傳 JSON 格式，程式再從裡面取出 predicted_close 這個欄位，作為預測的收盤價。</a:t>
            </a:r>
            <a:br>
              <a:rPr lang="en-US" altLang="zh-TW" dirty="0"/>
            </a:br>
            <a:r>
              <a:rPr lang="zh-TW" altLang="zh-TW" dirty="0"/>
              <a:t>雖然 0.7 會帶來一點隨機性，但我重跑後三個市場的 R² 仍然維持在 0.8 左右，代表 LLM 的數值預測能力是穩定的，並不依賴把 temperature 設成 0。</a:t>
            </a:r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F1EA3EC1-200C-5CDF-ED5F-32CFB39FB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67697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63BC11B1-CB7F-90B0-D6EA-568F13DF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>
            <a:extLst>
              <a:ext uri="{FF2B5EF4-FFF2-40B4-BE49-F238E27FC236}">
                <a16:creationId xmlns:a16="http://schemas.microsoft.com/office/drawing/2014/main" id="{B16D19E2-87CD-CAE4-A0B6-30A661297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先說明機器學習的標準流程</a:t>
            </a:r>
            <a:r>
              <a:rPr lang="en-US" altLang="zh-TW" dirty="0"/>
              <a:t>,</a:t>
            </a:r>
            <a:r>
              <a:rPr lang="zh-TW" altLang="en-US" dirty="0"/>
              <a:t>從資料收集、預處理、特徵工程</a:t>
            </a:r>
            <a:r>
              <a:rPr lang="en-US" altLang="zh-TW" dirty="0"/>
              <a:t>,</a:t>
            </a:r>
            <a:r>
              <a:rPr lang="zh-TW" altLang="en-US" dirty="0"/>
              <a:t>到模型訓練、評估、部署。評估指標分類用 </a:t>
            </a:r>
            <a:r>
              <a:rPr lang="en-US" altLang="zh-TW" dirty="0"/>
              <a:t>F1</a:t>
            </a:r>
            <a:r>
              <a:rPr lang="zh-TW" altLang="en-US" dirty="0"/>
              <a:t>、</a:t>
            </a:r>
            <a:r>
              <a:rPr lang="en-US" altLang="zh-TW" dirty="0"/>
              <a:t>ROC-AUC,</a:t>
            </a:r>
            <a:r>
              <a:rPr lang="zh-TW" altLang="en-US" dirty="0"/>
              <a:t>迴歸用 </a:t>
            </a:r>
            <a:r>
              <a:rPr lang="en-US" altLang="zh-TW" dirty="0"/>
              <a:t>MSE</a:t>
            </a:r>
            <a:r>
              <a:rPr lang="zh-TW" altLang="en-US" dirty="0"/>
              <a:t>、</a:t>
            </a:r>
            <a:r>
              <a:rPr lang="en-US" altLang="zh-TW" dirty="0"/>
              <a:t>RMSE</a:t>
            </a:r>
            <a:r>
              <a:rPr lang="zh-TW" altLang="en-US" dirty="0"/>
              <a:t>、</a:t>
            </a:r>
            <a:r>
              <a:rPr lang="en-US" altLang="zh-TW" dirty="0"/>
              <a:t>MAE</a:t>
            </a:r>
            <a:r>
              <a:rPr lang="zh-TW" altLang="en-US" dirty="0"/>
              <a:t>、</a:t>
            </a:r>
            <a:r>
              <a:rPr lang="en-US" altLang="zh-TW" dirty="0"/>
              <a:t>R²</a:t>
            </a:r>
            <a:r>
              <a:rPr lang="zh-TW" altLang="en-US" dirty="0"/>
              <a:t>、</a:t>
            </a:r>
            <a:r>
              <a:rPr lang="en-US" altLang="zh-TW" dirty="0"/>
              <a:t>MAPE</a:t>
            </a:r>
            <a:r>
              <a:rPr lang="zh-TW" altLang="en-US" dirty="0"/>
              <a:t>。其中模型訓練階段要用交叉驗證確保穩定。</a:t>
            </a:r>
            <a:endParaRPr dirty="0"/>
          </a:p>
        </p:txBody>
      </p:sp>
      <p:sp>
        <p:nvSpPr>
          <p:cNvPr id="256" name="Google Shape;256;p11:notes">
            <a:extLst>
              <a:ext uri="{FF2B5EF4-FFF2-40B4-BE49-F238E27FC236}">
                <a16:creationId xmlns:a16="http://schemas.microsoft.com/office/drawing/2014/main" id="{62CAC9D2-2996-571F-259C-B2E1C4637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37469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這頁說明我的研究實驗流程</a:t>
            </a:r>
            <a:r>
              <a:rPr lang="en-US" altLang="zh-TW" dirty="0"/>
              <a:t>,</a:t>
            </a:r>
            <a:r>
              <a:rPr lang="zh-TW" altLang="en-US" dirty="0"/>
              <a:t>對應到標準的機器學習 </a:t>
            </a:r>
            <a:r>
              <a:rPr lang="en-US" altLang="zh-TW" dirty="0"/>
              <a:t>pipeline,</a:t>
            </a:r>
            <a:r>
              <a:rPr lang="zh-TW" altLang="en-US" dirty="0"/>
              <a:t>分五個階段。</a:t>
            </a:r>
          </a:p>
          <a:p>
            <a:pPr marL="158750" indent="0">
              <a:buNone/>
            </a:pPr>
            <a:r>
              <a:rPr lang="zh-TW" altLang="en-US" dirty="0"/>
              <a:t>第一</a:t>
            </a:r>
            <a:r>
              <a:rPr lang="en-US" altLang="zh-TW" dirty="0"/>
              <a:t>,</a:t>
            </a:r>
            <a:r>
              <a:rPr lang="zh-TW" altLang="en-US" b="1" dirty="0"/>
              <a:t>資料來源</a:t>
            </a:r>
            <a:r>
              <a:rPr lang="en-US" altLang="zh-TW" dirty="0"/>
              <a:t>:</a:t>
            </a:r>
            <a:r>
              <a:rPr lang="zh-TW" altLang="en-US" dirty="0"/>
              <a:t>用 </a:t>
            </a:r>
            <a:r>
              <a:rPr lang="en-US" altLang="zh-TW" dirty="0"/>
              <a:t>Yahoo Finance API </a:t>
            </a:r>
            <a:r>
              <a:rPr lang="zh-TW" altLang="en-US" dirty="0"/>
              <a:t>取得 </a:t>
            </a:r>
            <a:r>
              <a:rPr lang="en-US" altLang="zh-TW" dirty="0"/>
              <a:t>ETF </a:t>
            </a:r>
            <a:r>
              <a:rPr lang="zh-TW" altLang="en-US" dirty="0"/>
              <a:t>的歷史股價</a:t>
            </a:r>
            <a:r>
              <a:rPr lang="en-US" altLang="zh-TW" dirty="0"/>
              <a:t>,</a:t>
            </a:r>
            <a:r>
              <a:rPr lang="zh-TW" altLang="en-US" dirty="0"/>
              <a:t>透過 </a:t>
            </a:r>
            <a:r>
              <a:rPr lang="en-US" altLang="zh-TW" dirty="0"/>
              <a:t>update_database.py </a:t>
            </a:r>
            <a:r>
              <a:rPr lang="zh-TW" altLang="en-US" dirty="0"/>
              <a:t>這支程式抓取。</a:t>
            </a:r>
          </a:p>
          <a:p>
            <a:pPr marL="158750" indent="0">
              <a:buNone/>
            </a:pPr>
            <a:r>
              <a:rPr lang="zh-TW" altLang="en-US" dirty="0"/>
              <a:t>第二</a:t>
            </a:r>
            <a:r>
              <a:rPr lang="en-US" altLang="zh-TW" dirty="0"/>
              <a:t>,</a:t>
            </a:r>
            <a:r>
              <a:rPr lang="zh-TW" altLang="en-US" b="1" dirty="0"/>
              <a:t>資料前處理</a:t>
            </a:r>
            <a:r>
              <a:rPr lang="en-US" altLang="zh-TW" dirty="0"/>
              <a:t>:</a:t>
            </a:r>
            <a:r>
              <a:rPr lang="zh-TW" altLang="en-US" dirty="0"/>
              <a:t>做資料清洗、缺失值處理</a:t>
            </a:r>
            <a:r>
              <a:rPr lang="en-US" altLang="zh-TW" dirty="0"/>
              <a:t>,</a:t>
            </a:r>
            <a:r>
              <a:rPr lang="zh-TW" altLang="en-US" dirty="0"/>
              <a:t>然後存進 </a:t>
            </a:r>
            <a:r>
              <a:rPr lang="en-US" altLang="zh-TW" dirty="0" err="1"/>
              <a:t>etf_data.db</a:t>
            </a:r>
            <a:r>
              <a:rPr lang="en-US" altLang="zh-TW" dirty="0"/>
              <a:t> </a:t>
            </a:r>
            <a:r>
              <a:rPr lang="zh-TW" altLang="en-US" dirty="0"/>
              <a:t>這個本地資料庫。後面所有模型訓練都讀這個 </a:t>
            </a:r>
            <a:r>
              <a:rPr lang="en-US" altLang="zh-TW" dirty="0" err="1"/>
              <a:t>db</a:t>
            </a:r>
            <a:r>
              <a:rPr lang="en-US" altLang="zh-TW" dirty="0"/>
              <a:t>,</a:t>
            </a:r>
            <a:r>
              <a:rPr lang="zh-TW" altLang="en-US" dirty="0"/>
              <a:t>確保實驗可以重現</a:t>
            </a:r>
            <a:r>
              <a:rPr lang="en-US" altLang="zh-TW" dirty="0"/>
              <a:t>——</a:t>
            </a:r>
            <a:r>
              <a:rPr lang="zh-TW" altLang="en-US" dirty="0"/>
              <a:t>不會因為每天重抓 </a:t>
            </a:r>
            <a:r>
              <a:rPr lang="en-US" altLang="zh-TW" dirty="0"/>
              <a:t>API </a:t>
            </a:r>
            <a:r>
              <a:rPr lang="zh-TW" altLang="en-US" dirty="0"/>
              <a:t>而資料變動。</a:t>
            </a:r>
          </a:p>
          <a:p>
            <a:pPr marL="158750" indent="0">
              <a:buNone/>
            </a:pPr>
            <a:r>
              <a:rPr lang="zh-TW" altLang="en-US" dirty="0"/>
              <a:t>第三</a:t>
            </a:r>
            <a:r>
              <a:rPr lang="en-US" altLang="zh-TW" dirty="0"/>
              <a:t>,</a:t>
            </a:r>
            <a:r>
              <a:rPr lang="zh-TW" altLang="en-US" b="1" dirty="0"/>
              <a:t>特徵工程</a:t>
            </a:r>
            <a:r>
              <a:rPr lang="en-US" altLang="zh-TW" dirty="0"/>
              <a:t>:</a:t>
            </a:r>
            <a:r>
              <a:rPr lang="zh-TW" altLang="en-US" dirty="0"/>
              <a:t>建立 </a:t>
            </a:r>
            <a:r>
              <a:rPr lang="en-US" altLang="zh-TW" dirty="0"/>
              <a:t>Lag</a:t>
            </a:r>
            <a:r>
              <a:rPr lang="zh-TW" altLang="en-US" dirty="0"/>
              <a:t>、移動平均 </a:t>
            </a:r>
            <a:r>
              <a:rPr lang="en-US" altLang="zh-TW" dirty="0"/>
              <a:t>MA</a:t>
            </a:r>
            <a:r>
              <a:rPr lang="zh-TW" altLang="en-US" dirty="0"/>
              <a:t>、波動率 </a:t>
            </a:r>
            <a:r>
              <a:rPr lang="en-US" altLang="zh-TW" dirty="0"/>
              <a:t>Vol </a:t>
            </a:r>
            <a:r>
              <a:rPr lang="zh-TW" altLang="en-US" dirty="0"/>
              <a:t>等技術指標特徵</a:t>
            </a:r>
            <a:r>
              <a:rPr lang="en-US" altLang="zh-TW" dirty="0"/>
              <a:t>,</a:t>
            </a:r>
            <a:r>
              <a:rPr lang="zh-TW" altLang="en-US" dirty="0"/>
              <a:t>主要供樹模型使用</a:t>
            </a:r>
            <a:r>
              <a:rPr lang="en-US" altLang="zh-TW" dirty="0"/>
              <a:t>;ARIMA </a:t>
            </a:r>
            <a:r>
              <a:rPr lang="zh-TW" altLang="en-US" dirty="0"/>
              <a:t>和 </a:t>
            </a:r>
            <a:r>
              <a:rPr lang="en-US" altLang="zh-TW" dirty="0"/>
              <a:t>LSTM </a:t>
            </a:r>
            <a:r>
              <a:rPr lang="zh-TW" altLang="en-US" dirty="0"/>
              <a:t>則直接處理價格序列。</a:t>
            </a:r>
          </a:p>
          <a:p>
            <a:pPr marL="158750" indent="0">
              <a:buNone/>
            </a:pPr>
            <a:r>
              <a:rPr lang="zh-TW" altLang="zh-TW" dirty="0"/>
              <a:t>第四,模型訓練:所有迴歸模型統一採 TimeSeriesSplit 五折時序交叉驗證,確保訓練集永遠早於測試集。其中 ARIMA 在每一折的測試段內採逐日 rolling forecast(1 步預測、每步以真值更新),使其與樹模型、LSTM 同為「1 步預測」,達到公平比較。之所以不用一般的 K-Fold,是因為它會打亂時間順序、造成未來資料洩漏。</a:t>
            </a:r>
            <a:br>
              <a:rPr lang="en-US" altLang="zh-TW" dirty="0"/>
            </a:br>
            <a:r>
              <a:rPr lang="zh-TW" altLang="en-US" dirty="0"/>
              <a:t>第五</a:t>
            </a:r>
            <a:r>
              <a:rPr lang="en-US" altLang="zh-TW" dirty="0"/>
              <a:t>,</a:t>
            </a:r>
            <a:r>
              <a:rPr lang="zh-TW" altLang="en-US" b="1" dirty="0"/>
              <a:t>性能評估</a:t>
            </a:r>
            <a:r>
              <a:rPr lang="en-US" altLang="zh-TW" dirty="0"/>
              <a:t>:</a:t>
            </a:r>
            <a:r>
              <a:rPr lang="zh-TW" altLang="en-US" dirty="0"/>
              <a:t>迴歸用 </a:t>
            </a:r>
            <a:r>
              <a:rPr lang="en-US" altLang="zh-TW" dirty="0"/>
              <a:t>MSE</a:t>
            </a:r>
            <a:r>
              <a:rPr lang="zh-TW" altLang="en-US" dirty="0"/>
              <a:t>、</a:t>
            </a:r>
            <a:r>
              <a:rPr lang="en-US" altLang="zh-TW" dirty="0"/>
              <a:t>MAPE,</a:t>
            </a:r>
            <a:r>
              <a:rPr lang="zh-TW" altLang="en-US" dirty="0"/>
              <a:t>分類用 </a:t>
            </a:r>
            <a:r>
              <a:rPr lang="en-US" altLang="zh-TW" dirty="0"/>
              <a:t>F1-score</a:t>
            </a:r>
            <a:r>
              <a:rPr lang="zh-TW" altLang="en-US" dirty="0"/>
              <a:t>。其中 </a:t>
            </a:r>
            <a:r>
              <a:rPr lang="en-US" altLang="zh-TW" dirty="0"/>
              <a:t>MAPE </a:t>
            </a:r>
            <a:r>
              <a:rPr lang="zh-TW" altLang="en-US" dirty="0"/>
              <a:t>是百分比</a:t>
            </a:r>
            <a:r>
              <a:rPr lang="en-US" altLang="zh-TW" dirty="0"/>
              <a:t>,</a:t>
            </a:r>
            <a:r>
              <a:rPr lang="zh-TW" altLang="en-US" dirty="0"/>
              <a:t>可以跨市場比較。</a:t>
            </a:r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資料是三檔 ETF：SPY、QQQ、0050，2016 到 2026 的日資料，特徵用 OHLCV 加上 MA、RSI、波動率，全部以 TimeSeriesSplit 驗證。</a:t>
            </a:r>
            <a:endParaRPr dirty="0"/>
          </a:p>
        </p:txBody>
      </p:sp>
      <p:sp>
        <p:nvSpPr>
          <p:cNvPr id="285" name="Google Shape;2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100" dirty="0">
                <a:solidFill>
                  <a:srgbClr val="FF0000"/>
                </a:solidFill>
              </a:rPr>
              <a:t>Q:</a:t>
            </a:r>
            <a:r>
              <a:rPr lang="zh-TW" altLang="zh-TW" sz="1100" dirty="0">
                <a:solidFill>
                  <a:srgbClr val="FF0000"/>
                </a:solidFill>
              </a:rPr>
              <a:t>Always-Up 基準（0.736）</a:t>
            </a:r>
            <a:r>
              <a:rPr lang="zh-TW" altLang="en-US" sz="1100" dirty="0">
                <a:solidFill>
                  <a:srgbClr val="FF0000"/>
                </a:solidFill>
              </a:rPr>
              <a:t>為什麼要寫這個</a:t>
            </a:r>
            <a:br>
              <a:rPr lang="en-US" altLang="zh-TW" dirty="0"/>
            </a:br>
            <a:r>
              <a:rPr lang="zh-TW" altLang="zh-TW" dirty="0"/>
              <a:t>Always-Up 是『每天都猜漲』的天真基準，多頭期間光猜漲就有 0.736。它是及格線——模型贏不過它，就代表方向沒真的學到，高分來自市場偏態</a:t>
            </a:r>
            <a:br>
              <a:rPr lang="en-US" altLang="zh-TW" dirty="0"/>
            </a:br>
            <a:r>
              <a:rPr lang="en-US" altLang="zh-TW" dirty="0"/>
              <a:t>Q:</a:t>
            </a:r>
            <a:r>
              <a:rPr lang="zh-TW" altLang="zh-TW" dirty="0"/>
              <a:t>隨機森林 F1 為什麼這麼爛（0050 只有 0.599）？</a:t>
            </a:r>
            <a:br>
              <a:rPr lang="en-US" altLang="zh-TW" dirty="0"/>
            </a:br>
            <a:r>
              <a:rPr lang="zh-TW" altLang="zh-TW" dirty="0"/>
              <a:t>隨機森林只在台股 0050 特別差（0.599），因為它靠特徵硬分、沒跟著『多頭猜漲』的偏態走;加上台股雜訊高、受國際連動，方向更難抓，所以低於基準。</a:t>
            </a:r>
            <a:endParaRPr dirty="0"/>
          </a:p>
        </p:txBody>
      </p:sp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0A7495C2-5F38-10B8-D21B-F38FA073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C955BF73-CCD7-CDD6-3E95-667AFF315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這是迴歸的誤差比較</a:t>
            </a:r>
            <a:r>
              <a:rPr lang="en-US" altLang="zh-TW" dirty="0"/>
              <a:t>,</a:t>
            </a:r>
            <a:r>
              <a:rPr lang="zh-TW" altLang="en-US" dirty="0"/>
              <a:t>左邊是 </a:t>
            </a:r>
            <a:r>
              <a:rPr lang="en-US" altLang="zh-TW" dirty="0"/>
              <a:t>MSE</a:t>
            </a:r>
            <a:r>
              <a:rPr lang="zh-TW" altLang="en-US" dirty="0"/>
              <a:t>、右邊是 </a:t>
            </a:r>
            <a:r>
              <a:rPr lang="en-US" altLang="zh-TW" dirty="0"/>
              <a:t>MAPE</a:t>
            </a:r>
            <a:r>
              <a:rPr lang="zh-TW" altLang="en-US" dirty="0"/>
              <a:t>。</a:t>
            </a:r>
            <a:r>
              <a:rPr lang="en-US" altLang="zh-TW" dirty="0"/>
              <a:t>MSE </a:t>
            </a:r>
            <a:r>
              <a:rPr lang="zh-TW" altLang="en-US" dirty="0"/>
              <a:t>受股價數值影響</a:t>
            </a:r>
            <a:r>
              <a:rPr lang="en-US" altLang="zh-TW" dirty="0"/>
              <a:t>,</a:t>
            </a:r>
            <a:r>
              <a:rPr lang="zh-TW" altLang="en-US" dirty="0"/>
              <a:t>只能在同一市場內比</a:t>
            </a:r>
            <a:r>
              <a:rPr lang="en-US" altLang="zh-TW" dirty="0"/>
              <a:t>;MAPE </a:t>
            </a:r>
            <a:r>
              <a:rPr lang="zh-TW" altLang="en-US" dirty="0"/>
              <a:t>是百分比</a:t>
            </a:r>
            <a:r>
              <a:rPr lang="en-US" altLang="zh-TW" dirty="0"/>
              <a:t>,</a:t>
            </a:r>
            <a:r>
              <a:rPr lang="zh-TW" altLang="en-US" dirty="0"/>
              <a:t>可以跨市場比。可以看到不管哪個指標</a:t>
            </a:r>
            <a:r>
              <a:rPr lang="en-US" altLang="zh-TW" dirty="0"/>
              <a:t>,</a:t>
            </a:r>
            <a:r>
              <a:rPr lang="zh-TW" altLang="en-US" dirty="0"/>
              <a:t>三個市場排序都一致</a:t>
            </a:r>
            <a:r>
              <a:rPr lang="en-US" altLang="zh-TW" dirty="0"/>
              <a:t>:ARIMA </a:t>
            </a:r>
            <a:r>
              <a:rPr lang="zh-TW" altLang="en-US" dirty="0"/>
              <a:t>誤差最小、</a:t>
            </a:r>
            <a:r>
              <a:rPr lang="en-US" altLang="zh-TW" dirty="0"/>
              <a:t>LSTM </a:t>
            </a:r>
            <a:r>
              <a:rPr lang="zh-TW" altLang="en-US" dirty="0"/>
              <a:t>次之、樹模型最大。特別是 </a:t>
            </a:r>
            <a:r>
              <a:rPr lang="en-US" altLang="zh-TW" dirty="0"/>
              <a:t>MAPE,ARIMA </a:t>
            </a:r>
            <a:r>
              <a:rPr lang="zh-TW" altLang="en-US" dirty="0"/>
              <a:t>不到 </a:t>
            </a:r>
            <a:r>
              <a:rPr lang="en-US" altLang="zh-TW" dirty="0"/>
              <a:t>1%</a:t>
            </a:r>
            <a:r>
              <a:rPr lang="zh-TW" altLang="en-US" dirty="0"/>
              <a:t>、</a:t>
            </a:r>
            <a:r>
              <a:rPr lang="en-US" altLang="zh-TW" dirty="0"/>
              <a:t>LSTM </a:t>
            </a:r>
            <a:r>
              <a:rPr lang="zh-TW" altLang="en-US" dirty="0"/>
              <a:t>約 </a:t>
            </a:r>
            <a:r>
              <a:rPr lang="en-US" altLang="zh-TW" dirty="0"/>
              <a:t>2 </a:t>
            </a:r>
            <a:r>
              <a:rPr lang="zh-TW" altLang="en-US" dirty="0"/>
              <a:t>到 </a:t>
            </a:r>
            <a:r>
              <a:rPr lang="en-US" altLang="zh-TW" dirty="0"/>
              <a:t>3%</a:t>
            </a:r>
            <a:r>
              <a:rPr lang="zh-TW" altLang="en-US" dirty="0"/>
              <a:t>、樹模型高達 </a:t>
            </a:r>
            <a:r>
              <a:rPr lang="en-US" altLang="zh-TW" dirty="0"/>
              <a:t>8 </a:t>
            </a:r>
            <a:r>
              <a:rPr lang="zh-TW" altLang="en-US" dirty="0"/>
              <a:t>到 </a:t>
            </a:r>
            <a:r>
              <a:rPr lang="en-US" altLang="zh-TW" dirty="0"/>
              <a:t>11%</a:t>
            </a:r>
            <a:r>
              <a:rPr lang="zh-TW" altLang="en-US" dirty="0"/>
              <a:t>。</a:t>
            </a:r>
            <a:endParaRPr dirty="0"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4238A708-6F60-564A-1257-7F2FB41080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4943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003B08ED-9F1C-18A5-270C-FF47A4087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6A4B20C4-067A-EC21-8C3A-666A0E269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這頁是三個市場的預測曲線比較，重點看線的顏色。</a:t>
            </a:r>
          </a:p>
          <a:p>
            <a:pPr marL="158750" indent="0">
              <a:buNone/>
            </a:pPr>
            <a:r>
              <a:rPr lang="zh-TW" altLang="zh-TW" dirty="0"/>
              <a:t>黑色是實際股價，一路往上漲。綠色是 ARIMA，幾乎完全貼著黑線，預測最準;藍色是 LSTM，跟得上趨勢、但有一點落差;橘色是隨機森林，大家可以看到它整條</a:t>
            </a:r>
            <a:r>
              <a:rPr lang="zh-TW" altLang="zh-TW" b="1" dirty="0"/>
              <a:t>躺平</a:t>
            </a:r>
            <a:r>
              <a:rPr lang="zh-TW" altLang="zh-TW" dirty="0"/>
              <a:t>，完全追不上。</a:t>
            </a:r>
          </a:p>
          <a:p>
            <a:pPr marL="158750" indent="0">
              <a:buNone/>
            </a:pPr>
            <a:r>
              <a:rPr lang="zh-TW" altLang="zh-TW" dirty="0"/>
              <a:t>為什麼隨機森林會躺平？因為它</a:t>
            </a:r>
            <a:r>
              <a:rPr lang="zh-TW" altLang="zh-TW" b="1" dirty="0"/>
              <a:t>只會在『看過的價格範圍』裡面猜</a:t>
            </a:r>
            <a:r>
              <a:rPr lang="zh-TW" altLang="zh-TW" dirty="0"/>
              <a:t>。它訓練時看過的最高價是多少，預測就大概只能到那裡，沒辦法猜出更高的價格。但我的測試期股價一直創新高、超過它看過的範圍，所以它只能停在歷史高點那條線上，越差越遠。</a:t>
            </a:r>
          </a:p>
          <a:p>
            <a:pPr marL="158750" indent="0">
              <a:buNone/>
            </a:pPr>
            <a:r>
              <a:rPr lang="zh-TW" altLang="zh-TW" dirty="0"/>
              <a:t>這是隨機森林這類模型天生的限制，再怎麼調參數都改不了。這也正好說明我的研究發現——遇到股價創新高的情況，反而是 ARIMA 這種簡單、能延伸趨勢的模型表現最好。</a:t>
            </a:r>
            <a:br>
              <a:rPr lang="en-US" altLang="zh-TW" dirty="0"/>
            </a:br>
            <a:r>
              <a:rPr lang="zh-TW" altLang="zh-TW" b="1" dirty="0"/>
              <a:t>Q：為什麼隨機森林猜不出更高的價？</a:t>
            </a:r>
            <a:endParaRPr lang="zh-TW" altLang="zh-TW" dirty="0"/>
          </a:p>
          <a:p>
            <a:pPr marL="158750" indent="0">
              <a:buNone/>
            </a:pPr>
            <a:r>
              <a:rPr lang="zh-TW" altLang="zh-TW" dirty="0"/>
              <a:t>「因為它是從歷史資料裡找相似的情況、再給出類似的答案，所以答案不會超出它看過的價格。股價創新高時是它沒看過的狀況，就猜不準了。」</a:t>
            </a:r>
          </a:p>
          <a:p>
            <a:pPr marL="158750" indent="0">
              <a:buNone/>
            </a:pPr>
            <a:r>
              <a:rPr lang="zh-TW" altLang="zh-TW" b="1" dirty="0"/>
              <a:t>Q：那 ARIMA 為什麼可以？</a:t>
            </a:r>
            <a:endParaRPr lang="zh-TW" altLang="zh-TW" dirty="0"/>
          </a:p>
          <a:p>
            <a:pPr marL="158750" indent="0">
              <a:buNone/>
            </a:pPr>
            <a:r>
              <a:rPr lang="zh-TW" altLang="zh-TW" dirty="0"/>
              <a:t>「因為 ARIMA 看的是『趨勢』——它發現股價一直往上，就會順著往上延伸，所以能跟著創新高。」</a:t>
            </a:r>
          </a:p>
          <a:p>
            <a:pPr marL="158750" indent="0">
              <a:buNone/>
            </a:pPr>
            <a:r>
              <a:rPr lang="zh-TW" altLang="zh-TW" b="1" dirty="0"/>
              <a:t>Q：調參數能救嗎？</a:t>
            </a:r>
            <a:endParaRPr lang="zh-TW" altLang="zh-TW" dirty="0"/>
          </a:p>
          <a:p>
            <a:pPr marL="158750" indent="0">
              <a:buNone/>
            </a:pPr>
            <a:r>
              <a:rPr lang="zh-TW" altLang="zh-TW" dirty="0"/>
              <a:t>「不行，這是這類模型本身的限制，不是參數問題。要解決就得換能順著趨勢延伸的模型，像 ARIMA。」</a:t>
            </a:r>
          </a:p>
          <a:p>
            <a:pPr marL="158750" indent="0">
              <a:buNone/>
            </a:pPr>
            <a:endParaRPr lang="zh-TW" altLang="zh-TW" dirty="0"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0DFA4B07-B505-0C77-FE8C-7B9091F41A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556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F9DE7C20-BD57-C8ED-67ED-6D9672E2F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490899E8-C20F-7520-AF27-017310AA5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640B5A1F-1502-3303-674A-2BE5B10CE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14295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迴歸的結論有三點。第一,用 MAPE 跨市場比較,三個市場的排序都一致:ARIMA 最好、LSTM 次之、樹模型最差,代表在價格預測上,簡單的統計模型反而比複雜模型穩定。第二,樹模型表現最差不是調參問題,是它無法預測超出訓練範圍的新高價,這是結構限制。第三,LLM 是亮點——GPT-4o-mini 在三個市場小樣本上 R² 都穩定在 0.80,不用訓練、只靠提示就能做到,展現它的潛力。整體來說,複雜不一定好,而 LLM 跨市場一致性高,值得後續擴大驗證。</a:t>
            </a:r>
            <a:endParaRPr dirty="0"/>
          </a:p>
        </p:txBody>
      </p:sp>
      <p:sp>
        <p:nvSpPr>
          <p:cNvPr id="333" name="Google Shape;33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這頁是我實作的 LLM-ETF 平台。技術上用 Streamlit 做介面、Plotly 畫互動圖表、SQLite 存資料。</a:t>
            </a:r>
          </a:p>
          <a:p>
            <a:pPr marL="158750" indent="0">
              <a:buNone/>
            </a:pPr>
            <a:r>
              <a:rPr lang="zh-TW" altLang="zh-TW" dirty="0"/>
              <a:t>平台以迴歸預測次日收盤價為主——這裡我做了修正，改成預測報酬率再換算回價格，避免樹模型無法外推的問題，所以右邊可以看到最新價 693、預測明日 694，是合理的。下方還整合了 GPT 生成的風險摘要當輔助。</a:t>
            </a:r>
          </a:p>
          <a:p>
            <a:pPr marL="158750" indent="0">
              <a:buNone/>
            </a:pPr>
            <a:r>
              <a:rPr lang="zh-TW" altLang="zh-TW" dirty="0"/>
              <a:t>圖表的部分支援即時互動，可以縮放、查看每一天的數值、切換時間範圍，我也準備了操作影片示範。</a:t>
            </a:r>
          </a:p>
        </p:txBody>
      </p:sp>
      <p:sp>
        <p:nvSpPr>
          <p:cNvPr id="353" name="Google Shape;3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這頁是分類和迴歸兩個任務的總結。</a:t>
            </a:r>
          </a:p>
          <a:p>
            <a:pPr marL="158750" indent="0">
              <a:buNone/>
            </a:pPr>
            <a:r>
              <a:rPr lang="zh-TW" altLang="zh-TW" dirty="0"/>
              <a:t>分類方面，最好的模型 F1 是 0.73，但 Always-Up 基準就有 0.736——模型沒有超越『每天猜漲』的天真策略，代表次日方向其實沒被真正預測出來，高分來自多頭市場偏態。</a:t>
            </a:r>
          </a:p>
          <a:p>
            <a:pPr marL="158750" indent="0">
              <a:buNone/>
            </a:pPr>
            <a:r>
              <a:rPr lang="zh-TW" altLang="zh-TW" dirty="0"/>
              <a:t>迴歸方面，準度排序是 ARIMA 最準、LSTM 次之、集成模型最差。最值得注意的是——</a:t>
            </a:r>
            <a:r>
              <a:rPr lang="zh-TW" altLang="zh-TW" b="1" dirty="0"/>
              <a:t>最簡單的 ARIMA 反而贏過所有複雜的集成模型</a:t>
            </a:r>
            <a:r>
              <a:rPr lang="zh-TW" altLang="zh-TW" dirty="0"/>
              <a:t>，因為集成模型無法外推。這就是我的核心發現：在股價預測上，複雜的模型不一定比較好，能掌握趨勢的簡單模型反而更有效。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4" name="Google Shape;37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6" name="Google Shape;4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15402" y="1571922"/>
            <a:ext cx="9561195" cy="1360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LLM-ETF：</a:t>
            </a: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基於大語言模型輔助之跨市場</a:t>
            </a:r>
            <a:r>
              <a:rPr lang="en-US" sz="28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ETF </a:t>
            </a:r>
            <a:r>
              <a:rPr lang="en-US" sz="28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趨勢預測與模型比較研究</a:t>
            </a:r>
            <a:endParaRPr sz="280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0" y="3465314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Graduate School of Information Engineering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Kun Shan University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-1" y="4644665"/>
            <a:ext cx="12192000" cy="190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研究生：林子瑜		 </a:t>
            </a:r>
            <a:r>
              <a:rPr 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Tzu-Yu Lin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指導教授：李冠榮	副教授　　　　</a:t>
            </a:r>
            <a:r>
              <a:rPr 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Kuan-Rong Lee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dirty="0">
                <a:solidFill>
                  <a:srgbClr val="F3F0DF"/>
                </a:solidFill>
                <a:latin typeface="DM Sans"/>
                <a:ea typeface="Calibri"/>
                <a:cs typeface="Calibri"/>
                <a:sym typeface="DM Sans"/>
              </a:rPr>
              <a:t>JUN 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056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0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9312" y="2316063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83431" y="30494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前言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背景、動機與研究問題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0" y="231606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545806" y="30494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分析主題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19625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分類問題與迴歸問題</a:t>
            </a:r>
            <a:endParaRPr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43125" y="444966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83431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模型介紹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57250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跨世代模型架構分析</a:t>
            </a:r>
            <a:endParaRPr dirty="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94056" y="231606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8281987" y="3049488"/>
            <a:ext cx="31003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處理</a:t>
            </a:r>
            <a:r>
              <a:rPr lang="en-US" sz="1650" b="1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流程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8355806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數據處理與實驗設計</a:t>
            </a:r>
            <a:endParaRPr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9312" y="444966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4545806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實驗結果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619625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跨市場表現評估指標</a:t>
            </a:r>
            <a:endParaRPr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91687" y="444966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8308181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結論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382000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關鍵發現與未來方向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簡報大綱 Agenda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E9A153F2-9055-D9A9-AFEF-DAC671E74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image.png">
            <a:extLst>
              <a:ext uri="{FF2B5EF4-FFF2-40B4-BE49-F238E27FC236}">
                <a16:creationId xmlns:a16="http://schemas.microsoft.com/office/drawing/2014/main" id="{483CF0E5-9BEE-B76F-9612-4893B4CFC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89" y="5469656"/>
            <a:ext cx="7167625" cy="938065"/>
          </a:xfrm>
          <a:prstGeom prst="rect">
            <a:avLst/>
          </a:prstGeom>
        </p:spPr>
      </p:pic>
      <p:sp>
        <p:nvSpPr>
          <p:cNvPr id="117" name="Google Shape;117;p14">
            <a:extLst>
              <a:ext uri="{FF2B5EF4-FFF2-40B4-BE49-F238E27FC236}">
                <a16:creationId xmlns:a16="http://schemas.microsoft.com/office/drawing/2014/main" id="{9DC9AF68-C4A7-2E42-7299-8636B8BBFF66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文獻探討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(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一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)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：集成學習與台股預測</a:t>
            </a:r>
          </a:p>
        </p:txBody>
      </p:sp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325A4923-28F7-D6E6-0EEA-256C1270981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ECB02B9-5582-A658-FA72-C6CD0F7D32A7}"/>
              </a:ext>
            </a:extLst>
          </p:cNvPr>
          <p:cNvSpPr txBox="1"/>
          <p:nvPr/>
        </p:nvSpPr>
        <p:spPr>
          <a:xfrm>
            <a:off x="572002" y="1533357"/>
            <a:ext cx="6090345" cy="3909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zh-TW" altLang="zh-TW" b="0" dirty="0">
                <a:effectLst/>
              </a:rPr>
            </a:br>
            <a:r>
              <a:rPr lang="zh-TW" altLang="zh-TW" sz="1800" b="1" dirty="0">
                <a:solidFill>
                  <a:srgbClr val="1E293B"/>
                </a:solidFill>
                <a:latin typeface="DM Sans"/>
              </a:rPr>
              <a:t>徐維延 (2019)：TAIEX 趨勢預測研究</a:t>
            </a:r>
            <a:br>
              <a:rPr lang="zh-TW" altLang="zh-TW" b="0" dirty="0">
                <a:effectLst/>
              </a:rPr>
            </a:br>
            <a:endParaRPr lang="zh-TW" altLang="zh-TW" b="0" dirty="0">
              <a:effectLst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核心方法： </a:t>
            </a:r>
            <a:r>
              <a:rPr lang="zh-TW" altLang="zh-TW" sz="1600" dirty="0">
                <a:solidFill>
                  <a:srgbClr val="1E293B"/>
                </a:solidFill>
                <a:latin typeface="DM Sans"/>
              </a:rPr>
              <a:t>使用 1999-2018 年共 20 年資料，整合 192 個特徵（含技術面、國際股市與總經指標）。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模型： </a:t>
            </a:r>
            <a:r>
              <a:rPr lang="zh-TW" altLang="zh-TW" sz="1600" dirty="0">
                <a:solidFill>
                  <a:srgbClr val="1E293B"/>
                </a:solidFill>
                <a:latin typeface="DM Sans"/>
              </a:rPr>
              <a:t>隨機森林 (RF) 與 AdaBoost 混合模型，採用「增長式視窗滾動法」驗證。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關鍵發現： </a:t>
            </a:r>
            <a:r>
              <a:rPr lang="zh-TW" altLang="zh-TW" sz="1600" dirty="0">
                <a:solidFill>
                  <a:srgbClr val="1E293B"/>
                </a:solidFill>
                <a:latin typeface="DM Sans"/>
              </a:rPr>
              <a:t>集成模型受「外推限制」影響，無法預測超出訓練範圍的新高價。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關聯： </a:t>
            </a:r>
            <a:r>
              <a:rPr lang="zh-TW" altLang="zh-TW" sz="1600" dirty="0">
                <a:solidFill>
                  <a:srgbClr val="1E293B"/>
                </a:solidFill>
                <a:latin typeface="DM Sans"/>
              </a:rPr>
              <a:t>驗證了本研究中集成模型在歷史高點易出現「預測躺平」的結構性限制。</a:t>
            </a:r>
          </a:p>
        </p:txBody>
      </p:sp>
      <p:pic>
        <p:nvPicPr>
          <p:cNvPr id="8" name="圖片 7" descr="image.png">
            <a:extLst>
              <a:ext uri="{FF2B5EF4-FFF2-40B4-BE49-F238E27FC236}">
                <a16:creationId xmlns:a16="http://schemas.microsoft.com/office/drawing/2014/main" id="{0A2B7CDE-EBB1-E740-37AE-CACC27BEF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7915" y="1528709"/>
            <a:ext cx="4573127" cy="419958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8FF992-E99B-A6D9-99D5-C5543FD474CA}"/>
              </a:ext>
            </a:extLst>
          </p:cNvPr>
          <p:cNvSpPr txBox="1"/>
          <p:nvPr/>
        </p:nvSpPr>
        <p:spPr>
          <a:xfrm>
            <a:off x="706980" y="5523574"/>
            <a:ext cx="7636042" cy="830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研究啟發： </a:t>
            </a:r>
            <a:r>
              <a:rPr lang="zh-TW" altLang="zh-TW" sz="1600" b="1" dirty="0">
                <a:solidFill>
                  <a:srgbClr val="1E293B"/>
                </a:solidFill>
                <a:latin typeface="DM Sans"/>
              </a:rPr>
              <a:t>複雜的混合模型未顯著優於單一隨機森林。</a:t>
            </a:r>
            <a:endParaRPr lang="en-US" altLang="zh-TW" sz="1600" b="1" dirty="0">
              <a:solidFill>
                <a:srgbClr val="1E293B"/>
              </a:solidFill>
              <a:latin typeface="DM Sans"/>
            </a:endParaRPr>
          </a:p>
          <a:p>
            <a:pPr>
              <a:lnSpc>
                <a:spcPct val="160000"/>
              </a:lnSpc>
            </a:pPr>
            <a:r>
              <a:rPr lang="zh-TW" altLang="zh-TW" sz="1600" b="1" dirty="0">
                <a:solidFill>
                  <a:srgbClr val="1E293B"/>
                </a:solidFill>
                <a:latin typeface="DM Sans"/>
              </a:rPr>
              <a:t>本研究採用 TimeSeriesSplit 確保時序邏輯一致。</a:t>
            </a:r>
          </a:p>
        </p:txBody>
      </p:sp>
    </p:spTree>
    <p:extLst>
      <p:ext uri="{BB962C8B-B14F-4D97-AF65-F5344CB8AC3E}">
        <p14:creationId xmlns:p14="http://schemas.microsoft.com/office/powerpoint/2010/main" val="2696566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98415EB6-3870-0F3B-EEBB-DEEF164E4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 descr="image.png">
            <a:extLst>
              <a:ext uri="{FF2B5EF4-FFF2-40B4-BE49-F238E27FC236}">
                <a16:creationId xmlns:a16="http://schemas.microsoft.com/office/drawing/2014/main" id="{C0F5F140-8390-68E5-DA91-58F7128A9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180" y="1545558"/>
            <a:ext cx="4656820" cy="3491663"/>
          </a:xfrm>
          <a:prstGeom prst="rect">
            <a:avLst/>
          </a:prstGeom>
        </p:spPr>
      </p:pic>
      <p:pic>
        <p:nvPicPr>
          <p:cNvPr id="13" name="圖片 12" descr="image.png">
            <a:extLst>
              <a:ext uri="{FF2B5EF4-FFF2-40B4-BE49-F238E27FC236}">
                <a16:creationId xmlns:a16="http://schemas.microsoft.com/office/drawing/2014/main" id="{12801054-BE5B-5EC3-CF00-97A5C24EB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91" y="5658051"/>
            <a:ext cx="7167625" cy="938065"/>
          </a:xfrm>
          <a:prstGeom prst="rect">
            <a:avLst/>
          </a:prstGeom>
        </p:spPr>
      </p:pic>
      <p:sp>
        <p:nvSpPr>
          <p:cNvPr id="117" name="Google Shape;117;p14">
            <a:extLst>
              <a:ext uri="{FF2B5EF4-FFF2-40B4-BE49-F238E27FC236}">
                <a16:creationId xmlns:a16="http://schemas.microsoft.com/office/drawing/2014/main" id="{A052FC13-29A7-E7EE-0BC6-8CADA4EB040E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文獻探討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(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二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)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：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ARIMA 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與 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LSTM 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比較</a:t>
            </a:r>
          </a:p>
        </p:txBody>
      </p:sp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84E7867B-2E09-0674-0401-793BC15C3E4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FACB22B-1914-8A37-BCA9-222144AEA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389068"/>
              </p:ext>
            </p:extLst>
          </p:nvPr>
        </p:nvGraphicFramePr>
        <p:xfrm>
          <a:off x="420291" y="4561662"/>
          <a:ext cx="7167625" cy="876300"/>
        </p:xfrm>
        <a:graphic>
          <a:graphicData uri="http://schemas.openxmlformats.org/drawingml/2006/table">
            <a:tbl>
              <a:tblPr/>
              <a:tblGrid>
                <a:gridCol w="1749242">
                  <a:extLst>
                    <a:ext uri="{9D8B030D-6E8A-4147-A177-3AD203B41FA5}">
                      <a16:colId xmlns:a16="http://schemas.microsoft.com/office/drawing/2014/main" val="3084911989"/>
                    </a:ext>
                  </a:extLst>
                </a:gridCol>
                <a:gridCol w="5418383">
                  <a:extLst>
                    <a:ext uri="{9D8B030D-6E8A-4147-A177-3AD203B41FA5}">
                      <a16:colId xmlns:a16="http://schemas.microsoft.com/office/drawing/2014/main" val="996712117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16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準確率優勢</a:t>
                      </a:r>
                      <a:endParaRPr lang="zh-TW" altLang="en-US" sz="1600" b="0" i="0" u="none" strike="noStrike" cap="none">
                        <a:solidFill>
                          <a:srgbClr val="1E293B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ARIMA (MAPE 0.66-1.07%) &gt; LSTM</a:t>
                      </a:r>
                      <a:endParaRPr lang="zh-TW" altLang="en-US" sz="1600" b="0" i="0" u="none" strike="noStrike" cap="none" dirty="0">
                        <a:solidFill>
                          <a:srgbClr val="1E293B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631177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16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運算效率</a:t>
                      </a:r>
                      <a:endParaRPr lang="zh-TW" altLang="en-US" sz="1600" b="0" i="0" u="none" strike="noStrike" cap="none">
                        <a:solidFill>
                          <a:srgbClr val="1E293B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LSTM </a:t>
                      </a:r>
                      <a:r>
                        <a:rPr lang="zh-TW" altLang="en-US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遠快於 </a:t>
                      </a:r>
                      <a:r>
                        <a:rPr lang="en-US" altLang="zh-TW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ARIMA (</a:t>
                      </a:r>
                      <a:r>
                        <a:rPr lang="zh-TW" altLang="en-US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後者需頻繁重建模</a:t>
                      </a:r>
                      <a:r>
                        <a:rPr lang="en-US" altLang="zh-TW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)</a:t>
                      </a:r>
                      <a:endParaRPr lang="zh-TW" altLang="en-US" sz="1600" b="0" i="0" u="none" strike="noStrike" cap="none" dirty="0">
                        <a:solidFill>
                          <a:srgbClr val="1E293B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863249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D09D0E92-B124-0736-A919-020D43016C30}"/>
              </a:ext>
            </a:extLst>
          </p:cNvPr>
          <p:cNvSpPr txBox="1"/>
          <p:nvPr/>
        </p:nvSpPr>
        <p:spPr>
          <a:xfrm>
            <a:off x="32975" y="1729722"/>
            <a:ext cx="755263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800" b="1" dirty="0">
                <a:solidFill>
                  <a:srgbClr val="1E293B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	</a:t>
            </a:r>
            <a:r>
              <a:rPr lang="zh-TW" altLang="zh-TW" sz="1800" b="1" dirty="0">
                <a:solidFill>
                  <a:srgbClr val="1E293B"/>
                </a:solidFill>
                <a:latin typeface="DM Sans"/>
              </a:rPr>
              <a:t>吳冠霆 (2025)：跨市場指數預測效能比對</a:t>
            </a:r>
          </a:p>
          <a:p>
            <a:pPr>
              <a:buNone/>
            </a:pPr>
            <a:endParaRPr lang="zh-TW" altLang="zh-TW" sz="1600" dirty="0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資料範圍： </a:t>
            </a:r>
            <a:r>
              <a:rPr lang="zh-TW" altLang="zh-TW" sz="1600" dirty="0">
                <a:solidFill>
                  <a:schemeClr val="tx1"/>
                </a:solidFill>
                <a:latin typeface="DM Sans"/>
              </a:rPr>
              <a:t>涵蓋台、美、日、港</a:t>
            </a:r>
            <a:r>
              <a:rPr lang="zh-TW" altLang="en-US" sz="1600" dirty="0">
                <a:solidFill>
                  <a:schemeClr val="tx1"/>
                </a:solidFill>
                <a:latin typeface="DM Sans"/>
              </a:rPr>
              <a:t>主要</a:t>
            </a:r>
            <a:r>
              <a:rPr lang="zh-TW" altLang="zh-TW" sz="1600" dirty="0">
                <a:solidFill>
                  <a:schemeClr val="tx1"/>
                </a:solidFill>
                <a:latin typeface="DM Sans"/>
              </a:rPr>
              <a:t>指數 (2010-2024)。</a:t>
            </a:r>
            <a:endParaRPr lang="zh-TW" altLang="zh-TW" sz="1600" b="1" dirty="0">
              <a:solidFill>
                <a:schemeClr val="bg2">
                  <a:lumMod val="75000"/>
                </a:schemeClr>
              </a:solidFill>
              <a:latin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績效對比： </a:t>
            </a:r>
            <a:r>
              <a:rPr lang="zh-TW" altLang="zh-TW" sz="1600" dirty="0">
                <a:solidFill>
                  <a:schemeClr val="tx1"/>
                </a:solidFill>
                <a:latin typeface="DM Sans"/>
              </a:rPr>
              <a:t>ARIMA 模型在 MAPE 等指標上全面優於深度學習模型 LSTM，且曲線更貼近實際走勢。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架構優化： </a:t>
            </a:r>
            <a:r>
              <a:rPr lang="zh-TW" altLang="zh-TW" sz="1600" dirty="0">
                <a:solidFill>
                  <a:schemeClr val="tx1"/>
                </a:solidFill>
                <a:latin typeface="DM Sans"/>
              </a:rPr>
              <a:t>單層 LSTM (512/1024 單位) 搭配 Sigmoid 函數為最佳配置；增加層數無法提升能力。</a:t>
            </a:r>
          </a:p>
          <a:p>
            <a:pPr>
              <a:buNone/>
            </a:pPr>
            <a:endParaRPr lang="zh-TW" altLang="zh-TW" b="0" dirty="0">
              <a:effectLst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438BC05-9F7A-1613-BE65-23A36B9ED247}"/>
              </a:ext>
            </a:extLst>
          </p:cNvPr>
          <p:cNvSpPr txBox="1"/>
          <p:nvPr/>
        </p:nvSpPr>
        <p:spPr>
          <a:xfrm>
            <a:off x="647700" y="585906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關聯： </a:t>
            </a:r>
            <a:r>
              <a:rPr lang="zh-TW" altLang="zh-TW" sz="1600" b="1" dirty="0">
                <a:solidFill>
                  <a:srgbClr val="1E293B"/>
                </a:solidFill>
                <a:latin typeface="DM Sans"/>
              </a:rPr>
              <a:t>支持本研究中「簡單模型 (ARIMA) 優於複雜模型 (LSTM)」的實驗結果與參數設定。</a:t>
            </a:r>
          </a:p>
        </p:txBody>
      </p:sp>
      <p:pic>
        <p:nvPicPr>
          <p:cNvPr id="14" name="圖片 13" descr="image.png">
            <a:extLst>
              <a:ext uri="{FF2B5EF4-FFF2-40B4-BE49-F238E27FC236}">
                <a16:creationId xmlns:a16="http://schemas.microsoft.com/office/drawing/2014/main" id="{F8BB2892-F4F7-70C0-4F61-F01ED42F7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6042" y="2138151"/>
            <a:ext cx="4416190" cy="230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07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35327"/>
            <a:ext cx="4334870" cy="1773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83711"/>
            <a:ext cx="4334870" cy="192961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66775" y="2330601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資訊不對稱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866775" y="4283467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AI </a:t>
            </a:r>
            <a:r>
              <a:rPr lang="zh-TW" altLang="en-US" sz="1950" b="1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輔助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809625" y="856727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研究背景與動機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不同模型與技術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==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&gt;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股票分析</a:t>
            </a:r>
            <a:endParaRPr dirty="0"/>
          </a:p>
        </p:txBody>
      </p:sp>
      <p:sp>
        <p:nvSpPr>
          <p:cNvPr id="137" name="Google Shape;137;p1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29;p15">
            <a:extLst>
              <a:ext uri="{FF2B5EF4-FFF2-40B4-BE49-F238E27FC236}">
                <a16:creationId xmlns:a16="http://schemas.microsoft.com/office/drawing/2014/main" id="{65B060A5-54F5-3C86-B612-950BF19D0DA0}"/>
              </a:ext>
            </a:extLst>
          </p:cNvPr>
          <p:cNvSpPr txBox="1"/>
          <p:nvPr/>
        </p:nvSpPr>
        <p:spPr>
          <a:xfrm>
            <a:off x="809625" y="4793514"/>
            <a:ext cx="319450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預測結果不易判讀</a:t>
            </a:r>
            <a:endParaRPr lang="en-US" altLang="zh-TW" sz="1500" b="0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5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以白話摘要降低使用門檻</a:t>
            </a:r>
            <a:endParaRPr lang="zh-TW" altLang="en-US" sz="1500" b="0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E6E3EEA-9ED6-CB95-60E9-A8F4B33BD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3104" y="2035327"/>
            <a:ext cx="6682895" cy="3319798"/>
          </a:xfrm>
          <a:prstGeom prst="rect">
            <a:avLst/>
          </a:prstGeom>
        </p:spPr>
      </p:pic>
      <p:sp>
        <p:nvSpPr>
          <p:cNvPr id="6" name="Google Shape;129;p15">
            <a:extLst>
              <a:ext uri="{FF2B5EF4-FFF2-40B4-BE49-F238E27FC236}">
                <a16:creationId xmlns:a16="http://schemas.microsoft.com/office/drawing/2014/main" id="{60DCBED5-8FB8-058F-637C-3D539110F25A}"/>
              </a:ext>
            </a:extLst>
          </p:cNvPr>
          <p:cNvSpPr txBox="1"/>
          <p:nvPr/>
        </p:nvSpPr>
        <p:spPr>
          <a:xfrm>
            <a:off x="866775" y="2805111"/>
            <a:ext cx="3245566" cy="1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缺乏直觀同步預測工具</a:t>
            </a:r>
            <a:endParaRPr lang="en-US" sz="15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跨市場數據處理複雜度高</a:t>
            </a:r>
            <a:endParaRPr lang="zh-TW" altLang="en-US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6564140" y="1041720"/>
            <a:ext cx="5018259" cy="457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4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</a:t>
            </a:r>
            <a:endParaRPr lang="en-US" sz="2400" b="1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RQ1: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效能比較：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統計（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ARIMA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）、機器學習（隨機森林等）、深度學習（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LSTM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）與大語言模型（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在 ETF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預測之優劣</a:t>
            </a:r>
            <a:endParaRPr lang="en-US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RQ2: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市場差異：分析 台股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(0050)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與美股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(SPY/QQQ)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之預測難度差異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RQ3: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評估指標差異：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MAPE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（平均絕對百分比誤差）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RMSE</a:t>
            </a: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RQ4: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實作應用：建構 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輔助視覺化平台，提升預測理解度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305514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368557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431601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809625" y="919311"/>
            <a:ext cx="559951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研究目的與問題</a:t>
            </a:r>
            <a:endParaRPr dirty="0"/>
          </a:p>
        </p:txBody>
      </p:sp>
      <p:sp>
        <p:nvSpPr>
          <p:cNvPr id="157" name="Google Shape;157;p16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F195BE5-5360-7552-27AD-915632A7EA06}"/>
              </a:ext>
            </a:extLst>
          </p:cNvPr>
          <p:cNvSpPr txBox="1"/>
          <p:nvPr/>
        </p:nvSpPr>
        <p:spPr>
          <a:xfrm>
            <a:off x="1029132" y="2733094"/>
            <a:ext cx="2290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ETF </a:t>
            </a:r>
            <a:r>
              <a:rPr lang="zh-TW" altLang="en-US" sz="3600" dirty="0"/>
              <a:t>預測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52DE00-75A1-607E-6CD2-7D64E8D1B8A1}"/>
              </a:ext>
            </a:extLst>
          </p:cNvPr>
          <p:cNvSpPr txBox="1"/>
          <p:nvPr/>
        </p:nvSpPr>
        <p:spPr>
          <a:xfrm>
            <a:off x="577273" y="3609409"/>
            <a:ext cx="7504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統計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90E60A7-743C-AA2A-F38C-54E26B12FA51}"/>
              </a:ext>
            </a:extLst>
          </p:cNvPr>
          <p:cNvSpPr txBox="1"/>
          <p:nvPr/>
        </p:nvSpPr>
        <p:spPr>
          <a:xfrm>
            <a:off x="1495425" y="3597928"/>
            <a:ext cx="540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ML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7460C91-B43A-9268-9A4E-45B8D9FC3C76}"/>
              </a:ext>
            </a:extLst>
          </p:cNvPr>
          <p:cNvSpPr txBox="1"/>
          <p:nvPr/>
        </p:nvSpPr>
        <p:spPr>
          <a:xfrm>
            <a:off x="2374467" y="3641227"/>
            <a:ext cx="665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DL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B0A1F70-C9BC-1F33-411C-DC15FE38CDB9}"/>
              </a:ext>
            </a:extLst>
          </p:cNvPr>
          <p:cNvSpPr txBox="1"/>
          <p:nvPr/>
        </p:nvSpPr>
        <p:spPr>
          <a:xfrm>
            <a:off x="3306185" y="3592186"/>
            <a:ext cx="665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3C10410-E1B0-6091-054A-56873282B650}"/>
              </a:ext>
            </a:extLst>
          </p:cNvPr>
          <p:cNvSpPr txBox="1"/>
          <p:nvPr/>
        </p:nvSpPr>
        <p:spPr>
          <a:xfrm>
            <a:off x="609600" y="2140891"/>
            <a:ext cx="121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台股</a:t>
            </a:r>
            <a:r>
              <a:rPr lang="en-US" altLang="zh-TW" dirty="0"/>
              <a:t>(0050)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7D4ECBF-A024-9B70-8586-3A02DC6F0A3C}"/>
              </a:ext>
            </a:extLst>
          </p:cNvPr>
          <p:cNvSpPr txBox="1"/>
          <p:nvPr/>
        </p:nvSpPr>
        <p:spPr>
          <a:xfrm>
            <a:off x="2115848" y="2162628"/>
            <a:ext cx="14589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美股</a:t>
            </a:r>
            <a:r>
              <a:rPr lang="en-US" altLang="zh-TW" dirty="0"/>
              <a:t>(SPY/QQQ)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35FB4AB-E350-DF11-EFF1-E03CC5EACD10}"/>
              </a:ext>
            </a:extLst>
          </p:cNvPr>
          <p:cNvSpPr txBox="1"/>
          <p:nvPr/>
        </p:nvSpPr>
        <p:spPr>
          <a:xfrm>
            <a:off x="578211" y="4618653"/>
            <a:ext cx="3592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LLM </a:t>
            </a:r>
            <a:r>
              <a:rPr lang="zh-TW" altLang="en-US" sz="3600" dirty="0"/>
              <a:t>視覺化平台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60668CD-1C81-E4CF-E95E-F0138CE135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8" b="10821"/>
          <a:stretch>
            <a:fillRect/>
          </a:stretch>
        </p:blipFill>
        <p:spPr>
          <a:xfrm>
            <a:off x="0" y="1794772"/>
            <a:ext cx="6485335" cy="42340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1117" y="3749565"/>
            <a:ext cx="4051935" cy="112889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809624" y="1704158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目標與任務</a:t>
            </a:r>
            <a:endParaRPr sz="2400"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942974" y="2399986"/>
            <a:ext cx="5334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預測次日收盤價相對於當日是「上漲」或「下跌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」，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定義為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二元分類任務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125" y="3938765"/>
            <a:ext cx="3653920" cy="75049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分析主題1：分類問題 (Classification)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C4606BA-515A-D20B-8E67-BD51C644A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407" y="3668549"/>
            <a:ext cx="4817243" cy="204141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CB251F2-E23F-D6CD-0E9C-E63D1AA06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3407" y="1888824"/>
            <a:ext cx="4817243" cy="15763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116A66DE-AFD6-D41C-BC7D-13978332FD52}"/>
              </a:ext>
            </a:extLst>
          </p:cNvPr>
          <p:cNvSpPr/>
          <p:nvPr/>
        </p:nvSpPr>
        <p:spPr>
          <a:xfrm>
            <a:off x="1629681" y="5454743"/>
            <a:ext cx="8775031" cy="9304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CEDC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3EDD7C6-4C3E-E637-982C-1054D9D2C16E}"/>
              </a:ext>
            </a:extLst>
          </p:cNvPr>
          <p:cNvSpPr/>
          <p:nvPr/>
        </p:nvSpPr>
        <p:spPr>
          <a:xfrm>
            <a:off x="8251658" y="2326103"/>
            <a:ext cx="3695700" cy="2871539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8A64044-FCD5-CA7A-3C88-016077592E5F}"/>
              </a:ext>
            </a:extLst>
          </p:cNvPr>
          <p:cNvSpPr/>
          <p:nvPr/>
        </p:nvSpPr>
        <p:spPr>
          <a:xfrm>
            <a:off x="4248150" y="2326103"/>
            <a:ext cx="3695700" cy="287153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2CBCF95-932B-6112-249E-6962DC9877A2}"/>
              </a:ext>
            </a:extLst>
          </p:cNvPr>
          <p:cNvSpPr/>
          <p:nvPr/>
        </p:nvSpPr>
        <p:spPr>
          <a:xfrm>
            <a:off x="244642" y="2326103"/>
            <a:ext cx="3695700" cy="287153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8" name="Google Shape;198;p19"/>
          <p:cNvSpPr txBox="1"/>
          <p:nvPr/>
        </p:nvSpPr>
        <p:spPr>
          <a:xfrm>
            <a:off x="5875521" y="782610"/>
            <a:ext cx="5995638" cy="1107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600" dirty="0"/>
              <a:t>ARIMA(自迴歸整合移動平均)是時間序列預測中最常用的統計模型,本研究作為</a:t>
            </a:r>
            <a:r>
              <a:rPr lang="zh-TW" altLang="zh-TW" sz="1600" b="1" dirty="0"/>
              <a:t>基準模型(Baseline)</a:t>
            </a:r>
            <a:r>
              <a:rPr lang="zh-TW" altLang="zh-TW" sz="1600" dirty="0"/>
              <a:t>。對單變量時間序列進行建模與預測。</a:t>
            </a:r>
            <a:endParaRPr sz="1200" dirty="0">
              <a:solidFill>
                <a:srgbClr val="FF0000"/>
              </a:solidFill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809625" y="919311"/>
            <a:ext cx="447294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統計模型：ARIMA</a:t>
            </a:r>
            <a:endParaRPr dirty="0"/>
          </a:p>
        </p:txBody>
      </p:sp>
      <p:sp>
        <p:nvSpPr>
          <p:cNvPr id="200" name="Google Shape;200;p19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637FA63-F862-6308-192D-61222ED55A55}"/>
              </a:ext>
            </a:extLst>
          </p:cNvPr>
          <p:cNvSpPr txBox="1"/>
          <p:nvPr/>
        </p:nvSpPr>
        <p:spPr>
          <a:xfrm>
            <a:off x="369971" y="2546154"/>
            <a:ext cx="3445042" cy="24314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AR</a:t>
            </a:r>
          </a:p>
          <a:p>
            <a:pPr algn="ctr"/>
            <a:r>
              <a:rPr lang="zh-TW" altLang="zh-TW" sz="2800" b="1" dirty="0">
                <a:solidFill>
                  <a:schemeClr val="tx1"/>
                </a:solidFill>
              </a:rPr>
              <a:t>(自迴歸,p)</a:t>
            </a:r>
            <a:endParaRPr lang="en-US" altLang="zh-TW" sz="2800" b="1" dirty="0">
              <a:solidFill>
                <a:schemeClr val="tx1"/>
              </a:solidFill>
            </a:endParaRPr>
          </a:p>
          <a:p>
            <a:pPr algn="ctr"/>
            <a:r>
              <a:rPr lang="zh-TW" altLang="zh-TW" sz="1600" dirty="0">
                <a:solidFill>
                  <a:schemeClr val="tx1"/>
                </a:solidFill>
              </a:rPr>
              <a:t>假設當前值是過去 </a:t>
            </a:r>
            <a:r>
              <a:rPr lang="zh-TW" altLang="zh-TW" sz="1600" b="1" dirty="0">
                <a:solidFill>
                  <a:schemeClr val="tx1"/>
                </a:solidFill>
              </a:rPr>
              <a:t>p 期數值</a:t>
            </a:r>
            <a:r>
              <a:rPr lang="zh-TW" altLang="zh-TW" sz="1600" dirty="0">
                <a:solidFill>
                  <a:schemeClr val="tx1"/>
                </a:solidFill>
              </a:rPr>
              <a:t>的線性組合。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zh-TW" altLang="zh-TW" sz="1600" dirty="0">
                <a:solidFill>
                  <a:schemeClr val="tx1"/>
                </a:solidFill>
              </a:rPr>
              <a:t> 例:AR(1) 代表今天的值主要受昨天影響。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E39DAF2-E36E-040C-5E48-ED9E894BB86E}"/>
              </a:ext>
            </a:extLst>
          </p:cNvPr>
          <p:cNvSpPr txBox="1"/>
          <p:nvPr/>
        </p:nvSpPr>
        <p:spPr>
          <a:xfrm>
            <a:off x="4426117" y="2433528"/>
            <a:ext cx="3339766" cy="267765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</a:rPr>
              <a:t>I</a:t>
            </a:r>
          </a:p>
          <a:p>
            <a:pPr algn="ctr"/>
            <a:r>
              <a:rPr lang="en-US" altLang="zh-TW" sz="2800" b="1" dirty="0">
                <a:solidFill>
                  <a:schemeClr val="tx1"/>
                </a:solidFill>
              </a:rPr>
              <a:t>(</a:t>
            </a:r>
            <a:r>
              <a:rPr lang="zh-TW" altLang="en-US" sz="2800" b="1" dirty="0">
                <a:solidFill>
                  <a:schemeClr val="tx1"/>
                </a:solidFill>
              </a:rPr>
              <a:t>差分整合</a:t>
            </a:r>
            <a:r>
              <a:rPr lang="en-US" altLang="zh-TW" sz="2800" b="1" dirty="0">
                <a:solidFill>
                  <a:schemeClr val="tx1"/>
                </a:solidFill>
              </a:rPr>
              <a:t>,d)</a:t>
            </a: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對原始序列做 </a:t>
            </a:r>
            <a:r>
              <a:rPr lang="en-US" altLang="zh-TW" sz="1600" dirty="0">
                <a:solidFill>
                  <a:schemeClr val="tx1"/>
                </a:solidFill>
              </a:rPr>
              <a:t>d </a:t>
            </a:r>
            <a:r>
              <a:rPr lang="zh-TW" altLang="en-US" sz="1600" dirty="0">
                <a:solidFill>
                  <a:schemeClr val="tx1"/>
                </a:solidFill>
              </a:rPr>
              <a:t>次差分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消除趨勢與單位根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讓序列變成定態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(</a:t>
            </a:r>
            <a:r>
              <a:rPr lang="zh-TW" altLang="en-US" sz="1600" dirty="0">
                <a:solidFill>
                  <a:schemeClr val="tx1"/>
                </a:solidFill>
              </a:rPr>
              <a:t>均值與變異不隨時間漂移</a:t>
            </a:r>
            <a:r>
              <a:rPr lang="en-US" altLang="zh-TW" sz="1600" dirty="0">
                <a:solidFill>
                  <a:schemeClr val="tx1"/>
                </a:solidFill>
              </a:rPr>
              <a:t>)</a:t>
            </a:r>
            <a:r>
              <a:rPr lang="zh-TW" altLang="en-US" sz="1600" dirty="0">
                <a:solidFill>
                  <a:schemeClr val="tx1"/>
                </a:solidFill>
              </a:rPr>
              <a:t>。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這是 </a:t>
            </a:r>
            <a:r>
              <a:rPr lang="en-US" altLang="zh-TW" sz="1600" dirty="0">
                <a:solidFill>
                  <a:schemeClr val="tx1"/>
                </a:solidFill>
              </a:rPr>
              <a:t>ARIMA </a:t>
            </a:r>
            <a:r>
              <a:rPr lang="zh-TW" altLang="en-US" sz="1600" dirty="0">
                <a:solidFill>
                  <a:schemeClr val="tx1"/>
                </a:solidFill>
              </a:rPr>
              <a:t>相較於 </a:t>
            </a:r>
            <a:r>
              <a:rPr lang="en-US" altLang="zh-TW" sz="1600" dirty="0">
                <a:solidFill>
                  <a:schemeClr val="tx1"/>
                </a:solidFill>
              </a:rPr>
              <a:t>ARMA </a:t>
            </a:r>
            <a:r>
              <a:rPr lang="zh-TW" altLang="en-US" sz="1600" dirty="0">
                <a:solidFill>
                  <a:schemeClr val="tx1"/>
                </a:solidFill>
              </a:rPr>
              <a:t>的關鍵擴充。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FDB4866-CF74-1804-118B-53CD6E92464F}"/>
              </a:ext>
            </a:extLst>
          </p:cNvPr>
          <p:cNvSpPr txBox="1"/>
          <p:nvPr/>
        </p:nvSpPr>
        <p:spPr>
          <a:xfrm>
            <a:off x="8415087" y="2546154"/>
            <a:ext cx="3368842" cy="2215991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</a:rPr>
              <a:t>MA</a:t>
            </a:r>
          </a:p>
          <a:p>
            <a:pPr algn="ctr"/>
            <a:r>
              <a:rPr lang="zh-TW" altLang="zh-TW" sz="2800" b="1" dirty="0">
                <a:solidFill>
                  <a:schemeClr val="tx1"/>
                </a:solidFill>
              </a:rPr>
              <a:t>(</a:t>
            </a:r>
            <a:r>
              <a:rPr lang="zh-TW" altLang="en-US" sz="2800" b="1" dirty="0">
                <a:solidFill>
                  <a:schemeClr val="tx1"/>
                </a:solidFill>
              </a:rPr>
              <a:t>移動平均</a:t>
            </a:r>
            <a:r>
              <a:rPr lang="en-US" altLang="zh-TW" sz="2800" b="1" dirty="0">
                <a:solidFill>
                  <a:schemeClr val="tx1"/>
                </a:solidFill>
              </a:rPr>
              <a:t>,q</a:t>
            </a:r>
            <a:r>
              <a:rPr lang="zh-TW" altLang="zh-TW" sz="2800" b="1" dirty="0">
                <a:solidFill>
                  <a:schemeClr val="tx1"/>
                </a:solidFill>
              </a:rPr>
              <a:t>)</a:t>
            </a:r>
            <a:endParaRPr lang="en-US" altLang="zh-TW" sz="2800" b="1" dirty="0">
              <a:solidFill>
                <a:schemeClr val="tx1"/>
              </a:solidFill>
            </a:endParaRPr>
          </a:p>
          <a:p>
            <a:pPr algn="ctr"/>
            <a:endParaRPr lang="en-US" altLang="zh-TW" sz="1800" dirty="0">
              <a:solidFill>
                <a:schemeClr val="tx1"/>
              </a:solidFill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用過去 </a:t>
            </a:r>
            <a:r>
              <a:rPr lang="en-US" altLang="zh-TW" sz="1600" dirty="0">
                <a:solidFill>
                  <a:schemeClr val="tx1"/>
                </a:solidFill>
              </a:rPr>
              <a:t>q </a:t>
            </a:r>
            <a:r>
              <a:rPr lang="zh-TW" altLang="en-US" sz="1600" dirty="0">
                <a:solidFill>
                  <a:schemeClr val="tx1"/>
                </a:solidFill>
              </a:rPr>
              <a:t>期的預測誤差</a:t>
            </a:r>
            <a:r>
              <a:rPr lang="en-US" altLang="zh-TW" sz="1600" dirty="0">
                <a:solidFill>
                  <a:schemeClr val="tx1"/>
                </a:solidFill>
              </a:rPr>
              <a:t>(</a:t>
            </a:r>
            <a:r>
              <a:rPr lang="zh-TW" altLang="en-US" sz="1600" dirty="0">
                <a:solidFill>
                  <a:schemeClr val="tx1"/>
                </a:solidFill>
              </a:rPr>
              <a:t>殘差</a:t>
            </a:r>
            <a:r>
              <a:rPr lang="en-US" altLang="zh-TW" sz="1600" dirty="0">
                <a:solidFill>
                  <a:schemeClr val="tx1"/>
                </a:solidFill>
              </a:rPr>
              <a:t>) </a:t>
            </a:r>
            <a:r>
              <a:rPr lang="zh-TW" altLang="en-US" sz="1600" dirty="0">
                <a:solidFill>
                  <a:schemeClr val="tx1"/>
                </a:solidFill>
              </a:rPr>
              <a:t>修正當期預測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捕捉短期衝擊的影響。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6" name="Google Shape;198;p19">
            <a:extLst>
              <a:ext uri="{FF2B5EF4-FFF2-40B4-BE49-F238E27FC236}">
                <a16:creationId xmlns:a16="http://schemas.microsoft.com/office/drawing/2014/main" id="{0C2EF6FE-834F-1DE6-BA3D-E75271998E3A}"/>
              </a:ext>
            </a:extLst>
          </p:cNvPr>
          <p:cNvSpPr txBox="1"/>
          <p:nvPr/>
        </p:nvSpPr>
        <p:spPr>
          <a:xfrm>
            <a:off x="1934883" y="5523190"/>
            <a:ext cx="8164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TW" altLang="en-US" sz="1800" dirty="0">
                <a:solidFill>
                  <a:schemeClr val="bg2"/>
                </a:solidFill>
              </a:rPr>
              <a:t>本研究三市場最佳參數</a:t>
            </a:r>
            <a:r>
              <a:rPr lang="en-US" altLang="zh-TW" sz="1800" dirty="0">
                <a:solidFill>
                  <a:schemeClr val="bg2"/>
                </a:solidFill>
              </a:rPr>
              <a:t> (</a:t>
            </a:r>
            <a:r>
              <a:rPr lang="zh-TW" altLang="en-US" sz="1800" dirty="0">
                <a:solidFill>
                  <a:schemeClr val="bg2"/>
                </a:solidFill>
              </a:rPr>
              <a:t>經 </a:t>
            </a:r>
            <a:r>
              <a:rPr lang="en-US" altLang="zh-TW" sz="1800" dirty="0">
                <a:solidFill>
                  <a:schemeClr val="bg2"/>
                </a:solidFill>
              </a:rPr>
              <a:t>ADF</a:t>
            </a:r>
            <a:r>
              <a:rPr lang="zh-TW" altLang="en-US" sz="1800" dirty="0">
                <a:solidFill>
                  <a:schemeClr val="bg2"/>
                </a:solidFill>
              </a:rPr>
              <a:t> 定態檢定確認須差分，</a:t>
            </a:r>
            <a:r>
              <a:rPr lang="en-US" altLang="zh-TW" sz="1800" dirty="0" err="1">
                <a:solidFill>
                  <a:schemeClr val="bg2"/>
                </a:solidFill>
              </a:rPr>
              <a:t>auto_arima</a:t>
            </a:r>
            <a:r>
              <a:rPr lang="en-US" altLang="zh-TW" sz="1800" dirty="0">
                <a:solidFill>
                  <a:schemeClr val="bg2"/>
                </a:solidFill>
              </a:rPr>
              <a:t> </a:t>
            </a:r>
            <a:r>
              <a:rPr lang="zh-TW" altLang="en-US" sz="1800" dirty="0">
                <a:solidFill>
                  <a:schemeClr val="bg2"/>
                </a:solidFill>
              </a:rPr>
              <a:t>自動選定</a:t>
            </a:r>
            <a:r>
              <a:rPr lang="en-US" altLang="zh-TW" sz="1800" dirty="0">
                <a:solidFill>
                  <a:schemeClr val="bg2"/>
                </a:solidFill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en-US" sz="1800" dirty="0">
                <a:solidFill>
                  <a:srgbClr val="FF0000"/>
                </a:solidFill>
              </a:rPr>
              <a:t>SPY</a:t>
            </a:r>
            <a:r>
              <a:rPr lang="zh-TW" altLang="en-US" sz="1800" dirty="0">
                <a:solidFill>
                  <a:srgbClr val="FF0000"/>
                </a:solidFill>
              </a:rPr>
              <a:t>：</a:t>
            </a:r>
            <a:r>
              <a:rPr lang="en-US" altLang="zh-TW" sz="1800" dirty="0">
                <a:solidFill>
                  <a:srgbClr val="FF0000"/>
                </a:solidFill>
              </a:rPr>
              <a:t>ARIMA(0,1,2)	QQQ</a:t>
            </a:r>
            <a:r>
              <a:rPr lang="zh-TW" altLang="en-US" sz="1800" dirty="0">
                <a:solidFill>
                  <a:srgbClr val="FF0000"/>
                </a:solidFill>
              </a:rPr>
              <a:t>：</a:t>
            </a:r>
            <a:r>
              <a:rPr lang="en-US" altLang="zh-TW" sz="1800" dirty="0">
                <a:solidFill>
                  <a:srgbClr val="FF0000"/>
                </a:solidFill>
              </a:rPr>
              <a:t>ARIMA(1,1,0)	0050.TW</a:t>
            </a:r>
            <a:r>
              <a:rPr lang="zh-TW" altLang="en-US" sz="1800" dirty="0">
                <a:solidFill>
                  <a:srgbClr val="FF0000"/>
                </a:solidFill>
              </a:rPr>
              <a:t>：</a:t>
            </a:r>
            <a:r>
              <a:rPr lang="en-US" altLang="zh-TW" sz="1800" dirty="0">
                <a:solidFill>
                  <a:srgbClr val="FF0000"/>
                </a:solidFill>
              </a:rPr>
              <a:t>ARIMA(0,1,0)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374F66D-ED00-D7D0-EB06-8D1834B75E57}"/>
              </a:ext>
            </a:extLst>
          </p:cNvPr>
          <p:cNvSpPr txBox="1"/>
          <p:nvPr/>
        </p:nvSpPr>
        <p:spPr>
          <a:xfrm>
            <a:off x="216669" y="1581764"/>
            <a:ext cx="5658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solidFill>
                  <a:schemeClr val="tx1"/>
                </a:solidFill>
              </a:rPr>
              <a:t>為何 </a:t>
            </a:r>
            <a:r>
              <a:rPr lang="en-US" altLang="zh-TW" sz="1600" dirty="0">
                <a:solidFill>
                  <a:schemeClr val="tx1"/>
                </a:solidFill>
              </a:rPr>
              <a:t>d=1</a:t>
            </a:r>
            <a:r>
              <a:rPr lang="zh-TW" altLang="en-US" sz="1600" dirty="0">
                <a:solidFill>
                  <a:schemeClr val="tx1"/>
                </a:solidFill>
              </a:rPr>
              <a:t>：股價為非定態（有趨勢），須一次差分轉為定態，</a:t>
            </a:r>
            <a:r>
              <a:rPr lang="en-US" altLang="zh-TW" sz="1600" dirty="0">
                <a:solidFill>
                  <a:schemeClr val="tx1"/>
                </a:solidFill>
              </a:rPr>
              <a:t>ARIMA </a:t>
            </a:r>
            <a:r>
              <a:rPr lang="zh-TW" altLang="en-US" sz="1600" dirty="0">
                <a:solidFill>
                  <a:schemeClr val="tx1"/>
                </a:solidFill>
              </a:rPr>
              <a:t>才能建模；</a:t>
            </a:r>
            <a:r>
              <a:rPr lang="en-US" altLang="zh-TW" sz="1600" dirty="0">
                <a:solidFill>
                  <a:schemeClr val="tx1"/>
                </a:solidFill>
              </a:rPr>
              <a:t>d=0 </a:t>
            </a:r>
            <a:r>
              <a:rPr lang="zh-TW" altLang="en-US" sz="1600" dirty="0">
                <a:solidFill>
                  <a:schemeClr val="tx1"/>
                </a:solidFill>
              </a:rPr>
              <a:t>不差分會殘留趨勢、預測失準。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7A262AA3-6D40-08EE-2856-15E2AAD5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277AC1F2-7C23-65D6-56F7-9F0EA1BAD548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統計模型：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ARIMA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0CD247E8-5C59-214F-AB9E-49CC1BE800F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AA47984B-B105-67F8-E9CD-CFD1718B9311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0FA69091-3B6A-AFCC-AE38-FCFD1C0FA660}"/>
              </a:ext>
            </a:extLst>
          </p:cNvPr>
          <p:cNvSpPr txBox="1"/>
          <p:nvPr/>
        </p:nvSpPr>
        <p:spPr>
          <a:xfrm>
            <a:off x="346464" y="2971745"/>
            <a:ext cx="188991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參數說明：</a:t>
            </a:r>
            <a:endParaRPr sz="18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E2CEFB1-FA05-8DF0-957B-12928AD2ED0E}"/>
              </a:ext>
            </a:extLst>
          </p:cNvPr>
          <p:cNvSpPr txBox="1"/>
          <p:nvPr/>
        </p:nvSpPr>
        <p:spPr>
          <a:xfrm>
            <a:off x="647699" y="1495485"/>
            <a:ext cx="8063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 err="1">
                <a:solidFill>
                  <a:schemeClr val="tx1"/>
                </a:solidFill>
              </a:rPr>
              <a:t>pmdarima</a:t>
            </a:r>
            <a:r>
              <a:rPr lang="zh-TW" altLang="en-US" sz="1600" b="1" dirty="0">
                <a:solidFill>
                  <a:schemeClr val="tx1"/>
                </a:solidFill>
              </a:rPr>
              <a:t>：</a:t>
            </a:r>
            <a:r>
              <a:rPr lang="en-US" altLang="zh-TW" sz="1600" b="1" dirty="0" err="1">
                <a:solidFill>
                  <a:schemeClr val="tx1"/>
                </a:solidFill>
              </a:rPr>
              <a:t>auto_arima</a:t>
            </a:r>
            <a:r>
              <a:rPr lang="en-US" altLang="zh-TW" sz="1600" b="1" dirty="0">
                <a:solidFill>
                  <a:schemeClr val="tx1"/>
                </a:solidFill>
              </a:rPr>
              <a:t> </a:t>
            </a:r>
            <a:r>
              <a:rPr lang="zh-TW" altLang="en-US" sz="1600" b="1" dirty="0">
                <a:solidFill>
                  <a:schemeClr val="tx1"/>
                </a:solidFill>
              </a:rPr>
              <a:t>自動選參數 </a:t>
            </a:r>
            <a:r>
              <a:rPr lang="en-US" altLang="zh-TW" sz="1600" b="1" dirty="0">
                <a:solidFill>
                  <a:schemeClr val="tx1"/>
                </a:solidFill>
              </a:rPr>
              <a:t>+ rolling forecast</a:t>
            </a:r>
            <a:r>
              <a:rPr lang="zh-TW" altLang="en-US" sz="1600" b="1" dirty="0">
                <a:solidFill>
                  <a:schemeClr val="tx1"/>
                </a:solidFill>
              </a:rPr>
              <a:t>（</a:t>
            </a:r>
            <a:r>
              <a:rPr lang="en-US" altLang="zh-TW" sz="1600" b="1" dirty="0">
                <a:solidFill>
                  <a:schemeClr val="tx1"/>
                </a:solidFill>
              </a:rPr>
              <a:t>arima_baseline.py</a:t>
            </a:r>
            <a:r>
              <a:rPr lang="zh-TW" altLang="en-US" sz="1600" b="1" dirty="0">
                <a:solidFill>
                  <a:schemeClr val="tx1"/>
                </a:solidFill>
              </a:rPr>
              <a:t>）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135360D-83C9-4D2C-3695-FE08DEB925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9427"/>
          <a:stretch>
            <a:fillRect/>
          </a:stretch>
        </p:blipFill>
        <p:spPr>
          <a:xfrm>
            <a:off x="1947076" y="2102945"/>
            <a:ext cx="8297847" cy="78463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7C5AD3E-E081-F6CD-F123-66B7939F26A7}"/>
              </a:ext>
            </a:extLst>
          </p:cNvPr>
          <p:cNvSpPr txBox="1"/>
          <p:nvPr/>
        </p:nvSpPr>
        <p:spPr>
          <a:xfrm>
            <a:off x="721896" y="3310220"/>
            <a:ext cx="952302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start_p=</a:t>
            </a:r>
            <a:r>
              <a:rPr lang="en-US" altLang="zh-TW" sz="1600" dirty="0"/>
              <a:t>1</a:t>
            </a:r>
            <a:r>
              <a:rPr lang="zh-TW" altLang="zh-TW" sz="1600" dirty="0"/>
              <a:t>, start_q=</a:t>
            </a:r>
            <a:r>
              <a:rPr lang="en-US" altLang="zh-TW" sz="1600" dirty="0"/>
              <a:t>1</a:t>
            </a:r>
            <a:r>
              <a:rPr lang="zh-TW" altLang="zh-TW" sz="1600" dirty="0"/>
              <a:t>：AR、MA 階數的搜尋起點。 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max_p=5, max_q=5：限制最大階數，避免過度複雜。 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d=None:</a:t>
            </a:r>
            <a:r>
              <a:rPr lang="zh-TW" altLang="en-US" sz="1600" dirty="0"/>
              <a:t>差分階數不固定</a:t>
            </a:r>
            <a:r>
              <a:rPr lang="en-US" altLang="zh-TW" sz="1600" dirty="0"/>
              <a:t>,</a:t>
            </a:r>
            <a:r>
              <a:rPr lang="zh-TW" altLang="en-US" sz="1600" dirty="0"/>
              <a:t>由 </a:t>
            </a:r>
            <a:r>
              <a:rPr lang="en-US" altLang="zh-TW" sz="1600" dirty="0" err="1"/>
              <a:t>auto_arima</a:t>
            </a:r>
            <a:r>
              <a:rPr lang="en-US" altLang="zh-TW" sz="1600" dirty="0"/>
              <a:t> </a:t>
            </a:r>
            <a:r>
              <a:rPr lang="zh-TW" altLang="en-US" sz="1600" dirty="0"/>
              <a:t>自動依檢定決定</a:t>
            </a:r>
            <a:r>
              <a:rPr lang="en-US" altLang="zh-TW" sz="1600" dirty="0"/>
              <a:t>(</a:t>
            </a:r>
            <a:r>
              <a:rPr lang="zh-TW" altLang="en-US" sz="1600" dirty="0"/>
              <a:t>本研究三市場皆得 </a:t>
            </a:r>
            <a:r>
              <a:rPr lang="en-US" altLang="zh-TW" sz="1600" dirty="0"/>
              <a:t>d=1)</a:t>
            </a:r>
            <a:r>
              <a:rPr lang="zh-TW" altLang="zh-TW" sz="1600" dirty="0"/>
              <a:t>。 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seasonal=False：股價日資料無固定季節週期，關閉季節項（不跑 SARIMA）。 information_criterion='aic'：以 AIC 在候選模型中選最佳（兼顧配適度與複雜度）。 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stepwise=True：逐步搜尋而非窮舉，速度快且穩定。 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error_action='ignore', suppress_warnings=True：跳過無法配適的組合、抑制警告。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601A688-D880-2F90-7F1F-7B8FC157A13B}"/>
              </a:ext>
            </a:extLst>
          </p:cNvPr>
          <p:cNvSpPr txBox="1"/>
          <p:nvPr/>
        </p:nvSpPr>
        <p:spPr>
          <a:xfrm>
            <a:off x="1485965" y="5891260"/>
            <a:ext cx="79948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dirty="0">
                <a:highlight>
                  <a:srgbClr val="FFFF00"/>
                </a:highlight>
              </a:rPr>
              <a:t>三市場最佳模型：SPY ARIMA(0,1,2)、QQQ ARIMA(1,1,0)、0050.TW ARIMA(0,1,0)；</a:t>
            </a:r>
            <a:endParaRPr lang="en-US" altLang="zh-TW" sz="1600" b="1" dirty="0">
              <a:highlight>
                <a:srgbClr val="FFFF00"/>
              </a:highlight>
            </a:endParaRPr>
          </a:p>
          <a:p>
            <a:r>
              <a:rPr lang="zh-TW" altLang="zh-TW" sz="1600" b="1" dirty="0">
                <a:highlight>
                  <a:srgbClr val="FFFF00"/>
                </a:highlight>
              </a:rPr>
              <a:t>皆 d=1，與 ADF 檢定結果一致。</a:t>
            </a:r>
            <a:endParaRPr lang="zh-TW" altLang="en-US" sz="16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99053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689" y="1780876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1780876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689" y="4373915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7457" y="20638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1433951" y="2797277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2400" b="1">
                <a:solidFill>
                  <a:srgbClr val="002147"/>
                </a:solidFill>
                <a:latin typeface="+mj-lt"/>
                <a:ea typeface="DM Sans"/>
                <a:cs typeface="DM Sans"/>
              </a:defRPr>
            </a:lvl1pPr>
          </a:lstStyle>
          <a:p>
            <a:r>
              <a:rPr lang="en-US" dirty="0">
                <a:sym typeface="DM Sans"/>
              </a:rPr>
              <a:t>Random Forest</a:t>
            </a:r>
            <a:endParaRPr dirty="0"/>
          </a:p>
        </p:txBody>
      </p:sp>
      <p:sp>
        <p:nvSpPr>
          <p:cNvPr id="211" name="Google Shape;211;p20"/>
          <p:cNvSpPr txBox="1"/>
          <p:nvPr/>
        </p:nvSpPr>
        <p:spPr>
          <a:xfrm>
            <a:off x="1315453" y="3168752"/>
            <a:ext cx="370716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Bagging </a:t>
            </a: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架構，多棵樹平均降低變異數，穩定且不易過擬合。</a:t>
            </a:r>
            <a:endParaRPr sz="1800" dirty="0"/>
          </a:p>
        </p:txBody>
      </p:sp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93968" y="20638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6510462" y="2797277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XGBoost</a:t>
            </a:r>
            <a:endParaRPr sz="2400" dirty="0">
              <a:latin typeface="+mj-lt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508143" y="3168752"/>
            <a:ext cx="364651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Boosting </a:t>
            </a: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經典模型，含正規化項抑制過擬合，速度快、精度高。</a:t>
            </a:r>
            <a:endParaRPr sz="1800" dirty="0"/>
          </a:p>
        </p:txBody>
      </p:sp>
      <p:pic>
        <p:nvPicPr>
          <p:cNvPr id="215" name="Google Shape;21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46032" y="465689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1510151" y="5390316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2147"/>
                </a:solidFill>
                <a:latin typeface="+mj-lt"/>
                <a:sym typeface="DM Sans"/>
              </a:rPr>
              <a:t>AdaBoost</a:t>
            </a:r>
            <a:endParaRPr sz="24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315453" y="5761791"/>
            <a:ext cx="370716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逐輪提高前一輪誤差較大樣本的權重，串聯弱學習器。</a:t>
            </a:r>
            <a:endParaRPr sz="1800" dirty="0"/>
          </a:p>
        </p:txBody>
      </p:sp>
      <p:sp>
        <p:nvSpPr>
          <p:cNvPr id="218" name="Google Shape;218;p20"/>
          <p:cNvSpPr txBox="1"/>
          <p:nvPr/>
        </p:nvSpPr>
        <p:spPr>
          <a:xfrm>
            <a:off x="832434" y="835493"/>
            <a:ext cx="473247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機器學習：</a:t>
            </a:r>
            <a:r>
              <a:rPr lang="en-US" sz="3300" b="1" i="0" u="none" strike="noStrike" cap="none" dirty="0" err="1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集成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迴歸模型</a:t>
            </a:r>
            <a:endParaRPr dirty="0"/>
          </a:p>
        </p:txBody>
      </p:sp>
      <p:sp>
        <p:nvSpPr>
          <p:cNvPr id="219" name="Google Shape;219;p20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6254D067-F4C3-5AA7-BE00-F9A0E03556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3681" y="4373915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15;p20" descr="image.png">
            <a:extLst>
              <a:ext uri="{FF2B5EF4-FFF2-40B4-BE49-F238E27FC236}">
                <a16:creationId xmlns:a16="http://schemas.microsoft.com/office/drawing/2014/main" id="{6DB968F0-3826-C4E2-4E40-283903EB7B0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44024" y="465689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AEFD1A7D-548B-58B3-06D8-A867F1FBADEA}"/>
              </a:ext>
            </a:extLst>
          </p:cNvPr>
          <p:cNvSpPr txBox="1"/>
          <p:nvPr/>
        </p:nvSpPr>
        <p:spPr>
          <a:xfrm>
            <a:off x="6508143" y="5390316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Gradient </a:t>
            </a:r>
            <a:r>
              <a:rPr lang="en-US" sz="2400" b="1" dirty="0">
                <a:solidFill>
                  <a:srgbClr val="002147"/>
                </a:solidFill>
                <a:latin typeface="+mj-lt"/>
                <a:sym typeface="DM Sans"/>
              </a:rPr>
              <a:t>Boosting</a:t>
            </a:r>
            <a:endParaRPr sz="24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4BE8B93D-17F6-581C-C4EB-05036289E0DE}"/>
              </a:ext>
            </a:extLst>
          </p:cNvPr>
          <p:cNvSpPr txBox="1"/>
          <p:nvPr/>
        </p:nvSpPr>
        <p:spPr>
          <a:xfrm>
            <a:off x="6508143" y="5761791"/>
            <a:ext cx="36465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沿損失函數梯度方向逐步擬合殘差，降低偏差。</a:t>
            </a:r>
            <a:endParaRPr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104CB45F-3291-388C-47BE-8C43D9BB2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29B28DC9-AD52-FCE7-AA5D-49C16255E2C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2441014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89FC139C-45A9-8DA5-FFB7-D57D68BADB1F}"/>
              </a:ext>
            </a:extLst>
          </p:cNvPr>
          <p:cNvSpPr txBox="1"/>
          <p:nvPr/>
        </p:nvSpPr>
        <p:spPr>
          <a:xfrm>
            <a:off x="5411665" y="2563647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Bagging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(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裝袋法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+mj-lt"/>
            </a:endParaRPr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94B0A77E-E627-AA55-A157-62E9AD6A68E4}"/>
              </a:ext>
            </a:extLst>
          </p:cNvPr>
          <p:cNvSpPr txBox="1"/>
          <p:nvPr/>
        </p:nvSpPr>
        <p:spPr>
          <a:xfrm>
            <a:off x="5608825" y="2917018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zh-TW" dirty="0"/>
              <a:t>對訓練資料做隨機抽樣(Bootstrap)，產生多個子集，各自訓練一棵樹。</a:t>
            </a:r>
            <a:endParaRPr dirty="0"/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42173FC-64A3-6D5C-A3E0-D0B0BB7D50E9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Forest：Bagging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集成學習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63585E88-D7E9-23B6-5033-766D3BE1CD9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CF8A16-0A41-07C7-B470-6DFAF21A927D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dirty="0">
                <a:solidFill>
                  <a:schemeClr val="tx1"/>
                </a:solidFill>
                <a:latin typeface="+mn-lt"/>
              </a:rPr>
              <a:t>從訓練資料隨機抽取多個子集</a:t>
            </a:r>
            <a:r>
              <a:rPr lang="zh-TW" altLang="zh-TW" sz="800" dirty="0">
                <a:solidFill>
                  <a:schemeClr val="tx1"/>
                </a:solidFill>
                <a:latin typeface="+mn-lt"/>
              </a:rPr>
              <a:t>，</a:t>
            </a:r>
            <a:r>
              <a:rPr lang="zh-TW" altLang="zh-TW" sz="1600" b="1" dirty="0">
                <a:solidFill>
                  <a:schemeClr val="tx1"/>
                </a:solidFill>
                <a:latin typeface="+mn-lt"/>
              </a:rPr>
              <a:t>各自建立決策樹，再整合結果</a:t>
            </a:r>
            <a:endParaRPr lang="zh-TW" altLang="en-US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86A15C1-028F-FDBF-B7F1-15ECD802F1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597" r="58214" b="13667"/>
          <a:stretch>
            <a:fillRect/>
          </a:stretch>
        </p:blipFill>
        <p:spPr>
          <a:xfrm>
            <a:off x="287969" y="2010843"/>
            <a:ext cx="4869695" cy="4697269"/>
          </a:xfrm>
          <a:prstGeom prst="rect">
            <a:avLst/>
          </a:prstGeom>
        </p:spPr>
      </p:pic>
      <p:pic>
        <p:nvPicPr>
          <p:cNvPr id="12" name="Google Shape;207;p20" descr="image.png">
            <a:extLst>
              <a:ext uri="{FF2B5EF4-FFF2-40B4-BE49-F238E27FC236}">
                <a16:creationId xmlns:a16="http://schemas.microsoft.com/office/drawing/2014/main" id="{2B012AFD-D3B4-A67B-7394-E65D9D3774BF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3361756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13;p20">
            <a:extLst>
              <a:ext uri="{FF2B5EF4-FFF2-40B4-BE49-F238E27FC236}">
                <a16:creationId xmlns:a16="http://schemas.microsoft.com/office/drawing/2014/main" id="{A4C80218-B1B3-9476-2CDE-9ED35B523CC5}"/>
              </a:ext>
            </a:extLst>
          </p:cNvPr>
          <p:cNvSpPr txBox="1"/>
          <p:nvPr/>
        </p:nvSpPr>
        <p:spPr>
          <a:xfrm>
            <a:off x="5411665" y="348438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降低變異數</a:t>
            </a:r>
            <a:endParaRPr sz="1800" dirty="0">
              <a:latin typeface="+mj-lt"/>
            </a:endParaRPr>
          </a:p>
        </p:txBody>
      </p:sp>
      <p:sp>
        <p:nvSpPr>
          <p:cNvPr id="14" name="Google Shape;214;p20">
            <a:extLst>
              <a:ext uri="{FF2B5EF4-FFF2-40B4-BE49-F238E27FC236}">
                <a16:creationId xmlns:a16="http://schemas.microsoft.com/office/drawing/2014/main" id="{5C6C5CE7-D295-0DA8-1881-16A3C3B4F777}"/>
              </a:ext>
            </a:extLst>
          </p:cNvPr>
          <p:cNvSpPr txBox="1"/>
          <p:nvPr/>
        </p:nvSpPr>
        <p:spPr>
          <a:xfrm>
            <a:off x="5608825" y="383776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多棵獨立的樹取平均</a:t>
            </a:r>
            <a:r>
              <a:rPr lang="en-US" altLang="zh-TW" dirty="0"/>
              <a:t>(</a:t>
            </a:r>
            <a:r>
              <a:rPr lang="zh-TW" altLang="en-US" dirty="0"/>
              <a:t>或多數決</a:t>
            </a:r>
            <a:r>
              <a:rPr lang="en-US" altLang="zh-TW" dirty="0"/>
              <a:t>)</a:t>
            </a:r>
            <a:r>
              <a:rPr lang="zh-TW" altLang="en-US" dirty="0"/>
              <a:t>，抵消個別樹的過擬合，模型更穩定。</a:t>
            </a:r>
            <a:endParaRPr dirty="0"/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F630E5BE-B007-AFC2-8175-1319DA80B32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4295198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E9D7F9BC-B438-B050-2044-4895881166F9}"/>
              </a:ext>
            </a:extLst>
          </p:cNvPr>
          <p:cNvSpPr txBox="1"/>
          <p:nvPr/>
        </p:nvSpPr>
        <p:spPr>
          <a:xfrm>
            <a:off x="5411665" y="441783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整合決策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C3474797-9785-4447-DFC5-AB3E066174D8}"/>
              </a:ext>
            </a:extLst>
          </p:cNvPr>
          <p:cNvSpPr txBox="1"/>
          <p:nvPr/>
        </p:nvSpPr>
        <p:spPr>
          <a:xfrm>
            <a:off x="5608825" y="4771202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分類用多數決、迴歸取平均，結果優於單一決策樹。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D3821F06-9D20-20F9-4ADF-FB18CF5388C6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5228640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86903EB2-5F47-DDEE-EE81-F7EA700F3565}"/>
              </a:ext>
            </a:extLst>
          </p:cNvPr>
          <p:cNvSpPr txBox="1"/>
          <p:nvPr/>
        </p:nvSpPr>
        <p:spPr>
          <a:xfrm>
            <a:off x="5411665" y="5351273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本研究角色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0B38FFA9-ED6C-08EC-6186-6AD1B966A2D6}"/>
              </a:ext>
            </a:extLst>
          </p:cNvPr>
          <p:cNvSpPr txBox="1"/>
          <p:nvPr/>
        </p:nvSpPr>
        <p:spPr>
          <a:xfrm>
            <a:off x="5608825" y="5704644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作為機器學習</a:t>
            </a:r>
            <a:r>
              <a:rPr lang="en-US" altLang="zh-TW" dirty="0"/>
              <a:t>(ML)</a:t>
            </a:r>
            <a:r>
              <a:rPr lang="zh-TW" altLang="en-US" dirty="0"/>
              <a:t>代表模型，與統計、深度學習、</a:t>
            </a:r>
            <a:r>
              <a:rPr lang="en-US" altLang="zh-TW" dirty="0"/>
              <a:t>LLM </a:t>
            </a:r>
            <a:r>
              <a:rPr lang="zh-TW" altLang="en-US" dirty="0"/>
              <a:t>比較。</a:t>
            </a:r>
            <a:endParaRPr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5AF6C39-AB7D-F445-419E-7D88FB686807}"/>
              </a:ext>
            </a:extLst>
          </p:cNvPr>
          <p:cNvSpPr txBox="1"/>
          <p:nvPr/>
        </p:nvSpPr>
        <p:spPr>
          <a:xfrm>
            <a:off x="1103230" y="3899315"/>
            <a:ext cx="84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2000</a:t>
            </a:r>
            <a:r>
              <a:rPr lang="zh-TW" altLang="en-US" sz="1400" dirty="0"/>
              <a:t>筆</a:t>
            </a:r>
            <a:endParaRPr lang="zh-TW" altLang="en-US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2F902D42-C811-7DC2-C636-C654294B5C85}"/>
              </a:ext>
            </a:extLst>
          </p:cNvPr>
          <p:cNvCxnSpPr/>
          <p:nvPr/>
        </p:nvCxnSpPr>
        <p:spPr>
          <a:xfrm>
            <a:off x="1524000" y="4295198"/>
            <a:ext cx="0" cy="691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973B3895-3AC3-9652-9FA9-E89B1C9D6768}"/>
              </a:ext>
            </a:extLst>
          </p:cNvPr>
          <p:cNvSpPr txBox="1"/>
          <p:nvPr/>
        </p:nvSpPr>
        <p:spPr>
          <a:xfrm>
            <a:off x="2426704" y="3893865"/>
            <a:ext cx="8415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800</a:t>
            </a:r>
            <a:r>
              <a:rPr lang="zh-TW" altLang="en-US" sz="1400" dirty="0"/>
              <a:t>筆</a:t>
            </a:r>
            <a:endParaRPr lang="zh-TW" altLang="en-US" dirty="0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F1BB03A2-8D19-272E-6E1A-FE1A9948441C}"/>
              </a:ext>
            </a:extLst>
          </p:cNvPr>
          <p:cNvCxnSpPr/>
          <p:nvPr/>
        </p:nvCxnSpPr>
        <p:spPr>
          <a:xfrm>
            <a:off x="2847474" y="4289748"/>
            <a:ext cx="0" cy="691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46029ADD-A388-AB01-7114-9572CF30ED60}"/>
              </a:ext>
            </a:extLst>
          </p:cNvPr>
          <p:cNvSpPr txBox="1"/>
          <p:nvPr/>
        </p:nvSpPr>
        <p:spPr>
          <a:xfrm>
            <a:off x="3792184" y="3904458"/>
            <a:ext cx="84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1300</a:t>
            </a:r>
            <a:r>
              <a:rPr lang="zh-TW" altLang="en-US" sz="1400" dirty="0"/>
              <a:t>筆</a:t>
            </a:r>
            <a:endParaRPr lang="zh-TW" altLang="en-US" dirty="0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AEFE71E8-3B82-E84F-C603-3D6A5CE1A704}"/>
              </a:ext>
            </a:extLst>
          </p:cNvPr>
          <p:cNvCxnSpPr/>
          <p:nvPr/>
        </p:nvCxnSpPr>
        <p:spPr>
          <a:xfrm>
            <a:off x="4212954" y="4300341"/>
            <a:ext cx="0" cy="691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B01535B-EE4F-289A-5588-B1B77059D741}"/>
              </a:ext>
            </a:extLst>
          </p:cNvPr>
          <p:cNvSpPr txBox="1"/>
          <p:nvPr/>
        </p:nvSpPr>
        <p:spPr>
          <a:xfrm>
            <a:off x="849230" y="3760810"/>
            <a:ext cx="84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EX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356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EE3D88B7-B777-4F7D-87AF-6777B3034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5007B1C9-55DB-634F-55B2-84947DF4328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76800" y="5615574"/>
            <a:ext cx="6466737" cy="104298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8D0C2472-4CB0-6AA4-AB5F-11B30E6FE6C0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決策樹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vs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隨機森林對照表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0841325-4E93-B25A-03CC-C809B54D8DBE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31EA80B-A3E3-AE00-1FD0-DCE2D6E20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089641"/>
              </p:ext>
            </p:extLst>
          </p:nvPr>
        </p:nvGraphicFramePr>
        <p:xfrm>
          <a:off x="503901" y="1909499"/>
          <a:ext cx="5530264" cy="3304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798">
                  <a:extLst>
                    <a:ext uri="{9D8B030D-6E8A-4147-A177-3AD203B41FA5}">
                      <a16:colId xmlns:a16="http://schemas.microsoft.com/office/drawing/2014/main" val="1572107876"/>
                    </a:ext>
                  </a:extLst>
                </a:gridCol>
                <a:gridCol w="1991070">
                  <a:extLst>
                    <a:ext uri="{9D8B030D-6E8A-4147-A177-3AD203B41FA5}">
                      <a16:colId xmlns:a16="http://schemas.microsoft.com/office/drawing/2014/main" val="569532715"/>
                    </a:ext>
                  </a:extLst>
                </a:gridCol>
                <a:gridCol w="2067396">
                  <a:extLst>
                    <a:ext uri="{9D8B030D-6E8A-4147-A177-3AD203B41FA5}">
                      <a16:colId xmlns:a16="http://schemas.microsoft.com/office/drawing/2014/main" val="2506767000"/>
                    </a:ext>
                  </a:extLst>
                </a:gridCol>
              </a:tblGrid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/>
                        <a:t>比較項目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決策樹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隨機森林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474487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模型性質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單一模型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多模型集成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3003923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穩定性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容易過擬合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較穩定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323281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訓練方式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單棵樹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多棵樹隨機訓練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469601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結構透明度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較低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539851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準確度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中等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通常較高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529969"/>
                  </a:ext>
                </a:extLst>
              </a:tr>
              <a:tr h="472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計算成本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高</a:t>
                      </a:r>
                      <a:r>
                        <a:rPr lang="en-US" altLang="zh-TW" sz="1600" b="0" dirty="0"/>
                        <a:t>(</a:t>
                      </a:r>
                      <a:r>
                        <a:rPr lang="zh-TW" altLang="en-US" sz="1600" b="0" dirty="0"/>
                        <a:t>需訓練多棵樹</a:t>
                      </a:r>
                      <a:r>
                        <a:rPr lang="en-US" altLang="zh-TW" sz="1600" b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316890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89028C05-F4C2-9DAE-6A7D-0461D31EBE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169" y="1909499"/>
            <a:ext cx="4483125" cy="339724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4AD0A74-C971-BD39-6A39-18060183072F}"/>
              </a:ext>
            </a:extLst>
          </p:cNvPr>
          <p:cNvSpPr txBox="1"/>
          <p:nvPr/>
        </p:nvSpPr>
        <p:spPr>
          <a:xfrm>
            <a:off x="1137221" y="5813898"/>
            <a:ext cx="6466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solidFill>
                  <a:schemeClr val="bg2">
                    <a:lumMod val="75000"/>
                  </a:schemeClr>
                </a:solidFill>
              </a:rPr>
              <a:t>實測：決策樹「訓練誤差最低、測試誤差最大」＝過擬合；</a:t>
            </a:r>
            <a:endParaRPr lang="en-US" altLang="zh-TW" sz="18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TW" altLang="zh-TW" sz="1800" b="1" dirty="0">
                <a:solidFill>
                  <a:schemeClr val="bg2">
                    <a:lumMod val="75000"/>
                  </a:schemeClr>
                </a:solidFill>
              </a:rPr>
              <a:t>隨機森林泛化更佳，印證上表準確度差異。</a:t>
            </a:r>
            <a:endParaRPr lang="zh-TW" altLang="en-US" sz="1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9DA750-B6B4-A8AF-BF04-3977412D2082}"/>
              </a:ext>
            </a:extLst>
          </p:cNvPr>
          <p:cNvSpPr/>
          <p:nvPr/>
        </p:nvSpPr>
        <p:spPr>
          <a:xfrm>
            <a:off x="9763125" y="4545865"/>
            <a:ext cx="542624" cy="322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9F28B9-25BC-0A8D-2399-EE169BE0E328}"/>
              </a:ext>
            </a:extLst>
          </p:cNvPr>
          <p:cNvSpPr/>
          <p:nvPr/>
        </p:nvSpPr>
        <p:spPr>
          <a:xfrm>
            <a:off x="9763125" y="3368808"/>
            <a:ext cx="542624" cy="322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EB4F3D-18D5-E311-98DD-441F72EAB715}"/>
              </a:ext>
            </a:extLst>
          </p:cNvPr>
          <p:cNvSpPr/>
          <p:nvPr/>
        </p:nvSpPr>
        <p:spPr>
          <a:xfrm>
            <a:off x="9801325" y="2188207"/>
            <a:ext cx="542624" cy="322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8496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4EBB6E27-D955-6486-A215-8FDC26A0D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B9BEA063-9F1B-D281-C881-3205305DADEB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Gradient Boosting (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梯度提升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03979A1E-5C2B-33BE-3E4C-83A96D5AE945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B1EBA8D-5F9D-4CC2-D80E-D0AB499DAAFF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沿損失函數梯度方向，逐步擬合殘差以降低偏差</a:t>
            </a:r>
          </a:p>
        </p:txBody>
      </p:sp>
      <p:pic>
        <p:nvPicPr>
          <p:cNvPr id="41" name="Google Shape;207;p20" descr="image.png">
            <a:extLst>
              <a:ext uri="{FF2B5EF4-FFF2-40B4-BE49-F238E27FC236}">
                <a16:creationId xmlns:a16="http://schemas.microsoft.com/office/drawing/2014/main" id="{D975F595-055B-A293-0514-EF2E1C25AAC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2174001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13;p20">
            <a:extLst>
              <a:ext uri="{FF2B5EF4-FFF2-40B4-BE49-F238E27FC236}">
                <a16:creationId xmlns:a16="http://schemas.microsoft.com/office/drawing/2014/main" id="{6FAD8A51-832E-9488-BE8C-8A777342682E}"/>
              </a:ext>
            </a:extLst>
          </p:cNvPr>
          <p:cNvSpPr txBox="1"/>
          <p:nvPr/>
        </p:nvSpPr>
        <p:spPr>
          <a:xfrm>
            <a:off x="5669669" y="2296056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+mj-lt"/>
                <a:ea typeface="DM Sans"/>
                <a:cs typeface="DM Sans"/>
                <a:sym typeface="DM Sans"/>
              </a:rPr>
              <a:t>粗略預測</a:t>
            </a:r>
            <a:endParaRPr sz="1800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44" name="Google Shape;207;p20" descr="image.png">
            <a:extLst>
              <a:ext uri="{FF2B5EF4-FFF2-40B4-BE49-F238E27FC236}">
                <a16:creationId xmlns:a16="http://schemas.microsoft.com/office/drawing/2014/main" id="{637C54C3-8D18-2817-5765-C9A380780633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3094743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13;p20">
            <a:extLst>
              <a:ext uri="{FF2B5EF4-FFF2-40B4-BE49-F238E27FC236}">
                <a16:creationId xmlns:a16="http://schemas.microsoft.com/office/drawing/2014/main" id="{0A154196-2882-2ABE-117B-1BB9C5782EBB}"/>
              </a:ext>
            </a:extLst>
          </p:cNvPr>
          <p:cNvSpPr txBox="1"/>
          <p:nvPr/>
        </p:nvSpPr>
        <p:spPr>
          <a:xfrm>
            <a:off x="5669670" y="3217376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擬合殘差</a:t>
            </a:r>
            <a:endParaRPr sz="1800" dirty="0">
              <a:latin typeface="+mj-lt"/>
            </a:endParaRPr>
          </a:p>
        </p:txBody>
      </p:sp>
      <p:sp>
        <p:nvSpPr>
          <p:cNvPr id="46" name="Google Shape;214;p20">
            <a:extLst>
              <a:ext uri="{FF2B5EF4-FFF2-40B4-BE49-F238E27FC236}">
                <a16:creationId xmlns:a16="http://schemas.microsoft.com/office/drawing/2014/main" id="{67BFD05C-C995-375D-4D70-A041C4B10411}"/>
              </a:ext>
            </a:extLst>
          </p:cNvPr>
          <p:cNvSpPr txBox="1"/>
          <p:nvPr/>
        </p:nvSpPr>
        <p:spPr>
          <a:xfrm>
            <a:off x="5866830" y="3570747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每個新模型專門預測前面模型剩下的誤差</a:t>
            </a:r>
            <a:r>
              <a:rPr lang="en-US" altLang="zh-TW" dirty="0"/>
              <a:t>(</a:t>
            </a:r>
            <a:r>
              <a:rPr lang="zh-TW" altLang="en-US" dirty="0"/>
              <a:t>殘差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  <p:pic>
        <p:nvPicPr>
          <p:cNvPr id="47" name="Google Shape;207;p20" descr="image.png">
            <a:extLst>
              <a:ext uri="{FF2B5EF4-FFF2-40B4-BE49-F238E27FC236}">
                <a16:creationId xmlns:a16="http://schemas.microsoft.com/office/drawing/2014/main" id="{22964F1D-0906-3A4F-E767-98AB7655807E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02818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13;p20">
            <a:extLst>
              <a:ext uri="{FF2B5EF4-FFF2-40B4-BE49-F238E27FC236}">
                <a16:creationId xmlns:a16="http://schemas.microsoft.com/office/drawing/2014/main" id="{A67332DD-05D4-E65E-39AC-F17CB34FC0B5}"/>
              </a:ext>
            </a:extLst>
          </p:cNvPr>
          <p:cNvSpPr txBox="1"/>
          <p:nvPr/>
        </p:nvSpPr>
        <p:spPr>
          <a:xfrm>
            <a:off x="5669670" y="415081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梯度下降</a:t>
            </a:r>
            <a:endParaRPr sz="1800" dirty="0">
              <a:latin typeface="+mj-lt"/>
            </a:endParaRPr>
          </a:p>
        </p:txBody>
      </p:sp>
      <p:sp>
        <p:nvSpPr>
          <p:cNvPr id="49" name="Google Shape;214;p20">
            <a:extLst>
              <a:ext uri="{FF2B5EF4-FFF2-40B4-BE49-F238E27FC236}">
                <a16:creationId xmlns:a16="http://schemas.microsoft.com/office/drawing/2014/main" id="{426F1AE0-2129-C76D-6256-87B0B3561868}"/>
              </a:ext>
            </a:extLst>
          </p:cNvPr>
          <p:cNvSpPr txBox="1"/>
          <p:nvPr/>
        </p:nvSpPr>
        <p:spPr>
          <a:xfrm>
            <a:off x="5866830" y="450418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沿損失函數梯度方向逐步優化，降低偏差。</a:t>
            </a:r>
            <a:endParaRPr dirty="0"/>
          </a:p>
        </p:txBody>
      </p:sp>
      <p:pic>
        <p:nvPicPr>
          <p:cNvPr id="50" name="Google Shape;207;p20" descr="image.png">
            <a:extLst>
              <a:ext uri="{FF2B5EF4-FFF2-40B4-BE49-F238E27FC236}">
                <a16:creationId xmlns:a16="http://schemas.microsoft.com/office/drawing/2014/main" id="{72F2DB45-626D-ED1E-2073-AC97C40E881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96162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13;p20">
            <a:extLst>
              <a:ext uri="{FF2B5EF4-FFF2-40B4-BE49-F238E27FC236}">
                <a16:creationId xmlns:a16="http://schemas.microsoft.com/office/drawing/2014/main" id="{6FA5080E-5AB3-8F7F-EDD6-6BF67FBFE0AA}"/>
              </a:ext>
            </a:extLst>
          </p:cNvPr>
          <p:cNvSpPr txBox="1"/>
          <p:nvPr/>
        </p:nvSpPr>
        <p:spPr>
          <a:xfrm>
            <a:off x="5669670" y="508426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逐步降低偏差</a:t>
            </a:r>
            <a:endParaRPr sz="1800" dirty="0">
              <a:latin typeface="+mj-lt"/>
            </a:endParaRPr>
          </a:p>
        </p:txBody>
      </p:sp>
      <p:sp>
        <p:nvSpPr>
          <p:cNvPr id="52" name="Google Shape;214;p20">
            <a:extLst>
              <a:ext uri="{FF2B5EF4-FFF2-40B4-BE49-F238E27FC236}">
                <a16:creationId xmlns:a16="http://schemas.microsoft.com/office/drawing/2014/main" id="{D7AF7F40-DAD0-E98F-4039-77ED443CC847}"/>
              </a:ext>
            </a:extLst>
          </p:cNvPr>
          <p:cNvSpPr txBox="1"/>
          <p:nvPr/>
        </p:nvSpPr>
        <p:spPr>
          <a:xfrm>
            <a:off x="5866830" y="543763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弱學習器累加，整體誤差越來越小。</a:t>
            </a:r>
            <a:endParaRPr dirty="0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94DFFE4D-699B-1B00-527F-B5D7A16BCA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43" t="25680" r="55555" b="42130"/>
          <a:stretch>
            <a:fillRect/>
          </a:stretch>
        </p:blipFill>
        <p:spPr>
          <a:xfrm>
            <a:off x="0" y="2304143"/>
            <a:ext cx="5670916" cy="2657484"/>
          </a:xfrm>
          <a:prstGeom prst="rect">
            <a:avLst/>
          </a:prstGeom>
        </p:spPr>
      </p:pic>
      <p:sp>
        <p:nvSpPr>
          <p:cNvPr id="3" name="Google Shape;214;p20">
            <a:extLst>
              <a:ext uri="{FF2B5EF4-FFF2-40B4-BE49-F238E27FC236}">
                <a16:creationId xmlns:a16="http://schemas.microsoft.com/office/drawing/2014/main" id="{0E462CDD-7CBF-0D22-B22E-0D3E262DF0FB}"/>
              </a:ext>
            </a:extLst>
          </p:cNvPr>
          <p:cNvSpPr txBox="1"/>
          <p:nvPr/>
        </p:nvSpPr>
        <p:spPr>
          <a:xfrm>
            <a:off x="5840387" y="2649427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算出「實際值 − 預測值」＝殘差（還差多少）</a:t>
            </a:r>
          </a:p>
        </p:txBody>
      </p:sp>
    </p:spTree>
    <p:extLst>
      <p:ext uri="{BB962C8B-B14F-4D97-AF65-F5344CB8AC3E}">
        <p14:creationId xmlns:p14="http://schemas.microsoft.com/office/powerpoint/2010/main" val="4037695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737C9D35-CC4A-7485-9975-BA9E59EA8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770C55F3-5895-4C37-F449-01AB62CDFEC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9" y="211839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B8FECAB4-0D25-11A5-4768-C7D97EC3B898}"/>
              </a:ext>
            </a:extLst>
          </p:cNvPr>
          <p:cNvSpPr txBox="1"/>
          <p:nvPr/>
        </p:nvSpPr>
        <p:spPr>
          <a:xfrm>
            <a:off x="5639190" y="224102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以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GBM 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為基礎</a:t>
            </a:r>
            <a:endParaRPr sz="1800" dirty="0">
              <a:latin typeface="+mj-lt"/>
            </a:endParaRPr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4687F632-17EC-1ED0-EC53-726A2663EC91}"/>
              </a:ext>
            </a:extLst>
          </p:cNvPr>
          <p:cNvSpPr txBox="1"/>
          <p:nvPr/>
        </p:nvSpPr>
        <p:spPr>
          <a:xfrm>
            <a:off x="5836350" y="259439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同樣用 </a:t>
            </a:r>
            <a:r>
              <a:rPr lang="en-US" altLang="zh-TW" dirty="0"/>
              <a:t>Boosting </a:t>
            </a:r>
            <a:r>
              <a:rPr lang="zh-TW" altLang="en-US" dirty="0"/>
              <a:t>擬合殘差，但做了多項工程強化。</a:t>
            </a:r>
            <a:endParaRPr dirty="0"/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5B97C2B8-78A4-AC38-E683-CFC559DF8062}"/>
              </a:ext>
            </a:extLst>
          </p:cNvPr>
          <p:cNvSpPr txBox="1"/>
          <p:nvPr/>
        </p:nvSpPr>
        <p:spPr>
          <a:xfrm>
            <a:off x="832434" y="835493"/>
            <a:ext cx="52635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en-US" altLang="zh-TW" sz="3300" b="1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XGBoost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(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極限梯度提升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lang="zh-TW" altLang="en-US" sz="3600"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7AE272A2-076E-E2FF-1770-6BA6AF768953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8889EAE-4242-8A55-E671-70C85CC17C8A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Boosting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經典模型，含正規化抑制過擬合，速度快、精度高</a:t>
            </a:r>
          </a:p>
        </p:txBody>
      </p:sp>
      <p:pic>
        <p:nvPicPr>
          <p:cNvPr id="12" name="Google Shape;207;p20" descr="image.png">
            <a:extLst>
              <a:ext uri="{FF2B5EF4-FFF2-40B4-BE49-F238E27FC236}">
                <a16:creationId xmlns:a16="http://schemas.microsoft.com/office/drawing/2014/main" id="{64E5CE90-B119-FEC5-86AC-5D2983C1EA8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9" y="303913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13;p20">
            <a:extLst>
              <a:ext uri="{FF2B5EF4-FFF2-40B4-BE49-F238E27FC236}">
                <a16:creationId xmlns:a16="http://schemas.microsoft.com/office/drawing/2014/main" id="{25262BD1-2D43-A8DF-24FD-DB280D34614B}"/>
              </a:ext>
            </a:extLst>
          </p:cNvPr>
          <p:cNvSpPr txBox="1"/>
          <p:nvPr/>
        </p:nvSpPr>
        <p:spPr>
          <a:xfrm>
            <a:off x="5639190" y="316177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正規化抑制過擬合</a:t>
            </a:r>
            <a:endParaRPr sz="1800" dirty="0">
              <a:latin typeface="+mj-lt"/>
            </a:endParaRPr>
          </a:p>
        </p:txBody>
      </p:sp>
      <p:sp>
        <p:nvSpPr>
          <p:cNvPr id="14" name="Google Shape;214;p20">
            <a:extLst>
              <a:ext uri="{FF2B5EF4-FFF2-40B4-BE49-F238E27FC236}">
                <a16:creationId xmlns:a16="http://schemas.microsoft.com/office/drawing/2014/main" id="{CDE76F6D-EAD9-12EF-8DFB-B130E23C493F}"/>
              </a:ext>
            </a:extLst>
          </p:cNvPr>
          <p:cNvSpPr txBox="1"/>
          <p:nvPr/>
        </p:nvSpPr>
        <p:spPr>
          <a:xfrm>
            <a:off x="5836350" y="351514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目標函數加入正規化項</a:t>
            </a:r>
            <a:r>
              <a:rPr lang="en-US" altLang="zh-TW" dirty="0"/>
              <a:t>(L1/L2)</a:t>
            </a:r>
            <a:r>
              <a:rPr lang="zh-TW" altLang="en-US" dirty="0"/>
              <a:t>，控制複雜度。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46E4D3DE-F89F-B02F-17AB-F4AE317D57C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8" y="3934592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B0186777-D49D-8D91-9835-9C9ADDA1E267}"/>
              </a:ext>
            </a:extLst>
          </p:cNvPr>
          <p:cNvSpPr txBox="1"/>
          <p:nvPr/>
        </p:nvSpPr>
        <p:spPr>
          <a:xfrm>
            <a:off x="5639189" y="4057225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速度與精度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40221D1D-80DD-DA2B-EE84-AC05CA160B82}"/>
              </a:ext>
            </a:extLst>
          </p:cNvPr>
          <p:cNvSpPr txBox="1"/>
          <p:nvPr/>
        </p:nvSpPr>
        <p:spPr>
          <a:xfrm>
            <a:off x="5836349" y="4410596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採二階梯度近似與平行運算，訓練快、預測準。</a:t>
            </a:r>
            <a:endParaRPr dirty="0"/>
          </a:p>
        </p:txBody>
      </p:sp>
      <p:pic>
        <p:nvPicPr>
          <p:cNvPr id="4" name="Google Shape;207;p20" descr="image.png">
            <a:extLst>
              <a:ext uri="{FF2B5EF4-FFF2-40B4-BE49-F238E27FC236}">
                <a16:creationId xmlns:a16="http://schemas.microsoft.com/office/drawing/2014/main" id="{AC0FF0D6-EE12-ACD7-A849-457BD473DF88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02927" y="5030133"/>
            <a:ext cx="5270919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13;p20">
            <a:extLst>
              <a:ext uri="{FF2B5EF4-FFF2-40B4-BE49-F238E27FC236}">
                <a16:creationId xmlns:a16="http://schemas.microsoft.com/office/drawing/2014/main" id="{DCB6B579-16B5-924F-5700-C3FC8A3C64DE}"/>
              </a:ext>
            </a:extLst>
          </p:cNvPr>
          <p:cNvSpPr txBox="1"/>
          <p:nvPr/>
        </p:nvSpPr>
        <p:spPr>
          <a:xfrm>
            <a:off x="5593973" y="511531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★ 本研究角色</a:t>
            </a:r>
            <a:endParaRPr sz="1800" dirty="0">
              <a:latin typeface="+mj-lt"/>
            </a:endParaRPr>
          </a:p>
        </p:txBody>
      </p:sp>
      <p:sp>
        <p:nvSpPr>
          <p:cNvPr id="6" name="Google Shape;214;p20">
            <a:extLst>
              <a:ext uri="{FF2B5EF4-FFF2-40B4-BE49-F238E27FC236}">
                <a16:creationId xmlns:a16="http://schemas.microsoft.com/office/drawing/2014/main" id="{977EAB23-C7D2-EB99-9335-DB3D5D16C166}"/>
              </a:ext>
            </a:extLst>
          </p:cNvPr>
          <p:cNvSpPr txBox="1"/>
          <p:nvPr/>
        </p:nvSpPr>
        <p:spPr>
          <a:xfrm>
            <a:off x="5791133" y="5468682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機器學習</a:t>
            </a:r>
            <a:r>
              <a:rPr lang="en-US" altLang="zh-TW" dirty="0"/>
              <a:t>(ML)</a:t>
            </a:r>
            <a:r>
              <a:rPr lang="zh-TW" altLang="en-US" dirty="0"/>
              <a:t>集成模型之一，與 </a:t>
            </a:r>
            <a:r>
              <a:rPr lang="en-US" altLang="zh-TW" dirty="0"/>
              <a:t>RF/AdaBoost/GBM </a:t>
            </a:r>
            <a:r>
              <a:rPr lang="zh-TW" altLang="en-US" dirty="0"/>
              <a:t>比較。</a:t>
            </a:r>
            <a:endParaRPr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A400044-D9E7-FFDF-CD18-993609C7F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395" t="33917" r="60551" b="24019"/>
          <a:stretch>
            <a:fillRect/>
          </a:stretch>
        </p:blipFill>
        <p:spPr>
          <a:xfrm>
            <a:off x="508507" y="2277560"/>
            <a:ext cx="5010542" cy="41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989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53D7C8C2-3C69-45BB-2637-8E8E6A7EE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69E9C90D-C2A5-0892-D403-FAEA1E263B83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AdaBoost (</a:t>
            </a:r>
            <a:r>
              <a:rPr lang="zh-TW" alt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適應性提升</a:t>
            </a:r>
            <a:r>
              <a:rPr lang="en-US" altLang="zh-TW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552D0A77-03A6-41CC-A730-FD4A4227E48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31B5B99-86E9-08FA-CF55-6F81D411F31B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逐輪提高「被分錯樣本」的權重，讓下一輪更專注難分的樣本</a:t>
            </a:r>
            <a:endParaRPr lang="zh-TW" altLang="en-US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1" name="Google Shape;207;p20" descr="image.png">
            <a:extLst>
              <a:ext uri="{FF2B5EF4-FFF2-40B4-BE49-F238E27FC236}">
                <a16:creationId xmlns:a16="http://schemas.microsoft.com/office/drawing/2014/main" id="{0C5FBA2B-A6DE-AD6E-1358-A4BACE2662C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2174001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13;p20">
            <a:extLst>
              <a:ext uri="{FF2B5EF4-FFF2-40B4-BE49-F238E27FC236}">
                <a16:creationId xmlns:a16="http://schemas.microsoft.com/office/drawing/2014/main" id="{755E20B0-F0C8-FCC9-96FB-987CC69071E3}"/>
              </a:ext>
            </a:extLst>
          </p:cNvPr>
          <p:cNvSpPr txBox="1"/>
          <p:nvPr/>
        </p:nvSpPr>
        <p:spPr>
          <a:xfrm>
            <a:off x="5696112" y="2403031"/>
            <a:ext cx="577703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+mj-lt"/>
                <a:ea typeface="DM Sans"/>
                <a:cs typeface="DM Sans"/>
                <a:sym typeface="DM Sans"/>
              </a:rPr>
              <a:t>弱學習器</a:t>
            </a:r>
            <a:endParaRPr lang="en-US" altLang="zh-TW" sz="1800" b="1" i="0" u="none" strike="noStrike" cap="none" dirty="0">
              <a:solidFill>
                <a:schemeClr val="bg2">
                  <a:lumMod val="75000"/>
                </a:schemeClr>
              </a:solidFill>
              <a:latin typeface="+mj-lt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i="0" u="none" strike="noStrike" cap="none" dirty="0">
                <a:solidFill>
                  <a:schemeClr val="tx1"/>
                </a:solidFill>
                <a:latin typeface="+mj-lt"/>
                <a:ea typeface="DM Sans"/>
                <a:cs typeface="DM Sans"/>
                <a:sym typeface="DM Sans"/>
              </a:rPr>
              <a:t>用全部資料訓練一棵很淺的樹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4" name="Google Shape;207;p20" descr="image.png">
            <a:extLst>
              <a:ext uri="{FF2B5EF4-FFF2-40B4-BE49-F238E27FC236}">
                <a16:creationId xmlns:a16="http://schemas.microsoft.com/office/drawing/2014/main" id="{8BEB7527-264F-822A-DA86-E107D5960B6D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3094743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13;p20">
            <a:extLst>
              <a:ext uri="{FF2B5EF4-FFF2-40B4-BE49-F238E27FC236}">
                <a16:creationId xmlns:a16="http://schemas.microsoft.com/office/drawing/2014/main" id="{3F4B17FD-6B93-CD77-A5F1-C318CAD5EBCE}"/>
              </a:ext>
            </a:extLst>
          </p:cNvPr>
          <p:cNvSpPr txBox="1"/>
          <p:nvPr/>
        </p:nvSpPr>
        <p:spPr>
          <a:xfrm>
            <a:off x="5669670" y="3217376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樣本加權</a:t>
            </a:r>
            <a:endParaRPr sz="1800" dirty="0">
              <a:latin typeface="+mj-lt"/>
            </a:endParaRPr>
          </a:p>
        </p:txBody>
      </p:sp>
      <p:sp>
        <p:nvSpPr>
          <p:cNvPr id="46" name="Google Shape;214;p20">
            <a:extLst>
              <a:ext uri="{FF2B5EF4-FFF2-40B4-BE49-F238E27FC236}">
                <a16:creationId xmlns:a16="http://schemas.microsoft.com/office/drawing/2014/main" id="{E69DB1E3-7BA4-014D-0335-137D64FC7E98}"/>
              </a:ext>
            </a:extLst>
          </p:cNvPr>
          <p:cNvSpPr txBox="1"/>
          <p:nvPr/>
        </p:nvSpPr>
        <p:spPr>
          <a:xfrm>
            <a:off x="5866830" y="3570747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每一輪結束後，提高「被分錯的樣本」權重，下一輪更專注它們。</a:t>
            </a:r>
            <a:endParaRPr dirty="0"/>
          </a:p>
        </p:txBody>
      </p:sp>
      <p:pic>
        <p:nvPicPr>
          <p:cNvPr id="47" name="Google Shape;207;p20" descr="image.png">
            <a:extLst>
              <a:ext uri="{FF2B5EF4-FFF2-40B4-BE49-F238E27FC236}">
                <a16:creationId xmlns:a16="http://schemas.microsoft.com/office/drawing/2014/main" id="{0516AF10-4329-1FA9-B232-FE129C9820E7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02818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13;p20">
            <a:extLst>
              <a:ext uri="{FF2B5EF4-FFF2-40B4-BE49-F238E27FC236}">
                <a16:creationId xmlns:a16="http://schemas.microsoft.com/office/drawing/2014/main" id="{38F59829-CAE8-30CF-D662-5C029F382AE5}"/>
              </a:ext>
            </a:extLst>
          </p:cNvPr>
          <p:cNvSpPr txBox="1"/>
          <p:nvPr/>
        </p:nvSpPr>
        <p:spPr>
          <a:xfrm>
            <a:off x="5669670" y="415081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串聯弱學習器</a:t>
            </a:r>
            <a:endParaRPr lang="zh-TW" altLang="en-US" sz="1800" dirty="0">
              <a:latin typeface="+mj-lt"/>
            </a:endParaRPr>
          </a:p>
        </p:txBody>
      </p:sp>
      <p:sp>
        <p:nvSpPr>
          <p:cNvPr id="49" name="Google Shape;214;p20">
            <a:extLst>
              <a:ext uri="{FF2B5EF4-FFF2-40B4-BE49-F238E27FC236}">
                <a16:creationId xmlns:a16="http://schemas.microsoft.com/office/drawing/2014/main" id="{3BCFC9B4-08C3-3158-AC02-6BD0B31FCE4A}"/>
              </a:ext>
            </a:extLst>
          </p:cNvPr>
          <p:cNvSpPr txBox="1"/>
          <p:nvPr/>
        </p:nvSpPr>
        <p:spPr>
          <a:xfrm>
            <a:off x="5866830" y="450418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串聯多個簡單模型</a:t>
            </a:r>
            <a:r>
              <a:rPr lang="en-US" altLang="zh-TW" dirty="0"/>
              <a:t>(</a:t>
            </a:r>
            <a:r>
              <a:rPr lang="zh-TW" altLang="en-US" dirty="0"/>
              <a:t>通常是淺決策樹</a:t>
            </a:r>
            <a:r>
              <a:rPr lang="en-US" altLang="zh-TW" dirty="0"/>
              <a:t>)</a:t>
            </a:r>
            <a:r>
              <a:rPr lang="zh-TW" altLang="en-US" dirty="0"/>
              <a:t>，逐步補強。</a:t>
            </a:r>
          </a:p>
        </p:txBody>
      </p:sp>
      <p:pic>
        <p:nvPicPr>
          <p:cNvPr id="50" name="Google Shape;207;p20" descr="image.png">
            <a:extLst>
              <a:ext uri="{FF2B5EF4-FFF2-40B4-BE49-F238E27FC236}">
                <a16:creationId xmlns:a16="http://schemas.microsoft.com/office/drawing/2014/main" id="{44478A32-A229-591C-BBFD-A5C45E9FA00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96162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13;p20">
            <a:extLst>
              <a:ext uri="{FF2B5EF4-FFF2-40B4-BE49-F238E27FC236}">
                <a16:creationId xmlns:a16="http://schemas.microsoft.com/office/drawing/2014/main" id="{5C5AA675-1FE6-9A77-C8E0-363CBC3E1903}"/>
              </a:ext>
            </a:extLst>
          </p:cNvPr>
          <p:cNvSpPr txBox="1"/>
          <p:nvPr/>
        </p:nvSpPr>
        <p:spPr>
          <a:xfrm>
            <a:off x="5669670" y="508426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加權</a:t>
            </a:r>
            <a:endParaRPr lang="zh-TW" altLang="en-US" sz="1800" dirty="0">
              <a:latin typeface="+mj-lt"/>
            </a:endParaRPr>
          </a:p>
        </p:txBody>
      </p:sp>
      <p:sp>
        <p:nvSpPr>
          <p:cNvPr id="52" name="Google Shape;214;p20">
            <a:extLst>
              <a:ext uri="{FF2B5EF4-FFF2-40B4-BE49-F238E27FC236}">
                <a16:creationId xmlns:a16="http://schemas.microsoft.com/office/drawing/2014/main" id="{61180968-69BC-18F6-16B3-B96623DF4DA8}"/>
              </a:ext>
            </a:extLst>
          </p:cNvPr>
          <p:cNvSpPr txBox="1"/>
          <p:nvPr/>
        </p:nvSpPr>
        <p:spPr>
          <a:xfrm>
            <a:off x="5866830" y="543763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最終依各學習器表現加權整合結果。</a:t>
            </a: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30B5E634-0F01-FA21-E9B9-E68343A261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54" t="27247" r="55726" b="16455"/>
          <a:stretch>
            <a:fillRect/>
          </a:stretch>
        </p:blipFill>
        <p:spPr>
          <a:xfrm>
            <a:off x="0" y="2002769"/>
            <a:ext cx="5669668" cy="447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69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DC039C04-62C8-BD6A-4B81-17758701D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78C19A5-B1C4-291B-E90E-260B7FEC6B26}"/>
              </a:ext>
            </a:extLst>
          </p:cNvPr>
          <p:cNvSpPr txBox="1"/>
          <p:nvPr/>
        </p:nvSpPr>
        <p:spPr>
          <a:xfrm>
            <a:off x="832434" y="835493"/>
            <a:ext cx="916179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300" b="1" i="0" u="none" strike="noStrike" cap="none" dirty="0" err="1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XGBoost</a:t>
            </a:r>
            <a:r>
              <a:rPr lang="en-US" altLang="zh-TW" sz="33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 AdaBoost Gradient Boosting</a:t>
            </a:r>
            <a:r>
              <a:rPr lang="zh-TW" altLang="en-US" sz="33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比較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E97975E4-DBAF-93E5-8E4E-C083B9B459F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20">
            <a:extLst>
              <a:ext uri="{FF2B5EF4-FFF2-40B4-BE49-F238E27FC236}">
                <a16:creationId xmlns:a16="http://schemas.microsoft.com/office/drawing/2014/main" id="{DBB83271-2132-0C17-5271-E7ADBC25FC6C}"/>
              </a:ext>
            </a:extLst>
          </p:cNvPr>
          <p:cNvSpPr txBox="1"/>
          <p:nvPr/>
        </p:nvSpPr>
        <p:spPr>
          <a:xfrm>
            <a:off x="734929" y="5730119"/>
            <a:ext cx="107221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sz="1600" dirty="0" err="1">
                <a:solidFill>
                  <a:srgbClr val="404040"/>
                </a:solidFill>
                <a:latin typeface="+mn-lt"/>
              </a:rPr>
              <a:t>三者皆為</a:t>
            </a:r>
            <a:r>
              <a:rPr sz="1600" dirty="0">
                <a:solidFill>
                  <a:srgbClr val="404040"/>
                </a:solidFill>
                <a:latin typeface="+mn-lt"/>
              </a:rPr>
              <a:t> </a:t>
            </a:r>
            <a:r>
              <a:rPr sz="1600" dirty="0" err="1">
                <a:solidFill>
                  <a:srgbClr val="404040"/>
                </a:solidFill>
                <a:latin typeface="+mn-lt"/>
              </a:rPr>
              <a:t>Boosting，XGBoost</a:t>
            </a:r>
            <a:r>
              <a:rPr sz="1600" dirty="0">
                <a:solidFill>
                  <a:srgbClr val="404040"/>
                </a:solidFill>
                <a:latin typeface="+mn-lt"/>
              </a:rPr>
              <a:t> </a:t>
            </a:r>
            <a:r>
              <a:rPr sz="1600" dirty="0" err="1">
                <a:solidFill>
                  <a:srgbClr val="404040"/>
                </a:solidFill>
                <a:latin typeface="+mn-lt"/>
              </a:rPr>
              <a:t>在防過擬合與速度上最完整；但本研究中三者迴歸誤差相近，且均遠大於</a:t>
            </a:r>
            <a:r>
              <a:rPr sz="1600" dirty="0">
                <a:solidFill>
                  <a:srgbClr val="404040"/>
                </a:solidFill>
                <a:latin typeface="+mn-lt"/>
              </a:rPr>
              <a:t> ARIMA/</a:t>
            </a:r>
            <a:r>
              <a:rPr sz="1600" dirty="0" err="1">
                <a:solidFill>
                  <a:srgbClr val="404040"/>
                </a:solidFill>
                <a:latin typeface="+mn-lt"/>
              </a:rPr>
              <a:t>LSTM（受集成模型無法外推所限</a:t>
            </a:r>
            <a:r>
              <a:rPr sz="1600" dirty="0">
                <a:solidFill>
                  <a:srgbClr val="404040"/>
                </a:solidFill>
                <a:latin typeface="+mn-lt"/>
              </a:rPr>
              <a:t>）。</a:t>
            </a:r>
          </a:p>
        </p:txBody>
      </p:sp>
      <p:graphicFrame>
        <p:nvGraphicFramePr>
          <p:cNvPr id="5" name="Google Shape;288;p24">
            <a:extLst>
              <a:ext uri="{FF2B5EF4-FFF2-40B4-BE49-F238E27FC236}">
                <a16:creationId xmlns:a16="http://schemas.microsoft.com/office/drawing/2014/main" id="{604CC519-9D94-441E-EC2B-D8DA999565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4856049"/>
              </p:ext>
            </p:extLst>
          </p:nvPr>
        </p:nvGraphicFramePr>
        <p:xfrm>
          <a:off x="571500" y="1999312"/>
          <a:ext cx="10722142" cy="3361665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2299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469">
                  <a:extLst>
                    <a:ext uri="{9D8B030D-6E8A-4147-A177-3AD203B41FA5}">
                      <a16:colId xmlns:a16="http://schemas.microsoft.com/office/drawing/2014/main" val="1672645720"/>
                    </a:ext>
                  </a:extLst>
                </a:gridCol>
                <a:gridCol w="2807469">
                  <a:extLst>
                    <a:ext uri="{9D8B030D-6E8A-4147-A177-3AD203B41FA5}">
                      <a16:colId xmlns:a16="http://schemas.microsoft.com/office/drawing/2014/main" val="198529925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比較項目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AdaBoost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Gradient Boosting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XGBoost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核心機制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逐輪提高被分錯樣本的權重，串聯弱學習器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沿損失函數梯度逐步擬合前一輪殘差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以 GBM 為基礎，做多項工程強化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防過擬合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弱學習器(淺樹)串聯逐步補強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以學習率縮小每步更新幅度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L1/L2 正規化 + 學習率 0.1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運算效率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序列訓練、較慢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序列訓練、較慢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二階梯度近似 + 平行運算，最快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對離群值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較敏感（會加大其權重）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相對穩健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相對穩健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本研究 SPY 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3398.31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2821.29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2797.95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550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BB67074C-D8AA-5BF5-D0A6-C9E9046CA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700A459B-CEBF-25F5-B3B6-C7A7BB76783E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樹模型：四種集成模型核心程式碼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EC656C5F-D67B-70B4-662E-C1DD4D0988FB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18B66522-C661-2965-7425-D24F26F0D64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F8F9C82D-E68C-9B7A-49EC-EDA8724158EE}"/>
              </a:ext>
            </a:extLst>
          </p:cNvPr>
          <p:cNvSpPr txBox="1"/>
          <p:nvPr/>
        </p:nvSpPr>
        <p:spPr>
          <a:xfrm>
            <a:off x="282295" y="5400343"/>
            <a:ext cx="188991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18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6BAEDED2-9812-7DEE-DDF1-F936D4795FE0}"/>
              </a:ext>
            </a:extLst>
          </p:cNvPr>
          <p:cNvSpPr txBox="1"/>
          <p:nvPr/>
        </p:nvSpPr>
        <p:spPr>
          <a:xfrm>
            <a:off x="1069808" y="5822984"/>
            <a:ext cx="1005238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en-US" altLang="zh-TW" sz="1600" dirty="0"/>
              <a:t>RF / AdaBoost / GBM </a:t>
            </a:r>
            <a:r>
              <a:rPr lang="zh-TW" altLang="en-US" sz="1600" dirty="0"/>
              <a:t>來自 </a:t>
            </a:r>
            <a:r>
              <a:rPr lang="en-US" altLang="zh-TW" sz="1600" dirty="0" err="1"/>
              <a:t>sklearn.ensemble</a:t>
            </a:r>
            <a:r>
              <a:rPr lang="zh-TW" altLang="en-US" sz="1600" dirty="0"/>
              <a:t>，</a:t>
            </a:r>
            <a:r>
              <a:rPr lang="en-US" altLang="zh-TW" sz="1600" dirty="0" err="1"/>
              <a:t>XGBoost</a:t>
            </a:r>
            <a:r>
              <a:rPr lang="en-US" altLang="zh-TW" sz="1600" dirty="0"/>
              <a:t> </a:t>
            </a:r>
            <a:r>
              <a:rPr lang="zh-TW" altLang="en-US" sz="1600" dirty="0"/>
              <a:t>來自 </a:t>
            </a:r>
            <a:r>
              <a:rPr lang="en-US" altLang="zh-TW" sz="1600" dirty="0" err="1"/>
              <a:t>xgboost</a:t>
            </a:r>
            <a:r>
              <a:rPr lang="en-US" altLang="zh-TW" sz="1600" dirty="0"/>
              <a:t> </a:t>
            </a:r>
            <a:r>
              <a:rPr lang="zh-TW" altLang="en-US" sz="1600" dirty="0"/>
              <a:t>套件。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zh-TW" altLang="en-US" sz="1600" dirty="0"/>
              <a:t>四個模型皆以 </a:t>
            </a:r>
            <a:r>
              <a:rPr lang="en-US" altLang="zh-TW" sz="1600" dirty="0" err="1"/>
              <a:t>TimeSeriesSplit</a:t>
            </a:r>
            <a:r>
              <a:rPr lang="zh-TW" altLang="en-US" sz="1600" dirty="0"/>
              <a:t>（時序交叉驗證）評估，</a:t>
            </a:r>
            <a:r>
              <a:rPr lang="zh-TW" altLang="en-US" sz="1600" dirty="0">
                <a:solidFill>
                  <a:schemeClr val="tx1"/>
                </a:solidFill>
              </a:rPr>
              <a:t>依時間切分、訓練集永遠早於驗證集，避免用未來資料預測過去（資料洩漏）。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598089C-F9E2-87F8-F4CB-A3F79B9BF0BE}"/>
              </a:ext>
            </a:extLst>
          </p:cNvPr>
          <p:cNvSpPr txBox="1"/>
          <p:nvPr/>
        </p:nvSpPr>
        <p:spPr>
          <a:xfrm>
            <a:off x="647699" y="1495485"/>
            <a:ext cx="8063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 err="1"/>
              <a:t>sklearn.ensemble</a:t>
            </a:r>
            <a:r>
              <a:rPr lang="en-US" altLang="zh-TW" sz="1600" dirty="0"/>
              <a:t> + </a:t>
            </a:r>
            <a:r>
              <a:rPr lang="en-US" altLang="zh-TW" sz="1600" dirty="0" err="1"/>
              <a:t>xgboost</a:t>
            </a:r>
            <a:r>
              <a:rPr lang="zh-TW" altLang="en-US" sz="1600" dirty="0"/>
              <a:t>，</a:t>
            </a:r>
            <a:r>
              <a:rPr lang="en-US" altLang="zh-TW" sz="1600" dirty="0" err="1"/>
              <a:t>TimeSeriesSplit</a:t>
            </a:r>
            <a:r>
              <a:rPr lang="en-US" altLang="zh-TW" sz="1600" dirty="0"/>
              <a:t> </a:t>
            </a:r>
            <a:r>
              <a:rPr lang="zh-TW" altLang="en-US" sz="1600" dirty="0"/>
              <a:t>驗證（</a:t>
            </a:r>
            <a:r>
              <a:rPr lang="en-US" altLang="zh-TW" sz="1600" dirty="0"/>
              <a:t>run_regression.py</a:t>
            </a:r>
            <a:r>
              <a:rPr lang="zh-TW" altLang="en-US" sz="1600" dirty="0"/>
              <a:t>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36C2329-EB80-684A-8A14-FB6DB2E55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67" y="3739031"/>
            <a:ext cx="10264725" cy="14152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2806C22-B56D-46E7-710F-CB8D17E05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67" y="2184902"/>
            <a:ext cx="10264725" cy="118280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CB6A95A-7BF5-7BA8-DAC0-18DD31CBF24C}"/>
              </a:ext>
            </a:extLst>
          </p:cNvPr>
          <p:cNvSpPr/>
          <p:nvPr/>
        </p:nvSpPr>
        <p:spPr>
          <a:xfrm>
            <a:off x="2005263" y="2184902"/>
            <a:ext cx="1684421" cy="17700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FF330-D1B4-6101-6B37-2AFAB125A231}"/>
              </a:ext>
            </a:extLst>
          </p:cNvPr>
          <p:cNvSpPr/>
          <p:nvPr/>
        </p:nvSpPr>
        <p:spPr>
          <a:xfrm>
            <a:off x="2005263" y="2981825"/>
            <a:ext cx="721896" cy="17700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09C41B-8B22-8D54-748F-992A980DA381}"/>
              </a:ext>
            </a:extLst>
          </p:cNvPr>
          <p:cNvSpPr/>
          <p:nvPr/>
        </p:nvSpPr>
        <p:spPr>
          <a:xfrm>
            <a:off x="6729664" y="4114258"/>
            <a:ext cx="1211178" cy="170469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B44370-87DD-9B03-DBCB-1FB6209638E0}"/>
              </a:ext>
            </a:extLst>
          </p:cNvPr>
          <p:cNvSpPr/>
          <p:nvPr/>
        </p:nvSpPr>
        <p:spPr>
          <a:xfrm>
            <a:off x="7122696" y="4324832"/>
            <a:ext cx="1459830" cy="170469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B48A443-7476-6545-83D0-48E9102FAC97}"/>
              </a:ext>
            </a:extLst>
          </p:cNvPr>
          <p:cNvSpPr txBox="1"/>
          <p:nvPr/>
        </p:nvSpPr>
        <p:spPr>
          <a:xfrm>
            <a:off x="7852611" y="120316"/>
            <a:ext cx="3872163" cy="1708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1500" b="1" dirty="0">
                <a:solidFill>
                  <a:schemeClr val="bg2">
                    <a:lumMod val="75000"/>
                  </a:schemeClr>
                </a:solidFill>
              </a:rPr>
              <a:t>參數說明</a:t>
            </a:r>
            <a:endParaRPr lang="en-US" altLang="zh-TW" sz="15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altLang="zh-TW" sz="1500" b="0" dirty="0" err="1">
                <a:solidFill>
                  <a:srgbClr val="404040"/>
                </a:solidFill>
              </a:rPr>
              <a:t>sklearn.ensemble</a:t>
            </a:r>
            <a:r>
              <a:rPr lang="zh-TW" altLang="en-US" sz="1500" b="0" dirty="0">
                <a:solidFill>
                  <a:srgbClr val="404040"/>
                </a:solidFill>
              </a:rPr>
              <a:t>：集成模型模組，隨機森林以多棵決策樹平均、抑制過擬合。</a:t>
            </a:r>
            <a:endParaRPr lang="en-US" altLang="zh-TW" sz="1500" b="0" dirty="0">
              <a:solidFill>
                <a:srgbClr val="404040"/>
              </a:solidFill>
            </a:endParaRPr>
          </a:p>
          <a:p>
            <a:r>
              <a:rPr lang="en-US" altLang="zh-TW" sz="1500" b="0" dirty="0" err="1">
                <a:solidFill>
                  <a:srgbClr val="404040"/>
                </a:solidFill>
              </a:rPr>
              <a:t>n_estimators</a:t>
            </a:r>
            <a:r>
              <a:rPr lang="en-US" altLang="zh-TW" sz="1500" b="0" dirty="0">
                <a:solidFill>
                  <a:srgbClr val="404040"/>
                </a:solidFill>
              </a:rPr>
              <a:t>=100 </a:t>
            </a:r>
            <a:r>
              <a:rPr lang="zh-TW" altLang="en-US" sz="1500" b="0" dirty="0">
                <a:solidFill>
                  <a:srgbClr val="404040"/>
                </a:solidFill>
              </a:rPr>
              <a:t>樹的數量</a:t>
            </a:r>
            <a:endParaRPr lang="en-US" altLang="zh-TW" sz="1500" b="0" dirty="0">
              <a:solidFill>
                <a:srgbClr val="404040"/>
              </a:solidFill>
            </a:endParaRPr>
          </a:p>
          <a:p>
            <a:r>
              <a:rPr lang="zh-TW" altLang="en-US" sz="1500" b="0" dirty="0">
                <a:solidFill>
                  <a:srgbClr val="404040"/>
                </a:solidFill>
              </a:rPr>
              <a:t>｜</a:t>
            </a:r>
            <a:r>
              <a:rPr lang="en-US" altLang="zh-TW" sz="1500" b="0" dirty="0" err="1">
                <a:solidFill>
                  <a:srgbClr val="404040"/>
                </a:solidFill>
              </a:rPr>
              <a:t>max_depth</a:t>
            </a:r>
            <a:r>
              <a:rPr lang="en-US" altLang="zh-TW" sz="1500" b="0" dirty="0">
                <a:solidFill>
                  <a:srgbClr val="404040"/>
                </a:solidFill>
              </a:rPr>
              <a:t> </a:t>
            </a:r>
            <a:r>
              <a:rPr lang="zh-TW" altLang="en-US" sz="1500" b="0" dirty="0">
                <a:solidFill>
                  <a:srgbClr val="404040"/>
                </a:solidFill>
              </a:rPr>
              <a:t>樹深</a:t>
            </a:r>
            <a:r>
              <a:rPr lang="en-US" altLang="zh-TW" sz="1500" b="0" dirty="0">
                <a:solidFill>
                  <a:srgbClr val="404040"/>
                </a:solidFill>
              </a:rPr>
              <a:t>(RF 10</a:t>
            </a:r>
            <a:r>
              <a:rPr lang="zh-TW" altLang="en-US" sz="1500" b="0" dirty="0">
                <a:solidFill>
                  <a:srgbClr val="404040"/>
                </a:solidFill>
              </a:rPr>
              <a:t>／</a:t>
            </a:r>
            <a:r>
              <a:rPr lang="en-US" altLang="zh-TW" sz="1500" b="0" dirty="0">
                <a:solidFill>
                  <a:srgbClr val="404040"/>
                </a:solidFill>
              </a:rPr>
              <a:t>XGB·GBM 4)</a:t>
            </a:r>
            <a:r>
              <a:rPr lang="zh-TW" altLang="en-US" sz="1500" b="0" dirty="0">
                <a:solidFill>
                  <a:srgbClr val="404040"/>
                </a:solidFill>
              </a:rPr>
              <a:t>｜</a:t>
            </a:r>
            <a:endParaRPr lang="en-US" altLang="zh-TW" sz="1500" b="0" dirty="0">
              <a:solidFill>
                <a:srgbClr val="404040"/>
              </a:solidFill>
            </a:endParaRPr>
          </a:p>
          <a:p>
            <a:r>
              <a:rPr lang="en-US" altLang="zh-TW" sz="1500" b="0" dirty="0" err="1">
                <a:solidFill>
                  <a:srgbClr val="404040"/>
                </a:solidFill>
              </a:rPr>
              <a:t>learning_rate</a:t>
            </a:r>
            <a:r>
              <a:rPr lang="en-US" altLang="zh-TW" sz="1500" b="0" dirty="0">
                <a:solidFill>
                  <a:srgbClr val="404040"/>
                </a:solidFill>
              </a:rPr>
              <a:t>=0.1 </a:t>
            </a:r>
            <a:r>
              <a:rPr lang="zh-TW" altLang="en-US" sz="1500" b="0" dirty="0">
                <a:solidFill>
                  <a:srgbClr val="404040"/>
                </a:solidFill>
              </a:rPr>
              <a:t>步長縮減防過擬合｜</a:t>
            </a:r>
            <a:r>
              <a:rPr lang="en-US" altLang="zh-TW" sz="1500" b="0" dirty="0" err="1">
                <a:solidFill>
                  <a:srgbClr val="404040"/>
                </a:solidFill>
              </a:rPr>
              <a:t>random_state</a:t>
            </a:r>
            <a:r>
              <a:rPr lang="en-US" altLang="zh-TW" sz="1500" b="0" dirty="0">
                <a:solidFill>
                  <a:srgbClr val="404040"/>
                </a:solidFill>
              </a:rPr>
              <a:t>=42 </a:t>
            </a:r>
            <a:r>
              <a:rPr lang="zh-TW" altLang="en-US" sz="1500" b="0" dirty="0">
                <a:solidFill>
                  <a:srgbClr val="404040"/>
                </a:solidFill>
              </a:rPr>
              <a:t>固定種子可重現</a:t>
            </a:r>
            <a:endParaRPr lang="en-US" altLang="zh-TW" sz="1500" b="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778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70E3209B-3DA7-FC13-85AB-253E808F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>
            <a:extLst>
              <a:ext uri="{FF2B5EF4-FFF2-40B4-BE49-F238E27FC236}">
                <a16:creationId xmlns:a16="http://schemas.microsoft.com/office/drawing/2014/main" id="{45FC5A74-C0C0-1B36-D344-D71ADB17479F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循環神經網路（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Recurrent Neural Network, RNN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）</a:t>
            </a:r>
            <a:endParaRPr dirty="0"/>
          </a:p>
        </p:txBody>
      </p:sp>
      <p:sp>
        <p:nvSpPr>
          <p:cNvPr id="235" name="Google Shape;235;p21">
            <a:extLst>
              <a:ext uri="{FF2B5EF4-FFF2-40B4-BE49-F238E27FC236}">
                <a16:creationId xmlns:a16="http://schemas.microsoft.com/office/drawing/2014/main" id="{55EA61FE-6E21-7D3C-CA87-F356838A189A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E77E59F-CD7C-AF7C-D7F7-AE14923BEC9B}"/>
              </a:ext>
            </a:extLst>
          </p:cNvPr>
          <p:cNvSpPr txBox="1"/>
          <p:nvPr/>
        </p:nvSpPr>
        <p:spPr>
          <a:xfrm>
            <a:off x="647700" y="1633484"/>
            <a:ext cx="8432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處理序列資料的深度學習模型，是 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LSTM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的前身</a:t>
            </a:r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C68A8ED9-AD55-8E91-D8DC-0095EEC1E34C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2485686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CA7511A7-4783-7EBA-1E81-D9A84300B166}"/>
              </a:ext>
            </a:extLst>
          </p:cNvPr>
          <p:cNvSpPr txBox="1"/>
          <p:nvPr/>
        </p:nvSpPr>
        <p:spPr>
          <a:xfrm>
            <a:off x="540483" y="260831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RNN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2A7E6B47-6C16-71FF-0BC0-D654F580A118}"/>
              </a:ext>
            </a:extLst>
          </p:cNvPr>
          <p:cNvSpPr txBox="1"/>
          <p:nvPr/>
        </p:nvSpPr>
        <p:spPr>
          <a:xfrm>
            <a:off x="737643" y="296169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專門處理序列資料</a:t>
            </a:r>
            <a:r>
              <a:rPr lang="en-US" altLang="zh-TW" dirty="0"/>
              <a:t>(Sequential Data)</a:t>
            </a:r>
            <a:r>
              <a:rPr lang="zh-TW" altLang="en-US" dirty="0"/>
              <a:t>的深度學習模型。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19964A24-03E9-DEEA-3293-F21A352E68F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3406428"/>
            <a:ext cx="6063915" cy="101611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DA3C7DEA-37C0-C573-160B-64EF4712EEC3}"/>
              </a:ext>
            </a:extLst>
          </p:cNvPr>
          <p:cNvSpPr txBox="1"/>
          <p:nvPr/>
        </p:nvSpPr>
        <p:spPr>
          <a:xfrm>
            <a:off x="540483" y="352906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循環連結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= 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記憶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241A2874-84EA-F71E-8606-6500C3A8DF9B}"/>
              </a:ext>
            </a:extLst>
          </p:cNvPr>
          <p:cNvSpPr txBox="1"/>
          <p:nvPr/>
        </p:nvSpPr>
        <p:spPr>
          <a:xfrm>
            <a:off x="737642" y="3882432"/>
            <a:ext cx="55798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神經元之間存在「循環連結」，能保留過去資訊的「記憶」，這是與前饋神經網路最大的不同。</a:t>
            </a:r>
            <a:endParaRPr dirty="0"/>
          </a:p>
        </p:txBody>
      </p:sp>
      <p:pic>
        <p:nvPicPr>
          <p:cNvPr id="21" name="Google Shape;207;p20" descr="image.png">
            <a:extLst>
              <a:ext uri="{FF2B5EF4-FFF2-40B4-BE49-F238E27FC236}">
                <a16:creationId xmlns:a16="http://schemas.microsoft.com/office/drawing/2014/main" id="{44C6E8CE-C866-9BB7-77F4-1EC6D545320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4529204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13;p20">
            <a:extLst>
              <a:ext uri="{FF2B5EF4-FFF2-40B4-BE49-F238E27FC236}">
                <a16:creationId xmlns:a16="http://schemas.microsoft.com/office/drawing/2014/main" id="{1C3B3FED-FA0D-67B8-0FFB-3AA3EB71F1A0}"/>
              </a:ext>
            </a:extLst>
          </p:cNvPr>
          <p:cNvSpPr txBox="1"/>
          <p:nvPr/>
        </p:nvSpPr>
        <p:spPr>
          <a:xfrm>
            <a:off x="540483" y="4651837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1800" b="1">
                <a:solidFill>
                  <a:srgbClr val="002147"/>
                </a:solidFill>
                <a:latin typeface="+mj-lt"/>
                <a:ea typeface="DM Sans"/>
                <a:cs typeface="DM Sans"/>
              </a:defRPr>
            </a:lvl1pPr>
          </a:lstStyle>
          <a:p>
            <a:r>
              <a:rPr lang="zh-TW" altLang="en-US" dirty="0"/>
              <a:t>訓練方式</a:t>
            </a:r>
            <a:endParaRPr dirty="0"/>
          </a:p>
        </p:txBody>
      </p:sp>
      <p:sp>
        <p:nvSpPr>
          <p:cNvPr id="23" name="Google Shape;214;p20">
            <a:extLst>
              <a:ext uri="{FF2B5EF4-FFF2-40B4-BE49-F238E27FC236}">
                <a16:creationId xmlns:a16="http://schemas.microsoft.com/office/drawing/2014/main" id="{C2804BD9-3746-7389-2FE5-64413FB84FC1}"/>
              </a:ext>
            </a:extLst>
          </p:cNvPr>
          <p:cNvSpPr txBox="1"/>
          <p:nvPr/>
        </p:nvSpPr>
        <p:spPr>
          <a:xfrm>
            <a:off x="737643" y="5005208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透過時間的反向傳播 </a:t>
            </a:r>
            <a:r>
              <a:rPr lang="en-US" altLang="zh-TW" dirty="0"/>
              <a:t>Backpropagation Through Time (BPTT)</a:t>
            </a:r>
            <a:r>
              <a:rPr lang="zh-TW" altLang="en-US" dirty="0"/>
              <a:t>。</a:t>
            </a:r>
            <a:endParaRPr dirty="0"/>
          </a:p>
        </p:txBody>
      </p:sp>
      <p:pic>
        <p:nvPicPr>
          <p:cNvPr id="24" name="Google Shape;207;p20" descr="image.png">
            <a:extLst>
              <a:ext uri="{FF2B5EF4-FFF2-40B4-BE49-F238E27FC236}">
                <a16:creationId xmlns:a16="http://schemas.microsoft.com/office/drawing/2014/main" id="{AE0F85A1-F440-9A6A-8FBF-B34C70BD9351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5462646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13;p20">
            <a:extLst>
              <a:ext uri="{FF2B5EF4-FFF2-40B4-BE49-F238E27FC236}">
                <a16:creationId xmlns:a16="http://schemas.microsoft.com/office/drawing/2014/main" id="{2BD76BFF-0FE2-05B9-F657-42CE796EE373}"/>
              </a:ext>
            </a:extLst>
          </p:cNvPr>
          <p:cNvSpPr txBox="1"/>
          <p:nvPr/>
        </p:nvSpPr>
        <p:spPr>
          <a:xfrm>
            <a:off x="540483" y="558527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長期依賴問題</a:t>
            </a:r>
            <a:endParaRPr sz="1800" dirty="0">
              <a:latin typeface="+mj-lt"/>
            </a:endParaRPr>
          </a:p>
        </p:txBody>
      </p:sp>
      <p:sp>
        <p:nvSpPr>
          <p:cNvPr id="26" name="Google Shape;214;p20">
            <a:extLst>
              <a:ext uri="{FF2B5EF4-FFF2-40B4-BE49-F238E27FC236}">
                <a16:creationId xmlns:a16="http://schemas.microsoft.com/office/drawing/2014/main" id="{370524C5-274A-17DF-2050-7F1706BCEFB9}"/>
              </a:ext>
            </a:extLst>
          </p:cNvPr>
          <p:cNvSpPr txBox="1"/>
          <p:nvPr/>
        </p:nvSpPr>
        <p:spPr>
          <a:xfrm>
            <a:off x="737643" y="593865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標準 </a:t>
            </a:r>
            <a:r>
              <a:rPr lang="en-US" altLang="zh-TW" dirty="0"/>
              <a:t>RNN </a:t>
            </a:r>
            <a:r>
              <a:rPr lang="zh-TW" altLang="en-US" dirty="0"/>
              <a:t>難以記住長期資訊</a:t>
            </a:r>
            <a:r>
              <a:rPr lang="en-US" altLang="zh-TW" dirty="0"/>
              <a:t>(</a:t>
            </a:r>
            <a:r>
              <a:rPr lang="zh-TW" altLang="en-US" dirty="0"/>
              <a:t>梯度消失</a:t>
            </a:r>
            <a:r>
              <a:rPr lang="en-US" altLang="zh-TW" dirty="0"/>
              <a:t>) → </a:t>
            </a:r>
            <a:r>
              <a:rPr lang="zh-TW" altLang="en-US" dirty="0"/>
              <a:t>因此發展出 </a:t>
            </a:r>
            <a:r>
              <a:rPr lang="en-US" altLang="zh-TW" dirty="0"/>
              <a:t>LSTM</a:t>
            </a:r>
            <a:r>
              <a:rPr lang="zh-TW" altLang="en-US" dirty="0"/>
              <a:t>、</a:t>
            </a:r>
            <a:r>
              <a:rPr lang="en-US" altLang="zh-TW" dirty="0"/>
              <a:t>GRU</a:t>
            </a:r>
            <a:r>
              <a:rPr lang="zh-TW" altLang="en-US" dirty="0"/>
              <a:t>。</a:t>
            </a:r>
            <a:endParaRPr dirty="0"/>
          </a:p>
        </p:txBody>
      </p:sp>
      <p:pic>
        <p:nvPicPr>
          <p:cNvPr id="27" name="Google Shape;207;p20" descr="image.png">
            <a:extLst>
              <a:ext uri="{FF2B5EF4-FFF2-40B4-BE49-F238E27FC236}">
                <a16:creationId xmlns:a16="http://schemas.microsoft.com/office/drawing/2014/main" id="{B07F20A7-E3AA-B796-17F4-987E5E61A6A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721642" y="4934901"/>
            <a:ext cx="4716379" cy="141587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A81EA22F-AF41-D3BB-72FA-79083552CC3C}"/>
              </a:ext>
            </a:extLst>
          </p:cNvPr>
          <p:cNvSpPr txBox="1"/>
          <p:nvPr/>
        </p:nvSpPr>
        <p:spPr>
          <a:xfrm>
            <a:off x="6721642" y="5007783"/>
            <a:ext cx="4716379" cy="125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1800" b="1" dirty="0">
                <a:solidFill>
                  <a:schemeClr val="bg2"/>
                </a:solidFill>
              </a:rPr>
              <a:t>家族演進</a:t>
            </a:r>
            <a:endParaRPr lang="en-US" altLang="zh-TW" sz="1800" b="1" dirty="0">
              <a:solidFill>
                <a:schemeClr val="bg2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TW" sz="2000" dirty="0">
                <a:solidFill>
                  <a:srgbClr val="00B0F0"/>
                </a:solidFill>
                <a:latin typeface="Amasis MT Pro Medium" panose="020F0502020204030204" pitchFamily="18" charset="0"/>
              </a:rPr>
              <a:t>RNN → LSTM → GRU</a:t>
            </a:r>
          </a:p>
          <a:p>
            <a:pPr algn="ctr"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</a:rPr>
              <a:t>逐步解決長期依賴與梯度消失問題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59E725-7266-3445-5C2D-FA16180BCD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016"/>
          <a:stretch>
            <a:fillRect/>
          </a:stretch>
        </p:blipFill>
        <p:spPr>
          <a:xfrm>
            <a:off x="6449110" y="1952359"/>
            <a:ext cx="5692269" cy="272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62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DF11792C-D066-47F3-4A1C-CB5C0433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>
            <a:extLst>
              <a:ext uri="{FF2B5EF4-FFF2-40B4-BE49-F238E27FC236}">
                <a16:creationId xmlns:a16="http://schemas.microsoft.com/office/drawing/2014/main" id="{8285B4AA-6081-30E6-6F28-6BE037292F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8140" y="2056791"/>
            <a:ext cx="6321399" cy="480120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>
            <a:extLst>
              <a:ext uri="{FF2B5EF4-FFF2-40B4-BE49-F238E27FC236}">
                <a16:creationId xmlns:a16="http://schemas.microsoft.com/office/drawing/2014/main" id="{0F3484DC-F53E-9475-3C65-B918C4FAC321}"/>
              </a:ext>
            </a:extLst>
          </p:cNvPr>
          <p:cNvSpPr txBox="1"/>
          <p:nvPr/>
        </p:nvSpPr>
        <p:spPr>
          <a:xfrm>
            <a:off x="317236" y="2205561"/>
            <a:ext cx="5340904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核心結構：細胞狀態（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Cell State）</a:t>
            </a:r>
            <a:endParaRPr lang="en-US" sz="2000" b="1" dirty="0">
              <a:latin typeface="+mn-lt"/>
              <a:sym typeface="DM San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/>
              <a:t>LSTM </a:t>
            </a:r>
            <a:r>
              <a:rPr lang="zh-TW" altLang="en-US" sz="1600" dirty="0"/>
              <a:t>的關鍵在於細胞狀態，可想像成一條貫穿所有單元的「傳送帶」，資訊在上面流動而保持不變。</a:t>
            </a:r>
            <a:r>
              <a:rPr lang="en-US" altLang="zh-TW" sz="1600" dirty="0"/>
              <a:t>LSTM </a:t>
            </a:r>
            <a:r>
              <a:rPr lang="zh-TW" altLang="en-US" sz="1600" dirty="0"/>
              <a:t>透過三個閘門精細控制這條傳送帶上的資訊增減。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遺忘閘門</a:t>
            </a:r>
            <a:r>
              <a:rPr lang="zh-TW" altLang="en-US" sz="1600" dirty="0"/>
              <a:t>（</a:t>
            </a:r>
            <a:r>
              <a:rPr lang="en-US" altLang="zh-TW" sz="1600" dirty="0"/>
              <a:t>Forget Gate</a:t>
            </a:r>
            <a:r>
              <a:rPr lang="zh-TW" altLang="en-US" sz="1600" dirty="0"/>
              <a:t>）：用 </a:t>
            </a:r>
            <a:r>
              <a:rPr lang="en-US" altLang="zh-TW" sz="1600" dirty="0"/>
              <a:t>Sigmoid </a:t>
            </a:r>
            <a:r>
              <a:rPr lang="zh-TW" altLang="en-US" sz="1600" dirty="0"/>
              <a:t>決定丟棄哪些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輸入閘門</a:t>
            </a:r>
            <a:r>
              <a:rPr lang="zh-TW" altLang="en-US" sz="1600" dirty="0"/>
              <a:t>（</a:t>
            </a:r>
            <a:r>
              <a:rPr lang="en-US" altLang="zh-TW" sz="1600" dirty="0"/>
              <a:t>Input Gate</a:t>
            </a:r>
            <a:r>
              <a:rPr lang="zh-TW" altLang="en-US" sz="1600" dirty="0"/>
              <a:t>）：決定哪些新資訊要寫入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輸出閘門</a:t>
            </a:r>
            <a:r>
              <a:rPr lang="zh-TW" altLang="en-US" sz="1600" dirty="0"/>
              <a:t>（</a:t>
            </a:r>
            <a:r>
              <a:rPr lang="en-US" altLang="zh-TW" sz="1600" dirty="0"/>
              <a:t>Output Gate</a:t>
            </a:r>
            <a:r>
              <a:rPr lang="zh-TW" altLang="en-US" sz="1600" dirty="0"/>
              <a:t>）：依細胞狀態決定輸出，成為下一時點的隱藏狀態 </a:t>
            </a:r>
            <a:r>
              <a:rPr lang="en-US" altLang="zh-TW" sz="1600" dirty="0"/>
              <a:t>hₜ</a:t>
            </a:r>
            <a:endParaRPr sz="1600" dirty="0"/>
          </a:p>
        </p:txBody>
      </p:sp>
      <p:pic>
        <p:nvPicPr>
          <p:cNvPr id="227" name="Google Shape;227;p21" descr="image.png">
            <a:extLst>
              <a:ext uri="{FF2B5EF4-FFF2-40B4-BE49-F238E27FC236}">
                <a16:creationId xmlns:a16="http://schemas.microsoft.com/office/drawing/2014/main" id="{25649714-3A1D-1D11-3970-628D91B7B3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-2104" b="37628"/>
          <a:stretch>
            <a:fillRect/>
          </a:stretch>
        </p:blipFill>
        <p:spPr>
          <a:xfrm>
            <a:off x="5934417" y="2013313"/>
            <a:ext cx="5940347" cy="259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>
            <a:extLst>
              <a:ext uri="{FF2B5EF4-FFF2-40B4-BE49-F238E27FC236}">
                <a16:creationId xmlns:a16="http://schemas.microsoft.com/office/drawing/2014/main" id="{ECF5FBA6-91F8-9084-814C-024B5BB0D23B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長短期記憶網路（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Long Short-Term Memory, LSTM）</a:t>
            </a:r>
            <a:endParaRPr dirty="0"/>
          </a:p>
        </p:txBody>
      </p:sp>
      <p:sp>
        <p:nvSpPr>
          <p:cNvPr id="235" name="Google Shape;235;p21">
            <a:extLst>
              <a:ext uri="{FF2B5EF4-FFF2-40B4-BE49-F238E27FC236}">
                <a16:creationId xmlns:a16="http://schemas.microsoft.com/office/drawing/2014/main" id="{FA2A5BD9-AAFE-4B1F-97FC-EC22BDBFD063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C53EFE5-A78C-3D30-0BF9-5A16E9438FBA}"/>
              </a:ext>
            </a:extLst>
          </p:cNvPr>
          <p:cNvSpPr txBox="1"/>
          <p:nvPr/>
        </p:nvSpPr>
        <p:spPr>
          <a:xfrm>
            <a:off x="647700" y="1633484"/>
            <a:ext cx="8432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透過細胞狀態與三個閘門，記住長期依賴、解決傳統 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RNN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的梯度消失問題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E954576-151A-8287-FA61-C56B33B4C5DC}"/>
              </a:ext>
            </a:extLst>
          </p:cNvPr>
          <p:cNvSpPr txBox="1"/>
          <p:nvPr/>
        </p:nvSpPr>
        <p:spPr>
          <a:xfrm>
            <a:off x="317236" y="5589633"/>
            <a:ext cx="5027420" cy="58477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TW" altLang="zh-TW" sz="1600" dirty="0">
                <a:solidFill>
                  <a:schemeClr val="bg2"/>
                </a:solidFill>
              </a:rPr>
              <a:t>股價為典型時間序列，LSTM 能捕捉長短期價格依賴，</a:t>
            </a:r>
            <a:endParaRPr lang="en-US" altLang="zh-TW" sz="1600" dirty="0">
              <a:solidFill>
                <a:schemeClr val="bg2"/>
              </a:solidFill>
            </a:endParaRPr>
          </a:p>
          <a:p>
            <a:r>
              <a:rPr lang="zh-TW" altLang="zh-TW" sz="1600" dirty="0">
                <a:solidFill>
                  <a:schemeClr val="bg2"/>
                </a:solidFill>
              </a:rPr>
              <a:t>且端到端學習、不需手動特徵工程。</a:t>
            </a:r>
            <a:endParaRPr lang="zh-TW" altLang="en-US" sz="1600" dirty="0">
              <a:solidFill>
                <a:schemeClr val="bg2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1457589-0E05-8A65-0293-72CA42FFC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524" y="4610100"/>
            <a:ext cx="5340904" cy="220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55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00CAD4E5-2108-78C9-8CE4-74DC8F533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5D33970-8974-323E-DD13-8E60C978BAFC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各式各樣的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LSTM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：單向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vs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雙向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3CE3B2F-43D5-4464-33BB-EA391C3F144E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DF97BB5-8EB6-BD4B-DE3D-E616BB282160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依資訊流動方向，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LSTM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可分為單向與雙向兩種</a:t>
            </a:r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69CE7B00-EDE0-DEDD-BEA1-2A0A95DF397A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18966" y="4685668"/>
            <a:ext cx="5145584" cy="167301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B4F2CE3A-702C-F985-2BFE-8BA519508C04}"/>
              </a:ext>
            </a:extLst>
          </p:cNvPr>
          <p:cNvSpPr txBox="1"/>
          <p:nvPr/>
        </p:nvSpPr>
        <p:spPr>
          <a:xfrm>
            <a:off x="647700" y="4808301"/>
            <a:ext cx="4816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單向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LSTM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8D0746E8-13D5-132F-757F-7856CE31F02F}"/>
              </a:ext>
            </a:extLst>
          </p:cNvPr>
          <p:cNvSpPr txBox="1"/>
          <p:nvPr/>
        </p:nvSpPr>
        <p:spPr>
          <a:xfrm>
            <a:off x="647700" y="5269392"/>
            <a:ext cx="48168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只用「過去」資訊預測未來，</a:t>
            </a:r>
            <a:endParaRPr lang="en-US" altLang="zh-TW" dirty="0"/>
          </a:p>
          <a:p>
            <a:pPr lvl="0"/>
            <a:r>
              <a:rPr lang="zh-TW" altLang="en-US" dirty="0"/>
              <a:t>符合真實預測情境（不偷看未來）。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r>
              <a:rPr lang="zh-TW" altLang="en-US" dirty="0"/>
              <a:t>本研究分為單層、雙層兩種。</a:t>
            </a:r>
            <a:endParaRPr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AED718B-44AB-9344-142B-DD499DD50D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22" t="17954" r="57044" b="52534"/>
          <a:stretch>
            <a:fillRect/>
          </a:stretch>
        </p:blipFill>
        <p:spPr>
          <a:xfrm>
            <a:off x="194762" y="1935866"/>
            <a:ext cx="5722726" cy="2673431"/>
          </a:xfrm>
          <a:prstGeom prst="rect">
            <a:avLst/>
          </a:prstGeom>
        </p:spPr>
      </p:pic>
      <p:pic>
        <p:nvPicPr>
          <p:cNvPr id="3" name="Google Shape;207;p20" descr="image.png">
            <a:extLst>
              <a:ext uri="{FF2B5EF4-FFF2-40B4-BE49-F238E27FC236}">
                <a16:creationId xmlns:a16="http://schemas.microsoft.com/office/drawing/2014/main" id="{69BEE738-36C0-BFD6-2ECD-D69C3F49E13A}"/>
              </a:ext>
            </a:extLst>
          </p:cNvPr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17488" y="4650592"/>
            <a:ext cx="5145584" cy="167301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3;p20">
            <a:extLst>
              <a:ext uri="{FF2B5EF4-FFF2-40B4-BE49-F238E27FC236}">
                <a16:creationId xmlns:a16="http://schemas.microsoft.com/office/drawing/2014/main" id="{CD2A99BB-9CCF-54D1-9E2A-9233AECB2C82}"/>
              </a:ext>
            </a:extLst>
          </p:cNvPr>
          <p:cNvSpPr txBox="1"/>
          <p:nvPr/>
        </p:nvSpPr>
        <p:spPr>
          <a:xfrm>
            <a:off x="6246222" y="4773225"/>
            <a:ext cx="4816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雙向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LSTM (</a:t>
            </a:r>
            <a:r>
              <a:rPr lang="en-US" altLang="zh-TW" sz="1800" b="1" i="0" u="none" strike="noStrike" cap="none" dirty="0" err="1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BiLSTM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+mj-lt"/>
            </a:endParaRPr>
          </a:p>
        </p:txBody>
      </p:sp>
      <p:sp>
        <p:nvSpPr>
          <p:cNvPr id="5" name="Google Shape;214;p20">
            <a:extLst>
              <a:ext uri="{FF2B5EF4-FFF2-40B4-BE49-F238E27FC236}">
                <a16:creationId xmlns:a16="http://schemas.microsoft.com/office/drawing/2014/main" id="{B726C9F3-4C04-743A-3E2B-F17C50797A64}"/>
              </a:ext>
            </a:extLst>
          </p:cNvPr>
          <p:cNvSpPr txBox="1"/>
          <p:nvPr/>
        </p:nvSpPr>
        <p:spPr>
          <a:xfrm>
            <a:off x="6246222" y="5269392"/>
            <a:ext cx="453407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同時讀取前後文資訊。用於預測「未來」時等於偷看未來，造成資訊洩漏</a:t>
            </a:r>
            <a:r>
              <a:rPr lang="en-US" altLang="zh-TW" dirty="0"/>
              <a:t>——</a:t>
            </a:r>
            <a:r>
              <a:rPr lang="zh-TW" altLang="en-US" dirty="0"/>
              <a:t>這正是本研究中 </a:t>
            </a:r>
            <a:r>
              <a:rPr lang="en-US" altLang="zh-TW" dirty="0" err="1"/>
              <a:t>BiLSTM</a:t>
            </a:r>
            <a:r>
              <a:rPr lang="en-US" altLang="zh-TW" dirty="0"/>
              <a:t> </a:t>
            </a:r>
            <a:r>
              <a:rPr lang="zh-TW" altLang="en-US" dirty="0"/>
              <a:t>表現最差的原因。</a:t>
            </a:r>
            <a:endParaRPr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03C81FA-0A64-7C33-76A6-DE95CA65F7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741" t="17954" r="9758" b="52534"/>
          <a:stretch>
            <a:fillRect/>
          </a:stretch>
        </p:blipFill>
        <p:spPr>
          <a:xfrm>
            <a:off x="5767266" y="1939088"/>
            <a:ext cx="5302744" cy="250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30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2EF08C6F-AEAF-5AE1-BD76-22FFC769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TensorFlow - 維基百科，自由的百科全書">
            <a:extLst>
              <a:ext uri="{FF2B5EF4-FFF2-40B4-BE49-F238E27FC236}">
                <a16:creationId xmlns:a16="http://schemas.microsoft.com/office/drawing/2014/main" id="{D4D1F5E0-934B-54A7-03ED-747B8D70F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412" y="927970"/>
            <a:ext cx="1622957" cy="1033841"/>
          </a:xfrm>
          <a:prstGeom prst="rect">
            <a:avLst/>
          </a:prstGeom>
        </p:spPr>
      </p:pic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E4A635C2-9C91-D605-A65B-60EFE86A0F2F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深度學習：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LSTM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4A80AD10-9C52-1979-57E0-FE63364DF7E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9280F5A1-BB28-BE22-D38B-85C952F07024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118A581C-7C2E-CAFD-68F5-6D405B0CE605}"/>
              </a:ext>
            </a:extLst>
          </p:cNvPr>
          <p:cNvSpPr txBox="1"/>
          <p:nvPr/>
        </p:nvSpPr>
        <p:spPr>
          <a:xfrm>
            <a:off x="98861" y="5778338"/>
            <a:ext cx="188991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18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A10AC17E-41BE-04E6-BC47-ED6EE662C4BD}"/>
              </a:ext>
            </a:extLst>
          </p:cNvPr>
          <p:cNvSpPr txBox="1"/>
          <p:nvPr/>
        </p:nvSpPr>
        <p:spPr>
          <a:xfrm>
            <a:off x="1841527" y="5819351"/>
            <a:ext cx="775967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zh-TW" altLang="zh-TW" sz="1600" dirty="0"/>
              <a:t>單層 LSTM：一層 LSTM(50) + Dense(1) 輸出數值。 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zh-TW" altLang="zh-TW" sz="1600" dirty="0"/>
              <a:t>雙層 LSTM：疊兩層 LSTM（第一層 return_sequences=True）。 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zh-TW" altLang="zh-TW" sz="1600" dirty="0"/>
              <a:t>關鍵：Dense(1) 無 sigmoid、loss='mse'，即為迴歸版本。</a:t>
            </a:r>
            <a:endParaRPr sz="1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78AFD01-DECC-44AB-11CA-9AE19764FCCC}"/>
              </a:ext>
            </a:extLst>
          </p:cNvPr>
          <p:cNvSpPr txBox="1"/>
          <p:nvPr/>
        </p:nvSpPr>
        <p:spPr>
          <a:xfrm>
            <a:off x="647700" y="149548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 err="1"/>
              <a:t>Keras</a:t>
            </a:r>
            <a:r>
              <a:rPr lang="en-US" altLang="zh-TW" sz="1600" dirty="0"/>
              <a:t> Sequential</a:t>
            </a:r>
            <a:r>
              <a:rPr lang="zh-TW" altLang="en-US" sz="1600" dirty="0"/>
              <a:t>，</a:t>
            </a:r>
            <a:r>
              <a:rPr lang="en-US" altLang="zh-TW" sz="1600" dirty="0"/>
              <a:t>Dense(1)+</a:t>
            </a:r>
            <a:r>
              <a:rPr lang="en-US" altLang="zh-TW" sz="1600" dirty="0" err="1"/>
              <a:t>mse</a:t>
            </a:r>
            <a:r>
              <a:rPr lang="en-US" altLang="zh-TW" sz="1600" dirty="0"/>
              <a:t> </a:t>
            </a:r>
            <a:r>
              <a:rPr lang="zh-TW" altLang="en-US" sz="1600" dirty="0"/>
              <a:t>做迴歸（</a:t>
            </a:r>
            <a:r>
              <a:rPr lang="en-US" altLang="zh-TW" sz="1600" dirty="0"/>
              <a:t>models.py</a:t>
            </a:r>
            <a:r>
              <a:rPr lang="zh-TW" altLang="en-US" sz="1600" dirty="0"/>
              <a:t>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C51109F-382E-CDBF-1E63-45C5BC48C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380" y="2148357"/>
            <a:ext cx="9503532" cy="67037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4C20F97-9C1B-1784-E976-8A6BCC0AEC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688" b="52344"/>
          <a:stretch>
            <a:fillRect/>
          </a:stretch>
        </p:blipFill>
        <p:spPr>
          <a:xfrm>
            <a:off x="1237000" y="2923944"/>
            <a:ext cx="9503532" cy="2719573"/>
          </a:xfrm>
          <a:prstGeom prst="rect">
            <a:avLst/>
          </a:prstGeom>
        </p:spPr>
      </p:pic>
      <p:pic>
        <p:nvPicPr>
          <p:cNvPr id="9" name="圖片 8" descr="主页- Keras 中文文档">
            <a:extLst>
              <a:ext uri="{FF2B5EF4-FFF2-40B4-BE49-F238E27FC236}">
                <a16:creationId xmlns:a16="http://schemas.microsoft.com/office/drawing/2014/main" id="{2D4142AD-25A4-99B3-BE2C-5B82E72C9E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9412" y="326959"/>
            <a:ext cx="1419309" cy="41183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8EB72A38-5954-DAF9-0D38-57E55655FA09}"/>
              </a:ext>
            </a:extLst>
          </p:cNvPr>
          <p:cNvSpPr txBox="1"/>
          <p:nvPr/>
        </p:nvSpPr>
        <p:spPr>
          <a:xfrm>
            <a:off x="7539144" y="120316"/>
            <a:ext cx="4261534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1500" b="1" dirty="0">
                <a:solidFill>
                  <a:schemeClr val="bg2">
                    <a:lumMod val="75000"/>
                  </a:schemeClr>
                </a:solidFill>
              </a:rPr>
              <a:t>參數說明</a:t>
            </a:r>
            <a:endParaRPr lang="en-US" altLang="zh-TW" sz="15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TW" altLang="zh-TW" sz="1500" b="1" dirty="0"/>
              <a:t>LSTM(50)</a:t>
            </a:r>
            <a:r>
              <a:rPr lang="zh-TW" altLang="zh-TW" sz="1500" dirty="0"/>
              <a:t>：50 個神經元（隱藏狀態維度）。</a:t>
            </a:r>
            <a:br>
              <a:rPr lang="zh-TW" altLang="zh-TW" sz="1500" dirty="0"/>
            </a:br>
            <a:r>
              <a:rPr lang="zh-TW" altLang="zh-TW" sz="1500" b="1" dirty="0"/>
              <a:t>return_sequences=True</a:t>
            </a:r>
            <a:r>
              <a:rPr lang="zh-TW" altLang="zh-TW" sz="1500" dirty="0"/>
              <a:t>：回傳每個時間步輸出，供下一層 LSTM 使用（疊雙層時第一層需設）。</a:t>
            </a:r>
            <a:br>
              <a:rPr lang="zh-TW" altLang="zh-TW" sz="1500" dirty="0"/>
            </a:br>
            <a:r>
              <a:rPr lang="zh-TW" altLang="zh-TW" sz="1500" b="1" dirty="0"/>
              <a:t>Dense(1)</a:t>
            </a:r>
            <a:r>
              <a:rPr lang="zh-TW" altLang="zh-TW" sz="1500" dirty="0"/>
              <a:t>：輸出 1 個數值（次日收盤價）。</a:t>
            </a:r>
            <a:br>
              <a:rPr lang="zh-TW" altLang="zh-TW" sz="1500" dirty="0"/>
            </a:br>
            <a:r>
              <a:rPr lang="zh-TW" altLang="zh-TW" sz="1500" b="1" dirty="0"/>
              <a:t>optimizer='adam'</a:t>
            </a:r>
            <a:r>
              <a:rPr lang="zh-TW" altLang="zh-TW" sz="1500" dirty="0"/>
              <a:t>：Adam 最佳化器，收斂穩定。</a:t>
            </a:r>
            <a:br>
              <a:rPr lang="zh-TW" altLang="zh-TW" sz="1500" dirty="0"/>
            </a:br>
            <a:r>
              <a:rPr lang="zh-TW" altLang="zh-TW" sz="1500" b="1" dirty="0"/>
              <a:t>loss='mse'</a:t>
            </a:r>
            <a:r>
              <a:rPr lang="zh-TW" altLang="zh-TW" sz="1500" dirty="0"/>
              <a:t>：均方誤差；</a:t>
            </a:r>
            <a:endParaRPr lang="en-US" altLang="zh-TW" sz="1500" dirty="0"/>
          </a:p>
          <a:p>
            <a:r>
              <a:rPr lang="zh-TW" altLang="zh-TW" sz="1500" dirty="0"/>
              <a:t>用 mse＋無 sigmoid＝迴歸版本。</a:t>
            </a:r>
            <a:endParaRPr lang="en-US" altLang="zh-TW" sz="1500" b="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284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27370271-6DF3-3642-05D0-1896C693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06D70C9F-714D-0222-C12F-8A4980FB4AB6}"/>
              </a:ext>
            </a:extLst>
          </p:cNvPr>
          <p:cNvSpPr txBox="1"/>
          <p:nvPr/>
        </p:nvSpPr>
        <p:spPr>
          <a:xfrm>
            <a:off x="832434" y="835493"/>
            <a:ext cx="940242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深度學習：雙向 </a:t>
            </a:r>
            <a:r>
              <a:rPr lang="en-US" altLang="zh-TW" sz="3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LSTM (</a:t>
            </a:r>
            <a:r>
              <a:rPr lang="en-US" altLang="zh-TW" sz="3300" b="1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BiLSTM</a:t>
            </a:r>
            <a:r>
              <a:rPr lang="en-US" altLang="zh-TW" sz="3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) </a:t>
            </a:r>
            <a:r>
              <a:rPr lang="zh-TW" altLang="en-US" sz="3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DD9AEA12-C36E-55DD-9093-BDCE420AFA6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F1215932-1CB7-FEFE-53DC-AB4641C19DF0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682ECDFE-B3D1-3F20-A8EF-2BDBFE56AE41}"/>
              </a:ext>
            </a:extLst>
          </p:cNvPr>
          <p:cNvSpPr txBox="1"/>
          <p:nvPr/>
        </p:nvSpPr>
        <p:spPr>
          <a:xfrm>
            <a:off x="676822" y="5653750"/>
            <a:ext cx="9759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18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A3C806A2-4620-4DB3-6509-7E218538657B}"/>
              </a:ext>
            </a:extLst>
          </p:cNvPr>
          <p:cNvSpPr txBox="1"/>
          <p:nvPr/>
        </p:nvSpPr>
        <p:spPr>
          <a:xfrm>
            <a:off x="1822177" y="5792250"/>
            <a:ext cx="984304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en-US" altLang="zh-TW" sz="1600" dirty="0"/>
              <a:t>Bidirectional</a:t>
            </a:r>
            <a:r>
              <a:rPr lang="zh-TW" altLang="en-US" sz="1600" dirty="0"/>
              <a:t>：同時正向＋反向讀序列再合併，擷取更完整前後文。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zh-TW" altLang="en-US" sz="1600" dirty="0"/>
              <a:t>單層＝</a:t>
            </a:r>
            <a:r>
              <a:rPr lang="en-US" altLang="zh-TW" sz="1600" dirty="0"/>
              <a:t>Bidirectional(LSTM(50))</a:t>
            </a:r>
            <a:r>
              <a:rPr lang="zh-TW" altLang="en-US" sz="1600" dirty="0"/>
              <a:t>；雙層＝第一層 </a:t>
            </a:r>
            <a:r>
              <a:rPr lang="en-US" altLang="zh-TW" sz="1600" dirty="0" err="1"/>
              <a:t>return_sequences</a:t>
            </a:r>
            <a:r>
              <a:rPr lang="en-US" altLang="zh-TW" sz="1600" dirty="0"/>
              <a:t>=True</a:t>
            </a:r>
            <a:r>
              <a:rPr lang="zh-TW" altLang="en-US" sz="1600" dirty="0"/>
              <a:t>。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en-US" altLang="zh-TW" sz="1600" dirty="0" err="1"/>
              <a:t>adam</a:t>
            </a:r>
            <a:r>
              <a:rPr lang="zh-TW" altLang="en-US" sz="1600" dirty="0"/>
              <a:t>／</a:t>
            </a:r>
            <a:r>
              <a:rPr lang="en-US" altLang="zh-TW" sz="1600" dirty="0" err="1"/>
              <a:t>mse</a:t>
            </a:r>
            <a:r>
              <a:rPr lang="zh-TW" altLang="en-US" sz="1600" dirty="0"/>
              <a:t>／</a:t>
            </a:r>
            <a:r>
              <a:rPr lang="en-US" altLang="zh-TW" sz="1600" dirty="0"/>
              <a:t>Dense(1) </a:t>
            </a:r>
            <a:r>
              <a:rPr lang="zh-TW" altLang="en-US" sz="1600" dirty="0"/>
              <a:t>無 </a:t>
            </a:r>
            <a:r>
              <a:rPr lang="en-US" altLang="zh-TW" sz="1600" dirty="0"/>
              <a:t>sigmoid</a:t>
            </a:r>
            <a:r>
              <a:rPr lang="zh-TW" altLang="en-US" sz="1600" dirty="0"/>
              <a:t>＝迴歸版本。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CD5199-DA2D-932E-4D4A-2B97CE3B7331}"/>
              </a:ext>
            </a:extLst>
          </p:cNvPr>
          <p:cNvSpPr txBox="1"/>
          <p:nvPr/>
        </p:nvSpPr>
        <p:spPr>
          <a:xfrm>
            <a:off x="647700" y="149548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/>
              <a:t>Keras Sequential</a:t>
            </a:r>
            <a:r>
              <a:rPr lang="zh-TW" altLang="en-US" sz="1600"/>
              <a:t>，</a:t>
            </a:r>
            <a:r>
              <a:rPr lang="en-US" altLang="zh-TW" sz="1600"/>
              <a:t>Bidirectional </a:t>
            </a:r>
            <a:r>
              <a:rPr lang="zh-TW" altLang="en-US" sz="1600"/>
              <a:t>包住 </a:t>
            </a:r>
            <a:r>
              <a:rPr lang="en-US" altLang="zh-TW" sz="1600"/>
              <a:t>LSTM </a:t>
            </a:r>
            <a:r>
              <a:rPr lang="zh-TW" altLang="en-US" sz="1600"/>
              <a:t>做迴歸（</a:t>
            </a:r>
            <a:r>
              <a:rPr lang="en-US" altLang="zh-TW" sz="1600"/>
              <a:t>models.py</a:t>
            </a:r>
            <a:r>
              <a:rPr lang="zh-TW" altLang="en-US" sz="1600"/>
              <a:t>）</a:t>
            </a:r>
            <a:endParaRPr lang="zh-TW" altLang="en-US" sz="16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A0E9AC9-3106-82A5-4933-9BF16E7CC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595" y="2090944"/>
            <a:ext cx="8545187" cy="358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613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799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316825" y="2924198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0.524</a:t>
            </a:r>
            <a:endParaRPr sz="3600" dirty="0"/>
          </a:p>
        </p:txBody>
      </p:sp>
      <p:sp>
        <p:nvSpPr>
          <p:cNvPr id="245" name="Google Shape;245;p22"/>
          <p:cNvSpPr txBox="1"/>
          <p:nvPr/>
        </p:nvSpPr>
        <p:spPr>
          <a:xfrm>
            <a:off x="571799" y="3696796"/>
            <a:ext cx="2646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F1-score</a:t>
            </a:r>
            <a:endParaRPr sz="2000" b="1" dirty="0">
              <a:solidFill>
                <a:srgbClr val="FFFF00"/>
              </a:solidFill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809624" y="919311"/>
            <a:ext cx="1017841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分類任務：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GPT-3.5-turbo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（預測次日漲跌）</a:t>
            </a:r>
            <a:endParaRPr dirty="0"/>
          </a:p>
        </p:txBody>
      </p:sp>
      <p:sp>
        <p:nvSpPr>
          <p:cNvPr id="253" name="Google Shape;253;p22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40D1018-AA21-4EEE-9D71-FD9F72C1653F}"/>
              </a:ext>
            </a:extLst>
          </p:cNvPr>
          <p:cNvSpPr txBox="1"/>
          <p:nvPr/>
        </p:nvSpPr>
        <p:spPr>
          <a:xfrm>
            <a:off x="711814" y="159439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以提示詞讓 GPT-3.5 預測「上漲 / 下跌」，SPY 共 200 筆</a:t>
            </a:r>
          </a:p>
        </p:txBody>
      </p:sp>
      <p:pic>
        <p:nvPicPr>
          <p:cNvPr id="8" name="Google Shape;241;p22" descr="image.png">
            <a:extLst>
              <a:ext uri="{FF2B5EF4-FFF2-40B4-BE49-F238E27FC236}">
                <a16:creationId xmlns:a16="http://schemas.microsoft.com/office/drawing/2014/main" id="{6D2EC6A8-5B51-9A89-A7EA-D0620855B6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3473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44;p22">
            <a:extLst>
              <a:ext uri="{FF2B5EF4-FFF2-40B4-BE49-F238E27FC236}">
                <a16:creationId xmlns:a16="http://schemas.microsoft.com/office/drawing/2014/main" id="{3175AD40-FC8F-30C2-6786-E9FF54E50345}"/>
              </a:ext>
            </a:extLst>
          </p:cNvPr>
          <p:cNvSpPr txBox="1"/>
          <p:nvPr/>
        </p:nvSpPr>
        <p:spPr>
          <a:xfrm>
            <a:off x="3218499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0.51</a:t>
            </a:r>
            <a:endParaRPr sz="3600" dirty="0"/>
          </a:p>
        </p:txBody>
      </p:sp>
      <p:sp>
        <p:nvSpPr>
          <p:cNvPr id="10" name="Google Shape;245;p22">
            <a:extLst>
              <a:ext uri="{FF2B5EF4-FFF2-40B4-BE49-F238E27FC236}">
                <a16:creationId xmlns:a16="http://schemas.microsoft.com/office/drawing/2014/main" id="{02484F4E-B9A1-AA5E-D696-99E0429ABD2D}"/>
              </a:ext>
            </a:extLst>
          </p:cNvPr>
          <p:cNvSpPr txBox="1"/>
          <p:nvPr/>
        </p:nvSpPr>
        <p:spPr>
          <a:xfrm>
            <a:off x="3473473" y="3696796"/>
            <a:ext cx="26467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準確率</a:t>
            </a:r>
            <a:endParaRPr lang="en-US" altLang="zh-TW" sz="2000" b="1" i="0" u="none" strike="noStrike" cap="none" dirty="0">
              <a:solidFill>
                <a:srgbClr val="FFFF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Accuracy</a:t>
            </a:r>
            <a:endParaRPr sz="2000" b="1" dirty="0">
              <a:solidFill>
                <a:srgbClr val="FFFF00"/>
              </a:solidFill>
            </a:endParaRPr>
          </a:p>
        </p:txBody>
      </p:sp>
      <p:pic>
        <p:nvPicPr>
          <p:cNvPr id="15" name="Google Shape;241;p22" descr="image.png">
            <a:extLst>
              <a:ext uri="{FF2B5EF4-FFF2-40B4-BE49-F238E27FC236}">
                <a16:creationId xmlns:a16="http://schemas.microsoft.com/office/drawing/2014/main" id="{138664F4-442C-9E57-7EB8-D87C690DC6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4913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44;p22">
            <a:extLst>
              <a:ext uri="{FF2B5EF4-FFF2-40B4-BE49-F238E27FC236}">
                <a16:creationId xmlns:a16="http://schemas.microsoft.com/office/drawing/2014/main" id="{CB030174-B7EB-0980-A188-183C76A215EE}"/>
              </a:ext>
            </a:extLst>
          </p:cNvPr>
          <p:cNvSpPr txBox="1"/>
          <p:nvPr/>
        </p:nvSpPr>
        <p:spPr>
          <a:xfrm>
            <a:off x="6189939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0.454</a:t>
            </a:r>
            <a:endParaRPr sz="3600" dirty="0"/>
          </a:p>
        </p:txBody>
      </p:sp>
      <p:sp>
        <p:nvSpPr>
          <p:cNvPr id="17" name="Google Shape;245;p22">
            <a:extLst>
              <a:ext uri="{FF2B5EF4-FFF2-40B4-BE49-F238E27FC236}">
                <a16:creationId xmlns:a16="http://schemas.microsoft.com/office/drawing/2014/main" id="{73D57E89-EF4B-BBEA-00B7-8BE060B6A52D}"/>
              </a:ext>
            </a:extLst>
          </p:cNvPr>
          <p:cNvSpPr txBox="1"/>
          <p:nvPr/>
        </p:nvSpPr>
        <p:spPr>
          <a:xfrm>
            <a:off x="6444913" y="3696796"/>
            <a:ext cx="26467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精確率</a:t>
            </a:r>
            <a:endParaRPr lang="en-US" altLang="zh-TW" sz="2000" b="1" i="0" u="none" strike="noStrike" cap="none" dirty="0">
              <a:solidFill>
                <a:srgbClr val="FFFF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Precision</a:t>
            </a:r>
            <a:endParaRPr sz="2000" b="1" dirty="0">
              <a:solidFill>
                <a:srgbClr val="FFFF00"/>
              </a:solidFill>
            </a:endParaRPr>
          </a:p>
        </p:txBody>
      </p:sp>
      <p:pic>
        <p:nvPicPr>
          <p:cNvPr id="18" name="Google Shape;241;p22" descr="image.png">
            <a:extLst>
              <a:ext uri="{FF2B5EF4-FFF2-40B4-BE49-F238E27FC236}">
                <a16:creationId xmlns:a16="http://schemas.microsoft.com/office/drawing/2014/main" id="{6E9FFBA6-1932-47A4-6F52-C73879F520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46587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44;p22">
            <a:extLst>
              <a:ext uri="{FF2B5EF4-FFF2-40B4-BE49-F238E27FC236}">
                <a16:creationId xmlns:a16="http://schemas.microsoft.com/office/drawing/2014/main" id="{4B44F2C5-C6FA-4608-2CB3-7DAE61C6F09F}"/>
              </a:ext>
            </a:extLst>
          </p:cNvPr>
          <p:cNvSpPr txBox="1"/>
          <p:nvPr/>
        </p:nvSpPr>
        <p:spPr>
          <a:xfrm>
            <a:off x="9091613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0.621</a:t>
            </a:r>
            <a:endParaRPr sz="3600" dirty="0"/>
          </a:p>
        </p:txBody>
      </p:sp>
      <p:sp>
        <p:nvSpPr>
          <p:cNvPr id="20" name="Google Shape;245;p22">
            <a:extLst>
              <a:ext uri="{FF2B5EF4-FFF2-40B4-BE49-F238E27FC236}">
                <a16:creationId xmlns:a16="http://schemas.microsoft.com/office/drawing/2014/main" id="{1BC4FA08-2CDC-D6A4-00E3-C8E98A4D9B0E}"/>
              </a:ext>
            </a:extLst>
          </p:cNvPr>
          <p:cNvSpPr txBox="1"/>
          <p:nvPr/>
        </p:nvSpPr>
        <p:spPr>
          <a:xfrm>
            <a:off x="9346587" y="3696796"/>
            <a:ext cx="26467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dirty="0">
                <a:solidFill>
                  <a:srgbClr val="FFFF00"/>
                </a:solidFill>
              </a:rPr>
              <a:t>召回率</a:t>
            </a:r>
            <a:endParaRPr lang="en-US" altLang="zh-TW" sz="2000" b="1" dirty="0">
              <a:solidFill>
                <a:srgbClr val="FFFF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 algn="ctr"/>
            <a:r>
              <a:rPr lang="en-US" altLang="zh-TW" sz="2000" b="1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Recall</a:t>
            </a:r>
            <a:endParaRPr lang="en-US" altLang="zh-TW" sz="2000" b="1" dirty="0">
              <a:solidFill>
                <a:srgbClr val="FFFF00"/>
              </a:solidFill>
            </a:endParaRP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E915315-D050-1A7E-C08E-92479B4CCFAC}"/>
              </a:ext>
            </a:extLst>
          </p:cNvPr>
          <p:cNvSpPr/>
          <p:nvPr/>
        </p:nvSpPr>
        <p:spPr>
          <a:xfrm>
            <a:off x="571500" y="4691201"/>
            <a:ext cx="5076625" cy="7445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chemeClr val="bg2"/>
                </a:solidFill>
              </a:rPr>
              <a:t>結果接近隨機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TW" dirty="0">
                <a:solidFill>
                  <a:schemeClr val="tx1"/>
                </a:solidFill>
              </a:rPr>
              <a:t>F1 </a:t>
            </a:r>
            <a:r>
              <a:rPr lang="zh-TW" altLang="en-US" dirty="0">
                <a:solidFill>
                  <a:schemeClr val="tx1"/>
                </a:solidFill>
              </a:rPr>
              <a:t>約 </a:t>
            </a:r>
            <a:r>
              <a:rPr lang="en-US" altLang="zh-TW" dirty="0">
                <a:solidFill>
                  <a:schemeClr val="tx1"/>
                </a:solidFill>
              </a:rPr>
              <a:t>0.52</a:t>
            </a:r>
            <a:r>
              <a:rPr lang="zh-TW" altLang="en-US" dirty="0">
                <a:solidFill>
                  <a:schemeClr val="tx1"/>
                </a:solidFill>
              </a:rPr>
              <a:t>；</a:t>
            </a:r>
            <a:r>
              <a:rPr lang="en-US" altLang="zh-TW" dirty="0">
                <a:solidFill>
                  <a:schemeClr val="tx1"/>
                </a:solidFill>
              </a:rPr>
              <a:t>RF/LSTM </a:t>
            </a:r>
            <a:r>
              <a:rPr lang="zh-TW" altLang="en-US" dirty="0">
                <a:solidFill>
                  <a:schemeClr val="tx1"/>
                </a:solidFill>
              </a:rPr>
              <a:t>雖達 </a:t>
            </a:r>
            <a:r>
              <a:rPr lang="en-US" altLang="zh-TW" dirty="0">
                <a:solidFill>
                  <a:schemeClr val="tx1"/>
                </a:solidFill>
              </a:rPr>
              <a:t>0.69~0.73</a:t>
            </a:r>
            <a:r>
              <a:rPr lang="zh-TW" altLang="en-US" dirty="0">
                <a:solidFill>
                  <a:schemeClr val="tx1"/>
                </a:solidFill>
              </a:rPr>
              <a:t>，但同樣未超越持續看漲 </a:t>
            </a:r>
            <a:r>
              <a:rPr lang="en-US" altLang="zh-TW" dirty="0">
                <a:solidFill>
                  <a:schemeClr val="tx1"/>
                </a:solidFill>
              </a:rPr>
              <a:t>(Always-Up </a:t>
            </a:r>
            <a:r>
              <a:rPr lang="zh-TW" altLang="en-US" dirty="0">
                <a:solidFill>
                  <a:schemeClr val="tx1"/>
                </a:solidFill>
              </a:rPr>
              <a:t>基準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0.736</a:t>
            </a:r>
            <a:r>
              <a:rPr lang="zh-TW" altLang="en-US" dirty="0">
                <a:solidFill>
                  <a:schemeClr val="tx1"/>
                </a:solidFill>
              </a:rPr>
              <a:t>，方向預測皆無實質效果。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A7D89640-2CA4-1239-7F85-36C0DF3A3764}"/>
              </a:ext>
            </a:extLst>
          </p:cNvPr>
          <p:cNvSpPr/>
          <p:nvPr/>
        </p:nvSpPr>
        <p:spPr>
          <a:xfrm>
            <a:off x="6096000" y="4691201"/>
            <a:ext cx="5076625" cy="7445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chemeClr val="bg2"/>
                </a:solidFill>
              </a:rPr>
              <a:t>分類非 </a:t>
            </a:r>
            <a:r>
              <a:rPr lang="en-US" altLang="zh-TW" sz="1600" b="1" dirty="0">
                <a:solidFill>
                  <a:schemeClr val="bg2"/>
                </a:solidFill>
              </a:rPr>
              <a:t>LLM </a:t>
            </a:r>
            <a:r>
              <a:rPr lang="zh-TW" altLang="en-US" sz="1600" b="1" dirty="0">
                <a:solidFill>
                  <a:schemeClr val="bg2"/>
                </a:solidFill>
              </a:rPr>
              <a:t>強項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TW" dirty="0">
                <a:solidFill>
                  <a:schemeClr val="tx1"/>
                </a:solidFill>
              </a:rPr>
              <a:t>GPT-3.5 </a:t>
            </a:r>
            <a:r>
              <a:rPr lang="zh-TW" altLang="en-US" dirty="0">
                <a:solidFill>
                  <a:schemeClr val="tx1"/>
                </a:solidFill>
              </a:rPr>
              <a:t>以文字推理漲跌方向，傾向一致猜「漲」，難以穩定判別次日方向。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9079416A-1C34-627A-D99B-DC2832EC2F3F}"/>
              </a:ext>
            </a:extLst>
          </p:cNvPr>
          <p:cNvSpPr/>
          <p:nvPr/>
        </p:nvSpPr>
        <p:spPr>
          <a:xfrm>
            <a:off x="3181809" y="5715675"/>
            <a:ext cx="5457664" cy="93312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rgbClr val="FF0000"/>
                </a:solidFill>
              </a:rPr>
              <a:t>對比：</a:t>
            </a:r>
            <a:r>
              <a:rPr lang="en-US" altLang="zh-TW" sz="1600" b="1" dirty="0">
                <a:solidFill>
                  <a:srgbClr val="FF0000"/>
                </a:solidFill>
              </a:rPr>
              <a:t>LLM </a:t>
            </a:r>
            <a:r>
              <a:rPr lang="zh-TW" altLang="en-US" sz="1600" b="1" dirty="0">
                <a:solidFill>
                  <a:srgbClr val="FF0000"/>
                </a:solidFill>
              </a:rPr>
              <a:t>迴歸表現佳</a:t>
            </a:r>
            <a:endParaRPr lang="en-US" altLang="zh-TW" sz="16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dirty="0">
                <a:solidFill>
                  <a:schemeClr val="tx1"/>
                </a:solidFill>
              </a:rPr>
              <a:t>同一 </a:t>
            </a:r>
            <a:r>
              <a:rPr lang="en-US" altLang="zh-TW" dirty="0">
                <a:solidFill>
                  <a:schemeClr val="tx1"/>
                </a:solidFill>
              </a:rPr>
              <a:t>LLM </a:t>
            </a:r>
            <a:r>
              <a:rPr lang="zh-TW" altLang="en-US" dirty="0">
                <a:solidFill>
                  <a:schemeClr val="tx1"/>
                </a:solidFill>
              </a:rPr>
              <a:t>改做數值迴歸（</a:t>
            </a:r>
            <a:r>
              <a:rPr lang="en-US" altLang="zh-TW" dirty="0">
                <a:solidFill>
                  <a:schemeClr val="tx1"/>
                </a:solidFill>
              </a:rPr>
              <a:t>GPT-4o-mini</a:t>
            </a:r>
            <a:r>
              <a:rPr lang="zh-TW" altLang="en-US" dirty="0">
                <a:solidFill>
                  <a:schemeClr val="tx1"/>
                </a:solidFill>
              </a:rPr>
              <a:t>），三市場 </a:t>
            </a:r>
            <a:r>
              <a:rPr lang="en-US" altLang="zh-TW" dirty="0">
                <a:solidFill>
                  <a:schemeClr val="tx1"/>
                </a:solidFill>
              </a:rPr>
              <a:t>R² </a:t>
            </a:r>
            <a:r>
              <a:rPr lang="zh-TW" altLang="en-US" dirty="0">
                <a:solidFill>
                  <a:schemeClr val="tx1"/>
                </a:solidFill>
              </a:rPr>
              <a:t>一致達 </a:t>
            </a:r>
            <a:r>
              <a:rPr lang="en-US" altLang="zh-TW" dirty="0">
                <a:solidFill>
                  <a:schemeClr val="tx1"/>
                </a:solidFill>
              </a:rPr>
              <a:t>0.80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dirty="0">
                <a:solidFill>
                  <a:schemeClr val="tx1"/>
                </a:solidFill>
              </a:rPr>
              <a:t>顯示 </a:t>
            </a:r>
            <a:r>
              <a:rPr lang="en-US" altLang="zh-TW" dirty="0">
                <a:solidFill>
                  <a:schemeClr val="tx1"/>
                </a:solidFill>
              </a:rPr>
              <a:t>LLM </a:t>
            </a:r>
            <a:r>
              <a:rPr lang="zh-TW" altLang="en-US" dirty="0">
                <a:solidFill>
                  <a:schemeClr val="tx1"/>
                </a:solidFill>
              </a:rPr>
              <a:t>較擅長「數值預測」而非「漲跌分類」。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2582E059-24F8-DF9B-C212-4382F2C52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>
            <a:extLst>
              <a:ext uri="{FF2B5EF4-FFF2-40B4-BE49-F238E27FC236}">
                <a16:creationId xmlns:a16="http://schemas.microsoft.com/office/drawing/2014/main" id="{A7C5713E-B02A-1914-8C80-0C27D5BF6935}"/>
              </a:ext>
            </a:extLst>
          </p:cNvPr>
          <p:cNvSpPr txBox="1"/>
          <p:nvPr/>
        </p:nvSpPr>
        <p:spPr>
          <a:xfrm>
            <a:off x="809624" y="919311"/>
            <a:ext cx="1017841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迴歸任務：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（預測次日收盤價）</a:t>
            </a:r>
            <a:endParaRPr dirty="0"/>
          </a:p>
        </p:txBody>
      </p:sp>
      <p:sp>
        <p:nvSpPr>
          <p:cNvPr id="253" name="Google Shape;253;p22">
            <a:extLst>
              <a:ext uri="{FF2B5EF4-FFF2-40B4-BE49-F238E27FC236}">
                <a16:creationId xmlns:a16="http://schemas.microsoft.com/office/drawing/2014/main" id="{F7F0E63E-8530-0425-9CAD-DA09B3BB331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4192100-784E-48DB-3185-68BDBB2BF412}"/>
              </a:ext>
            </a:extLst>
          </p:cNvPr>
          <p:cNvSpPr txBox="1"/>
          <p:nvPr/>
        </p:nvSpPr>
        <p:spPr>
          <a:xfrm>
            <a:off x="809624" y="1528709"/>
            <a:ext cx="84381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600"/>
            </a:lvl1pPr>
          </a:lstStyle>
          <a:p>
            <a:r>
              <a:rPr lang="zh-TW" altLang="zh-TW" dirty="0"/>
              <a:t>以 60 天技術指標讓 GPT-4o-mini 預測次日收盤價，SPY 共 50 筆（llm_regression.py）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EF156BA-D605-A3ED-FAE3-F7016E1CAD04}"/>
              </a:ext>
            </a:extLst>
          </p:cNvPr>
          <p:cNvSpPr txBox="1"/>
          <p:nvPr/>
        </p:nvSpPr>
        <p:spPr>
          <a:xfrm>
            <a:off x="5666221" y="2186242"/>
            <a:ext cx="6096000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sz="1600" b="1" dirty="0"/>
              <a:t>設定：</a:t>
            </a:r>
            <a:r>
              <a:rPr lang="zh-TW" altLang="zh-TW" sz="1600" dirty="0"/>
              <a:t>模型 gpt-4o-mini，temperature=0</a:t>
            </a:r>
            <a:r>
              <a:rPr lang="en-US" altLang="zh-TW" sz="1600" dirty="0"/>
              <a:t>.7</a:t>
            </a:r>
            <a:r>
              <a:rPr lang="zh-TW" altLang="zh-TW" sz="1600" dirty="0"/>
              <a:t>；</a:t>
            </a:r>
            <a:endParaRPr lang="en-US" altLang="zh-TW" sz="1600" dirty="0"/>
          </a:p>
          <a:p>
            <a:pPr>
              <a:buNone/>
            </a:pPr>
            <a:r>
              <a:rPr lang="zh-TW" altLang="zh-TW" sz="1600" dirty="0"/>
              <a:t>輸入過去 60 天 5 指標（Close、MA20、MA60、RSI、波動率），</a:t>
            </a:r>
            <a:endParaRPr lang="en-US" altLang="zh-TW" sz="1600" dirty="0"/>
          </a:p>
          <a:p>
            <a:pPr>
              <a:buNone/>
            </a:pPr>
            <a:r>
              <a:rPr lang="zh-TW" altLang="zh-TW" sz="1600" dirty="0"/>
              <a:t>輸出 JSON 次日收盤價；測試集 2022 年後各 50 筆。</a:t>
            </a:r>
          </a:p>
          <a:p>
            <a:pPr>
              <a:buNone/>
            </a:pPr>
            <a:r>
              <a:rPr lang="zh-TW" altLang="zh-TW" sz="1600" b="1" dirty="0"/>
              <a:t>觀察：</a:t>
            </a:r>
            <a:r>
              <a:rPr lang="zh-TW" altLang="zh-TW" sz="1600" dirty="0"/>
              <a:t>三市場 R² 一致落在 0.80 左右（0.7</a:t>
            </a:r>
            <a:r>
              <a:rPr lang="en-US" altLang="zh-TW" sz="1600" dirty="0"/>
              <a:t>84</a:t>
            </a:r>
            <a:r>
              <a:rPr lang="zh-TW" altLang="zh-TW" sz="1600" dirty="0"/>
              <a:t>~0.8</a:t>
            </a:r>
            <a:r>
              <a:rPr lang="en-US" altLang="zh-TW" sz="1600" dirty="0"/>
              <a:t>15</a:t>
            </a:r>
            <a:r>
              <a:rPr lang="zh-TW" altLang="zh-TW" sz="1600" dirty="0"/>
              <a:t>），顯示 LLM 具穩定的數值預測能力。</a:t>
            </a:r>
          </a:p>
          <a:p>
            <a:pPr>
              <a:buNone/>
            </a:pPr>
            <a:r>
              <a:rPr lang="zh-TW" altLang="zh-TW" sz="1600" b="1" dirty="0"/>
              <a:t>⚠ MSE/RMSE 不可跨市場比</a:t>
            </a:r>
            <a:r>
              <a:rPr lang="zh-TW" altLang="zh-TW" sz="1600" dirty="0"/>
              <a:t>（受股價尺度影響：0050 約 50 元、SPY/QQQ 數百元）；跨市場要看 </a:t>
            </a:r>
            <a:r>
              <a:rPr lang="zh-TW" altLang="zh-TW" sz="1600" b="1" dirty="0"/>
              <a:t>R²</a:t>
            </a:r>
            <a:r>
              <a:rPr lang="zh-TW" altLang="zh-TW" sz="1600" dirty="0"/>
              <a:t>（標準化、可比）。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C4F286DB-C3C0-3F8D-720E-1253228F1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017" y="4055646"/>
            <a:ext cx="4928948" cy="205372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05E6631D-9663-DA86-9E21-9EA259136364}"/>
              </a:ext>
            </a:extLst>
          </p:cNvPr>
          <p:cNvSpPr/>
          <p:nvPr/>
        </p:nvSpPr>
        <p:spPr>
          <a:xfrm>
            <a:off x="7403432" y="5355358"/>
            <a:ext cx="882316" cy="236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68FC9BEE-87B2-AF34-D141-F5BBBDABA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55646"/>
            <a:ext cx="4956330" cy="2053727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B5186AA-9C03-7852-BB43-6EB0A68E83E4}"/>
              </a:ext>
            </a:extLst>
          </p:cNvPr>
          <p:cNvSpPr/>
          <p:nvPr/>
        </p:nvSpPr>
        <p:spPr>
          <a:xfrm>
            <a:off x="2414337" y="5355359"/>
            <a:ext cx="882316" cy="236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2B516C6B-E70A-A3AB-C755-7E78AE82F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90038"/>
            <a:ext cx="4956329" cy="191208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E371DA8-E719-74A5-0848-672B89AC930E}"/>
              </a:ext>
            </a:extLst>
          </p:cNvPr>
          <p:cNvSpPr/>
          <p:nvPr/>
        </p:nvSpPr>
        <p:spPr>
          <a:xfrm>
            <a:off x="2271622" y="3310689"/>
            <a:ext cx="882316" cy="236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7940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DBF7FA5D-4A19-73A2-8D53-1928861D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CAC14968-9803-EED6-50FD-2DFE00CC577F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大語言模型：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870A2D8-7AB6-5AA7-EC32-15C6D8E5C7F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80D1E6E2-516C-B8DE-546C-E1555EFBB730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ED10ACE4-9182-E0D0-88D1-41C6714C32B4}"/>
              </a:ext>
            </a:extLst>
          </p:cNvPr>
          <p:cNvSpPr txBox="1"/>
          <p:nvPr/>
        </p:nvSpPr>
        <p:spPr>
          <a:xfrm>
            <a:off x="571500" y="5395032"/>
            <a:ext cx="1174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18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5882777B-F296-C5EA-C7C3-655E1ED0118B}"/>
              </a:ext>
            </a:extLst>
          </p:cNvPr>
          <p:cNvSpPr txBox="1"/>
          <p:nvPr/>
        </p:nvSpPr>
        <p:spPr>
          <a:xfrm>
            <a:off x="1456419" y="5776285"/>
            <a:ext cx="970888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en-US" altLang="zh-TW" sz="1600" dirty="0"/>
              <a:t>temperature=0.7</a:t>
            </a:r>
            <a:r>
              <a:rPr lang="zh-TW" altLang="en-US" sz="1600" dirty="0"/>
              <a:t>：控制輸出隨機性（範圍 </a:t>
            </a:r>
            <a:r>
              <a:rPr lang="en-US" altLang="zh-TW" sz="1600" dirty="0"/>
              <a:t>0~2</a:t>
            </a:r>
            <a:r>
              <a:rPr lang="zh-TW" altLang="en-US" sz="1600" dirty="0"/>
              <a:t>）。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zh-TW" altLang="en-US" sz="1600" dirty="0"/>
              <a:t>雖然 </a:t>
            </a:r>
            <a:r>
              <a:rPr lang="en-US" altLang="zh-TW" sz="1600" dirty="0"/>
              <a:t>0.7 </a:t>
            </a:r>
            <a:r>
              <a:rPr lang="zh-TW" altLang="en-US" sz="1600" dirty="0"/>
              <a:t>會帶來一點隨機性，但我重跑後三個市場的 </a:t>
            </a:r>
            <a:r>
              <a:rPr lang="en-US" altLang="zh-TW" sz="1600" dirty="0"/>
              <a:t>R² </a:t>
            </a:r>
            <a:r>
              <a:rPr lang="zh-TW" altLang="en-US" sz="1600" dirty="0"/>
              <a:t>仍然維持在 </a:t>
            </a:r>
            <a:r>
              <a:rPr lang="en-US" altLang="zh-TW" sz="1600" dirty="0"/>
              <a:t>0.8 </a:t>
            </a:r>
            <a:r>
              <a:rPr lang="zh-TW" altLang="en-US" sz="1600" dirty="0"/>
              <a:t>左右，代表 </a:t>
            </a:r>
            <a:r>
              <a:rPr lang="en-US" altLang="zh-TW" sz="1600" dirty="0"/>
              <a:t>LLM </a:t>
            </a:r>
            <a:r>
              <a:rPr lang="zh-TW" altLang="en-US" sz="1600" dirty="0"/>
              <a:t>的數值預測能力是穩定的。</a:t>
            </a:r>
            <a:endParaRPr sz="1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785144F-FB0E-7E32-3E92-522E770D6F3D}"/>
              </a:ext>
            </a:extLst>
          </p:cNvPr>
          <p:cNvSpPr txBox="1"/>
          <p:nvPr/>
        </p:nvSpPr>
        <p:spPr>
          <a:xfrm>
            <a:off x="647700" y="149548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OpenAI API</a:t>
            </a:r>
            <a:r>
              <a:rPr lang="zh-TW" altLang="en-US" sz="1600" dirty="0"/>
              <a:t>，</a:t>
            </a:r>
            <a:r>
              <a:rPr lang="en-US" altLang="zh-TW" sz="1600" dirty="0"/>
              <a:t>temperature=</a:t>
            </a:r>
            <a:r>
              <a:rPr lang="en-US" altLang="zh-TW" sz="1600"/>
              <a:t>0.7 </a:t>
            </a:r>
            <a:r>
              <a:rPr lang="zh-TW" altLang="en-US" sz="1600"/>
              <a:t>（</a:t>
            </a:r>
            <a:r>
              <a:rPr lang="en-US" altLang="zh-TW" sz="1600" dirty="0"/>
              <a:t>llm_regression.py</a:t>
            </a:r>
            <a:r>
              <a:rPr lang="zh-TW" altLang="en-US" sz="1600" dirty="0"/>
              <a:t>）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9CDE4F7-A4B7-D597-A501-AFD7BE352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420" y="2233990"/>
            <a:ext cx="6596716" cy="28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2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>
          <a:extLst>
            <a:ext uri="{FF2B5EF4-FFF2-40B4-BE49-F238E27FC236}">
              <a16:creationId xmlns:a16="http://schemas.microsoft.com/office/drawing/2014/main" id="{4ACDD218-367C-88BC-F6D5-C2E75395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>
            <a:extLst>
              <a:ext uri="{FF2B5EF4-FFF2-40B4-BE49-F238E27FC236}">
                <a16:creationId xmlns:a16="http://schemas.microsoft.com/office/drawing/2014/main" id="{160979E7-6E60-3AD2-673B-C0CAB6B2E477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機器學習的標準流程 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(Machine Learning Pipeline)</a:t>
            </a:r>
            <a:endParaRPr dirty="0"/>
          </a:p>
        </p:txBody>
      </p:sp>
      <p:sp>
        <p:nvSpPr>
          <p:cNvPr id="275" name="Google Shape;275;p23">
            <a:extLst>
              <a:ext uri="{FF2B5EF4-FFF2-40B4-BE49-F238E27FC236}">
                <a16:creationId xmlns:a16="http://schemas.microsoft.com/office/drawing/2014/main" id="{3881B20B-EDEE-DD24-99F3-BF8581C235B7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7;p20" descr="image.png">
            <a:extLst>
              <a:ext uri="{FF2B5EF4-FFF2-40B4-BE49-F238E27FC236}">
                <a16:creationId xmlns:a16="http://schemas.microsoft.com/office/drawing/2014/main" id="{039DCC1B-18C1-7818-7AA5-E0BF361CF55E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48817" y="1976714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>
            <a:extLst>
              <a:ext uri="{FF2B5EF4-FFF2-40B4-BE49-F238E27FC236}">
                <a16:creationId xmlns:a16="http://schemas.microsoft.com/office/drawing/2014/main" id="{192E414F-5E2F-499E-871A-B62A15A2CBA5}"/>
              </a:ext>
            </a:extLst>
          </p:cNvPr>
          <p:cNvSpPr txBox="1"/>
          <p:nvPr/>
        </p:nvSpPr>
        <p:spPr>
          <a:xfrm>
            <a:off x="527778" y="2162693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資料收集</a:t>
            </a:r>
            <a:endParaRPr sz="1800" dirty="0"/>
          </a:p>
        </p:txBody>
      </p:sp>
      <p:pic>
        <p:nvPicPr>
          <p:cNvPr id="21" name="Google Shape;207;p20" descr="image.png">
            <a:extLst>
              <a:ext uri="{FF2B5EF4-FFF2-40B4-BE49-F238E27FC236}">
                <a16:creationId xmlns:a16="http://schemas.microsoft.com/office/drawing/2014/main" id="{CED82B38-D8D2-A18D-E7A6-8C4F28418751}"/>
              </a:ext>
            </a:extLst>
          </p:cNvPr>
          <p:cNvPicPr preferRelativeResize="0"/>
          <p:nvPr/>
        </p:nvPicPr>
        <p:blipFill rotWithShape="1">
          <a:blip r:embed="rId5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965182" y="1976969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59;p23">
            <a:extLst>
              <a:ext uri="{FF2B5EF4-FFF2-40B4-BE49-F238E27FC236}">
                <a16:creationId xmlns:a16="http://schemas.microsoft.com/office/drawing/2014/main" id="{A00B725A-FE08-75D9-8E68-A6716B713D1C}"/>
              </a:ext>
            </a:extLst>
          </p:cNvPr>
          <p:cNvSpPr txBox="1"/>
          <p:nvPr/>
        </p:nvSpPr>
        <p:spPr>
          <a:xfrm>
            <a:off x="2144143" y="2162948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資料前處理</a:t>
            </a:r>
            <a:endParaRPr sz="1800" dirty="0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638DAFA7-9A92-46AB-3C71-1965B10BFF98}"/>
              </a:ext>
            </a:extLst>
          </p:cNvPr>
          <p:cNvSpPr/>
          <p:nvPr/>
        </p:nvSpPr>
        <p:spPr>
          <a:xfrm>
            <a:off x="3465913" y="2301029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4B33AFCD-C9AF-13E8-81AC-0F45D0FA2C7F}"/>
              </a:ext>
            </a:extLst>
          </p:cNvPr>
          <p:cNvSpPr/>
          <p:nvPr/>
        </p:nvSpPr>
        <p:spPr>
          <a:xfrm>
            <a:off x="1849548" y="2300774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Google Shape;207;p20" descr="image.png">
            <a:extLst>
              <a:ext uri="{FF2B5EF4-FFF2-40B4-BE49-F238E27FC236}">
                <a16:creationId xmlns:a16="http://schemas.microsoft.com/office/drawing/2014/main" id="{FFD8BB03-FF77-A74F-442D-8B89064D3C4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tx2">
                <a:lumMod val="9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581547" y="197353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9;p23">
            <a:extLst>
              <a:ext uri="{FF2B5EF4-FFF2-40B4-BE49-F238E27FC236}">
                <a16:creationId xmlns:a16="http://schemas.microsoft.com/office/drawing/2014/main" id="{8704E6A5-6ABC-67F6-0AF9-E6849894C1C6}"/>
              </a:ext>
            </a:extLst>
          </p:cNvPr>
          <p:cNvSpPr txBox="1"/>
          <p:nvPr/>
        </p:nvSpPr>
        <p:spPr>
          <a:xfrm>
            <a:off x="3760508" y="215951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特徵工程</a:t>
            </a:r>
            <a:endParaRPr sz="1800" dirty="0"/>
          </a:p>
        </p:txBody>
      </p:sp>
      <p:sp>
        <p:nvSpPr>
          <p:cNvPr id="26" name="箭號: 向右 25">
            <a:extLst>
              <a:ext uri="{FF2B5EF4-FFF2-40B4-BE49-F238E27FC236}">
                <a16:creationId xmlns:a16="http://schemas.microsoft.com/office/drawing/2014/main" id="{376AF579-6EC6-23F7-9AFC-EB236FFB7DEC}"/>
              </a:ext>
            </a:extLst>
          </p:cNvPr>
          <p:cNvSpPr/>
          <p:nvPr/>
        </p:nvSpPr>
        <p:spPr>
          <a:xfrm>
            <a:off x="5082278" y="229759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3217C314-97F1-3EE0-E645-DE1E58FD3B6E}"/>
              </a:ext>
            </a:extLst>
          </p:cNvPr>
          <p:cNvSpPr/>
          <p:nvPr/>
        </p:nvSpPr>
        <p:spPr>
          <a:xfrm>
            <a:off x="3465913" y="229734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8" name="Google Shape;207;p20" descr="image.png">
            <a:extLst>
              <a:ext uri="{FF2B5EF4-FFF2-40B4-BE49-F238E27FC236}">
                <a16:creationId xmlns:a16="http://schemas.microsoft.com/office/drawing/2014/main" id="{B017D1C0-5D59-FF6C-386D-D653DB71DA7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6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197912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59;p23">
            <a:extLst>
              <a:ext uri="{FF2B5EF4-FFF2-40B4-BE49-F238E27FC236}">
                <a16:creationId xmlns:a16="http://schemas.microsoft.com/office/drawing/2014/main" id="{7610FD10-658A-F830-FD6C-0544E738B33B}"/>
              </a:ext>
            </a:extLst>
          </p:cNvPr>
          <p:cNvSpPr txBox="1"/>
          <p:nvPr/>
        </p:nvSpPr>
        <p:spPr>
          <a:xfrm>
            <a:off x="5376873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特徵選擇</a:t>
            </a:r>
            <a:endParaRPr sz="1800" dirty="0"/>
          </a:p>
        </p:txBody>
      </p:sp>
      <p:sp>
        <p:nvSpPr>
          <p:cNvPr id="30" name="箭號: 向右 29">
            <a:extLst>
              <a:ext uri="{FF2B5EF4-FFF2-40B4-BE49-F238E27FC236}">
                <a16:creationId xmlns:a16="http://schemas.microsoft.com/office/drawing/2014/main" id="{C2C3C4F4-B08B-F2E2-EC78-EFCE3AD19EEA}"/>
              </a:ext>
            </a:extLst>
          </p:cNvPr>
          <p:cNvSpPr/>
          <p:nvPr/>
        </p:nvSpPr>
        <p:spPr>
          <a:xfrm>
            <a:off x="6698643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右 30">
            <a:extLst>
              <a:ext uri="{FF2B5EF4-FFF2-40B4-BE49-F238E27FC236}">
                <a16:creationId xmlns:a16="http://schemas.microsoft.com/office/drawing/2014/main" id="{E20DA94C-AAB4-F8DA-D259-BA4ADBF6A5AD}"/>
              </a:ext>
            </a:extLst>
          </p:cNvPr>
          <p:cNvSpPr/>
          <p:nvPr/>
        </p:nvSpPr>
        <p:spPr>
          <a:xfrm>
            <a:off x="5082278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2" name="Google Shape;207;p20" descr="image.png">
            <a:extLst>
              <a:ext uri="{FF2B5EF4-FFF2-40B4-BE49-F238E27FC236}">
                <a16:creationId xmlns:a16="http://schemas.microsoft.com/office/drawing/2014/main" id="{3E5091FA-1D37-DB23-EFD2-16EAE6A9588D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14277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259;p23">
            <a:extLst>
              <a:ext uri="{FF2B5EF4-FFF2-40B4-BE49-F238E27FC236}">
                <a16:creationId xmlns:a16="http://schemas.microsoft.com/office/drawing/2014/main" id="{227DE703-F0C3-19A0-DCA5-EE679C88BC48}"/>
              </a:ext>
            </a:extLst>
          </p:cNvPr>
          <p:cNvSpPr txBox="1"/>
          <p:nvPr/>
        </p:nvSpPr>
        <p:spPr>
          <a:xfrm>
            <a:off x="6993238" y="2013493"/>
            <a:ext cx="117335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訓練模型</a:t>
            </a:r>
            <a:endParaRPr lang="en-US" altLang="zh-TW" sz="1800" b="1" i="0" u="none" strike="noStrike" cap="none" dirty="0">
              <a:solidFill>
                <a:srgbClr val="00214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dirty="0">
                <a:solidFill>
                  <a:srgbClr val="002147"/>
                </a:solidFill>
                <a:latin typeface="DM Sans"/>
                <a:sym typeface="DM Sans"/>
              </a:rPr>
              <a:t>+</a:t>
            </a:r>
            <a:r>
              <a:rPr lang="zh-TW" altLang="en-US" sz="1800" b="1" dirty="0">
                <a:solidFill>
                  <a:srgbClr val="002147"/>
                </a:solidFill>
                <a:latin typeface="DM Sans"/>
                <a:sym typeface="DM Sans"/>
              </a:rPr>
              <a:t>交叉驗證</a:t>
            </a:r>
            <a:endParaRPr sz="1800" dirty="0"/>
          </a:p>
        </p:txBody>
      </p: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9BDCA237-7DC5-A4AA-E885-B6C9001914B6}"/>
              </a:ext>
            </a:extLst>
          </p:cNvPr>
          <p:cNvSpPr/>
          <p:nvPr/>
        </p:nvSpPr>
        <p:spPr>
          <a:xfrm>
            <a:off x="8315008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A889E5BE-2CF7-F1E3-A99F-17F7C0949064}"/>
              </a:ext>
            </a:extLst>
          </p:cNvPr>
          <p:cNvSpPr/>
          <p:nvPr/>
        </p:nvSpPr>
        <p:spPr>
          <a:xfrm>
            <a:off x="6698643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6" name="Google Shape;207;p20" descr="image.png">
            <a:extLst>
              <a:ext uri="{FF2B5EF4-FFF2-40B4-BE49-F238E27FC236}">
                <a16:creationId xmlns:a16="http://schemas.microsoft.com/office/drawing/2014/main" id="{58EDB6AA-6632-BF13-5149-D65A7BFB8478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4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432349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259;p23">
            <a:extLst>
              <a:ext uri="{FF2B5EF4-FFF2-40B4-BE49-F238E27FC236}">
                <a16:creationId xmlns:a16="http://schemas.microsoft.com/office/drawing/2014/main" id="{158D2075-0F75-B005-EF35-A2C39AB156AA}"/>
              </a:ext>
            </a:extLst>
          </p:cNvPr>
          <p:cNvSpPr txBox="1"/>
          <p:nvPr/>
        </p:nvSpPr>
        <p:spPr>
          <a:xfrm>
            <a:off x="8611310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超參數調整</a:t>
            </a:r>
            <a:endParaRPr sz="1800" dirty="0"/>
          </a:p>
        </p:txBody>
      </p:sp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8F98CF4D-4212-820C-F558-D179E3E5E24D}"/>
              </a:ext>
            </a:extLst>
          </p:cNvPr>
          <p:cNvSpPr/>
          <p:nvPr/>
        </p:nvSpPr>
        <p:spPr>
          <a:xfrm>
            <a:off x="9933080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箭號: 向右 38">
            <a:extLst>
              <a:ext uri="{FF2B5EF4-FFF2-40B4-BE49-F238E27FC236}">
                <a16:creationId xmlns:a16="http://schemas.microsoft.com/office/drawing/2014/main" id="{BE834372-2306-251F-C4A7-CA3D7AC61651}"/>
              </a:ext>
            </a:extLst>
          </p:cNvPr>
          <p:cNvSpPr/>
          <p:nvPr/>
        </p:nvSpPr>
        <p:spPr>
          <a:xfrm>
            <a:off x="8316715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0" name="Google Shape;207;p20" descr="image.png">
            <a:extLst>
              <a:ext uri="{FF2B5EF4-FFF2-40B4-BE49-F238E27FC236}">
                <a16:creationId xmlns:a16="http://schemas.microsoft.com/office/drawing/2014/main" id="{68B3313E-F9BE-87A8-BBC3-B5A40B700D2F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2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047007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259;p23">
            <a:extLst>
              <a:ext uri="{FF2B5EF4-FFF2-40B4-BE49-F238E27FC236}">
                <a16:creationId xmlns:a16="http://schemas.microsoft.com/office/drawing/2014/main" id="{99B386C1-95D5-D358-1CE8-55E0998F9F9B}"/>
              </a:ext>
            </a:extLst>
          </p:cNvPr>
          <p:cNvSpPr txBox="1"/>
          <p:nvPr/>
        </p:nvSpPr>
        <p:spPr>
          <a:xfrm>
            <a:off x="10225968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模型評估</a:t>
            </a:r>
            <a:endParaRPr sz="1800" dirty="0"/>
          </a:p>
        </p:txBody>
      </p:sp>
      <p:sp>
        <p:nvSpPr>
          <p:cNvPr id="43" name="箭號: 向右 42">
            <a:extLst>
              <a:ext uri="{FF2B5EF4-FFF2-40B4-BE49-F238E27FC236}">
                <a16:creationId xmlns:a16="http://schemas.microsoft.com/office/drawing/2014/main" id="{A0AF033C-5CB2-DCFE-6736-459C0A22DC7D}"/>
              </a:ext>
            </a:extLst>
          </p:cNvPr>
          <p:cNvSpPr/>
          <p:nvPr/>
        </p:nvSpPr>
        <p:spPr>
          <a:xfrm>
            <a:off x="9931373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85499C38-297D-1C17-DD55-002911440446}"/>
              </a:ext>
            </a:extLst>
          </p:cNvPr>
          <p:cNvSpPr/>
          <p:nvPr/>
        </p:nvSpPr>
        <p:spPr>
          <a:xfrm>
            <a:off x="348817" y="2999874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1. </a:t>
            </a:r>
            <a:r>
              <a:rPr lang="zh-TW" altLang="zh-TW" sz="1600" b="1" dirty="0">
                <a:solidFill>
                  <a:schemeClr val="bg2"/>
                </a:solidFill>
              </a:rPr>
              <a:t>資料收集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蒐集原始資料(資料庫、API 等)，資料品質直接影響表現。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4573EA3A-CBF3-345C-3BD4-059D5C97A595}"/>
              </a:ext>
            </a:extLst>
          </p:cNvPr>
          <p:cNvSpPr/>
          <p:nvPr/>
        </p:nvSpPr>
        <p:spPr>
          <a:xfrm>
            <a:off x="337946" y="3819880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2. 資料前處理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清理資料、處理缺失值；特徵工程(標準化、編碼)；切分訓練/驗證/測試集。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7E315CFA-E09A-92D4-ABB6-EEBC3D5D96C7}"/>
              </a:ext>
            </a:extLst>
          </p:cNvPr>
          <p:cNvSpPr/>
          <p:nvPr/>
        </p:nvSpPr>
        <p:spPr>
          <a:xfrm>
            <a:off x="337945" y="4639886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3. 模型選擇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分類:邏輯迴歸、決策樹、隨機森林、SVM、神經網路。 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迴歸:線性迴歸、Ridge、Lasso、XGBoost。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52087EFD-B9DF-B39C-7064-2C3084DC8C1A}"/>
              </a:ext>
            </a:extLst>
          </p:cNvPr>
          <p:cNvSpPr/>
          <p:nvPr/>
        </p:nvSpPr>
        <p:spPr>
          <a:xfrm>
            <a:off x="348816" y="5459892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4. 模型訓練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用訓練集學習，調整超參數，並以交叉驗證(Cross-Validation)評估穩定度。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AE3E97E0-B699-F1BC-94EA-8413C80AED82}"/>
              </a:ext>
            </a:extLst>
          </p:cNvPr>
          <p:cNvSpPr/>
          <p:nvPr/>
        </p:nvSpPr>
        <p:spPr>
          <a:xfrm>
            <a:off x="6149050" y="2993024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5. </a:t>
            </a:r>
            <a:r>
              <a:rPr lang="zh-TW" altLang="en-US" sz="1600" b="1" dirty="0">
                <a:solidFill>
                  <a:schemeClr val="bg2"/>
                </a:solidFill>
              </a:rPr>
              <a:t>模型評估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分類</a:t>
            </a:r>
            <a:r>
              <a:rPr lang="en-US" altLang="zh-TW" dirty="0">
                <a:solidFill>
                  <a:schemeClr val="tx1"/>
                </a:solidFill>
              </a:rPr>
              <a:t>:Accuracy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Precision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Recall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F1-score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ROC-AUC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迴歸</a:t>
            </a:r>
            <a:r>
              <a:rPr lang="en-US" altLang="zh-TW" dirty="0">
                <a:solidFill>
                  <a:schemeClr val="tx1"/>
                </a:solidFill>
              </a:rPr>
              <a:t>:MSE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RMSE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MAE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R²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MAPE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411E3E6E-BC65-0F33-18D6-45F04C6B35B2}"/>
              </a:ext>
            </a:extLst>
          </p:cNvPr>
          <p:cNvSpPr/>
          <p:nvPr/>
        </p:nvSpPr>
        <p:spPr>
          <a:xfrm>
            <a:off x="6138179" y="3813030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6. </a:t>
            </a:r>
            <a:r>
              <a:rPr lang="zh-TW" altLang="en-US" sz="1600" b="1" dirty="0">
                <a:solidFill>
                  <a:schemeClr val="bg2"/>
                </a:solidFill>
              </a:rPr>
              <a:t>模型調整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以超參數調整</a:t>
            </a:r>
            <a:r>
              <a:rPr lang="en-US" altLang="zh-TW" dirty="0">
                <a:solidFill>
                  <a:schemeClr val="tx1"/>
                </a:solidFill>
              </a:rPr>
              <a:t>(Grid Search</a:t>
            </a:r>
            <a:r>
              <a:rPr lang="zh-TW" altLang="en-US" dirty="0">
                <a:solidFill>
                  <a:schemeClr val="tx1"/>
                </a:solidFill>
              </a:rPr>
              <a:t>、貝葉斯優化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或特徵工程改進效能。</a:t>
            </a: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E5CB1832-3F23-3EFF-8EA8-EE17E242E633}"/>
              </a:ext>
            </a:extLst>
          </p:cNvPr>
          <p:cNvSpPr/>
          <p:nvPr/>
        </p:nvSpPr>
        <p:spPr>
          <a:xfrm>
            <a:off x="6138178" y="4633036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7. </a:t>
            </a:r>
            <a:r>
              <a:rPr lang="zh-TW" altLang="en-US" sz="1600" b="1" dirty="0">
                <a:solidFill>
                  <a:schemeClr val="bg2"/>
                </a:solidFill>
              </a:rPr>
              <a:t>部署與監控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部署至實際系統</a:t>
            </a:r>
            <a:r>
              <a:rPr lang="en-US" altLang="zh-TW" dirty="0">
                <a:solidFill>
                  <a:schemeClr val="tx1"/>
                </a:solidFill>
              </a:rPr>
              <a:t>(API</a:t>
            </a:r>
            <a:r>
              <a:rPr lang="zh-TW" altLang="en-US" dirty="0">
                <a:solidFill>
                  <a:schemeClr val="tx1"/>
                </a:solidFill>
              </a:rPr>
              <a:t>、雲端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；持續監控、避免概念漂移</a:t>
            </a:r>
            <a:r>
              <a:rPr lang="en-US" altLang="zh-TW" dirty="0">
                <a:solidFill>
                  <a:schemeClr val="tx1"/>
                </a:solidFill>
              </a:rPr>
              <a:t>(Concept Drift)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47625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76;p23">
            <a:extLst>
              <a:ext uri="{FF2B5EF4-FFF2-40B4-BE49-F238E27FC236}">
                <a16:creationId xmlns:a16="http://schemas.microsoft.com/office/drawing/2014/main" id="{8B263DF9-0D41-E203-FEE0-CADCE4C58AD6}"/>
              </a:ext>
            </a:extLst>
          </p:cNvPr>
          <p:cNvSpPr/>
          <p:nvPr/>
        </p:nvSpPr>
        <p:spPr>
          <a:xfrm>
            <a:off x="6953533" y="4000122"/>
            <a:ext cx="2376356" cy="226484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76;p23">
            <a:extLst>
              <a:ext uri="{FF2B5EF4-FFF2-40B4-BE49-F238E27FC236}">
                <a16:creationId xmlns:a16="http://schemas.microsoft.com/office/drawing/2014/main" id="{FE5CDCE3-EF3C-7465-503D-B607E6207D2A}"/>
              </a:ext>
            </a:extLst>
          </p:cNvPr>
          <p:cNvSpPr/>
          <p:nvPr/>
        </p:nvSpPr>
        <p:spPr>
          <a:xfrm>
            <a:off x="8903143" y="1660264"/>
            <a:ext cx="2406659" cy="226809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76;p23">
            <a:extLst>
              <a:ext uri="{FF2B5EF4-FFF2-40B4-BE49-F238E27FC236}">
                <a16:creationId xmlns:a16="http://schemas.microsoft.com/office/drawing/2014/main" id="{7149195A-0517-A9BC-731A-4F5051D5C5C1}"/>
              </a:ext>
            </a:extLst>
          </p:cNvPr>
          <p:cNvSpPr/>
          <p:nvPr/>
        </p:nvSpPr>
        <p:spPr>
          <a:xfrm>
            <a:off x="4877556" y="1637021"/>
            <a:ext cx="2314689" cy="23167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6;p23">
            <a:extLst>
              <a:ext uri="{FF2B5EF4-FFF2-40B4-BE49-F238E27FC236}">
                <a16:creationId xmlns:a16="http://schemas.microsoft.com/office/drawing/2014/main" id="{31F78A9D-CF0E-F2D1-CA30-CA9A1AEE7620}"/>
              </a:ext>
            </a:extLst>
          </p:cNvPr>
          <p:cNvSpPr/>
          <p:nvPr/>
        </p:nvSpPr>
        <p:spPr>
          <a:xfrm>
            <a:off x="2612760" y="3993662"/>
            <a:ext cx="2314689" cy="229848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690112" y="1650070"/>
            <a:ext cx="2248940" cy="2298484"/>
          </a:xfrm>
          <a:prstGeom prst="roundRect">
            <a:avLst>
              <a:gd name="adj" fmla="val 50000"/>
            </a:avLst>
          </a:prstGeom>
          <a:solidFill>
            <a:srgbClr val="CCCCFF">
              <a:alpha val="50196"/>
            </a:srgb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1060503" y="2264143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資料來源</a:t>
            </a:r>
            <a:endParaRPr sz="2400" dirty="0"/>
          </a:p>
        </p:txBody>
      </p:sp>
      <p:sp>
        <p:nvSpPr>
          <p:cNvPr id="260" name="Google Shape;260;p23"/>
          <p:cNvSpPr txBox="1"/>
          <p:nvPr/>
        </p:nvSpPr>
        <p:spPr>
          <a:xfrm>
            <a:off x="280429" y="2833556"/>
            <a:ext cx="3131377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Yahoo Finance API</a:t>
            </a:r>
            <a:endParaRPr lang="en-US" sz="1600" dirty="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latin typeface="DM Sans"/>
                <a:sym typeface="DM Sans"/>
              </a:rPr>
              <a:t>(</a:t>
            </a:r>
            <a:r>
              <a:rPr lang="en-US" altLang="zh-TW" sz="1600" dirty="0"/>
              <a:t>update_database.py)</a:t>
            </a:r>
            <a:endParaRPr sz="1600" dirty="0"/>
          </a:p>
        </p:txBody>
      </p:sp>
      <p:sp>
        <p:nvSpPr>
          <p:cNvPr id="261" name="Google Shape;261;p23"/>
          <p:cNvSpPr txBox="1"/>
          <p:nvPr/>
        </p:nvSpPr>
        <p:spPr>
          <a:xfrm>
            <a:off x="2896053" y="4418090"/>
            <a:ext cx="17730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資料前處理</a:t>
            </a:r>
            <a:endParaRPr sz="2400" dirty="0"/>
          </a:p>
        </p:txBody>
      </p:sp>
      <p:sp>
        <p:nvSpPr>
          <p:cNvPr id="262" name="Google Shape;262;p23"/>
          <p:cNvSpPr txBox="1"/>
          <p:nvPr/>
        </p:nvSpPr>
        <p:spPr>
          <a:xfrm>
            <a:off x="2678509" y="4909077"/>
            <a:ext cx="2208154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清洗、缺失值處理</a:t>
            </a:r>
            <a:endParaRPr lang="en-US" altLang="zh-TW" sz="160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 algn="ctr">
              <a:lnSpc>
                <a:spcPct val="140000"/>
              </a:lnSpc>
            </a:pPr>
            <a:r>
              <a:rPr lang="zh-TW" altLang="en-US" sz="1600" dirty="0"/>
              <a:t>→ 存入 </a:t>
            </a:r>
            <a:r>
              <a:rPr lang="en-US" altLang="zh-TW" sz="1600" dirty="0" err="1"/>
              <a:t>etf_data.db</a:t>
            </a:r>
            <a:endParaRPr sz="1600" dirty="0"/>
          </a:p>
        </p:txBody>
      </p:sp>
      <p:sp>
        <p:nvSpPr>
          <p:cNvPr id="265" name="Google Shape;265;p23"/>
          <p:cNvSpPr txBox="1"/>
          <p:nvPr/>
        </p:nvSpPr>
        <p:spPr>
          <a:xfrm>
            <a:off x="5237135" y="2252905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特徵工程</a:t>
            </a:r>
            <a:endParaRPr sz="2400" dirty="0"/>
          </a:p>
        </p:txBody>
      </p:sp>
      <p:sp>
        <p:nvSpPr>
          <p:cNvPr id="266" name="Google Shape;266;p23"/>
          <p:cNvSpPr txBox="1"/>
          <p:nvPr/>
        </p:nvSpPr>
        <p:spPr>
          <a:xfrm>
            <a:off x="5324073" y="2958821"/>
            <a:ext cx="143634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Lag/MA/Vol</a:t>
            </a:r>
            <a:endParaRPr sz="1600" dirty="0"/>
          </a:p>
        </p:txBody>
      </p:sp>
      <p:sp>
        <p:nvSpPr>
          <p:cNvPr id="267" name="Google Shape;267;p23"/>
          <p:cNvSpPr txBox="1"/>
          <p:nvPr/>
        </p:nvSpPr>
        <p:spPr>
          <a:xfrm>
            <a:off x="7400782" y="4542708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模型訓練</a:t>
            </a:r>
            <a:endParaRPr sz="2400" dirty="0"/>
          </a:p>
        </p:txBody>
      </p:sp>
      <p:sp>
        <p:nvSpPr>
          <p:cNvPr id="268" name="Google Shape;268;p23"/>
          <p:cNvSpPr txBox="1"/>
          <p:nvPr/>
        </p:nvSpPr>
        <p:spPr>
          <a:xfrm>
            <a:off x="6745292" y="5056035"/>
            <a:ext cx="2768199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RF / LSTM / ARIMA: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 err="1">
                <a:latin typeface="DM Sans"/>
                <a:ea typeface="DM Sans"/>
                <a:cs typeface="DM Sans"/>
                <a:sym typeface="DM Sans"/>
              </a:rPr>
              <a:t>TimeSeriesSplit</a:t>
            </a: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(5 </a:t>
            </a:r>
            <a:r>
              <a:rPr lang="zh-TW" altLang="en-US" sz="1600" dirty="0">
                <a:latin typeface="DM Sans"/>
                <a:ea typeface="DM Sans"/>
                <a:cs typeface="DM Sans"/>
                <a:sym typeface="DM Sans"/>
              </a:rPr>
              <a:t>折</a:t>
            </a: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)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ARIMA </a:t>
            </a:r>
            <a:r>
              <a:rPr lang="zh-TW" altLang="en-US" sz="1600" dirty="0">
                <a:latin typeface="DM Sans"/>
                <a:ea typeface="DM Sans"/>
                <a:cs typeface="DM Sans"/>
                <a:sym typeface="DM Sans"/>
              </a:rPr>
              <a:t>於每折內採 </a:t>
            </a: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1 </a:t>
            </a:r>
            <a:r>
              <a:rPr lang="zh-TW" altLang="en-US" sz="1600" dirty="0">
                <a:latin typeface="DM Sans"/>
                <a:ea typeface="DM Sans"/>
                <a:cs typeface="DM Sans"/>
                <a:sym typeface="DM Sans"/>
              </a:rPr>
              <a:t>步 </a:t>
            </a: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rolling</a:t>
            </a:r>
            <a:endParaRPr sz="1600" dirty="0"/>
          </a:p>
        </p:txBody>
      </p:sp>
      <p:sp>
        <p:nvSpPr>
          <p:cNvPr id="271" name="Google Shape;271;p23"/>
          <p:cNvSpPr txBox="1"/>
          <p:nvPr/>
        </p:nvSpPr>
        <p:spPr>
          <a:xfrm>
            <a:off x="9392127" y="222489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性能評估</a:t>
            </a:r>
            <a:endParaRPr sz="2400" dirty="0"/>
          </a:p>
        </p:txBody>
      </p:sp>
      <p:sp>
        <p:nvSpPr>
          <p:cNvPr id="272" name="Google Shape;272;p23"/>
          <p:cNvSpPr txBox="1"/>
          <p:nvPr/>
        </p:nvSpPr>
        <p:spPr>
          <a:xfrm>
            <a:off x="9428036" y="2939978"/>
            <a:ext cx="143634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MSE/MAPE/F1</a:t>
            </a:r>
            <a:endParaRPr sz="1600" dirty="0"/>
          </a:p>
        </p:txBody>
      </p:sp>
      <p:sp>
        <p:nvSpPr>
          <p:cNvPr id="273" name="Google Shape;273;p23"/>
          <p:cNvSpPr/>
          <p:nvPr/>
        </p:nvSpPr>
        <p:spPr>
          <a:xfrm>
            <a:off x="571500" y="3986307"/>
            <a:ext cx="11049000" cy="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809625" y="919311"/>
            <a:ext cx="84288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本研究實驗流程：對應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ML Pipeline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的實作</a:t>
            </a:r>
            <a:endParaRPr dirty="0"/>
          </a:p>
        </p:txBody>
      </p:sp>
      <p:sp>
        <p:nvSpPr>
          <p:cNvPr id="275" name="Google Shape;275;p23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3698617" y="382082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881203" y="385375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7993838" y="383992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9919103" y="387131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77;p23">
            <a:extLst>
              <a:ext uri="{FF2B5EF4-FFF2-40B4-BE49-F238E27FC236}">
                <a16:creationId xmlns:a16="http://schemas.microsoft.com/office/drawing/2014/main" id="{4F8FFC45-65E4-3077-FD5C-0E2E814F5924}"/>
              </a:ext>
            </a:extLst>
          </p:cNvPr>
          <p:cNvSpPr/>
          <p:nvPr/>
        </p:nvSpPr>
        <p:spPr>
          <a:xfrm>
            <a:off x="1669380" y="383992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" name="Google Shape;288;p24"/>
          <p:cNvGraphicFramePr/>
          <p:nvPr>
            <p:extLst>
              <p:ext uri="{D42A27DB-BD31-4B8C-83A1-F6EECF244321}">
                <p14:modId xmlns:p14="http://schemas.microsoft.com/office/powerpoint/2010/main" val="1381311903"/>
              </p:ext>
            </p:extLst>
          </p:nvPr>
        </p:nvGraphicFramePr>
        <p:xfrm>
          <a:off x="609600" y="2554946"/>
          <a:ext cx="10158302" cy="3305125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297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20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類型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細節描述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預測標的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SPY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美股大盤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), QQQ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科技股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), 0050.TW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台股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資料期間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2016 – 2026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（日級別資料）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原始特徵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OHLCV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開、高、低、收、量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技術指標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MA20, MA60, RSI(14),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年化波動率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(20)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交叉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驗證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TimeSeriesSplit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時間序列交叉驗證，確保訓練集早於測試集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9" name="Google Shape;289;p24"/>
          <p:cNvSpPr/>
          <p:nvPr/>
        </p:nvSpPr>
        <p:spPr>
          <a:xfrm>
            <a:off x="797718" y="37146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797718" y="426710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797718" y="48195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797718" y="537200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797718" y="59244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實驗設計：資料集與特徵</a:t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C854F3D-289B-B3B9-E6B9-432EFCFF88C4}"/>
              </a:ext>
            </a:extLst>
          </p:cNvPr>
          <p:cNvSpPr txBox="1"/>
          <p:nvPr/>
        </p:nvSpPr>
        <p:spPr>
          <a:xfrm>
            <a:off x="2229853" y="58933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dirty="0"/>
              <a:t>迴歸另採落後價（Lag1/2/5）與 MA10/MA50、波動率特徵</a:t>
            </a:r>
            <a:endParaRPr lang="zh-TW" alt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 txBox="1"/>
          <p:nvPr/>
        </p:nvSpPr>
        <p:spPr>
          <a:xfrm>
            <a:off x="405852" y="5302890"/>
            <a:ext cx="5578377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zh-TW" sz="1800" b="1" dirty="0">
                <a:solidFill>
                  <a:srgbClr val="FF0000"/>
                </a:solidFill>
              </a:rPr>
              <a:t>觀察：</a:t>
            </a:r>
            <a:r>
              <a:rPr lang="zh-TW" altLang="zh-TW" sz="1800" dirty="0"/>
              <a:t>四個模型 F1 均貼近或低於 Always-Up 基準（0.736） ，顯示分類的高分主要來自多頭市場的上漲</a:t>
            </a:r>
            <a:endParaRPr lang="en-US" altLang="zh-TW" sz="1800" dirty="0"/>
          </a:p>
          <a:p>
            <a:pPr lvl="0"/>
            <a:r>
              <a:rPr lang="zh-TW" altLang="zh-TW" sz="1800" dirty="0"/>
              <a:t>偏態；雙向 LSTM 因引入未來資訊反而最差。</a:t>
            </a:r>
            <a:endParaRPr lang="en-US" altLang="zh-TW" sz="1800" dirty="0"/>
          </a:p>
          <a:p>
            <a:pPr lvl="0"/>
            <a:r>
              <a:rPr lang="zh-TW" altLang="en-US" sz="1800" dirty="0"/>
              <a:t>隨機森林在 </a:t>
            </a:r>
            <a:r>
              <a:rPr lang="en-US" altLang="zh-TW" sz="1800" dirty="0"/>
              <a:t>0050 </a:t>
            </a:r>
            <a:r>
              <a:rPr lang="zh-TW" altLang="en-US" sz="1800" dirty="0"/>
              <a:t>僅 </a:t>
            </a:r>
            <a:r>
              <a:rPr lang="en-US" altLang="zh-TW" sz="1800" dirty="0"/>
              <a:t>0.599</a:t>
            </a:r>
            <a:r>
              <a:rPr lang="zh-TW" altLang="en-US" sz="1800" dirty="0"/>
              <a:t>、低於基準：以特徵分裂難掌握上漲偏態，雜訊高的台股反比單純猜漲更差。</a:t>
            </a:r>
          </a:p>
        </p:txBody>
      </p:sp>
      <p:sp>
        <p:nvSpPr>
          <p:cNvPr id="313" name="Google Shape;313;p2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2B5A617-5E5C-D89F-9C2F-CC8BD7FB2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7" y="1851339"/>
            <a:ext cx="5679577" cy="315532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3B5A04D-EBA5-EB33-EADE-4F5CACF8E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229" y="656703"/>
            <a:ext cx="5843189" cy="3246216"/>
          </a:xfrm>
          <a:prstGeom prst="rect">
            <a:avLst/>
          </a:prstGeom>
        </p:spPr>
      </p:pic>
      <p:sp>
        <p:nvSpPr>
          <p:cNvPr id="312" name="Google Shape;312;p25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分類問題結果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(SPY/QQQ/0050.TW)</a:t>
            </a:r>
            <a:endParaRPr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A4F57C2-667D-A92D-8A47-FE9D677DB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41877"/>
            <a:ext cx="5619648" cy="3122027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74D3299-37D6-5099-1F54-18716A2304A4}"/>
              </a:ext>
            </a:extLst>
          </p:cNvPr>
          <p:cNvSpPr txBox="1"/>
          <p:nvPr/>
        </p:nvSpPr>
        <p:spPr>
          <a:xfrm>
            <a:off x="638277" y="7151097"/>
            <a:ext cx="52341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altLang="zh-TW" sz="2000" dirty="0">
                <a:solidFill>
                  <a:srgbClr val="FF0000"/>
                </a:solidFill>
              </a:rPr>
            </a:br>
            <a:r>
              <a:rPr lang="en-US" altLang="zh-TW" sz="2000" dirty="0">
                <a:solidFill>
                  <a:srgbClr val="FF0000"/>
                </a:solidFill>
              </a:rPr>
              <a:t>F1</a:t>
            </a:r>
            <a:r>
              <a:rPr lang="zh-TW" altLang="en-US" sz="2000" dirty="0">
                <a:solidFill>
                  <a:srgbClr val="FF0000"/>
                </a:solidFill>
              </a:rPr>
              <a:t>隨機森林為什麼這麼爛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1A4504C6-D350-6AF5-005A-632DD273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A6456466-95F6-3217-210C-9F0D2A80EF04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迴歸結果：各模型誤差比較（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MSE / MAPE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）</a:t>
            </a:r>
            <a:endParaRPr lang="zh-TW" altLang="en-US" sz="3600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FAB5923A-9CD6-4FB8-6E3D-79FDCAD64D0B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288;p24">
            <a:extLst>
              <a:ext uri="{FF2B5EF4-FFF2-40B4-BE49-F238E27FC236}">
                <a16:creationId xmlns:a16="http://schemas.microsoft.com/office/drawing/2014/main" id="{A5A8134A-0615-4362-E2A2-A8C0F433AB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2575728"/>
              </p:ext>
            </p:extLst>
          </p:nvPr>
        </p:nvGraphicFramePr>
        <p:xfrm>
          <a:off x="571500" y="1970321"/>
          <a:ext cx="5407030" cy="335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95">
                  <a:extLst>
                    <a:ext uri="{9D8B030D-6E8A-4147-A177-3AD203B41FA5}">
                      <a16:colId xmlns:a16="http://schemas.microsoft.com/office/drawing/2014/main" val="2944450424"/>
                    </a:ext>
                  </a:extLst>
                </a:gridCol>
                <a:gridCol w="1280295">
                  <a:extLst>
                    <a:ext uri="{9D8B030D-6E8A-4147-A177-3AD203B41FA5}">
                      <a16:colId xmlns:a16="http://schemas.microsoft.com/office/drawing/2014/main" val="3648199840"/>
                    </a:ext>
                  </a:extLst>
                </a:gridCol>
                <a:gridCol w="1243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SPY </a:t>
                      </a:r>
                      <a:r>
                        <a:rPr lang="zh-TW" altLang="en-US"/>
                        <a:t>測試</a:t>
                      </a:r>
                      <a:r>
                        <a:rPr lang="en-US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QQQ </a:t>
                      </a:r>
                      <a:r>
                        <a:rPr lang="zh-TW" altLang="en-US" dirty="0"/>
                        <a:t>測試</a:t>
                      </a:r>
                      <a:r>
                        <a:rPr lang="en-US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0050 </a:t>
                      </a:r>
                      <a:r>
                        <a:rPr lang="zh-TW" altLang="en-US" dirty="0"/>
                        <a:t>測試</a:t>
                      </a:r>
                      <a:r>
                        <a:rPr lang="en-US" dirty="0"/>
                        <a:t>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ARIMA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19.57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21.53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2725.00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3137.76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35.11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2797.95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3291.94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37.17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3398.31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3596.48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33.98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2821.29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3277.47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35.67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單層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125.56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200.68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1.77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407154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雙層 </a:t>
                      </a:r>
                      <a:r>
                        <a:rPr lang="en-US" dirty="0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132.77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279.36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1.62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805341"/>
                  </a:ext>
                </a:extLst>
              </a:tr>
            </a:tbl>
          </a:graphicData>
        </a:graphic>
      </p:graphicFrame>
      <p:graphicFrame>
        <p:nvGraphicFramePr>
          <p:cNvPr id="6" name="Google Shape;288;p24">
            <a:extLst>
              <a:ext uri="{FF2B5EF4-FFF2-40B4-BE49-F238E27FC236}">
                <a16:creationId xmlns:a16="http://schemas.microsoft.com/office/drawing/2014/main" id="{243ADC06-20B2-DF68-02A3-0718AA583B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2376350"/>
              </p:ext>
            </p:extLst>
          </p:nvPr>
        </p:nvGraphicFramePr>
        <p:xfrm>
          <a:off x="6214494" y="1952632"/>
          <a:ext cx="5074953" cy="33527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589">
                  <a:extLst>
                    <a:ext uri="{9D8B030D-6E8A-4147-A177-3AD203B41FA5}">
                      <a16:colId xmlns:a16="http://schemas.microsoft.com/office/drawing/2014/main" val="2944450424"/>
                    </a:ext>
                  </a:extLst>
                </a:gridCol>
                <a:gridCol w="1109589">
                  <a:extLst>
                    <a:ext uri="{9D8B030D-6E8A-4147-A177-3AD203B41FA5}">
                      <a16:colId xmlns:a16="http://schemas.microsoft.com/office/drawing/2014/main" val="3648199840"/>
                    </a:ext>
                  </a:extLst>
                </a:gridCol>
                <a:gridCol w="1351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SPY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QQQ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0050 MAPE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ARIMA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zh-TW" dirty="0"/>
                        <a:t>0.79%</a:t>
                      </a:r>
                      <a:endParaRPr lang="en-US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1.04%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0.87%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11.09%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8.91%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9.80%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8.52%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單層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3.36%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2.94%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407154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雙層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3.73%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3.02%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805341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A5F311B0-B17B-1A99-C4B9-2E2A8D81C2A9}"/>
              </a:ext>
            </a:extLst>
          </p:cNvPr>
          <p:cNvSpPr txBox="1"/>
          <p:nvPr/>
        </p:nvSpPr>
        <p:spPr>
          <a:xfrm>
            <a:off x="972190" y="5729345"/>
            <a:ext cx="1001268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 spc="3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※ MSE</a:t>
            </a:r>
            <a:r>
              <a:rPr lang="zh-TW" altLang="en-US" dirty="0"/>
              <a:t>受股價尺度影響，僅供同市場內比較；</a:t>
            </a:r>
            <a:r>
              <a:rPr lang="en-US" altLang="zh-TW" dirty="0"/>
              <a:t>MAPE</a:t>
            </a:r>
            <a:r>
              <a:rPr lang="zh-TW" altLang="en-US" dirty="0"/>
              <a:t>為百分比，可跨市場比較。 </a:t>
            </a:r>
            <a:r>
              <a:rPr lang="en-US" altLang="zh-TW" dirty="0"/>
              <a:t>※ </a:t>
            </a:r>
            <a:r>
              <a:rPr lang="zh-TW" altLang="en-US" dirty="0"/>
              <a:t>同市場內排序一致：</a:t>
            </a:r>
            <a:r>
              <a:rPr lang="en-US" altLang="zh-TW" dirty="0"/>
              <a:t>ARIMA </a:t>
            </a:r>
            <a:r>
              <a:rPr lang="zh-TW" altLang="en-US" dirty="0"/>
              <a:t>＜ </a:t>
            </a:r>
            <a:r>
              <a:rPr lang="en-US" altLang="zh-TW" dirty="0"/>
              <a:t>LSTM </a:t>
            </a:r>
            <a:r>
              <a:rPr lang="zh-TW" altLang="en-US" dirty="0"/>
              <a:t>＜ 集成模型（誤差越小越佳）。</a:t>
            </a:r>
          </a:p>
        </p:txBody>
      </p:sp>
    </p:spTree>
    <p:extLst>
      <p:ext uri="{BB962C8B-B14F-4D97-AF65-F5344CB8AC3E}">
        <p14:creationId xmlns:p14="http://schemas.microsoft.com/office/powerpoint/2010/main" val="16843061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7355B00E-D0D5-7D41-1360-A5600395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>
            <a:extLst>
              <a:ext uri="{FF2B5EF4-FFF2-40B4-BE49-F238E27FC236}">
                <a16:creationId xmlns:a16="http://schemas.microsoft.com/office/drawing/2014/main" id="{88C4E738-C6FF-8328-7CE8-B3A63E7B9F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5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3DA0048B-F754-1D55-19D0-A672B0D8F6C0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預測曲線比較</a:t>
            </a:r>
            <a:endParaRPr lang="zh-TW" altLang="en-US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DD1A8AD1-2255-D1A3-8F48-17D9DAE8084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D46D1F1-F788-8ADD-C6D0-97C552140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39" y="1743581"/>
            <a:ext cx="5015515" cy="25077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E84D124-A2F9-0040-B6E1-538D605C5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741" y="1743581"/>
            <a:ext cx="5015516" cy="250775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FA9E784-970E-0DBF-04A9-70C4A1A43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39" y="4300790"/>
            <a:ext cx="5015516" cy="250775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C55AB294-1C3D-DC1D-AB31-B0DCFB201911}"/>
              </a:ext>
            </a:extLst>
          </p:cNvPr>
          <p:cNvSpPr txBox="1"/>
          <p:nvPr/>
        </p:nvSpPr>
        <p:spPr>
          <a:xfrm>
            <a:off x="5593437" y="4539007"/>
            <a:ext cx="6294124" cy="19930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 spc="3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1400" dirty="0"/>
              <a:t>※ </a:t>
            </a:r>
            <a:r>
              <a:rPr lang="zh-TW" altLang="en-US" sz="1400" dirty="0"/>
              <a:t>綠線</a:t>
            </a:r>
            <a:r>
              <a:rPr lang="en-US" altLang="zh-TW" sz="1400" dirty="0"/>
              <a:t>(ARIMA)</a:t>
            </a:r>
            <a:r>
              <a:rPr lang="zh-TW" altLang="en-US" sz="1400" dirty="0"/>
              <a:t>幾乎貼合實際值；</a:t>
            </a:r>
            <a:endParaRPr lang="en-US" altLang="zh-TW" sz="1400" dirty="0"/>
          </a:p>
          <a:p>
            <a:pPr>
              <a:lnSpc>
                <a:spcPct val="150000"/>
              </a:lnSpc>
            </a:pPr>
            <a:r>
              <a:rPr lang="zh-TW" altLang="en-US" sz="1400" dirty="0"/>
              <a:t>橘線</a:t>
            </a:r>
            <a:r>
              <a:rPr lang="en-US" altLang="zh-TW" sz="1400" dirty="0"/>
              <a:t>(Random Forest)</a:t>
            </a:r>
            <a:r>
              <a:rPr lang="zh-TW" altLang="en-US" sz="1400" dirty="0"/>
              <a:t>無法外推、預測躺平；</a:t>
            </a:r>
            <a:endParaRPr lang="en-US" altLang="zh-TW" sz="1400" dirty="0"/>
          </a:p>
          <a:p>
            <a:pPr>
              <a:lnSpc>
                <a:spcPct val="150000"/>
              </a:lnSpc>
            </a:pPr>
            <a:r>
              <a:rPr lang="zh-TW" altLang="en-US" sz="1400" dirty="0"/>
              <a:t>藍線</a:t>
            </a:r>
            <a:r>
              <a:rPr lang="en-US" altLang="zh-TW" sz="1400" dirty="0"/>
              <a:t>(LSTM)</a:t>
            </a:r>
            <a:r>
              <a:rPr lang="zh-TW" altLang="en-US" sz="1400" dirty="0"/>
              <a:t>能跟上趨勢但略有落差。</a:t>
            </a:r>
            <a:endParaRPr lang="en-US" altLang="zh-TW" sz="1400" dirty="0"/>
          </a:p>
          <a:p>
            <a:pPr>
              <a:lnSpc>
                <a:spcPct val="150000"/>
              </a:lnSpc>
            </a:pPr>
            <a:r>
              <a:rPr lang="en-US" altLang="zh-TW" sz="1400" dirty="0"/>
              <a:t>※</a:t>
            </a:r>
            <a:r>
              <a:rPr lang="zh-TW" altLang="en-US" sz="1400" dirty="0"/>
              <a:t>樹模型預測值是訓練樣本葉節點平均，必落在訓練價格範圍內，</a:t>
            </a:r>
          </a:p>
          <a:p>
            <a:pPr>
              <a:lnSpc>
                <a:spcPct val="150000"/>
              </a:lnSpc>
            </a:pPr>
            <a:r>
              <a:rPr lang="zh-TW" altLang="en-US" sz="1400" dirty="0"/>
              <a:t>測試期股價創新高時無法外推 → 預測躺平、誤差最大</a:t>
            </a:r>
            <a:endParaRPr lang="en-US" altLang="zh-TW" sz="1400" dirty="0"/>
          </a:p>
          <a:p>
            <a:pPr>
              <a:lnSpc>
                <a:spcPct val="150000"/>
              </a:lnSpc>
            </a:pPr>
            <a:r>
              <a:rPr lang="zh-TW" altLang="en-US" sz="1400" dirty="0"/>
              <a:t>（結構限制，非調參可解）。</a:t>
            </a:r>
          </a:p>
        </p:txBody>
      </p:sp>
    </p:spTree>
    <p:extLst>
      <p:ext uri="{BB962C8B-B14F-4D97-AF65-F5344CB8AC3E}">
        <p14:creationId xmlns:p14="http://schemas.microsoft.com/office/powerpoint/2010/main" val="23356953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BC758F3C-B17B-DC10-0FD9-87E2B750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C8A6446B-548B-210D-951A-102010E2CBFB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效能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(SPY/QQQ)</a:t>
            </a:r>
            <a:endParaRPr lang="zh-TW" altLang="en-US" sz="3600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93715043-A18B-8B19-7ACD-A2827722C9AD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288;p24">
            <a:extLst>
              <a:ext uri="{FF2B5EF4-FFF2-40B4-BE49-F238E27FC236}">
                <a16:creationId xmlns:a16="http://schemas.microsoft.com/office/drawing/2014/main" id="{6DA9B66A-A2E2-59AD-62F5-58DBC2828A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3201856"/>
              </p:ext>
            </p:extLst>
          </p:nvPr>
        </p:nvGraphicFramePr>
        <p:xfrm>
          <a:off x="417395" y="1740419"/>
          <a:ext cx="7722268" cy="2203400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1326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1890050924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2339667790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52852720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2000" b="1" i="0" u="none" strike="noStrike" cap="none" dirty="0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市場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R²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RMSE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MAE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SPY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43.23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6.58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5.23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QQQ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66.11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8.13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6.62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0050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0.21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0.46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0.35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6AAA3622-C22D-7F76-58C1-2802233C1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5" y="3962731"/>
            <a:ext cx="5841865" cy="292093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8CDB7C0-A6D4-739C-8FCE-57DE9C91F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264" y="3955979"/>
            <a:ext cx="5841865" cy="292093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A49B34A-9817-C288-C26D-FDC9E89083F3}"/>
              </a:ext>
            </a:extLst>
          </p:cNvPr>
          <p:cNvSpPr txBox="1"/>
          <p:nvPr/>
        </p:nvSpPr>
        <p:spPr>
          <a:xfrm>
            <a:off x="8246343" y="2373012"/>
            <a:ext cx="3778018" cy="7386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/>
              <a:t>GPT-4o-mini </a:t>
            </a:r>
            <a:r>
              <a:rPr lang="zh-TW" altLang="en-US" dirty="0"/>
              <a:t>在 </a:t>
            </a:r>
            <a:r>
              <a:rPr lang="en-US" altLang="zh-TW" dirty="0"/>
              <a:t>SPY</a:t>
            </a:r>
            <a:r>
              <a:rPr lang="zh-TW" altLang="en-US" dirty="0"/>
              <a:t>、</a:t>
            </a:r>
            <a:r>
              <a:rPr lang="en-US" altLang="zh-TW" dirty="0"/>
              <a:t>QQQ </a:t>
            </a:r>
            <a:r>
              <a:rPr lang="zh-TW" altLang="en-US" dirty="0"/>
              <a:t>各 </a:t>
            </a:r>
            <a:r>
              <a:rPr lang="en-US" altLang="zh-TW" dirty="0"/>
              <a:t>50 </a:t>
            </a:r>
            <a:r>
              <a:rPr lang="zh-TW" altLang="en-US" dirty="0"/>
              <a:t>個交易日的小樣本上預測次日收盤價， </a:t>
            </a:r>
            <a:r>
              <a:rPr lang="en-US" altLang="zh-TW" dirty="0"/>
              <a:t>R² </a:t>
            </a:r>
            <a:r>
              <a:rPr lang="zh-TW" altLang="en-US" dirty="0"/>
              <a:t>皆達 </a:t>
            </a:r>
            <a:r>
              <a:rPr lang="en-US" altLang="zh-TW" dirty="0"/>
              <a:t>0.80</a:t>
            </a:r>
            <a:r>
              <a:rPr lang="zh-TW" altLang="en-US" dirty="0"/>
              <a:t>。藍線為實際、紅線為預測，趨勢貼合度高。</a:t>
            </a:r>
          </a:p>
        </p:txBody>
      </p:sp>
    </p:spTree>
    <p:extLst>
      <p:ext uri="{BB962C8B-B14F-4D97-AF65-F5344CB8AC3E}">
        <p14:creationId xmlns:p14="http://schemas.microsoft.com/office/powerpoint/2010/main" val="3325254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5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迴歸任務小結</a:t>
            </a:r>
            <a:endParaRPr lang="zh-TW" altLang="en-US" sz="3600" dirty="0"/>
          </a:p>
        </p:txBody>
      </p:sp>
      <p:sp>
        <p:nvSpPr>
          <p:cNvPr id="340" name="Google Shape;340;p2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506AA77-23CA-9B7A-4347-1EC4E5E44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27" y="2022851"/>
            <a:ext cx="5621353" cy="281067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91ABF53-CA56-1B65-D73E-C7C5D08102D6}"/>
              </a:ext>
            </a:extLst>
          </p:cNvPr>
          <p:cNvSpPr txBox="1"/>
          <p:nvPr/>
        </p:nvSpPr>
        <p:spPr>
          <a:xfrm>
            <a:off x="5495547" y="1904498"/>
            <a:ext cx="669645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一、</a:t>
            </a:r>
            <a:r>
              <a:rPr lang="zh-TW" altLang="en-US" sz="2000" b="1" dirty="0"/>
              <a:t>模型排序一致：ARIMA &lt; LSTM &lt; 集成模型</a:t>
            </a:r>
          </a:p>
          <a:p>
            <a:r>
              <a:rPr lang="zh-TW" altLang="en-US" sz="1600" dirty="0"/>
              <a:t>　　以 MAPE（跨市場可比）衡量，三個市場排序一致：</a:t>
            </a:r>
          </a:p>
          <a:p>
            <a:r>
              <a:rPr lang="zh-TW" altLang="en-US" sz="1600" dirty="0"/>
              <a:t>　　ARIMA（0.7~1.1%）優於 LSTM（2~4%）優於樹模型（8~1</a:t>
            </a:r>
            <a:r>
              <a:rPr lang="en-US" altLang="zh-TW" sz="1600" dirty="0"/>
              <a:t>2</a:t>
            </a:r>
            <a:r>
              <a:rPr lang="zh-TW" altLang="en-US" sz="1600" dirty="0"/>
              <a:t>%）。</a:t>
            </a:r>
          </a:p>
          <a:p>
            <a:r>
              <a:rPr lang="zh-TW" altLang="en-US" sz="1600" dirty="0"/>
              <a:t>　　顯示在價格預測上，較簡單的統計模型反而比複雜模型穩定。</a:t>
            </a:r>
            <a:endParaRPr lang="en-US" altLang="zh-TW" sz="1600" dirty="0"/>
          </a:p>
          <a:p>
            <a:endParaRPr lang="zh-TW" altLang="en-US" sz="1600" dirty="0"/>
          </a:p>
          <a:p>
            <a:r>
              <a:rPr lang="zh-TW" altLang="en-US" sz="1600" dirty="0"/>
              <a:t>二、</a:t>
            </a:r>
            <a:r>
              <a:rPr lang="zh-TW" altLang="en-US" sz="2000" b="1" dirty="0"/>
              <a:t>集成模型的限制：無法外推</a:t>
            </a:r>
          </a:p>
          <a:p>
            <a:r>
              <a:rPr lang="zh-TW" altLang="en-US" sz="1600" dirty="0"/>
              <a:t>　　集成模型(RF/XGBoost等)無法預測超出訓練範圍的新高價，</a:t>
            </a:r>
          </a:p>
          <a:p>
            <a:r>
              <a:rPr lang="zh-TW" altLang="en-US" sz="1600" dirty="0"/>
              <a:t>　　在長期上漲的測試期誤差最大，這是其結構限制而非調參問題。</a:t>
            </a:r>
            <a:endParaRPr lang="en-US" altLang="zh-TW" sz="1600" dirty="0"/>
          </a:p>
          <a:p>
            <a:endParaRPr lang="zh-TW" altLang="en-US" sz="1600" dirty="0"/>
          </a:p>
          <a:p>
            <a:r>
              <a:rPr lang="zh-TW" altLang="en-US" sz="1600" dirty="0"/>
              <a:t>三、</a:t>
            </a:r>
            <a:r>
              <a:rPr lang="zh-TW" altLang="en-US" sz="2000" b="1" dirty="0"/>
              <a:t>LLM 展現潛力：三市場 R² 一致達 0.80</a:t>
            </a:r>
          </a:p>
          <a:p>
            <a:r>
              <a:rPr lang="zh-TW" altLang="en-US" sz="1600" dirty="0"/>
              <a:t>　　GPT-4o-mini 在小樣本(50天)下，SPY/QQQ/0050 的 R² 皆約 0.80，</a:t>
            </a:r>
          </a:p>
          <a:p>
            <a:r>
              <a:rPr lang="zh-TW" altLang="en-US" sz="1600" dirty="0"/>
              <a:t>　　無需訓練、僅靠提示即可達此水準，顯示 LLM 在數值預測上的潛力。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85B2A03-03E3-FF6A-87FF-F15EDDD6DAAB}"/>
              </a:ext>
            </a:extLst>
          </p:cNvPr>
          <p:cNvSpPr txBox="1"/>
          <p:nvPr/>
        </p:nvSpPr>
        <p:spPr>
          <a:xfrm>
            <a:off x="1604211" y="5445628"/>
            <a:ext cx="8357937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EDCE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1800" b="1" spc="300" dirty="0">
                <a:solidFill>
                  <a:schemeClr val="accent2">
                    <a:lumMod val="75000"/>
                  </a:schemeClr>
                </a:solidFill>
              </a:rPr>
              <a:t>→ 綜合而言：價格預測上「複雜模型不一定優於簡單模型」；</a:t>
            </a:r>
          </a:p>
          <a:p>
            <a:r>
              <a:rPr lang="zh-TW" altLang="en-US" sz="1800" b="1" spc="300" dirty="0">
                <a:solidFill>
                  <a:schemeClr val="accent2">
                    <a:lumMod val="75000"/>
                  </a:schemeClr>
                </a:solidFill>
              </a:rPr>
              <a:t>　 LLM 雖為小樣本探索，但跨市場一致性高，值得後續擴大驗證。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3523D12E-1476-4FD9-9ADF-963B90043229}"/>
              </a:ext>
            </a:extLst>
          </p:cNvPr>
          <p:cNvSpPr/>
          <p:nvPr/>
        </p:nvSpPr>
        <p:spPr>
          <a:xfrm>
            <a:off x="112588" y="5073937"/>
            <a:ext cx="5203364" cy="1230610"/>
          </a:xfrm>
          <a:prstGeom prst="roundRect">
            <a:avLst/>
          </a:prstGeom>
          <a:solidFill>
            <a:schemeClr val="accent3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6" name="Google Shape;356;p29"/>
          <p:cNvSpPr txBox="1"/>
          <p:nvPr/>
        </p:nvSpPr>
        <p:spPr>
          <a:xfrm>
            <a:off x="298182" y="5211999"/>
            <a:ext cx="49530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本平台整合迴歸預測與 </a:t>
            </a:r>
            <a:r>
              <a:rPr lang="en-US" altLang="zh-TW" sz="16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LLM </a:t>
            </a:r>
            <a:r>
              <a:rPr lang="zh-TW" altLang="en-US" sz="16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風險摘要，圖表支援即時互動（縮放、查看數值、切換時間範圍）；</a:t>
            </a:r>
            <a:endParaRPr lang="en-US" altLang="zh-TW" sz="1600" b="0" i="0" u="none" strike="noStrike" cap="none" dirty="0">
              <a:solidFill>
                <a:srgbClr val="000000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介面輕量、一般設備即可執行，適合作為教學示範與輔助參考工具。</a:t>
            </a:r>
            <a:endParaRPr sz="1600" dirty="0">
              <a:latin typeface="+mn-lt"/>
            </a:endParaRPr>
          </a:p>
        </p:txBody>
      </p:sp>
      <p:sp>
        <p:nvSpPr>
          <p:cNvPr id="358" name="Google Shape;358;p29"/>
          <p:cNvSpPr txBox="1"/>
          <p:nvPr/>
        </p:nvSpPr>
        <p:spPr>
          <a:xfrm>
            <a:off x="337473" y="2899722"/>
            <a:ext cx="4874418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800" b="1" dirty="0"/>
              <a:t>技術架構</a:t>
            </a:r>
            <a:r>
              <a:rPr lang="zh-TW" altLang="zh-TW" sz="1800" dirty="0"/>
              <a:t>：Streamlit + Plotly + SQLite</a:t>
            </a:r>
            <a:endParaRPr lang="en-US" altLang="zh-TW" sz="18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800" b="1" dirty="0"/>
              <a:t>迴歸預測</a:t>
            </a:r>
            <a:r>
              <a:rPr lang="zh-TW" altLang="zh-TW" sz="1800" dirty="0"/>
              <a:t>：預測次日報酬率，再換算回收盤價（避免外推問題）</a:t>
            </a:r>
            <a:endParaRPr lang="en-US" altLang="zh-TW" sz="18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800" b="1" dirty="0"/>
              <a:t>AI 輔助</a:t>
            </a:r>
            <a:r>
              <a:rPr lang="zh-TW" altLang="zh-TW" sz="1800" dirty="0"/>
              <a:t>：整合 GPT 生成風險摘要</a:t>
            </a:r>
            <a:endParaRPr sz="1800" dirty="0"/>
          </a:p>
        </p:txBody>
      </p:sp>
      <p:sp>
        <p:nvSpPr>
          <p:cNvPr id="370" name="Google Shape;370;p29"/>
          <p:cNvSpPr txBox="1"/>
          <p:nvPr/>
        </p:nvSpPr>
        <p:spPr>
          <a:xfrm>
            <a:off x="809625" y="1884610"/>
            <a:ext cx="49506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LLM-ETF 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平台實作</a:t>
            </a:r>
            <a:endParaRPr dirty="0"/>
          </a:p>
        </p:txBody>
      </p:sp>
      <p:sp>
        <p:nvSpPr>
          <p:cNvPr id="371" name="Google Shape;371;p29"/>
          <p:cNvSpPr/>
          <p:nvPr/>
        </p:nvSpPr>
        <p:spPr>
          <a:xfrm>
            <a:off x="571500" y="1884610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A7EA853-A5E6-550F-67FA-64B32E101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877" y="1208099"/>
            <a:ext cx="6633920" cy="496049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圓角 6">
            <a:extLst>
              <a:ext uri="{FF2B5EF4-FFF2-40B4-BE49-F238E27FC236}">
                <a16:creationId xmlns:a16="http://schemas.microsoft.com/office/drawing/2014/main" id="{BF5115FE-9D54-E5EC-9285-4BA8549019AC}"/>
              </a:ext>
            </a:extLst>
          </p:cNvPr>
          <p:cNvSpPr/>
          <p:nvPr/>
        </p:nvSpPr>
        <p:spPr>
          <a:xfrm>
            <a:off x="2042159" y="5091752"/>
            <a:ext cx="8077201" cy="1577175"/>
          </a:xfrm>
          <a:prstGeom prst="roundRect">
            <a:avLst/>
          </a:prstGeom>
          <a:effectLst/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77" name="Google Shape;37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884" y="2043999"/>
            <a:ext cx="5538536" cy="2858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51620" y="2043999"/>
            <a:ext cx="5903495" cy="285837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0"/>
          <p:cNvSpPr txBox="1"/>
          <p:nvPr/>
        </p:nvSpPr>
        <p:spPr>
          <a:xfrm>
            <a:off x="730417" y="2162806"/>
            <a:ext cx="49806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02147"/>
                </a:solidFill>
                <a:latin typeface="+mn-lt"/>
                <a:ea typeface="DM Sans"/>
                <a:cs typeface="DM Sans"/>
                <a:sym typeface="DM Sans"/>
              </a:rPr>
              <a:t>分類任務</a:t>
            </a:r>
            <a:r>
              <a:rPr lang="en-US" sz="2000" b="1" i="0" u="none" strike="noStrike" cap="none" dirty="0">
                <a:solidFill>
                  <a:srgbClr val="002147"/>
                </a:solidFill>
                <a:latin typeface="+mn-lt"/>
                <a:ea typeface="DM Sans"/>
                <a:cs typeface="DM Sans"/>
                <a:sym typeface="DM Sans"/>
              </a:rPr>
              <a:t> </a:t>
            </a: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+mn-lt"/>
                <a:ea typeface="DM Sans"/>
                <a:cs typeface="DM Sans"/>
                <a:sym typeface="DM Sans"/>
              </a:rPr>
              <a:t>（預測漲跌方向）</a:t>
            </a:r>
            <a:endParaRPr sz="2000" dirty="0">
              <a:latin typeface="+mn-lt"/>
            </a:endParaRPr>
          </a:p>
        </p:txBody>
      </p:sp>
      <p:sp>
        <p:nvSpPr>
          <p:cNvPr id="380" name="Google Shape;380;p30"/>
          <p:cNvSpPr txBox="1"/>
          <p:nvPr/>
        </p:nvSpPr>
        <p:spPr>
          <a:xfrm>
            <a:off x="571500" y="2651264"/>
            <a:ext cx="5115174" cy="2185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spcBef>
                <a:spcPts val="600"/>
              </a:spcBef>
              <a:buFontTx/>
              <a:buChar char="-"/>
            </a:pPr>
            <a:r>
              <a:rPr lang="zh-TW" altLang="zh-TW" sz="1600" dirty="0">
                <a:latin typeface="+mn-lt"/>
              </a:rPr>
              <a:t>預測次日「上漲 / 下跌」 </a:t>
            </a:r>
            <a:endParaRPr lang="en-US" altLang="zh-TW" sz="1600" dirty="0">
              <a:latin typeface="+mn-lt"/>
            </a:endParaRPr>
          </a:p>
          <a:p>
            <a:pPr marL="285750" lvl="0" indent="-285750">
              <a:spcBef>
                <a:spcPts val="600"/>
              </a:spcBef>
              <a:buFontTx/>
              <a:buChar char="-"/>
            </a:pPr>
            <a:r>
              <a:rPr lang="zh-TW" altLang="zh-TW" sz="1600" dirty="0">
                <a:latin typeface="+mn-lt"/>
              </a:rPr>
              <a:t>最佳：RF 0.732 / 單層 LSTM 0.694 </a:t>
            </a:r>
            <a:endParaRPr lang="en-US" altLang="zh-TW" sz="1600" dirty="0">
              <a:latin typeface="+mn-lt"/>
            </a:endParaRPr>
          </a:p>
          <a:p>
            <a:pPr marL="285750" lvl="0" indent="-285750">
              <a:spcBef>
                <a:spcPts val="600"/>
              </a:spcBef>
              <a:buFontTx/>
              <a:buChar char="-"/>
            </a:pPr>
            <a:r>
              <a:rPr lang="zh-TW" altLang="zh-TW" sz="1600" dirty="0">
                <a:latin typeface="+mn-lt"/>
              </a:rPr>
              <a:t>但各模型 F1 多貼近 Always-Up 基準 </a:t>
            </a:r>
            <a:endParaRPr lang="en-US" altLang="zh-TW" sz="1600" dirty="0">
              <a:latin typeface="+mn-lt"/>
            </a:endParaRPr>
          </a:p>
          <a:p>
            <a:pPr marL="285750" lvl="0" indent="-285750">
              <a:spcBef>
                <a:spcPts val="600"/>
              </a:spcBef>
              <a:buFontTx/>
              <a:buChar char="-"/>
            </a:pPr>
            <a:r>
              <a:rPr lang="zh-TW" altLang="zh-TW" sz="1600" dirty="0">
                <a:latin typeface="+mn-lt"/>
              </a:rPr>
              <a:t>高分主要來自多頭期間的市場偏態 </a:t>
            </a:r>
            <a:endParaRPr lang="en-US" altLang="zh-TW" sz="1600" dirty="0">
              <a:latin typeface="+mn-lt"/>
            </a:endParaRPr>
          </a:p>
          <a:p>
            <a:pPr marL="285750" lvl="0" indent="-285750">
              <a:spcBef>
                <a:spcPts val="600"/>
              </a:spcBef>
              <a:buFontTx/>
              <a:buChar char="-"/>
            </a:pPr>
            <a:r>
              <a:rPr lang="zh-TW" altLang="zh-TW" sz="1600" dirty="0">
                <a:latin typeface="+mn-lt"/>
              </a:rPr>
              <a:t>LLM(GPT-3.5) F1 僅 0.</a:t>
            </a:r>
            <a:r>
              <a:rPr lang="en-US" altLang="zh-TW" sz="1600">
                <a:latin typeface="+mn-lt"/>
              </a:rPr>
              <a:t>52</a:t>
            </a:r>
            <a:r>
              <a:rPr lang="zh-TW" altLang="zh-TW" sz="1600">
                <a:latin typeface="+mn-lt"/>
              </a:rPr>
              <a:t> </a:t>
            </a:r>
            <a:endParaRPr lang="en-US" altLang="zh-TW" sz="1600" dirty="0">
              <a:latin typeface="+mn-lt"/>
            </a:endParaRPr>
          </a:p>
          <a:p>
            <a:pPr lvl="0">
              <a:spcBef>
                <a:spcPts val="600"/>
              </a:spcBef>
            </a:pPr>
            <a:r>
              <a:rPr lang="zh-TW" altLang="zh-TW" sz="1600" b="1" dirty="0">
                <a:latin typeface="+mn-lt"/>
              </a:rPr>
              <a:t>→ 最佳 F1 僅 0.73、未超越基準 0.736，方向預測無實質效果</a:t>
            </a:r>
            <a:endParaRPr sz="16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81" name="Google Shape;381;p30"/>
          <p:cNvSpPr txBox="1"/>
          <p:nvPr/>
        </p:nvSpPr>
        <p:spPr>
          <a:xfrm>
            <a:off x="6268953" y="2162805"/>
            <a:ext cx="4474544" cy="31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+mn-lt"/>
                <a:ea typeface="DM Sans"/>
                <a:cs typeface="DM Sans"/>
                <a:sym typeface="DM Sans"/>
              </a:rPr>
              <a:t>迴歸任務（預測收盤價）</a:t>
            </a:r>
            <a:endParaRPr sz="2000" dirty="0">
              <a:latin typeface="+mn-lt"/>
            </a:endParaRPr>
          </a:p>
        </p:txBody>
      </p:sp>
      <p:sp>
        <p:nvSpPr>
          <p:cNvPr id="382" name="Google Shape;382;p30"/>
          <p:cNvSpPr txBox="1"/>
          <p:nvPr/>
        </p:nvSpPr>
        <p:spPr>
          <a:xfrm>
            <a:off x="6110035" y="2637808"/>
            <a:ext cx="5745080" cy="2185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FontTx/>
              <a:buChar char="-"/>
            </a:pPr>
            <a:r>
              <a:rPr lang="zh-TW" altLang="en-US" sz="1600" b="0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預測次日「收盤價」數值</a:t>
            </a:r>
            <a:endParaRPr lang="en-US" altLang="zh-TW" sz="1600" b="0" i="0" u="none" strike="noStrike" cap="none" dirty="0">
              <a:solidFill>
                <a:srgbClr val="1E293B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FontTx/>
              <a:buChar char="-"/>
            </a:pPr>
            <a:r>
              <a:rPr lang="en-US" altLang="zh-TW" sz="1600" b="0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ARIMA </a:t>
            </a:r>
            <a:r>
              <a:rPr lang="zh-TW" altLang="en-US" sz="1600" b="0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最佳（</a:t>
            </a:r>
            <a:r>
              <a:rPr lang="en-US" altLang="zh-TW" sz="1600" b="0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MAPE &lt;1.1%</a:t>
            </a:r>
            <a:r>
              <a:rPr lang="zh-TW" altLang="en-US" sz="1600" b="0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）</a:t>
            </a:r>
            <a:endParaRPr lang="en-US" altLang="zh-TW" sz="1600" b="0" i="0" u="none" strike="noStrike" cap="none" dirty="0">
              <a:solidFill>
                <a:srgbClr val="1E293B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FontTx/>
              <a:buChar char="-"/>
            </a:pPr>
            <a:r>
              <a:rPr lang="zh-TW" altLang="en-US" sz="1600" b="0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準度：</a:t>
            </a:r>
            <a:r>
              <a:rPr lang="en-US" altLang="zh-TW" sz="1600" b="0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ARIMA&gt;LSTM&gt;</a:t>
            </a:r>
            <a:r>
              <a:rPr lang="zh-TW" altLang="en-US" sz="1600" b="0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集成模型</a:t>
            </a:r>
            <a:endParaRPr lang="en-US" altLang="zh-TW" sz="1600" b="0" i="0" u="none" strike="noStrike" cap="none" dirty="0">
              <a:solidFill>
                <a:srgbClr val="1E293B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FontTx/>
              <a:buChar char="-"/>
            </a:pPr>
            <a:r>
              <a:rPr lang="zh-TW" altLang="en-US" sz="1600" b="0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集成模型無法外推、誤差最大；</a:t>
            </a:r>
            <a:r>
              <a:rPr lang="en-US" altLang="zh-TW" sz="1600" b="0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LLM(GPT-4o-mini) </a:t>
            </a:r>
            <a:r>
              <a:rPr lang="zh-TW" altLang="en-US" sz="1600" b="0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三市場 </a:t>
            </a:r>
            <a:r>
              <a:rPr lang="en-US" altLang="zh-TW" sz="1600" b="0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R²≈0.80</a:t>
            </a:r>
          </a:p>
          <a:p>
            <a:pPr marR="0" lvl="0" algn="l" rtl="0">
              <a:spcBef>
                <a:spcPts val="600"/>
              </a:spcBef>
              <a:spcAft>
                <a:spcPts val="0"/>
              </a:spcAft>
            </a:pPr>
            <a:r>
              <a:rPr lang="en-US" altLang="zh-TW" sz="1600" b="1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→ </a:t>
            </a:r>
            <a:r>
              <a:rPr lang="zh-TW" altLang="en-US" sz="1600" b="1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最簡單的 </a:t>
            </a:r>
            <a:r>
              <a:rPr lang="en-US" altLang="zh-TW" sz="1600" b="1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ARIMA </a:t>
            </a:r>
            <a:r>
              <a:rPr lang="zh-TW" altLang="en-US" sz="1600" b="1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反而勝過所有複雜模型</a:t>
            </a:r>
            <a:endParaRPr lang="en-US" altLang="zh-TW" sz="1600" b="1" i="0" u="none" strike="noStrike" cap="none" dirty="0">
              <a:solidFill>
                <a:srgbClr val="1E293B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R="0" lvl="0" algn="l" rtl="0">
              <a:spcBef>
                <a:spcPts val="600"/>
              </a:spcBef>
              <a:spcAft>
                <a:spcPts val="0"/>
              </a:spcAft>
            </a:pPr>
            <a:r>
              <a:rPr lang="zh-TW" altLang="en-US" sz="1600" b="1" i="0" u="none" strike="noStrike" cap="none" dirty="0">
                <a:solidFill>
                  <a:srgbClr val="1E293B"/>
                </a:solidFill>
                <a:latin typeface="+mn-lt"/>
                <a:ea typeface="DM Sans"/>
                <a:cs typeface="DM Sans"/>
                <a:sym typeface="DM Sans"/>
              </a:rPr>
              <a:t>（因後者無法外推）</a:t>
            </a:r>
            <a:endParaRPr sz="16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A04DF5F-6DE2-3EE7-A987-1F863D6AEFD6}"/>
              </a:ext>
            </a:extLst>
          </p:cNvPr>
          <p:cNvSpPr txBox="1"/>
          <p:nvPr/>
        </p:nvSpPr>
        <p:spPr>
          <a:xfrm>
            <a:off x="707231" y="161707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本研究兩種任務皆做，各回答不同問題</a:t>
            </a:r>
          </a:p>
        </p:txBody>
      </p:sp>
      <p:sp>
        <p:nvSpPr>
          <p:cNvPr id="5" name="Google Shape;394;p31">
            <a:extLst>
              <a:ext uri="{FF2B5EF4-FFF2-40B4-BE49-F238E27FC236}">
                <a16:creationId xmlns:a16="http://schemas.microsoft.com/office/drawing/2014/main" id="{10A165C8-523F-9F85-F109-0B1D232994CC}"/>
              </a:ext>
            </a:extLst>
          </p:cNvPr>
          <p:cNvSpPr txBox="1"/>
          <p:nvPr/>
        </p:nvSpPr>
        <p:spPr>
          <a:xfrm>
            <a:off x="2434790" y="5139799"/>
            <a:ext cx="732402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TW" altLang="en-US" sz="1600" b="1" dirty="0">
                <a:solidFill>
                  <a:schemeClr val="bg1"/>
                </a:solidFill>
              </a:rPr>
              <a:t>① 因任務而異：迴歸三市場皆 </a:t>
            </a:r>
            <a:r>
              <a:rPr lang="en-US" altLang="zh-TW" sz="1600" b="1" dirty="0">
                <a:solidFill>
                  <a:schemeClr val="bg1"/>
                </a:solidFill>
              </a:rPr>
              <a:t>ARIMA </a:t>
            </a:r>
            <a:r>
              <a:rPr lang="zh-TW" altLang="en-US" sz="1600" b="1" dirty="0">
                <a:solidFill>
                  <a:schemeClr val="bg1"/>
                </a:solidFill>
              </a:rPr>
              <a:t>最佳；</a:t>
            </a:r>
            <a:endParaRPr lang="en-US" altLang="zh-TW" sz="1600" b="1" dirty="0">
              <a:solidFill>
                <a:schemeClr val="bg1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TW" altLang="en-US" sz="1600" b="1" dirty="0">
                <a:solidFill>
                  <a:schemeClr val="bg1"/>
                </a:solidFill>
              </a:rPr>
              <a:t>分類各市場最佳僅貼近基準（</a:t>
            </a:r>
            <a:r>
              <a:rPr lang="en-US" altLang="zh-TW" sz="1600" b="1" dirty="0">
                <a:solidFill>
                  <a:schemeClr val="bg1"/>
                </a:solidFill>
              </a:rPr>
              <a:t>SPY </a:t>
            </a:r>
            <a:r>
              <a:rPr lang="zh-TW" altLang="en-US" sz="1600" b="1" dirty="0">
                <a:solidFill>
                  <a:schemeClr val="bg1"/>
                </a:solidFill>
              </a:rPr>
              <a:t>雙層</a:t>
            </a:r>
            <a:r>
              <a:rPr lang="en-US" altLang="zh-TW" sz="1600" b="1" dirty="0">
                <a:solidFill>
                  <a:schemeClr val="bg1"/>
                </a:solidFill>
              </a:rPr>
              <a:t>LSTM</a:t>
            </a:r>
            <a:r>
              <a:rPr lang="zh-TW" altLang="en-US" sz="1600" b="1" dirty="0">
                <a:solidFill>
                  <a:schemeClr val="bg1"/>
                </a:solidFill>
              </a:rPr>
              <a:t>、</a:t>
            </a:r>
            <a:r>
              <a:rPr lang="en-US" altLang="zh-TW" sz="1600" b="1" dirty="0">
                <a:solidFill>
                  <a:schemeClr val="bg1"/>
                </a:solidFill>
              </a:rPr>
              <a:t>QQQ RF</a:t>
            </a:r>
            <a:r>
              <a:rPr lang="zh-TW" altLang="en-US" sz="1600" b="1" dirty="0">
                <a:solidFill>
                  <a:schemeClr val="bg1"/>
                </a:solidFill>
              </a:rPr>
              <a:t>、</a:t>
            </a:r>
            <a:r>
              <a:rPr lang="en-US" altLang="zh-TW" sz="1600" b="1" dirty="0">
                <a:solidFill>
                  <a:schemeClr val="bg1"/>
                </a:solidFill>
              </a:rPr>
              <a:t>0050 </a:t>
            </a:r>
            <a:r>
              <a:rPr lang="zh-TW" altLang="en-US" sz="1600" b="1" dirty="0">
                <a:solidFill>
                  <a:schemeClr val="bg1"/>
                </a:solidFill>
              </a:rPr>
              <a:t>單層</a:t>
            </a:r>
            <a:r>
              <a:rPr lang="en-US" altLang="zh-TW" sz="1600" b="1" dirty="0">
                <a:solidFill>
                  <a:schemeClr val="bg1"/>
                </a:solidFill>
              </a:rPr>
              <a:t>LSTM</a:t>
            </a:r>
            <a:r>
              <a:rPr lang="zh-TW" altLang="en-US" sz="1600" b="1" dirty="0">
                <a:solidFill>
                  <a:schemeClr val="bg1"/>
                </a:solidFill>
              </a:rPr>
              <a:t>）。</a:t>
            </a:r>
          </a:p>
          <a:p>
            <a:pPr lvl="0">
              <a:lnSpc>
                <a:spcPct val="150000"/>
              </a:lnSpc>
            </a:pPr>
            <a:r>
              <a:rPr lang="zh-TW" altLang="en-US" sz="1600" b="1" dirty="0">
                <a:solidFill>
                  <a:schemeClr val="bg1"/>
                </a:solidFill>
              </a:rPr>
              <a:t>② 價格 </a:t>
            </a:r>
            <a:r>
              <a:rPr lang="en-US" altLang="zh-TW" sz="1600" b="1" dirty="0">
                <a:solidFill>
                  <a:schemeClr val="bg1"/>
                </a:solidFill>
              </a:rPr>
              <a:t>R² </a:t>
            </a:r>
            <a:r>
              <a:rPr lang="zh-TW" altLang="en-US" sz="1600" b="1" dirty="0">
                <a:solidFill>
                  <a:schemeClr val="bg1"/>
                </a:solidFill>
              </a:rPr>
              <a:t>高但分類輸基準：次日方向難預測，分類與 </a:t>
            </a:r>
            <a:r>
              <a:rPr lang="en-US" altLang="zh-TW" sz="1600" b="1" dirty="0">
                <a:solidFill>
                  <a:schemeClr val="bg1"/>
                </a:solidFill>
              </a:rPr>
              <a:t>LLM </a:t>
            </a:r>
            <a:r>
              <a:rPr lang="zh-TW" altLang="en-US" sz="1600" b="1" dirty="0">
                <a:solidFill>
                  <a:schemeClr val="bg1"/>
                </a:solidFill>
              </a:rPr>
              <a:t>較適合作輔助。</a:t>
            </a:r>
          </a:p>
          <a:p>
            <a:pPr lvl="0">
              <a:lnSpc>
                <a:spcPct val="150000"/>
              </a:lnSpc>
            </a:pPr>
            <a:r>
              <a:rPr lang="zh-TW" altLang="en-US" sz="1600" b="1" dirty="0">
                <a:solidFill>
                  <a:schemeClr val="bg1"/>
                </a:solidFill>
              </a:rPr>
              <a:t>③ </a:t>
            </a:r>
            <a:r>
              <a:rPr lang="en-US" altLang="zh-TW" sz="1600" b="1" dirty="0">
                <a:solidFill>
                  <a:schemeClr val="bg1"/>
                </a:solidFill>
              </a:rPr>
              <a:t>LLM </a:t>
            </a:r>
            <a:r>
              <a:rPr lang="zh-TW" altLang="en-US" sz="1600" b="1" dirty="0">
                <a:solidFill>
                  <a:schemeClr val="bg1"/>
                </a:solidFill>
              </a:rPr>
              <a:t>定位：適合作「解釋型」輔助，而非純算力引擎。</a:t>
            </a:r>
          </a:p>
        </p:txBody>
      </p:sp>
      <p:sp>
        <p:nvSpPr>
          <p:cNvPr id="4" name="Google Shape;370;p29">
            <a:extLst>
              <a:ext uri="{FF2B5EF4-FFF2-40B4-BE49-F238E27FC236}">
                <a16:creationId xmlns:a16="http://schemas.microsoft.com/office/drawing/2014/main" id="{1D1F9463-51D9-BE05-53DE-190C74A2566F}"/>
              </a:ext>
            </a:extLst>
          </p:cNvPr>
          <p:cNvSpPr txBox="1"/>
          <p:nvPr/>
        </p:nvSpPr>
        <p:spPr>
          <a:xfrm>
            <a:off x="869106" y="831759"/>
            <a:ext cx="49506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結論：分類與回歸比較</a:t>
            </a:r>
            <a:endParaRPr dirty="0"/>
          </a:p>
        </p:txBody>
      </p:sp>
      <p:sp>
        <p:nvSpPr>
          <p:cNvPr id="8" name="Google Shape;371;p29">
            <a:extLst>
              <a:ext uri="{FF2B5EF4-FFF2-40B4-BE49-F238E27FC236}">
                <a16:creationId xmlns:a16="http://schemas.microsoft.com/office/drawing/2014/main" id="{25607BA3-F70C-F03F-421F-3291C8021806}"/>
              </a:ext>
            </a:extLst>
          </p:cNvPr>
          <p:cNvSpPr/>
          <p:nvPr/>
        </p:nvSpPr>
        <p:spPr>
          <a:xfrm>
            <a:off x="630981" y="831759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274" y="1631130"/>
            <a:ext cx="5014916" cy="4561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74375" y="1631131"/>
            <a:ext cx="6012297" cy="4561122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2"/>
          <p:cNvSpPr txBox="1"/>
          <p:nvPr/>
        </p:nvSpPr>
        <p:spPr>
          <a:xfrm>
            <a:off x="295274" y="6347335"/>
            <a:ext cx="11601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簡報結束，敬請指導</a:t>
            </a:r>
            <a:endParaRPr sz="2400" dirty="0"/>
          </a:p>
        </p:txBody>
      </p:sp>
      <p:sp>
        <p:nvSpPr>
          <p:cNvPr id="412" name="Google Shape;412;p32"/>
          <p:cNvSpPr txBox="1"/>
          <p:nvPr/>
        </p:nvSpPr>
        <p:spPr>
          <a:xfrm>
            <a:off x="760693" y="1910453"/>
            <a:ext cx="49806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本研究貢獻</a:t>
            </a:r>
            <a:endParaRPr sz="2000" dirty="0"/>
          </a:p>
        </p:txBody>
      </p:sp>
      <p:sp>
        <p:nvSpPr>
          <p:cNvPr id="413" name="Google Shape;413;p32"/>
          <p:cNvSpPr txBox="1"/>
          <p:nvPr/>
        </p:nvSpPr>
        <p:spPr>
          <a:xfrm>
            <a:off x="5905500" y="1910453"/>
            <a:ext cx="49806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未來展望</a:t>
            </a:r>
            <a:endParaRPr sz="2000" dirty="0"/>
          </a:p>
        </p:txBody>
      </p:sp>
      <p:sp>
        <p:nvSpPr>
          <p:cNvPr id="426" name="Google Shape;426;p32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結論與未來研究方向</a:t>
            </a:r>
            <a:endParaRPr dirty="0"/>
          </a:p>
        </p:txBody>
      </p:sp>
      <p:sp>
        <p:nvSpPr>
          <p:cNvPr id="427" name="Google Shape;427;p32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90EF307-A7F2-3724-B068-BD51B5CF8A18}"/>
              </a:ext>
            </a:extLst>
          </p:cNvPr>
          <p:cNvSpPr txBox="1"/>
          <p:nvPr/>
        </p:nvSpPr>
        <p:spPr>
          <a:xfrm>
            <a:off x="459458" y="2629156"/>
            <a:ext cx="4850732" cy="2010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sz="1600" dirty="0">
                <a:solidFill>
                  <a:srgbClr val="1E293B"/>
                </a:solidFill>
                <a:latin typeface="+mn-lt"/>
              </a:rPr>
              <a:t>建立跨市場（台</a:t>
            </a:r>
            <a:r>
              <a:rPr lang="en-US" altLang="zh-TW" sz="1600" dirty="0">
                <a:solidFill>
                  <a:srgbClr val="1E293B"/>
                </a:solidFill>
                <a:latin typeface="+mn-lt"/>
              </a:rPr>
              <a:t>/</a:t>
            </a:r>
            <a:r>
              <a:rPr lang="zh-TW" altLang="en-US" sz="1600" dirty="0">
                <a:solidFill>
                  <a:srgbClr val="1E293B"/>
                </a:solidFill>
                <a:latin typeface="+mn-lt"/>
              </a:rPr>
              <a:t>美）</a:t>
            </a:r>
            <a:r>
              <a:rPr lang="en-US" altLang="zh-TW" sz="1600" dirty="0">
                <a:solidFill>
                  <a:srgbClr val="1E293B"/>
                </a:solidFill>
                <a:latin typeface="+mn-lt"/>
              </a:rPr>
              <a:t>ETF </a:t>
            </a:r>
            <a:r>
              <a:rPr lang="zh-TW" altLang="en-US" sz="1600" dirty="0">
                <a:solidFill>
                  <a:srgbClr val="1E293B"/>
                </a:solidFill>
                <a:latin typeface="+mn-lt"/>
              </a:rPr>
              <a:t>預測基準比較。</a:t>
            </a:r>
            <a:endParaRPr lang="en-US" altLang="zh-TW" sz="1600" dirty="0">
              <a:solidFill>
                <a:srgbClr val="1E293B"/>
              </a:solidFill>
              <a:latin typeface="+mn-lt"/>
            </a:endParaRP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sz="1600" dirty="0">
                <a:solidFill>
                  <a:srgbClr val="1E293B"/>
                </a:solidFill>
                <a:latin typeface="+mn-lt"/>
              </a:rPr>
              <a:t>同時進行漲跌分類與收盤價迴歸兩種任務。</a:t>
            </a:r>
            <a:endParaRPr lang="en-US" altLang="zh-TW" sz="1600" dirty="0">
              <a:solidFill>
                <a:srgbClr val="1E293B"/>
              </a:solidFill>
              <a:latin typeface="+mn-lt"/>
            </a:endParaRP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sz="1600" dirty="0">
                <a:solidFill>
                  <a:srgbClr val="1E293B"/>
                </a:solidFill>
                <a:latin typeface="+mn-lt"/>
              </a:rPr>
              <a:t>系統性比較 </a:t>
            </a:r>
            <a:r>
              <a:rPr lang="en-US" altLang="zh-TW" sz="1600" dirty="0">
                <a:solidFill>
                  <a:srgbClr val="1E293B"/>
                </a:solidFill>
                <a:latin typeface="+mn-lt"/>
              </a:rPr>
              <a:t>ARIMA</a:t>
            </a:r>
            <a:r>
              <a:rPr lang="zh-TW" altLang="en-US" sz="1600" dirty="0">
                <a:solidFill>
                  <a:srgbClr val="1E293B"/>
                </a:solidFill>
                <a:latin typeface="+mn-lt"/>
              </a:rPr>
              <a:t>、集成模型、</a:t>
            </a:r>
            <a:r>
              <a:rPr lang="en-US" altLang="zh-TW" sz="1600" dirty="0">
                <a:solidFill>
                  <a:srgbClr val="1E293B"/>
                </a:solidFill>
                <a:latin typeface="+mn-lt"/>
              </a:rPr>
              <a:t>LSTM </a:t>
            </a:r>
            <a:r>
              <a:rPr lang="zh-TW" altLang="en-US" sz="1600" dirty="0">
                <a:solidFill>
                  <a:srgbClr val="1E293B"/>
                </a:solidFill>
                <a:latin typeface="+mn-lt"/>
              </a:rPr>
              <a:t>與 </a:t>
            </a:r>
            <a:r>
              <a:rPr lang="en-US" altLang="zh-TW" sz="1600" dirty="0">
                <a:solidFill>
                  <a:srgbClr val="1E293B"/>
                </a:solidFill>
                <a:latin typeface="+mn-lt"/>
              </a:rPr>
              <a:t>LLM</a:t>
            </a:r>
            <a:r>
              <a:rPr lang="zh-TW" altLang="en-US" sz="1600" dirty="0">
                <a:solidFill>
                  <a:srgbClr val="1E293B"/>
                </a:solidFill>
                <a:latin typeface="+mn-lt"/>
              </a:rPr>
              <a:t>。</a:t>
            </a:r>
            <a:endParaRPr lang="en-US" altLang="zh-TW" sz="1600" dirty="0">
              <a:solidFill>
                <a:srgbClr val="1E293B"/>
              </a:solidFill>
              <a:latin typeface="+mn-lt"/>
            </a:endParaRP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sz="1600" dirty="0">
                <a:solidFill>
                  <a:srgbClr val="1E293B"/>
                </a:solidFill>
                <a:latin typeface="+mn-lt"/>
              </a:rPr>
              <a:t>揭示複雜模型無法外推、不如 </a:t>
            </a:r>
            <a:r>
              <a:rPr lang="en-US" altLang="zh-TW" sz="1600" dirty="0">
                <a:solidFill>
                  <a:srgbClr val="1E293B"/>
                </a:solidFill>
                <a:latin typeface="+mn-lt"/>
              </a:rPr>
              <a:t>ARIMA </a:t>
            </a:r>
            <a:r>
              <a:rPr lang="zh-TW" altLang="en-US" sz="1600" dirty="0">
                <a:solidFill>
                  <a:srgbClr val="1E293B"/>
                </a:solidFill>
                <a:latin typeface="+mn-lt"/>
              </a:rPr>
              <a:t>的侷限。</a:t>
            </a:r>
            <a:endParaRPr lang="en-US" altLang="zh-TW" sz="1600" dirty="0">
              <a:solidFill>
                <a:srgbClr val="1E293B"/>
              </a:solidFill>
              <a:latin typeface="+mn-lt"/>
            </a:endParaRP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sz="1600" dirty="0">
                <a:solidFill>
                  <a:srgbClr val="1E293B"/>
                </a:solidFill>
                <a:latin typeface="+mn-lt"/>
              </a:rPr>
              <a:t>實作並開源 </a:t>
            </a:r>
            <a:r>
              <a:rPr lang="en-US" altLang="zh-TW" sz="1600" dirty="0">
                <a:solidFill>
                  <a:srgbClr val="1E293B"/>
                </a:solidFill>
                <a:latin typeface="+mn-lt"/>
              </a:rPr>
              <a:t>LLM </a:t>
            </a:r>
            <a:r>
              <a:rPr lang="zh-TW" altLang="en-US" sz="1600" dirty="0">
                <a:solidFill>
                  <a:srgbClr val="1E293B"/>
                </a:solidFill>
                <a:latin typeface="+mn-lt"/>
              </a:rPr>
              <a:t>輔助預測平台。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53F690D-E60C-6686-A658-86DCDA59AD5B}"/>
              </a:ext>
            </a:extLst>
          </p:cNvPr>
          <p:cNvSpPr txBox="1"/>
          <p:nvPr/>
        </p:nvSpPr>
        <p:spPr>
          <a:xfrm>
            <a:off x="5744341" y="2345647"/>
            <a:ext cx="5472363" cy="37557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  <a:effectLst/>
                <a:latin typeface="DM Sans" pitchFamily="2" charset="0"/>
              </a:defRPr>
            </a:lvl1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zh-TW" altLang="en-US" sz="1600" dirty="0">
                <a:latin typeface="+mn-lt"/>
              </a:rPr>
              <a:t>串接即時行情 </a:t>
            </a:r>
            <a:r>
              <a:rPr lang="en-US" altLang="zh-TW" sz="1600" dirty="0">
                <a:latin typeface="+mn-lt"/>
              </a:rPr>
              <a:t>API</a:t>
            </a:r>
            <a:r>
              <a:rPr lang="zh-TW" altLang="en-US" sz="1600" dirty="0">
                <a:latin typeface="+mn-lt"/>
              </a:rPr>
              <a:t>：讓平台支援真實即時更新。</a:t>
            </a:r>
            <a:endParaRPr lang="en-US" altLang="zh-TW" sz="1600" dirty="0">
              <a:latin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TW" altLang="en-US" sz="1600" dirty="0">
                <a:latin typeface="+mn-lt"/>
              </a:rPr>
              <a:t>    （取代原本的混合模型）</a:t>
            </a:r>
            <a:endParaRPr lang="en-US" altLang="zh-TW" sz="1600" dirty="0"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zh-TW" altLang="en-US" sz="1600" dirty="0">
                <a:latin typeface="+mn-lt"/>
              </a:rPr>
              <a:t>擴大 </a:t>
            </a:r>
            <a:r>
              <a:rPr lang="en-US" altLang="zh-TW" sz="1600" dirty="0">
                <a:latin typeface="+mn-lt"/>
              </a:rPr>
              <a:t>LLM </a:t>
            </a:r>
            <a:r>
              <a:rPr lang="zh-TW" altLang="en-US" sz="1600" dirty="0">
                <a:latin typeface="+mn-lt"/>
              </a:rPr>
              <a:t>樣本：將 </a:t>
            </a:r>
            <a:r>
              <a:rPr lang="en-US" altLang="zh-TW" sz="1600" dirty="0">
                <a:latin typeface="+mn-lt"/>
              </a:rPr>
              <a:t>LLM </a:t>
            </a:r>
            <a:r>
              <a:rPr lang="zh-TW" altLang="en-US" sz="1600" dirty="0">
                <a:latin typeface="+mn-lt"/>
              </a:rPr>
              <a:t>迴歸從每市場 </a:t>
            </a:r>
            <a:r>
              <a:rPr lang="en-US" altLang="zh-TW" sz="1600" dirty="0">
                <a:latin typeface="+mn-lt"/>
              </a:rPr>
              <a:t>50 </a:t>
            </a:r>
            <a:r>
              <a:rPr lang="zh-TW" altLang="en-US" sz="1600" dirty="0">
                <a:latin typeface="+mn-lt"/>
              </a:rPr>
              <a:t>筆擴大至完整測試集，並統一模型與參數。</a:t>
            </a:r>
            <a:endParaRPr lang="en-US" altLang="zh-TW" sz="1600" dirty="0"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zh-TW" altLang="en-US" sz="1600" dirty="0">
                <a:latin typeface="+mn-lt"/>
              </a:rPr>
              <a:t>加入更多資訊：導入新聞情緒與總經指標，補強純技術面的不足。</a:t>
            </a:r>
            <a:endParaRPr lang="en-US" altLang="zh-TW" sz="1600" dirty="0"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zh-TW" altLang="en-US" sz="1600" dirty="0">
                <a:latin typeface="+mn-lt"/>
              </a:rPr>
              <a:t>比較更多 </a:t>
            </a:r>
            <a:r>
              <a:rPr lang="en-US" altLang="zh-TW" sz="1600" dirty="0">
                <a:latin typeface="+mn-lt"/>
              </a:rPr>
              <a:t>LLM</a:t>
            </a:r>
            <a:r>
              <a:rPr lang="zh-TW" altLang="en-US" sz="1600" dirty="0">
                <a:latin typeface="+mn-lt"/>
              </a:rPr>
              <a:t>：測試 </a:t>
            </a:r>
            <a:r>
              <a:rPr lang="en-US" altLang="zh-TW" sz="1600" dirty="0">
                <a:latin typeface="+mn-lt"/>
              </a:rPr>
              <a:t>Gemini</a:t>
            </a:r>
            <a:r>
              <a:rPr lang="zh-TW" altLang="en-US" sz="1600" dirty="0">
                <a:latin typeface="+mn-lt"/>
              </a:rPr>
              <a:t>、</a:t>
            </a:r>
            <a:r>
              <a:rPr lang="en-US" altLang="zh-TW" sz="1600" dirty="0">
                <a:latin typeface="+mn-lt"/>
              </a:rPr>
              <a:t>Llama</a:t>
            </a:r>
            <a:r>
              <a:rPr lang="zh-TW" altLang="en-US" sz="1600" dirty="0">
                <a:latin typeface="+mn-lt"/>
              </a:rPr>
              <a:t>、</a:t>
            </a:r>
            <a:r>
              <a:rPr lang="en-US" altLang="zh-TW" sz="1600" dirty="0">
                <a:latin typeface="+mn-lt"/>
              </a:rPr>
              <a:t>Gemma </a:t>
            </a:r>
            <a:r>
              <a:rPr lang="zh-TW" altLang="en-US" sz="1600" dirty="0">
                <a:latin typeface="+mn-lt"/>
              </a:rPr>
              <a:t>等模型。</a:t>
            </a:r>
            <a:endParaRPr lang="en-US" altLang="zh-TW" sz="1600" dirty="0"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zh-TW" altLang="en-US" sz="1600" dirty="0">
                <a:latin typeface="+mn-lt"/>
              </a:rPr>
              <a:t>平台可用性評估：未來邀請使用者實測，以 </a:t>
            </a:r>
            <a:r>
              <a:rPr lang="en-US" altLang="zh-TW" sz="1600" dirty="0">
                <a:latin typeface="+mn-lt"/>
              </a:rPr>
              <a:t>SUS </a:t>
            </a:r>
            <a:r>
              <a:rPr lang="zh-TW" altLang="en-US" sz="1600" dirty="0">
                <a:latin typeface="+mn-lt"/>
              </a:rPr>
              <a:t>量表評估介面可用性。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3321</TotalTime>
  <Words>9732</Words>
  <Application>Microsoft Office PowerPoint</Application>
  <PresentationFormat>寬螢幕</PresentationFormat>
  <Paragraphs>565</Paragraphs>
  <Slides>36</Slides>
  <Notes>36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3" baseType="lpstr">
      <vt:lpstr>Noto Sans TC</vt:lpstr>
      <vt:lpstr>Amasis MT Pro Medium</vt:lpstr>
      <vt:lpstr>Merriweather</vt:lpstr>
      <vt:lpstr>Arial</vt:lpstr>
      <vt:lpstr>DM Sans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Zoelin</dc:creator>
  <cp:lastModifiedBy>子瑜 林</cp:lastModifiedBy>
  <cp:revision>305</cp:revision>
  <dcterms:modified xsi:type="dcterms:W3CDTF">2026-06-26T16:07:57Z</dcterms:modified>
</cp:coreProperties>
</file>