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578" r:id="rId4"/>
    <p:sldId id="579" r:id="rId5"/>
    <p:sldId id="258" r:id="rId6"/>
    <p:sldId id="259" r:id="rId7"/>
    <p:sldId id="260" r:id="rId8"/>
    <p:sldId id="262" r:id="rId9"/>
    <p:sldId id="570" r:id="rId10"/>
    <p:sldId id="263" r:id="rId11"/>
    <p:sldId id="553" r:id="rId12"/>
    <p:sldId id="566" r:id="rId13"/>
    <p:sldId id="565" r:id="rId14"/>
    <p:sldId id="567" r:id="rId15"/>
    <p:sldId id="568" r:id="rId16"/>
    <p:sldId id="575" r:id="rId17"/>
    <p:sldId id="571" r:id="rId18"/>
    <p:sldId id="556" r:id="rId19"/>
    <p:sldId id="557" r:id="rId20"/>
    <p:sldId id="555" r:id="rId21"/>
    <p:sldId id="572" r:id="rId22"/>
    <p:sldId id="576" r:id="rId23"/>
    <p:sldId id="265" r:id="rId24"/>
    <p:sldId id="577" r:id="rId25"/>
    <p:sldId id="573" r:id="rId26"/>
    <p:sldId id="558" r:id="rId27"/>
    <p:sldId id="266" r:id="rId28"/>
    <p:sldId id="267" r:id="rId29"/>
    <p:sldId id="268" r:id="rId30"/>
    <p:sldId id="564" r:id="rId31"/>
    <p:sldId id="563" r:id="rId32"/>
    <p:sldId id="562" r:id="rId33"/>
    <p:sldId id="270" r:id="rId34"/>
    <p:sldId id="272" r:id="rId35"/>
    <p:sldId id="273" r:id="rId36"/>
    <p:sldId id="275" r:id="rId37"/>
  </p:sldIdLst>
  <p:sldSz cx="12192000" cy="6858000"/>
  <p:notesSz cx="6858000" cy="9144000"/>
  <p:embeddedFontLst>
    <p:embeddedFont>
      <p:font typeface="Amasis MT Pro Medium" panose="02040604050005020304" pitchFamily="18" charset="0"/>
      <p:regular r:id="rId39"/>
      <p:italic r:id="rId40"/>
    </p:embeddedFont>
    <p:embeddedFont>
      <p:font typeface="DM Sans" pitchFamily="2" charset="0"/>
      <p:regular r:id="rId41"/>
      <p:bold r:id="rId42"/>
      <p:italic r:id="rId43"/>
      <p:boldItalic r:id="rId44"/>
    </p:embeddedFont>
    <p:embeddedFont>
      <p:font typeface="Merriweather" panose="00000500000000000000" pitchFamily="2" charset="0"/>
      <p:regular r:id="rId45"/>
      <p:bold r:id="rId46"/>
      <p:italic r:id="rId47"/>
      <p:boldItalic r:id="rId48"/>
    </p:embeddedFont>
    <p:embeddedFont>
      <p:font typeface="Noto Sans TC" panose="020B0200000000000000" pitchFamily="34" charset="-120"/>
      <p:regular r:id="rId49"/>
      <p:bold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73633" autoAdjust="0"/>
  </p:normalViewPr>
  <p:slideViewPr>
    <p:cSldViewPr snapToGrid="0">
      <p:cViewPr varScale="1">
        <p:scale>
          <a:sx n="44" d="100"/>
          <a:sy n="44" d="100"/>
        </p:scale>
        <p:origin x="112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96CAC0D-CB76-E161-BD50-10ACCB834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FBB44B69-C235-FEC7-6711-C0F90EE08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E2A44208-8816-B13B-6821-BE607BAB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788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zh-TW" dirty="0"/>
              <a:t>這頁比較決策樹和隨機森林。左邊表先看性質：決策樹是單一模型、容易過擬合、</a:t>
            </a:r>
            <a:r>
              <a:rPr lang="zh-TW" altLang="en-US" dirty="0"/>
              <a:t>結構透明度</a:t>
            </a:r>
            <a:r>
              <a:rPr lang="zh-TW" altLang="zh-TW" dirty="0"/>
              <a:t>但準確度中等；隨機森林是多棵樹的集成，比較穩定。</a:t>
            </a:r>
          </a:p>
          <a:p>
            <a:r>
              <a:rPr lang="zh-TW" altLang="zh-TW" dirty="0"/>
              <a:t>右邊是我實際跑的結果，重點請看紅框。</a:t>
            </a:r>
            <a:r>
              <a:rPr lang="zh-TW" altLang="zh-TW" b="1" dirty="0"/>
              <a:t>決策樹在三個市場的訓練 MSE 都是全場最低</a:t>
            </a:r>
            <a:r>
              <a:rPr lang="zh-TW" altLang="zh-TW" dirty="0"/>
              <a:t>，代表它把訓練資料背得最熟；</a:t>
            </a:r>
            <a:r>
              <a:rPr lang="zh-TW" altLang="zh-TW" b="1" dirty="0"/>
              <a:t>但同一個決策樹的測試 MSE 反而都比隨機森林高</a:t>
            </a:r>
            <a:r>
              <a:rPr lang="zh-TW" altLang="zh-TW" dirty="0"/>
              <a:t>——以 SPY 為例，訓練只有 2.0、測試卻跳到 2782，比隨機森林的 2725 還高;0050 更明顯，測試 45.9 對隨機森林的 35.1。</a:t>
            </a:r>
          </a:p>
          <a:p>
            <a:r>
              <a:rPr lang="zh-TW" altLang="zh-TW" b="1" dirty="0"/>
              <a:t>過擬合</a:t>
            </a:r>
            <a:r>
              <a:rPr lang="zh-TW" altLang="zh-TW" dirty="0"/>
              <a:t>：單棵樹學得太細、記住了雜訊，所以一換到沒看過的資料就變差。隨機森林靠很多棵樹平均、降低變異，泛化就比較穩。這也印證了左表「準確度：隨機森林通常較高」這一列。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/>
            </a:br>
            <a:r>
              <a:rPr lang="zh-TW" altLang="zh-TW"/>
              <a:t>兩者都是 Boosting、都是循序修正錯誤，但修正方式不同。AdaBoost 是</a:t>
            </a:r>
            <a:r>
              <a:rPr lang="zh-TW" altLang="zh-TW" b="1"/>
              <a:t>調整樣本權重</a:t>
            </a:r>
            <a:r>
              <a:rPr lang="zh-TW" altLang="zh-TW"/>
              <a:t>——把上一輪預測錯比較多的樣本權重調高，讓下一棵樹更重視它；Gradient Boosting 則是</a:t>
            </a:r>
            <a:r>
              <a:rPr lang="zh-TW" altLang="zh-TW" b="1"/>
              <a:t>直接去擬合殘差</a:t>
            </a:r>
            <a:r>
              <a:rPr lang="zh-TW" altLang="zh-TW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「Gradient Boosting 不是加重樣本，而是去補『還差多少』。先做一個粗略預測，算出實際和預測的差距，叫殘差;接著訓練新的樹專門預測這個殘差、把它補回去。像圖上紅塊一輪一輪縮小，整體誤差就越來越低。所謂梯度，就是數學上決定往哪個方向補最有效。」</a:t>
            </a:r>
            <a:br>
              <a:rPr lang="en-US" altLang="zh-TW" dirty="0"/>
            </a:br>
            <a:r>
              <a:rPr lang="zh-TW" altLang="zh-TW" dirty="0"/>
              <a:t>「兩個都是把弱模型一棵棵串起來。差別是 AdaBoost 調整『樣本權重』、加重做錯的;Gradient Boosting 直接『擬合殘差』、去補還差的部分。XGBoost 則是在 GBM 上再加正規化和平行運算的強化版。」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前面分別介紹了 AdaBoost 和 Gradient Boosting，這頁把三種 Boosting 並排比較，加上 XGBoost。</a:t>
            </a:r>
          </a:p>
          <a:p>
            <a:pPr marL="158750" indent="0">
              <a:buNone/>
            </a:pPr>
            <a:r>
              <a:rPr lang="zh-TW" altLang="zh-TW" b="1" dirty="0"/>
              <a:t>核心機制</a:t>
            </a:r>
            <a:r>
              <a:rPr lang="zh-TW" altLang="zh-TW" dirty="0"/>
              <a:t>先快速回顧：AdaBoost 是調整樣本權重、加重做錯的;Gradient Boosting 是直接擬合殘差、去補還差的;XGBoost 則是 Gradient Boosting 的工程強化版。</a:t>
            </a:r>
          </a:p>
          <a:p>
            <a:pPr marL="158750" indent="0">
              <a:buNone/>
            </a:pPr>
            <a:r>
              <a:rPr lang="zh-TW" altLang="zh-TW" dirty="0"/>
              <a:t>差別主要在三點。</a:t>
            </a:r>
            <a:r>
              <a:rPr lang="zh-TW" altLang="zh-TW" b="1" dirty="0"/>
              <a:t>防過擬合</a:t>
            </a:r>
            <a:r>
              <a:rPr lang="zh-TW" altLang="zh-TW" dirty="0"/>
              <a:t>：XGBoost 多了正規化和學習率控制，最完整。</a:t>
            </a:r>
            <a:r>
              <a:rPr lang="zh-TW" altLang="zh-TW" b="1" dirty="0"/>
              <a:t>運算效率</a:t>
            </a:r>
            <a:r>
              <a:rPr lang="zh-TW" altLang="zh-TW" dirty="0"/>
              <a:t>：AdaBoost 和 GBM 都是一棵接一棵的序列訓練、比較慢，XGBoost 用平行運算，最快。</a:t>
            </a:r>
            <a:r>
              <a:rPr lang="zh-TW" altLang="zh-TW" b="1" dirty="0"/>
              <a:t>對離群值</a:t>
            </a:r>
            <a:r>
              <a:rPr lang="zh-TW" altLang="zh-TW" dirty="0"/>
              <a:t>：AdaBoost 因為會加重分錯的樣本，對離群值比較敏感，另外兩個相對穩健。</a:t>
            </a:r>
          </a:p>
          <a:p>
            <a:pPr marL="158750" indent="0">
              <a:buNone/>
            </a:pPr>
            <a:r>
              <a:rPr lang="zh-TW" altLang="zh-TW" dirty="0"/>
              <a:t>不過要強調的是——看最下面兩列，我實測 SPY 的結果，</a:t>
            </a:r>
            <a:r>
              <a:rPr lang="zh-TW" altLang="zh-TW" b="1" dirty="0"/>
              <a:t>三者的 MSE 和 MAPE 其實很接近</a:t>
            </a:r>
            <a:r>
              <a:rPr lang="zh-TW" altLang="zh-TW" dirty="0"/>
              <a:t>（2797 到 3398、都落在 8 到 10%）。也就是說，雖然 XGBoost 理論上最強，但在這個股價預測任務上，三種 Boosting 差異不大;而且它們</a:t>
            </a:r>
            <a:r>
              <a:rPr lang="zh-TW" altLang="zh-TW" b="1" dirty="0"/>
              <a:t>全都遠輸給 ARIMA 和 LSTM</a:t>
            </a:r>
            <a:r>
              <a:rPr lang="zh-TW" altLang="zh-TW" dirty="0"/>
              <a:t>，原因就是前面說的——樹系模型無法外推。這也呼應我的主結論：複雜模型未必比較好。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「這頁是四種樹系集成模型的核心程式碼，用 scikit-learn 加 xgboost，並以 TimeSeriesSplit 做驗證。</a:t>
            </a:r>
          </a:p>
          <a:p>
            <a:pPr marL="158750" indent="0">
              <a:buNone/>
            </a:pPr>
            <a:r>
              <a:rPr lang="zh-TW" altLang="zh-TW" dirty="0"/>
              <a:t>重點看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models()</a:t>
            </a:r>
            <a:r>
              <a:rPr lang="zh-TW" altLang="zh-TW" dirty="0"/>
              <a:t> 這個函式，裡面定義了 Random Forest、XGBoost、AdaBoost、Gradient Boosting 四個模型，參數都固定 random_state=42 確保可重現。以 XGBoost 為例，我設 n_estimators=100、max_depth=4、learning_rate=0.1——這幾個參數共同控制模型複雜度、抑制過擬合。</a:t>
            </a:r>
          </a:p>
          <a:p>
            <a:pPr marL="158750" indent="0">
              <a:buNone/>
            </a:pPr>
            <a:r>
              <a:rPr lang="zh-TW" altLang="zh-TW" dirty="0"/>
              <a:t>最下面說明的第二點很關鍵：四個模型都用 TimeSeriesSplit 時序交叉驗證，依時間切分、訓練集永遠早於驗證集，避免用未來資料預測過去，也就是防止資料洩漏。」</a:t>
            </a:r>
            <a:br>
              <a:rPr lang="en-US" altLang="zh-TW" dirty="0"/>
            </a:br>
            <a:r>
              <a:rPr lang="zh-TW" altLang="zh-TW" dirty="0"/>
              <a:t>「learning_rate 是每加一棵樹時，更新幅度的縮放係數。設太大（像 0.3）每步走太猛，容易過擬合、訓練也不穩；設太小收斂太慢，要堆很多樹才有效果。0.1 是實務上最常用、最穩健的折衷值，所以我用 0.1。它會跟 n_estimators 一起調——學習率小就要更多樹，我固定 100 棵搭配 0.1，是常見的穩定組合。」</a:t>
            </a:r>
            <a:br>
              <a:rPr lang="en-US" altLang="zh-TW" dirty="0"/>
            </a:b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sklearn.ensemble</a:t>
            </a:r>
            <a:r>
              <a:rPr lang="zh-TW" altLang="zh-TW" dirty="0"/>
              <a:t>：「這是 scikit-learn 放集成模型的模組，RF、AdaBoost、GBM 都從這裡來；XGBoost 不在裡面，是另一個套件。」 「learning_rate 設 0.1 是因為它會縮小每一步的更新幅度、讓提升過程更保守、防止過擬合，0.1 是常用穩健值。」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這頁是深度學習 LSTM 的核心程式碼，用 TensorFlow 的 Keras 寫的。</a:t>
            </a:r>
          </a:p>
          <a:p>
            <a:pPr marL="158750" indent="0">
              <a:buNone/>
            </a:pPr>
            <a:r>
              <a:rPr lang="zh-TW" altLang="zh-TW" dirty="0"/>
              <a:t>我用 Keras 的 Sequential 把模型一層層疊起來。上面是單層 LSTM：先用 Input 定義輸入形狀，接一層 LSTM、設 50 個神經元，最後用 Dense(1) 輸出一個數值，也就是預測的次日收盤價。</a:t>
            </a:r>
          </a:p>
          <a:p>
            <a:pPr marL="158750" indent="0">
              <a:buNone/>
            </a:pPr>
            <a:r>
              <a:rPr lang="zh-TW" altLang="zh-TW" dirty="0"/>
              <a:t>下面是雙層 LSTM，差別在疊了兩層 LSTM——注意第一層要設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return_sequences=True</a:t>
            </a:r>
            <a:r>
              <a:rPr lang="zh-TW" altLang="zh-TW" dirty="0"/>
              <a:t>，讓它回傳每個時間步的輸出，第二層才有完整的序列可以接著學。</a:t>
            </a:r>
            <a:br>
              <a:rPr lang="zh-TW" altLang="zh-TW" dirty="0"/>
            </a:br>
            <a:br>
              <a:rPr lang="zh-TW" altLang="zh-TW" dirty="0"/>
            </a:br>
            <a:r>
              <a:rPr lang="zh-TW" altLang="zh-TW" dirty="0"/>
              <a:t>最關鍵的是最後這行：因為我要預測的是「連續的價格數值」，所以輸出層 Dense(1) 不接 sigmoid、損失函數用 mse（均方誤差）——這就是迴歸版本。如果是做漲跌分類，才會改成 sigmoid 加交叉熵。</a:t>
            </a:r>
            <a:br>
              <a:rPr lang="en-US" altLang="zh-TW" dirty="0"/>
            </a:br>
            <a:r>
              <a:rPr lang="zh-TW" altLang="zh-TW" b="1" dirty="0"/>
              <a:t>Q：LSTM 是什麼、為什麼用它？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「LSTM 是一種能記住長期序列關係的循環神經網路，適合處理像股價這種有時間先後的資料，所以我用它來抓價格的時間趨勢。」</a:t>
            </a:r>
          </a:p>
          <a:p>
            <a:pPr marL="158750" indent="0">
              <a:buNone/>
            </a:pPr>
            <a:r>
              <a:rPr lang="zh-TW" altLang="zh-TW" b="1" dirty="0"/>
              <a:t>Q：50 個神經元怎麼決定的？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「50 是常用的中等設定，太大容易過擬合、訓練也慢。我先用 50 當基準，重點是比較不同模型，不是調到最佳。」</a:t>
            </a:r>
          </a:p>
          <a:p>
            <a:pPr marL="158750" indent="0">
              <a:buNone/>
            </a:pPr>
            <a:r>
              <a:rPr lang="zh-TW" altLang="zh-TW" b="1" dirty="0"/>
              <a:t>Q：為什麼單層之外還做雙層？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「想看看加深網路能不能學到更複雜的型態。結果雙層沒有明顯比單層好，這也呼應我的結論——複雜模型未必較佳。」</a:t>
            </a:r>
          </a:p>
          <a:p>
            <a:pPr marL="158750" indent="0">
              <a:buNone/>
            </a:pPr>
            <a:r>
              <a:rPr lang="zh-TW" altLang="zh-TW" b="1" dirty="0"/>
              <a:t>Q：為什麼確定這是迴歸不是分類？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「看最後兩個地方：Dense(1) 輸出單一連續值、loss 用 mse。分類會用 sigmoid 加交叉熵，這裡都沒有，所以是迴歸。」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這頁是雙向 LSTM。前面的單層、雙層 LSTM 都是『單向』，只從過去往未來讀;雙向 LSTM 多了一個反方向，會同時從未來往過去再讀一次，把兩個方向的結果合併，理論上能擷取更完整的前後文資訊。</a:t>
            </a:r>
          </a:p>
          <a:p>
            <a:pPr marL="158750" indent="0">
              <a:buNone/>
            </a:pPr>
            <a:r>
              <a:rPr lang="zh-TW" altLang="zh-TW" dirty="0"/>
              <a:t>實作上就是用 Keras 的 Bidirectional 把 LSTM 包起來。單層就是 Bidirectional(LSTM(50)) 加 Dense(1);雙層一樣疊兩層、第一層設 return_sequences=True。其餘設定和前面一致，optimizer 用 adam、loss 用 mse，所以同樣是迴歸版本。</a:t>
            </a:r>
            <a:br>
              <a:rPr lang="en-US" altLang="zh-TW" dirty="0"/>
            </a:br>
            <a:r>
              <a:rPr lang="zh-TW" altLang="zh-TW" dirty="0"/>
              <a:t>不過要特別說明——雖然雙向理論上資訊更多，但在我的『預測』任務裡，反向等於讓模型偷看到未來的資料，造成資料洩漏，所以雙向 LSTM 在結果裡反而表現最差。這也呼應我後面的發現：更複雜的模型在這個任務上未必更好。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br>
              <a:rPr lang="en-US" altLang="zh-TW" dirty="0"/>
            </a:br>
            <a:r>
              <a:rPr lang="zh-TW" altLang="zh-TW" b="1" dirty="0"/>
              <a:t>Q：那為什麼不用更強的 GPT-4？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「分類這個任務瓶頸不在模型強弱，是『次日方向』本身就接近隨機，換 GPT-4 也很難突破市場偏態;我有限的算力比較適合放在它擅長的數值迴歸。」</a:t>
            </a:r>
          </a:p>
          <a:p>
            <a:pPr marL="158750" indent="0">
              <a:buNone/>
            </a:pPr>
            <a:r>
              <a:rPr lang="zh-TW" altLang="zh-TW" b="1" dirty="0"/>
              <a:t>Q：既然這麼差，放這頁的意義是什麼？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「正是要證明一件事——LLM 適合做數值推理（迴歸 R²=0.80），不適合做漲跌分類。這個對比本身就是我的發現，不是失敗。」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>
                <a:effectLst/>
              </a:rPr>
              <a:t>這頁是 LLM 的迴歸任務，三個市場都跑了。模型用 gpt-4o-mini，把過去 60 天的五個技術指標整理成提示詞，要它輸出次日收盤價，每個市場測 50 筆。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結果三市場的 R² 非常一致，都在 0.80 左右。要注意 MSE 和 RMSE 不能跨市場比——因為 0050 股價幾十元、SPY 和 QQQ 是幾百元，平方後尺度差很大;跨市場要看標準化的 R²，三個都約 0.80，代表 LLM 的數值預測能力是穩定的。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對比同一個 LLM 做漲跌分類只有 F1 0.48，這說明 LLM 擅長數值預測、不擅長方向分類，定位是解釋型輔助。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Q：0050 的 MSE 0.22 是不是特別準？</a:t>
            </a:r>
            <a:r>
              <a:rPr lang="zh-TW" altLang="zh-TW" dirty="0">
                <a:effectLst/>
              </a:rPr>
              <a:t> →「不是，是股價尺度小所以 MSE 小;看 R² 三市場其實一樣，都約 0.80。」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Q：R² 0.80 比 ARIMA 好嗎？</a:t>
            </a:r>
            <a:r>
              <a:rPr lang="zh-TW" altLang="zh-TW" dirty="0">
                <a:effectLst/>
              </a:rPr>
              <a:t> →「沒有，ARIMA 更好;重點是證明 LLM 零訓練、純提示詞也能達到 0.80 的數值預測力。</a:t>
            </a:r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迴歸的核心程式碼。我用 OpenAI 的 API 呼叫 gpt-4o-mini，把整理好的提示詞傳進去，要它預測次日收盤價。</a:t>
            </a:r>
          </a:p>
          <a:p>
            <a:pPr marL="158750" indent="0">
              <a:buNone/>
            </a:pPr>
            <a:r>
              <a:rPr lang="zh-TW" altLang="zh-TW" dirty="0"/>
              <a:t>這裡 temperature 設 0.7。temperature 控制輸出的隨機性，範圍從 0 到 2，數值越高輸出越多樣。0.7 是業界處理 LLM 時最常用的設定，即使是預測任務也通常採 0.7 左右，而不是設成 0。</a:t>
            </a:r>
          </a:p>
          <a:p>
            <a:pPr marL="158750" indent="0">
              <a:buNone/>
            </a:pPr>
            <a:r>
              <a:rPr lang="zh-TW" altLang="zh-TW" dirty="0"/>
              <a:t>另外我用 response_format 強制模型回傳 JSON 格式，程式再從裡面取出 predicted_close 這個欄位，作為預測的收盤價。</a:t>
            </a:r>
            <a:br>
              <a:rPr lang="en-US" altLang="zh-TW" dirty="0"/>
            </a:br>
            <a:r>
              <a:rPr lang="zh-TW" altLang="zh-TW" dirty="0"/>
              <a:t>雖然 0.7 會帶來一點隨機性，但我重跑後三個市場的 R² 仍然維持在 0.8 左右，代表 LLM 的數值預測能力是穩定的，並不依賴把 temperature 設成 0。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pPr marL="158750" indent="0">
              <a:buNone/>
            </a:pPr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pPr marL="158750" indent="0">
              <a:buNone/>
            </a:pPr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pPr marL="158750" indent="0">
              <a:buNone/>
            </a:pPr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pPr marL="158750" indent="0">
              <a:buNone/>
            </a:pPr>
            <a:r>
              <a:rPr lang="zh-TW" altLang="zh-TW" dirty="0"/>
              <a:t>第四,模型訓練:所有迴歸模型統一採 TimeSeriesSplit 五折時序交叉驗證,確保訓練集永遠早於測試集。其中 ARIMA 在每一折的測試段內採逐日 rolling forecast(1 步預測、每步以真值更新),使其與樹模型、LSTM 同為「1 步預測」,達到公平比較。之所以不用一般的 K-Fold,是因為它會打亂時間順序、造成未來資料洩漏。</a:t>
            </a:r>
            <a:br>
              <a:rPr lang="en-US" altLang="zh-TW" dirty="0"/>
            </a:br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100" dirty="0">
                <a:solidFill>
                  <a:srgbClr val="FF0000"/>
                </a:solidFill>
              </a:rPr>
              <a:t>Q:</a:t>
            </a:r>
            <a:r>
              <a:rPr lang="zh-TW" altLang="zh-TW" sz="11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1100" dirty="0">
                <a:solidFill>
                  <a:srgbClr val="FF0000"/>
                </a:solidFill>
              </a:rPr>
              <a:t>為什麼要寫這個</a:t>
            </a:r>
            <a:br>
              <a:rPr lang="en-US" altLang="zh-TW" dirty="0"/>
            </a:br>
            <a:r>
              <a:rPr lang="zh-TW" altLang="zh-TW" dirty="0"/>
              <a:t>Always-Up 是『每天都猜漲』的天真基準，多頭期間光猜漲就有 0.736。它是及格線——模型贏不過它，就代表方向沒真的學到，高分來自市場偏態</a:t>
            </a:r>
            <a:br>
              <a:rPr lang="en-US" altLang="zh-TW" dirty="0"/>
            </a:br>
            <a:r>
              <a:rPr lang="en-US" altLang="zh-TW" dirty="0"/>
              <a:t>Q:</a:t>
            </a:r>
            <a:r>
              <a:rPr lang="zh-TW" altLang="zh-TW" dirty="0"/>
              <a:t>隨機森林 F1 為什麼這麼爛（0050 只有 0.599）？</a:t>
            </a:r>
            <a:br>
              <a:rPr lang="en-US" altLang="zh-TW" dirty="0"/>
            </a:br>
            <a:r>
              <a:rPr lang="zh-TW" altLang="zh-TW" dirty="0"/>
              <a:t>隨機森林只在台股 0050 特別差（0.599），因為它靠特徵硬分、沒跟著『多頭猜漲』的偏態走;加上台股雜訊高、受國際連動，方向更難抓，所以低於基準。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這頁是三個市場的預測曲線比較，重點看線的顏色。</a:t>
            </a:r>
          </a:p>
          <a:p>
            <a:pPr marL="158750" indent="0">
              <a:buNone/>
            </a:pPr>
            <a:r>
              <a:rPr lang="zh-TW" altLang="zh-TW" dirty="0"/>
              <a:t>黑色是實際股價，一路往上漲。綠色是 ARIMA，幾乎完全貼著黑線，預測最準;藍色是 LSTM，跟得上趨勢、但有一點落差;橘色是隨機森林，大家可以看到它整條</a:t>
            </a:r>
            <a:r>
              <a:rPr lang="zh-TW" altLang="zh-TW" b="1" dirty="0"/>
              <a:t>躺平</a:t>
            </a:r>
            <a:r>
              <a:rPr lang="zh-TW" altLang="zh-TW" dirty="0"/>
              <a:t>，完全追不上。</a:t>
            </a:r>
          </a:p>
          <a:p>
            <a:pPr marL="158750" indent="0">
              <a:buNone/>
            </a:pPr>
            <a:r>
              <a:rPr lang="zh-TW" altLang="zh-TW" dirty="0"/>
              <a:t>為什麼隨機森林會躺平？因為它</a:t>
            </a:r>
            <a:r>
              <a:rPr lang="zh-TW" altLang="zh-TW" b="1" dirty="0"/>
              <a:t>只會在『看過的價格範圍』裡面猜</a:t>
            </a:r>
            <a:r>
              <a:rPr lang="zh-TW" altLang="zh-TW" dirty="0"/>
              <a:t>。它訓練時看過的最高價是多少，預測就大概只能到那裡，沒辦法猜出更高的價格。但我的測試期股價一直創新高、超過它看過的範圍，所以它只能停在歷史高點那條線上，越差越遠。</a:t>
            </a:r>
          </a:p>
          <a:p>
            <a:pPr marL="158750" indent="0">
              <a:buNone/>
            </a:pPr>
            <a:r>
              <a:rPr lang="zh-TW" altLang="zh-TW" dirty="0"/>
              <a:t>這是隨機森林這類模型天生的限制，再怎麼調參數都改不了。這也正好說明我的研究發現——遇到股價創新高的情況，反而是 ARIMA 這種簡單、能延伸趨勢的模型表現最好。</a:t>
            </a:r>
            <a:br>
              <a:rPr lang="en-US" altLang="zh-TW" dirty="0"/>
            </a:br>
            <a:r>
              <a:rPr lang="zh-TW" altLang="zh-TW" b="1" dirty="0"/>
              <a:t>Q：為什麼隨機森林猜不出更高的價？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「因為它是從歷史資料裡找相似的情況、再給出類似的答案，所以答案不會超出它看過的價格。股價創新高時是它沒看過的狀況，就猜不準了。」</a:t>
            </a:r>
          </a:p>
          <a:p>
            <a:pPr marL="158750" indent="0">
              <a:buNone/>
            </a:pPr>
            <a:r>
              <a:rPr lang="zh-TW" altLang="zh-TW" b="1" dirty="0"/>
              <a:t>Q：那 ARIMA 為什麼可以？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 ARIMA 看的是『趨勢』——它發現股價一直往上，就會順著往上延伸，所以能跟著創新高。」</a:t>
            </a:r>
          </a:p>
          <a:p>
            <a:pPr marL="158750" indent="0">
              <a:buNone/>
            </a:pPr>
            <a:r>
              <a:rPr lang="zh-TW" altLang="zh-TW" b="1" dirty="0"/>
              <a:t>Q：調參數能救嗎？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「不行，這是這類模型本身的限制，不是參數問題。要解決就得換能順著趨勢延伸的模型，像 ARIMA。」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這頁是我實作的 LLM-ETF 平台。技術上用 Streamlit 做介面、Plotly 畫互動圖表、SQLite 存資料。</a:t>
            </a:r>
          </a:p>
          <a:p>
            <a:pPr marL="158750" indent="0">
              <a:buNone/>
            </a:pPr>
            <a:r>
              <a:rPr lang="zh-TW" altLang="zh-TW" dirty="0"/>
              <a:t>平台以迴歸預測次日收盤價為主——這裡我做了修正，改成預測報酬率再換算回價格，避免樹模型無法外推的問題，所以右邊可以看到最新價 693、預測明日 694，是合理的。下方還整合了 GPT 生成的風險摘要當輔助。</a:t>
            </a:r>
          </a:p>
          <a:p>
            <a:pPr marL="158750" indent="0">
              <a:buNone/>
            </a:pPr>
            <a:r>
              <a:rPr lang="zh-TW" altLang="zh-TW" dirty="0"/>
              <a:t>圖表的部分支援即時互動，可以縮放、查看每一天的數值、切換時間範圍，我也準備了操作影片示範。</a:t>
            </a:r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這頁是分類和迴歸兩個任務的總結。</a:t>
            </a:r>
          </a:p>
          <a:p>
            <a:pPr marL="158750" indent="0">
              <a:buNone/>
            </a:pPr>
            <a:r>
              <a:rPr lang="zh-TW" altLang="zh-TW" dirty="0"/>
              <a:t>分類方面，最好的模型 F1 是 0.73，但 Always-Up 基準就有 0.736——模型沒有超越『每天猜漲』的天真策略，代表次日方向其實沒被真正預測出來，高分來自多頭市場偏態。</a:t>
            </a:r>
          </a:p>
          <a:p>
            <a:pPr marL="158750" indent="0">
              <a:buNone/>
            </a:pPr>
            <a:r>
              <a:rPr lang="zh-TW" altLang="zh-TW" dirty="0"/>
              <a:t>迴歸方面，準度排序是 ARIMA 最準、LSTM 次之、集成模型最差。最值得注意的是——</a:t>
            </a:r>
            <a:r>
              <a:rPr lang="zh-TW" altLang="zh-TW" b="1" dirty="0"/>
              <a:t>最簡單的 ARIMA 反而贏過所有複雜的集成模型</a:t>
            </a:r>
            <a:r>
              <a:rPr lang="zh-TW" altLang="zh-TW" dirty="0"/>
              <a:t>，因為集成模型無法外推。這就是我的核心發現：在股價預測上，複雜的模型不一定比較好，能掌握趨勢的簡單模型反而更有效。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處理</a:t>
            </a:r>
            <a:r>
              <a:rPr lang="en-US" sz="165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image.png">
            <a:extLst>
              <a:ext uri="{FF2B5EF4-FFF2-40B4-BE49-F238E27FC236}">
                <a16:creationId xmlns:a16="http://schemas.microsoft.com/office/drawing/2014/main" id="{483CF0E5-9BEE-B76F-9612-4893B4C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89" y="5469656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一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：集成學習與台股預測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CB02B9-5582-A658-FA72-C6CD0F7D32A7}"/>
              </a:ext>
            </a:extLst>
          </p:cNvPr>
          <p:cNvSpPr txBox="1"/>
          <p:nvPr/>
        </p:nvSpPr>
        <p:spPr>
          <a:xfrm>
            <a:off x="572002" y="1533357"/>
            <a:ext cx="6090345" cy="3909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TW" altLang="zh-TW" b="0" dirty="0">
                <a:effectLst/>
              </a:rPr>
            </a:b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徐維延 (2019)：TAIEX 趨勢預測研究</a:t>
            </a:r>
            <a:br>
              <a:rPr lang="zh-TW" altLang="zh-TW" b="0" dirty="0">
                <a:effectLst/>
              </a:rPr>
            </a:br>
            <a:endParaRPr lang="zh-TW" altLang="zh-TW" b="0" dirty="0">
              <a:effectLst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核心方法：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使用 1999-2018 年共 20 年資料，整合 192 個特徵（含技術面、國際股市與總經指標）。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模型：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隨機森林 (RF) 與 AdaBoost 混合模型，採用「增長式視窗滾動法」驗證。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關鍵發現：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集成模型受「外推限制」影響，無法預測超出訓練範圍的新高價。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驗證了本研究中集成模型在歷史高點易出現「預測躺平」的結構性限制。</a:t>
            </a:r>
          </a:p>
        </p:txBody>
      </p:sp>
      <p:pic>
        <p:nvPicPr>
          <p:cNvPr id="8" name="圖片 7" descr="image.png">
            <a:extLst>
              <a:ext uri="{FF2B5EF4-FFF2-40B4-BE49-F238E27FC236}">
                <a16:creationId xmlns:a16="http://schemas.microsoft.com/office/drawing/2014/main" id="{0A2B7CDE-EBB1-E740-37AE-CACC27BEF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15" y="1528709"/>
            <a:ext cx="4573127" cy="419958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8FF992-E99B-A6D9-99D5-C5543FD474CA}"/>
              </a:ext>
            </a:extLst>
          </p:cNvPr>
          <p:cNvSpPr txBox="1"/>
          <p:nvPr/>
        </p:nvSpPr>
        <p:spPr>
          <a:xfrm>
            <a:off x="706980" y="5523574"/>
            <a:ext cx="7636042" cy="830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研究啟發：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複雜的混合模型未顯著優於單一隨機森林。</a:t>
            </a:r>
            <a:endParaRPr lang="en-US" altLang="zh-TW" sz="1600" b="1" dirty="0">
              <a:solidFill>
                <a:srgbClr val="1E293B"/>
              </a:solidFill>
              <a:latin typeface="DM Sans"/>
            </a:endParaRPr>
          </a:p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本研究採用 TimeSeriesSplit 確保時序邏輯一致。</a:t>
            </a: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8415EB6-3870-0F3B-EEBB-DEEF164E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 descr="image.png">
            <a:extLst>
              <a:ext uri="{FF2B5EF4-FFF2-40B4-BE49-F238E27FC236}">
                <a16:creationId xmlns:a16="http://schemas.microsoft.com/office/drawing/2014/main" id="{C0F5F140-8390-68E5-DA91-58F7128A9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180" y="1545558"/>
            <a:ext cx="4656820" cy="3491663"/>
          </a:xfrm>
          <a:prstGeom prst="rect">
            <a:avLst/>
          </a:prstGeom>
        </p:spPr>
      </p:pic>
      <p:pic>
        <p:nvPicPr>
          <p:cNvPr id="13" name="圖片 12" descr="image.png">
            <a:extLst>
              <a:ext uri="{FF2B5EF4-FFF2-40B4-BE49-F238E27FC236}">
                <a16:creationId xmlns:a16="http://schemas.microsoft.com/office/drawing/2014/main" id="{12801054-BE5B-5EC3-CF00-97A5C24E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91" y="5658051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A052FC13-29A7-E7EE-0BC6-8CADA4EB040E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二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ARIMA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與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LSTM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比較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84E7867B-2E09-0674-0401-793BC15C3E4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ACB22B-1914-8A37-BCA9-222144AEA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89068"/>
              </p:ext>
            </p:extLst>
          </p:nvPr>
        </p:nvGraphicFramePr>
        <p:xfrm>
          <a:off x="420291" y="4561662"/>
          <a:ext cx="7167625" cy="876300"/>
        </p:xfrm>
        <a:graphic>
          <a:graphicData uri="http://schemas.openxmlformats.org/drawingml/2006/table">
            <a:tbl>
              <a:tblPr/>
              <a:tblGrid>
                <a:gridCol w="1749242">
                  <a:extLst>
                    <a:ext uri="{9D8B030D-6E8A-4147-A177-3AD203B41FA5}">
                      <a16:colId xmlns:a16="http://schemas.microsoft.com/office/drawing/2014/main" val="3084911989"/>
                    </a:ext>
                  </a:extLst>
                </a:gridCol>
                <a:gridCol w="5418383">
                  <a:extLst>
                    <a:ext uri="{9D8B030D-6E8A-4147-A177-3AD203B41FA5}">
                      <a16:colId xmlns:a16="http://schemas.microsoft.com/office/drawing/2014/main" val="996712117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準確率優勢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(MAPE 0.66-1.07%) &gt; LSTM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63117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運算效率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LSTM 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遠快於 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後者需頻繁重建模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)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863249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D09D0E92-B124-0736-A919-020D43016C30}"/>
              </a:ext>
            </a:extLst>
          </p:cNvPr>
          <p:cNvSpPr txBox="1"/>
          <p:nvPr/>
        </p:nvSpPr>
        <p:spPr>
          <a:xfrm>
            <a:off x="32975" y="1729722"/>
            <a:ext cx="755263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1800" b="1" dirty="0">
                <a:solidFill>
                  <a:srgbClr val="1E293B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吳冠霆 (2025)：跨市場指數預測效能比對</a:t>
            </a:r>
          </a:p>
          <a:p>
            <a:pPr>
              <a:buNone/>
            </a:pPr>
            <a:endParaRPr lang="zh-TW" altLang="zh-TW" sz="1600" dirty="0"/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資料範圍：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涵蓋台、美、日、港五大指數 (2010-2024)。</a:t>
            </a:r>
            <a:endParaRPr lang="zh-TW" altLang="zh-TW" sz="1600" b="1" dirty="0">
              <a:solidFill>
                <a:schemeClr val="bg2">
                  <a:lumMod val="75000"/>
                </a:schemeClr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績效對比：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ARIMA 模型在 MAPE 等指標上全面優於深度學習模型 LSTM，且曲線更貼近實際走勢。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架構優化：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單層 LSTM (512/1024 單位) 搭配 Sigmoid 函數為最佳配置；增加層數無法提升能力。</a:t>
            </a:r>
          </a:p>
          <a:p>
            <a:pPr>
              <a:buNone/>
            </a:pPr>
            <a:endParaRPr lang="zh-TW" altLang="zh-TW" b="0" dirty="0">
              <a:effectLst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438BC05-9F7A-1613-BE65-23A36B9ED247}"/>
              </a:ext>
            </a:extLst>
          </p:cNvPr>
          <p:cNvSpPr txBox="1"/>
          <p:nvPr/>
        </p:nvSpPr>
        <p:spPr>
          <a:xfrm>
            <a:off x="647700" y="585906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支持本研究中「簡單模型 (ARIMA) 優於複雜模型 (LSTM)」的實驗結果與參數設定。</a:t>
            </a:r>
          </a:p>
        </p:txBody>
      </p:sp>
      <p:pic>
        <p:nvPicPr>
          <p:cNvPr id="14" name="圖片 13" descr="image.png">
            <a:extLst>
              <a:ext uri="{FF2B5EF4-FFF2-40B4-BE49-F238E27FC236}">
                <a16:creationId xmlns:a16="http://schemas.microsoft.com/office/drawing/2014/main" id="{F8BB2892-F4F7-70C0-4F61-F01ED42F7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042" y="2138151"/>
            <a:ext cx="4416190" cy="230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07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041720"/>
            <a:ext cx="5018259" cy="4579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4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400" b="1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RMSQ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559951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875521" y="782610"/>
            <a:ext cx="5995638" cy="11079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ARIMA(自迴歸整合移動平均)是時間序列預測中最常用的統計模型,本研究作為</a:t>
            </a:r>
            <a:r>
              <a:rPr lang="zh-TW" altLang="zh-TW" sz="1600" b="1" dirty="0"/>
              <a:t>基準模型(Baseline)</a:t>
            </a:r>
            <a:r>
              <a:rPr lang="zh-TW" altLang="zh-TW" sz="1600" dirty="0"/>
              <a:t>。對單變量時間序列進行建模與預測。</a:t>
            </a:r>
            <a:endParaRPr sz="12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216669" y="1581764"/>
            <a:ext cx="56588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chemeClr val="tx1"/>
                </a:solidFill>
              </a:rPr>
              <a:t>為何 </a:t>
            </a:r>
            <a:r>
              <a:rPr lang="en-US" altLang="zh-TW" sz="1600" dirty="0">
                <a:solidFill>
                  <a:schemeClr val="tx1"/>
                </a:solidFill>
              </a:rPr>
              <a:t>d=1</a:t>
            </a:r>
            <a:r>
              <a:rPr lang="zh-TW" altLang="en-US" sz="1600" dirty="0">
                <a:solidFill>
                  <a:schemeClr val="tx1"/>
                </a:solidFill>
              </a:rPr>
              <a:t>：股價為非定態（有趨勢），須一次差分轉為定態，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才能建模；</a:t>
            </a:r>
            <a:r>
              <a:rPr lang="en-US" altLang="zh-TW" sz="1600" dirty="0">
                <a:solidFill>
                  <a:schemeClr val="tx1"/>
                </a:solidFill>
              </a:rPr>
              <a:t>d=0 </a:t>
            </a:r>
            <a:r>
              <a:rPr lang="zh-TW" altLang="en-US" sz="1600" dirty="0">
                <a:solidFill>
                  <a:schemeClr val="tx1"/>
                </a:solidFill>
              </a:rPr>
              <a:t>不差分會殘留趨勢、預測失準。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346464" y="2971745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參數說明：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 err="1">
                <a:solidFill>
                  <a:schemeClr val="tx1"/>
                </a:solidFill>
              </a:rPr>
              <a:t>pmdarima</a:t>
            </a:r>
            <a:r>
              <a:rPr lang="zh-TW" altLang="en-US" sz="1600" b="1" dirty="0">
                <a:solidFill>
                  <a:schemeClr val="tx1"/>
                </a:solidFill>
              </a:rPr>
              <a:t>：</a:t>
            </a:r>
            <a:r>
              <a:rPr lang="en-US" altLang="zh-TW" sz="1600" b="1" dirty="0" err="1">
                <a:solidFill>
                  <a:schemeClr val="tx1"/>
                </a:solidFill>
              </a:rPr>
              <a:t>auto_arima</a:t>
            </a:r>
            <a:r>
              <a:rPr lang="en-US" altLang="zh-TW" sz="1600" b="1" dirty="0">
                <a:solidFill>
                  <a:schemeClr val="tx1"/>
                </a:solidFill>
              </a:rPr>
              <a:t> </a:t>
            </a:r>
            <a:r>
              <a:rPr lang="zh-TW" altLang="en-US" sz="1600" b="1" dirty="0">
                <a:solidFill>
                  <a:schemeClr val="tx1"/>
                </a:solidFill>
              </a:rPr>
              <a:t>自動選參數 </a:t>
            </a:r>
            <a:r>
              <a:rPr lang="en-US" altLang="zh-TW" sz="1600" b="1" dirty="0">
                <a:solidFill>
                  <a:schemeClr val="tx1"/>
                </a:solidFill>
              </a:rPr>
              <a:t>+ rolling forecast</a:t>
            </a:r>
            <a:r>
              <a:rPr lang="zh-TW" altLang="en-US" sz="1600" b="1" dirty="0">
                <a:solidFill>
                  <a:schemeClr val="tx1"/>
                </a:solidFill>
              </a:rPr>
              <a:t>（</a:t>
            </a:r>
            <a:r>
              <a:rPr lang="en-US" altLang="zh-TW" sz="1600" b="1" dirty="0">
                <a:solidFill>
                  <a:schemeClr val="tx1"/>
                </a:solidFill>
              </a:rPr>
              <a:t>arima_baseline.py</a:t>
            </a:r>
            <a:r>
              <a:rPr lang="zh-TW" altLang="en-US" sz="1600" b="1" dirty="0">
                <a:solidFill>
                  <a:schemeClr val="tx1"/>
                </a:solidFill>
              </a:rPr>
              <a:t>）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721896" y="3310220"/>
            <a:ext cx="952302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start_p=0, start_q=0：AR、MA 階數的搜尋起點。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max_p=5, max_q=5：限制最大階數，避免過度複雜。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d=None（搭配 test='adf'）：差分階數不固定，改由 ADF 定態檢定自動決定（本研究三市場皆得 d=1）。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seasonal=False：股價日資料無固定季節週期，關閉季節項（不跑 SARIMA）。 information_criterion='aic'：以 AIC 在候選模型中選最佳（兼顧配適度與複雜度）。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stepwise=True：逐步搜尋而非窮舉，速度快且穩定。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error_action='ignore', suppress_warnings=True：跳過無法配適的組合、抑制警告。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01A688-D880-2F90-7F1F-7B8FC157A13B}"/>
              </a:ext>
            </a:extLst>
          </p:cNvPr>
          <p:cNvSpPr txBox="1"/>
          <p:nvPr/>
        </p:nvSpPr>
        <p:spPr>
          <a:xfrm>
            <a:off x="1485965" y="5891260"/>
            <a:ext cx="79948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highlight>
                  <a:srgbClr val="FFFF00"/>
                </a:highlight>
              </a:rPr>
              <a:t>三市場最佳模型：SPY ARIMA(0,1,2)、QQQ ARIMA(1,1,0)、0050.TW ARIMA(0,1,0)；</a:t>
            </a:r>
            <a:endParaRPr lang="en-US" altLang="zh-TW" sz="1600" b="1" dirty="0">
              <a:highlight>
                <a:srgbClr val="FFFF00"/>
              </a:highlight>
            </a:endParaRPr>
          </a:p>
          <a:p>
            <a:r>
              <a:rPr lang="zh-TW" altLang="zh-TW" sz="1600" b="1" dirty="0">
                <a:highlight>
                  <a:srgbClr val="FFFF00"/>
                </a:highlight>
              </a:rPr>
              <a:t>皆 d=1，與 ADF 檢定結果一致。</a:t>
            </a:r>
            <a:endParaRPr lang="zh-TW" altLang="en-US" sz="16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103230" y="3899315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973B3895-3AC3-9652-9FA9-E89B1C9D6768}"/>
              </a:ext>
            </a:extLst>
          </p:cNvPr>
          <p:cNvSpPr txBox="1"/>
          <p:nvPr/>
        </p:nvSpPr>
        <p:spPr>
          <a:xfrm>
            <a:off x="2426704" y="3893865"/>
            <a:ext cx="841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800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F1BB03A2-8D19-272E-6E1A-FE1A9948441C}"/>
              </a:ext>
            </a:extLst>
          </p:cNvPr>
          <p:cNvCxnSpPr/>
          <p:nvPr/>
        </p:nvCxnSpPr>
        <p:spPr>
          <a:xfrm>
            <a:off x="2847474" y="428974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46029ADD-A388-AB01-7114-9572CF30ED60}"/>
              </a:ext>
            </a:extLst>
          </p:cNvPr>
          <p:cNvSpPr txBox="1"/>
          <p:nvPr/>
        </p:nvSpPr>
        <p:spPr>
          <a:xfrm>
            <a:off x="3792184" y="3904458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1300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EFE71E8-3B82-E84F-C603-3D6A5CE1A704}"/>
              </a:ext>
            </a:extLst>
          </p:cNvPr>
          <p:cNvCxnSpPr/>
          <p:nvPr/>
        </p:nvCxnSpPr>
        <p:spPr>
          <a:xfrm>
            <a:off x="4212954" y="4300341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B01535B-EE4F-289A-5588-B1B77059D741}"/>
              </a:ext>
            </a:extLst>
          </p:cNvPr>
          <p:cNvSpPr txBox="1"/>
          <p:nvPr/>
        </p:nvSpPr>
        <p:spPr>
          <a:xfrm>
            <a:off x="849230" y="3760810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EX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76800" y="5615574"/>
            <a:ext cx="6466737" cy="104298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089641"/>
              </p:ext>
            </p:extLst>
          </p:nvPr>
        </p:nvGraphicFramePr>
        <p:xfrm>
          <a:off x="503901" y="1909499"/>
          <a:ext cx="5530264" cy="3304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結構透明度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472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89028C05-F4C2-9DAE-6A7D-0461D31EB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169" y="1909499"/>
            <a:ext cx="4483125" cy="339724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4AD0A74-C971-BD39-6A39-18060183072F}"/>
              </a:ext>
            </a:extLst>
          </p:cNvPr>
          <p:cNvSpPr txBox="1"/>
          <p:nvPr/>
        </p:nvSpPr>
        <p:spPr>
          <a:xfrm>
            <a:off x="1137221" y="5813898"/>
            <a:ext cx="64667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實測：決策樹「訓練誤差最低、測試誤差最大」＝過擬合；</a:t>
            </a:r>
            <a:endParaRPr lang="en-US" altLang="zh-TW" sz="18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隨機森林泛化更佳，印證上表準確度差異。</a:t>
            </a:r>
            <a:endParaRPr lang="zh-TW" altLang="en-US" sz="18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4521A7C-648C-8651-07E5-72DA6F64E98B}"/>
              </a:ext>
            </a:extLst>
          </p:cNvPr>
          <p:cNvSpPr/>
          <p:nvPr/>
        </p:nvSpPr>
        <p:spPr>
          <a:xfrm>
            <a:off x="7938436" y="2191753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2F0E60-2BDE-3D7C-5BE5-F43EF91AD516}"/>
              </a:ext>
            </a:extLst>
          </p:cNvPr>
          <p:cNvSpPr/>
          <p:nvPr/>
        </p:nvSpPr>
        <p:spPr>
          <a:xfrm>
            <a:off x="7938436" y="3368809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9DA750-B6B4-A8AF-BF04-3977412D2082}"/>
              </a:ext>
            </a:extLst>
          </p:cNvPr>
          <p:cNvSpPr/>
          <p:nvPr/>
        </p:nvSpPr>
        <p:spPr>
          <a:xfrm>
            <a:off x="7938436" y="4545865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弱學習器</a:t>
            </a:r>
            <a:endParaRPr lang="en-US" altLang="zh-TW" sz="1800" b="1" i="0" u="none" strike="noStrike" cap="none" dirty="0">
              <a:solidFill>
                <a:schemeClr val="bg2">
                  <a:lumMod val="75000"/>
                </a:schemeClr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i="0" u="none" strike="noStrike" cap="none" dirty="0">
                <a:solidFill>
                  <a:schemeClr val="tx1"/>
                </a:solidFill>
                <a:latin typeface="+mj-lt"/>
                <a:ea typeface="DM Sans"/>
                <a:cs typeface="DM Sans"/>
                <a:sym typeface="DM Sans"/>
              </a:rPr>
              <a:t>用全部資料訓練一棵很淺的樹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29605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粗略預測</a:t>
            </a:r>
            <a:endParaRPr sz="1800" dirty="0">
              <a:solidFill>
                <a:schemeClr val="bg2">
                  <a:lumMod val="75000"/>
                </a:schemeClr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  <p:sp>
        <p:nvSpPr>
          <p:cNvPr id="3" name="Google Shape;214;p20">
            <a:extLst>
              <a:ext uri="{FF2B5EF4-FFF2-40B4-BE49-F238E27FC236}">
                <a16:creationId xmlns:a16="http://schemas.microsoft.com/office/drawing/2014/main" id="{0E462CDD-7CBF-0D22-B22E-0D3E262DF0FB}"/>
              </a:ext>
            </a:extLst>
          </p:cNvPr>
          <p:cNvSpPr txBox="1"/>
          <p:nvPr/>
        </p:nvSpPr>
        <p:spPr>
          <a:xfrm>
            <a:off x="5840387" y="264942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算出「實際值 − 預測值」＝殘差（還差多少）</a:t>
            </a:r>
          </a:p>
        </p:txBody>
      </p:sp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4" y="835493"/>
            <a:ext cx="916179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 AdaBoost Gradient Boosting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比較 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20">
            <a:extLst>
              <a:ext uri="{FF2B5EF4-FFF2-40B4-BE49-F238E27FC236}">
                <a16:creationId xmlns:a16="http://schemas.microsoft.com/office/drawing/2014/main" id="{DBB83271-2132-0C17-5271-E7ADBC25FC6C}"/>
              </a:ext>
            </a:extLst>
          </p:cNvPr>
          <p:cNvSpPr txBox="1"/>
          <p:nvPr/>
        </p:nvSpPr>
        <p:spPr>
          <a:xfrm>
            <a:off x="734929" y="5730119"/>
            <a:ext cx="107221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sz="1600" dirty="0" err="1">
                <a:solidFill>
                  <a:srgbClr val="404040"/>
                </a:solidFill>
                <a:latin typeface="+mn-lt"/>
              </a:rPr>
              <a:t>三者皆為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Boosting，XGBoost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在防過擬合與速度上最完整；但本研究中三者迴歸誤差相近，且均遠大於</a:t>
            </a:r>
            <a:r>
              <a:rPr sz="1600" dirty="0">
                <a:solidFill>
                  <a:srgbClr val="404040"/>
                </a:solidFill>
                <a:latin typeface="+mn-lt"/>
              </a:rPr>
              <a:t> ARIMA/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LSTM（受集成模型無法外推所限</a:t>
            </a:r>
            <a:r>
              <a:rPr sz="1600" dirty="0">
                <a:solidFill>
                  <a:srgbClr val="404040"/>
                </a:solidFill>
                <a:latin typeface="+mn-lt"/>
              </a:rPr>
              <a:t>）。</a:t>
            </a:r>
          </a:p>
        </p:txBody>
      </p:sp>
      <p:graphicFrame>
        <p:nvGraphicFramePr>
          <p:cNvPr id="5" name="Google Shape;288;p24">
            <a:extLst>
              <a:ext uri="{FF2B5EF4-FFF2-40B4-BE49-F238E27FC236}">
                <a16:creationId xmlns:a16="http://schemas.microsoft.com/office/drawing/2014/main" id="{604CC519-9D94-441E-EC2B-D8DA999565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4856049"/>
              </p:ext>
            </p:extLst>
          </p:nvPr>
        </p:nvGraphicFramePr>
        <p:xfrm>
          <a:off x="571500" y="1999312"/>
          <a:ext cx="10722142" cy="336166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299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67264572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985299254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比較項目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AdaBoost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Gradient Boosting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XGBoost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核心機制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逐輪提高被分錯樣本的權重，串聯弱學習器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沿損失函數梯度逐步擬合前一輪殘差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 GBM 為基礎，做多項工程強化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防過擬合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弱學習器(淺樹)串聯逐步補強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以學習率縮小每步更新幅度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L1/L2 正規化 + 學習率 0.1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運算效率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二階梯度近似 + 平行運算，最快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對離群值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較敏感（會加大其權重）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本研究 SPY 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3398.31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2821.29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2797.95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RF / AdaBoost / GBM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sklearn.ensemble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套件。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四個模型皆以 </a:t>
            </a:r>
            <a:r>
              <a:rPr lang="en-US" altLang="zh-TW" sz="1600" dirty="0" err="1"/>
              <a:t>TimeSeriesSplit</a:t>
            </a:r>
            <a:r>
              <a:rPr lang="zh-TW" altLang="en-US" sz="1600" dirty="0"/>
              <a:t>（時序交叉驗證）評估，</a:t>
            </a:r>
            <a:r>
              <a:rPr lang="zh-TW" altLang="en-US" sz="1600" dirty="0">
                <a:solidFill>
                  <a:schemeClr val="tx1"/>
                </a:solidFill>
              </a:rPr>
              <a:t>依時間切分、訓練集永遠早於驗證集，避免用未來資料預測過去（資料洩漏）。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B48A443-7476-6545-83D0-48E9102FAC97}"/>
              </a:ext>
            </a:extLst>
          </p:cNvPr>
          <p:cNvSpPr txBox="1"/>
          <p:nvPr/>
        </p:nvSpPr>
        <p:spPr>
          <a:xfrm>
            <a:off x="7852611" y="120316"/>
            <a:ext cx="3872163" cy="1708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sklearn.ensemble</a:t>
            </a:r>
            <a:r>
              <a:rPr lang="zh-TW" altLang="en-US" sz="1500" b="0" dirty="0">
                <a:solidFill>
                  <a:srgbClr val="404040"/>
                </a:solidFill>
              </a:rPr>
              <a:t>：集成模型模組，隨機森林以多棵決策樹平均、抑制過擬合。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n_estimators</a:t>
            </a:r>
            <a:r>
              <a:rPr lang="en-US" altLang="zh-TW" sz="1500" b="0" dirty="0">
                <a:solidFill>
                  <a:srgbClr val="404040"/>
                </a:solidFill>
              </a:rPr>
              <a:t>=100 </a:t>
            </a:r>
            <a:r>
              <a:rPr lang="zh-TW" altLang="en-US" sz="1500" b="0" dirty="0">
                <a:solidFill>
                  <a:srgbClr val="404040"/>
                </a:solidFill>
              </a:rPr>
              <a:t>樹的數量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r>
              <a:rPr lang="en-US" altLang="zh-TW" sz="1500" b="0" dirty="0" err="1">
                <a:solidFill>
                  <a:srgbClr val="404040"/>
                </a:solidFill>
              </a:rPr>
              <a:t>max_depth</a:t>
            </a:r>
            <a:r>
              <a:rPr lang="en-US" altLang="zh-TW" sz="1500" b="0" dirty="0">
                <a:solidFill>
                  <a:srgbClr val="404040"/>
                </a:solidFill>
              </a:rPr>
              <a:t> </a:t>
            </a:r>
            <a:r>
              <a:rPr lang="zh-TW" altLang="en-US" sz="1500" b="0" dirty="0">
                <a:solidFill>
                  <a:srgbClr val="404040"/>
                </a:solidFill>
              </a:rPr>
              <a:t>樹深</a:t>
            </a:r>
            <a:r>
              <a:rPr lang="en-US" altLang="zh-TW" sz="1500" b="0" dirty="0">
                <a:solidFill>
                  <a:srgbClr val="404040"/>
                </a:solidFill>
              </a:rPr>
              <a:t>(RF 10</a:t>
            </a:r>
            <a:r>
              <a:rPr lang="zh-TW" altLang="en-US" sz="1500" b="0" dirty="0">
                <a:solidFill>
                  <a:srgbClr val="404040"/>
                </a:solidFill>
              </a:rPr>
              <a:t>／</a:t>
            </a:r>
            <a:r>
              <a:rPr lang="en-US" altLang="zh-TW" sz="1500" b="0" dirty="0">
                <a:solidFill>
                  <a:srgbClr val="404040"/>
                </a:solidFill>
              </a:rPr>
              <a:t>XGB·GBM 4)</a:t>
            </a:r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learning_rate</a:t>
            </a:r>
            <a:r>
              <a:rPr lang="en-US" altLang="zh-TW" sz="1500" b="0" dirty="0">
                <a:solidFill>
                  <a:srgbClr val="404040"/>
                </a:solidFill>
              </a:rPr>
              <a:t>=0.1 </a:t>
            </a:r>
            <a:r>
              <a:rPr lang="zh-TW" altLang="en-US" sz="1500" b="0" dirty="0">
                <a:solidFill>
                  <a:srgbClr val="404040"/>
                </a:solidFill>
              </a:rPr>
              <a:t>步長縮減防過擬合｜</a:t>
            </a:r>
            <a:r>
              <a:rPr lang="en-US" altLang="zh-TW" sz="1500" b="0" dirty="0" err="1">
                <a:solidFill>
                  <a:srgbClr val="404040"/>
                </a:solidFill>
              </a:rPr>
              <a:t>random_state</a:t>
            </a:r>
            <a:r>
              <a:rPr lang="en-US" altLang="zh-TW" sz="1500" b="0" dirty="0">
                <a:solidFill>
                  <a:srgbClr val="404040"/>
                </a:solidFill>
              </a:rPr>
              <a:t>=42 </a:t>
            </a:r>
            <a:r>
              <a:rPr lang="zh-TW" altLang="en-US" sz="1500" b="0" dirty="0">
                <a:solidFill>
                  <a:srgbClr val="404040"/>
                </a:solidFill>
              </a:rPr>
              <a:t>固定種子可重現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TensorFlow - 維基百科，自由的百科全書">
            <a:extLst>
              <a:ext uri="{FF2B5EF4-FFF2-40B4-BE49-F238E27FC236}">
                <a16:creationId xmlns:a16="http://schemas.microsoft.com/office/drawing/2014/main" id="{D4D1F5E0-934B-54A7-03ED-747B8D70F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412" y="927970"/>
            <a:ext cx="1622957" cy="1033841"/>
          </a:xfrm>
          <a:prstGeom prst="rect">
            <a:avLst/>
          </a:prstGeom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600" dirty="0"/>
              <a:t>單層 LSTM：一層 LSTM(50) + Dense(1) 輸出數值。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雙層 LSTM：疊兩層 LSTM（第一層 return_sequences=True）。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關鍵：Dense(1) 無 sigmoid、loss='mse'，即為迴歸版本。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pic>
        <p:nvPicPr>
          <p:cNvPr id="9" name="圖片 8" descr="主页- Keras 中文文档">
            <a:extLst>
              <a:ext uri="{FF2B5EF4-FFF2-40B4-BE49-F238E27FC236}">
                <a16:creationId xmlns:a16="http://schemas.microsoft.com/office/drawing/2014/main" id="{2D4142AD-25A4-99B3-BE2C-5B82E72C9E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9412" y="326959"/>
            <a:ext cx="1419309" cy="41183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B72A38-5954-DAF9-0D38-57E55655FA09}"/>
              </a:ext>
            </a:extLst>
          </p:cNvPr>
          <p:cNvSpPr txBox="1"/>
          <p:nvPr/>
        </p:nvSpPr>
        <p:spPr>
          <a:xfrm>
            <a:off x="7539144" y="120316"/>
            <a:ext cx="4261534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500" b="1" dirty="0"/>
              <a:t>LSTM(50)</a:t>
            </a:r>
            <a:r>
              <a:rPr lang="zh-TW" altLang="zh-TW" sz="1500" dirty="0"/>
              <a:t>：50 個神經元（隱藏狀態維度）。</a:t>
            </a:r>
            <a:br>
              <a:rPr lang="zh-TW" altLang="zh-TW" sz="1500" dirty="0"/>
            </a:br>
            <a:r>
              <a:rPr lang="zh-TW" altLang="zh-TW" sz="1500" b="1" dirty="0"/>
              <a:t>return_sequences=True</a:t>
            </a:r>
            <a:r>
              <a:rPr lang="zh-TW" altLang="zh-TW" sz="1500" dirty="0"/>
              <a:t>：回傳每個時間步輸出，供下一層 LSTM 使用（疊雙層時第一層需設）。</a:t>
            </a:r>
            <a:br>
              <a:rPr lang="zh-TW" altLang="zh-TW" sz="1500" dirty="0"/>
            </a:br>
            <a:r>
              <a:rPr lang="zh-TW" altLang="zh-TW" sz="1500" b="1" dirty="0"/>
              <a:t>Dense(1)</a:t>
            </a:r>
            <a:r>
              <a:rPr lang="zh-TW" altLang="zh-TW" sz="1500" dirty="0"/>
              <a:t>：輸出 1 個數值（次日收盤價）。</a:t>
            </a:r>
            <a:br>
              <a:rPr lang="zh-TW" altLang="zh-TW" sz="1500" dirty="0"/>
            </a:br>
            <a:r>
              <a:rPr lang="zh-TW" altLang="zh-TW" sz="1500" b="1" dirty="0"/>
              <a:t>optimizer='adam'</a:t>
            </a:r>
            <a:r>
              <a:rPr lang="zh-TW" altLang="zh-TW" sz="1500" dirty="0"/>
              <a:t>：Adam 最佳化器，收斂穩定。</a:t>
            </a:r>
            <a:br>
              <a:rPr lang="zh-TW" altLang="zh-TW" sz="1500" dirty="0"/>
            </a:br>
            <a:r>
              <a:rPr lang="zh-TW" altLang="zh-TW" sz="1500" b="1" dirty="0"/>
              <a:t>loss='mse'</a:t>
            </a:r>
            <a:r>
              <a:rPr lang="zh-TW" altLang="zh-TW" sz="1500" dirty="0"/>
              <a:t>：均方誤差；</a:t>
            </a:r>
            <a:endParaRPr lang="en-US" altLang="zh-TW" sz="1500" dirty="0"/>
          </a:p>
          <a:p>
            <a:r>
              <a:rPr lang="zh-TW" altLang="zh-TW" sz="1500" dirty="0"/>
              <a:t>用 mse＋無 sigmoid＝迴歸版本。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9402429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深度學習：雙向 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LSTM (</a:t>
            </a:r>
            <a:r>
              <a:rPr lang="en-US" altLang="zh-TW" sz="3300" b="1" i="0" u="none" strike="noStrike" cap="none" dirty="0" err="1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BiLSTM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) </a:t>
            </a: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676822" y="5653750"/>
            <a:ext cx="97596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22177" y="5792250"/>
            <a:ext cx="984304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Bidirectional</a:t>
            </a:r>
            <a:r>
              <a:rPr lang="zh-TW" altLang="en-US" sz="1600" dirty="0"/>
              <a:t>：同時正向＋反向讀序列再合併，擷取更完整前後文。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單層＝</a:t>
            </a:r>
            <a:r>
              <a:rPr lang="en-US" altLang="zh-TW" sz="1600" dirty="0"/>
              <a:t>Bidirectional(LSTM(50))</a:t>
            </a:r>
            <a:r>
              <a:rPr lang="zh-TW" altLang="en-US" sz="1600" dirty="0"/>
              <a:t>；雙層＝第一層 </a:t>
            </a:r>
            <a:r>
              <a:rPr lang="en-US" altLang="zh-TW" sz="1600" dirty="0" err="1"/>
              <a:t>return_sequences</a:t>
            </a:r>
            <a:r>
              <a:rPr lang="en-US" altLang="zh-TW" sz="1600" dirty="0"/>
              <a:t>=True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en-US" altLang="zh-TW" sz="1600" dirty="0" err="1"/>
              <a:t>adam</a:t>
            </a:r>
            <a:r>
              <a:rPr lang="zh-TW" altLang="en-US" sz="1600" dirty="0"/>
              <a:t>／</a:t>
            </a:r>
            <a:r>
              <a:rPr lang="en-US" altLang="zh-TW" sz="1600" dirty="0" err="1"/>
              <a:t>mse</a:t>
            </a:r>
            <a:r>
              <a:rPr lang="zh-TW" altLang="en-US" sz="1600" dirty="0"/>
              <a:t>／</a:t>
            </a:r>
            <a:r>
              <a:rPr lang="en-US" altLang="zh-TW" sz="1600" dirty="0"/>
              <a:t>Dense(1) </a:t>
            </a:r>
            <a:r>
              <a:rPr lang="zh-TW" altLang="en-US" sz="1600" dirty="0"/>
              <a:t>無 </a:t>
            </a:r>
            <a:r>
              <a:rPr lang="en-US" altLang="zh-TW" sz="1600" dirty="0"/>
              <a:t>sigmoid</a:t>
            </a:r>
            <a:r>
              <a:rPr lang="zh-TW" altLang="en-US" sz="1600" dirty="0"/>
              <a:t>＝迴歸版本。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/>
              <a:t>Keras Sequential</a:t>
            </a:r>
            <a:r>
              <a:rPr lang="zh-TW" altLang="en-US" sz="1600"/>
              <a:t>，</a:t>
            </a:r>
            <a:r>
              <a:rPr lang="en-US" altLang="zh-TW" sz="1600"/>
              <a:t>Bidirectional </a:t>
            </a:r>
            <a:r>
              <a:rPr lang="zh-TW" altLang="en-US" sz="1600"/>
              <a:t>包住 </a:t>
            </a:r>
            <a:r>
              <a:rPr lang="en-US" altLang="zh-TW" sz="1600"/>
              <a:t>LSTM </a:t>
            </a:r>
            <a:r>
              <a:rPr lang="zh-TW" altLang="en-US" sz="1600"/>
              <a:t>做迴歸（</a:t>
            </a:r>
            <a:r>
              <a:rPr lang="en-US" altLang="zh-TW" sz="1600"/>
              <a:t>models.py</a:t>
            </a:r>
            <a:r>
              <a:rPr lang="zh-TW" altLang="en-US" sz="1600"/>
              <a:t>）</a:t>
            </a:r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A0E9AC9-3106-82A5-4933-9BF16E7CC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95" y="2090944"/>
            <a:ext cx="8545187" cy="358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（預測次日收盤價）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4192100-784E-48DB-3185-68BDBB2BF412}"/>
              </a:ext>
            </a:extLst>
          </p:cNvPr>
          <p:cNvSpPr txBox="1"/>
          <p:nvPr/>
        </p:nvSpPr>
        <p:spPr>
          <a:xfrm>
            <a:off x="809624" y="1528709"/>
            <a:ext cx="8438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/>
            </a:lvl1pPr>
          </a:lstStyle>
          <a:p>
            <a:r>
              <a:rPr lang="zh-TW" altLang="zh-TW" dirty="0"/>
              <a:t>以 60 天技術指標讓 GPT-4o-mini 預測次日收盤價，SPY 共 50 筆（llm_regression.py）</a:t>
            </a:r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EF156BA-D605-A3ED-FAE3-F7016E1CAD04}"/>
              </a:ext>
            </a:extLst>
          </p:cNvPr>
          <p:cNvSpPr txBox="1"/>
          <p:nvPr/>
        </p:nvSpPr>
        <p:spPr>
          <a:xfrm>
            <a:off x="5666221" y="2186242"/>
            <a:ext cx="6096000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600" b="1" dirty="0"/>
              <a:t>設定：</a:t>
            </a:r>
            <a:r>
              <a:rPr lang="zh-TW" altLang="zh-TW" sz="1600" dirty="0"/>
              <a:t>模型 gpt-4o-mini，temperature=0</a:t>
            </a:r>
            <a:r>
              <a:rPr lang="en-US" altLang="zh-TW" sz="1600" dirty="0"/>
              <a:t>.7</a:t>
            </a:r>
            <a:r>
              <a:rPr lang="zh-TW" altLang="zh-TW" sz="1600" dirty="0"/>
              <a:t>；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輸入過去 60 天 5 指標（Close、MA20、MA60、RSI、波動率），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輸出 JSON 次日收盤價；測試集 2022 年後各 50 筆。</a:t>
            </a:r>
          </a:p>
          <a:p>
            <a:pPr>
              <a:buNone/>
            </a:pPr>
            <a:r>
              <a:rPr lang="zh-TW" altLang="zh-TW" sz="1600" b="1" dirty="0"/>
              <a:t>觀察：</a:t>
            </a:r>
            <a:r>
              <a:rPr lang="zh-TW" altLang="zh-TW" sz="1600" dirty="0"/>
              <a:t>三市場 R² 一致落在 0.80 左右（0.7</a:t>
            </a:r>
            <a:r>
              <a:rPr lang="en-US" altLang="zh-TW" sz="1600" dirty="0"/>
              <a:t>84</a:t>
            </a:r>
            <a:r>
              <a:rPr lang="zh-TW" altLang="zh-TW" sz="1600" dirty="0"/>
              <a:t>~0.8</a:t>
            </a:r>
            <a:r>
              <a:rPr lang="en-US" altLang="zh-TW" sz="1600" dirty="0"/>
              <a:t>15</a:t>
            </a:r>
            <a:r>
              <a:rPr lang="zh-TW" altLang="zh-TW" sz="1600" dirty="0"/>
              <a:t>），顯示 LLM 具穩定的數值預測能力。</a:t>
            </a:r>
          </a:p>
          <a:p>
            <a:pPr>
              <a:buNone/>
            </a:pPr>
            <a:r>
              <a:rPr lang="zh-TW" altLang="zh-TW" sz="1600" b="1" dirty="0"/>
              <a:t>⚠ MSE/RMSE 不可跨市場比</a:t>
            </a:r>
            <a:r>
              <a:rPr lang="zh-TW" altLang="zh-TW" sz="1600" dirty="0"/>
              <a:t>（受股價尺度影響：0050 約 50 元、SPY/QQQ 數百元）；跨市場要看 </a:t>
            </a:r>
            <a:r>
              <a:rPr lang="zh-TW" altLang="zh-TW" sz="1600" b="1" dirty="0"/>
              <a:t>R²</a:t>
            </a:r>
            <a:r>
              <a:rPr lang="zh-TW" altLang="zh-TW" sz="1600" dirty="0"/>
              <a:t>（標準化、可比）。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4F286DB-C3C0-3F8D-720E-1253228F1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017" y="4055646"/>
            <a:ext cx="4928948" cy="2053727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05E6631D-9663-DA86-9E21-9EA259136364}"/>
              </a:ext>
            </a:extLst>
          </p:cNvPr>
          <p:cNvSpPr/>
          <p:nvPr/>
        </p:nvSpPr>
        <p:spPr>
          <a:xfrm>
            <a:off x="7403432" y="5355358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68FC9BEE-87B2-AF34-D141-F5BBBDABA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55646"/>
            <a:ext cx="4956330" cy="2053727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FB5186AA-9C03-7852-BB43-6EB0A68E83E4}"/>
              </a:ext>
            </a:extLst>
          </p:cNvPr>
          <p:cNvSpPr/>
          <p:nvPr/>
        </p:nvSpPr>
        <p:spPr>
          <a:xfrm>
            <a:off x="2414337" y="535535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2B516C6B-E70A-A3AB-C755-7E78AE82F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90038"/>
            <a:ext cx="4956329" cy="191208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5E371DA8-E719-74A5-0848-672B89AC930E}"/>
              </a:ext>
            </a:extLst>
          </p:cNvPr>
          <p:cNvSpPr/>
          <p:nvPr/>
        </p:nvSpPr>
        <p:spPr>
          <a:xfrm>
            <a:off x="2271622" y="331068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571500" y="5395032"/>
            <a:ext cx="11741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456419" y="5776285"/>
            <a:ext cx="970888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temperature=0.7</a:t>
            </a:r>
            <a:r>
              <a:rPr lang="zh-TW" altLang="en-US" sz="1600" dirty="0"/>
              <a:t>：控制輸出隨機性（範圍 </a:t>
            </a:r>
            <a:r>
              <a:rPr lang="en-US" altLang="zh-TW" sz="1600" dirty="0"/>
              <a:t>0~2</a:t>
            </a:r>
            <a:r>
              <a:rPr lang="zh-TW" altLang="en-US" sz="1600" dirty="0"/>
              <a:t>）。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雖然 </a:t>
            </a:r>
            <a:r>
              <a:rPr lang="en-US" altLang="zh-TW" sz="1600" dirty="0"/>
              <a:t>0.7 </a:t>
            </a:r>
            <a:r>
              <a:rPr lang="zh-TW" altLang="en-US" sz="1600" dirty="0"/>
              <a:t>會帶來一點隨機性，但我重跑後三個市場的 </a:t>
            </a:r>
            <a:r>
              <a:rPr lang="en-US" altLang="zh-TW" sz="1600" dirty="0"/>
              <a:t>R² </a:t>
            </a:r>
            <a:r>
              <a:rPr lang="zh-TW" altLang="en-US" sz="1600" dirty="0"/>
              <a:t>仍然維持在 </a:t>
            </a:r>
            <a:r>
              <a:rPr lang="en-US" altLang="zh-TW" sz="1600" dirty="0"/>
              <a:t>0.8 </a:t>
            </a:r>
            <a:r>
              <a:rPr lang="zh-TW" altLang="en-US" sz="1600" dirty="0"/>
              <a:t>左右，代表 </a:t>
            </a:r>
            <a:r>
              <a:rPr lang="en-US" altLang="zh-TW" sz="1600" dirty="0"/>
              <a:t>LLM </a:t>
            </a:r>
            <a:r>
              <a:rPr lang="zh-TW" altLang="en-US" sz="1600" dirty="0"/>
              <a:t>的數值預測能力是穩定的。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</a:t>
            </a:r>
            <a:r>
              <a:rPr lang="en-US" altLang="zh-TW" sz="1600"/>
              <a:t>0.7 </a:t>
            </a:r>
            <a:r>
              <a:rPr lang="zh-TW" altLang="en-US" sz="1600"/>
              <a:t>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9CDE4F7-A4B7-D597-A501-AFD7BE352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6420" y="2233990"/>
            <a:ext cx="6596716" cy="28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768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 / LSTM / ARIMA: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 err="1">
                <a:latin typeface="DM Sans"/>
                <a:ea typeface="DM Sans"/>
                <a:cs typeface="DM Sans"/>
                <a:sym typeface="DM Sans"/>
              </a:rPr>
              <a:t>TimeSeriesSplit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(5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折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)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於每折內採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1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步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rolling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 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lang="en-US" altLang="zh-TW" sz="1800" dirty="0"/>
          </a:p>
          <a:p>
            <a:pPr lvl="0"/>
            <a:r>
              <a:rPr lang="zh-TW" altLang="en-US" sz="1800" dirty="0"/>
              <a:t>隨機森林在 </a:t>
            </a:r>
            <a:r>
              <a:rPr lang="en-US" altLang="zh-TW" sz="1800" dirty="0"/>
              <a:t>0050 </a:t>
            </a:r>
            <a:r>
              <a:rPr lang="zh-TW" altLang="en-US" sz="1800" dirty="0"/>
              <a:t>僅 </a:t>
            </a:r>
            <a:r>
              <a:rPr lang="en-US" altLang="zh-TW" sz="1800" dirty="0"/>
              <a:t>0.599</a:t>
            </a:r>
            <a:r>
              <a:rPr lang="zh-TW" altLang="en-US" sz="1800" dirty="0"/>
              <a:t>、低於基準：以特徵分裂難掌握上漲偏態，雜訊高的台股反比單純猜漲更差。</a:t>
            </a:r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229" y="656703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74D3299-37D6-5099-1F54-18716A2304A4}"/>
              </a:ext>
            </a:extLst>
          </p:cNvPr>
          <p:cNvSpPr txBox="1"/>
          <p:nvPr/>
        </p:nvSpPr>
        <p:spPr>
          <a:xfrm>
            <a:off x="638277" y="7151097"/>
            <a:ext cx="5234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altLang="zh-TW" sz="2000" dirty="0">
                <a:solidFill>
                  <a:srgbClr val="FF0000"/>
                </a:solidFill>
              </a:rPr>
            </a:br>
            <a:r>
              <a:rPr lang="en-US" altLang="zh-TW" sz="2000" dirty="0">
                <a:solidFill>
                  <a:srgbClr val="FF0000"/>
                </a:solidFill>
              </a:rPr>
              <a:t>F1</a:t>
            </a:r>
            <a:r>
              <a:rPr lang="zh-TW" altLang="en-US" sz="2000" dirty="0">
                <a:solidFill>
                  <a:srgbClr val="FF0000"/>
                </a:solidFill>
              </a:rPr>
              <a:t>隨機森林為什麼這麼爛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2575728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19.57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21.53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雙層 </a:t>
                      </a:r>
                      <a:r>
                        <a:rPr lang="en-US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02376350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zh-TW" dirty="0"/>
                        <a:t>0.79%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0.87%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4539007"/>
            <a:ext cx="6294124" cy="19930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1400" dirty="0"/>
              <a:t>※ </a:t>
            </a:r>
            <a:r>
              <a:rPr lang="zh-TW" altLang="en-US" sz="1400" dirty="0"/>
              <a:t>綠線</a:t>
            </a:r>
            <a:r>
              <a:rPr lang="en-US" altLang="zh-TW" sz="1400" dirty="0"/>
              <a:t>(ARIMA)</a:t>
            </a:r>
            <a:r>
              <a:rPr lang="zh-TW" altLang="en-US" sz="1400" dirty="0"/>
              <a:t>幾乎貼合實際值；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橘線</a:t>
            </a:r>
            <a:r>
              <a:rPr lang="en-US" altLang="zh-TW" sz="1400" dirty="0"/>
              <a:t>(Random Forest)</a:t>
            </a:r>
            <a:r>
              <a:rPr lang="zh-TW" altLang="en-US" sz="1400" dirty="0"/>
              <a:t>無法外推、預測躺平；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藍線</a:t>
            </a:r>
            <a:r>
              <a:rPr lang="en-US" altLang="zh-TW" sz="1400" dirty="0"/>
              <a:t>(LSTM)</a:t>
            </a:r>
            <a:r>
              <a:rPr lang="zh-TW" altLang="en-US" sz="1400" dirty="0"/>
              <a:t>能跟上趨勢但略有落差。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en-US" altLang="zh-TW" sz="1400" dirty="0"/>
              <a:t>※</a:t>
            </a:r>
            <a:r>
              <a:rPr lang="zh-TW" altLang="en-US" sz="1400" dirty="0"/>
              <a:t>樹模型預測值是訓練樣本葉節點平均，必落在訓練價格範圍內，</a:t>
            </a:r>
          </a:p>
          <a:p>
            <a:pPr>
              <a:lnSpc>
                <a:spcPct val="150000"/>
              </a:lnSpc>
            </a:pPr>
            <a:r>
              <a:rPr lang="zh-TW" altLang="en-US" sz="1400" dirty="0"/>
              <a:t>測試期股價創新高時無法外推 → 預測躺平、誤差最大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（結構限制，非調參可解）。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112588" y="5073937"/>
            <a:ext cx="5203364" cy="1230610"/>
          </a:xfrm>
          <a:prstGeom prst="roundRect">
            <a:avLst/>
          </a:pr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298182" y="5211999"/>
            <a:ext cx="49530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本平台整合迴歸預測與 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LLM </a:t>
            </a: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風險摘要，圖表支援即時互動（縮放、查看數值、切換時間範圍）；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介面輕量、一般設備即可執行，適合作為教學示範與輔助參考工具。</a:t>
            </a:r>
            <a:endParaRPr sz="1600" dirty="0">
              <a:latin typeface="+mn-lt"/>
            </a:endParaRPr>
          </a:p>
        </p:txBody>
      </p:sp>
      <p:sp>
        <p:nvSpPr>
          <p:cNvPr id="358" name="Google Shape;358;p29"/>
          <p:cNvSpPr txBox="1"/>
          <p:nvPr/>
        </p:nvSpPr>
        <p:spPr>
          <a:xfrm>
            <a:off x="337473" y="2899722"/>
            <a:ext cx="487441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技術架構</a:t>
            </a:r>
            <a:r>
              <a:rPr lang="zh-TW" altLang="zh-TW" sz="1800" dirty="0"/>
              <a:t>：Streamlit + Plotly + SQLite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迴歸預測</a:t>
            </a:r>
            <a:r>
              <a:rPr lang="zh-TW" altLang="zh-TW" sz="1800" dirty="0"/>
              <a:t>：預測次日報酬率，再換算回收盤價（避免外推問題）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AI 輔助</a:t>
            </a:r>
            <a:r>
              <a:rPr lang="zh-TW" altLang="zh-TW" sz="1800" dirty="0"/>
              <a:t>：整合 GPT 生成風險摘要</a:t>
            </a:r>
            <a:endParaRPr sz="1800" dirty="0"/>
          </a:p>
        </p:txBody>
      </p:sp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平台實作</a:t>
            </a:r>
            <a:endParaRPr dirty="0"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A7EA853-A5E6-550F-67FA-64B32E101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77" y="1208099"/>
            <a:ext cx="6633920" cy="49604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2"/>
            <a:ext cx="8077201" cy="1577175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884" y="2043999"/>
            <a:ext cx="5538536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1620" y="2043999"/>
            <a:ext cx="5903495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730417" y="2162806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分類任務</a:t>
            </a:r>
            <a:r>
              <a:rPr 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 </a:t>
            </a: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（預測漲跌方向）</a:t>
            </a:r>
            <a:endParaRPr sz="2000" dirty="0">
              <a:latin typeface="+mn-lt"/>
            </a:endParaRPr>
          </a:p>
        </p:txBody>
      </p:sp>
      <p:sp>
        <p:nvSpPr>
          <p:cNvPr id="380" name="Google Shape;380;p30"/>
          <p:cNvSpPr txBox="1"/>
          <p:nvPr/>
        </p:nvSpPr>
        <p:spPr>
          <a:xfrm>
            <a:off x="571500" y="2651264"/>
            <a:ext cx="5115174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預測次日「上漲 / 下跌」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最佳：RF 0.732 / 單層 LSTM 0.694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但各模型 F1 多貼近 Always-Up 基準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高分主要來自多頭期間的市場偏態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LLM(GPT-3.5) F1 僅 0.48 </a:t>
            </a:r>
            <a:endParaRPr lang="en-US" altLang="zh-TW" sz="1600" dirty="0">
              <a:latin typeface="+mn-lt"/>
            </a:endParaRPr>
          </a:p>
          <a:p>
            <a:pPr lvl="0">
              <a:spcBef>
                <a:spcPts val="600"/>
              </a:spcBef>
            </a:pPr>
            <a:r>
              <a:rPr lang="zh-TW" altLang="zh-TW" sz="1600" b="1" dirty="0">
                <a:latin typeface="+mn-lt"/>
              </a:rPr>
              <a:t>→ 最佳 F1 僅 0.73、未超越基準 0.736，方向預測無實質效果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268953" y="2162805"/>
            <a:ext cx="4474544" cy="31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迴歸任務（預測收盤價）</a:t>
            </a:r>
            <a:endParaRPr sz="2000" dirty="0">
              <a:latin typeface="+mn-lt"/>
            </a:endParaRPr>
          </a:p>
        </p:txBody>
      </p:sp>
      <p:sp>
        <p:nvSpPr>
          <p:cNvPr id="382" name="Google Shape;382;p30"/>
          <p:cNvSpPr txBox="1"/>
          <p:nvPr/>
        </p:nvSpPr>
        <p:spPr>
          <a:xfrm>
            <a:off x="6110035" y="2637808"/>
            <a:ext cx="5745080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最佳（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MAPE &lt;1.1%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）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準度：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ARIMA&gt;LSTM&gt;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集成模型無法外推、誤差最大；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LLM(GPT-4o-mini)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→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最簡單的 </a:t>
            </a: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反而勝過所有複雜模型</a:t>
            </a:r>
            <a:endParaRPr lang="en-US" altLang="zh-TW" sz="1600" b="1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（因後者無法外推）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434790" y="5139799"/>
            <a:ext cx="732402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① 因任務而異：迴歸三市場皆 </a:t>
            </a:r>
            <a:r>
              <a:rPr lang="en-US" altLang="zh-TW" sz="1600" b="1" dirty="0">
                <a:solidFill>
                  <a:schemeClr val="bg1"/>
                </a:solidFill>
              </a:rPr>
              <a:t>ARIMA </a:t>
            </a:r>
            <a:r>
              <a:rPr lang="zh-TW" altLang="en-US" sz="1600" b="1" dirty="0">
                <a:solidFill>
                  <a:schemeClr val="bg1"/>
                </a:solidFill>
              </a:rPr>
              <a:t>最佳；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分類各市場最佳僅貼近基準（</a:t>
            </a:r>
            <a:r>
              <a:rPr lang="en-US" altLang="zh-TW" sz="1600" b="1" dirty="0">
                <a:solidFill>
                  <a:schemeClr val="bg1"/>
                </a:solidFill>
              </a:rPr>
              <a:t>SPY </a:t>
            </a:r>
            <a:r>
              <a:rPr lang="zh-TW" altLang="en-US" sz="1600" b="1" dirty="0">
                <a:solidFill>
                  <a:schemeClr val="bg1"/>
                </a:solidFill>
              </a:rPr>
              <a:t>雙層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QQQ RF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0050 </a:t>
            </a:r>
            <a:r>
              <a:rPr lang="zh-TW" altLang="en-US" sz="1600" b="1" dirty="0">
                <a:solidFill>
                  <a:schemeClr val="bg1"/>
                </a:solidFill>
              </a:rPr>
              <a:t>單層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）。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② 價格 </a:t>
            </a:r>
            <a:r>
              <a:rPr lang="en-US" altLang="zh-TW" sz="1600" b="1" dirty="0">
                <a:solidFill>
                  <a:schemeClr val="bg1"/>
                </a:solidFill>
              </a:rPr>
              <a:t>R² </a:t>
            </a:r>
            <a:r>
              <a:rPr lang="zh-TW" altLang="en-US" sz="1600" b="1" dirty="0">
                <a:solidFill>
                  <a:schemeClr val="bg1"/>
                </a:solidFill>
              </a:rPr>
              <a:t>高但分類輸基準：次日方向難預測，分類與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較適合作輔助。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③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定位：適合作「解釋型」輔助，而非純算力引擎。</a:t>
            </a:r>
          </a:p>
        </p:txBody>
      </p:sp>
      <p:sp>
        <p:nvSpPr>
          <p:cNvPr id="4" name="Google Shape;370;p29">
            <a:extLst>
              <a:ext uri="{FF2B5EF4-FFF2-40B4-BE49-F238E27FC236}">
                <a16:creationId xmlns:a16="http://schemas.microsoft.com/office/drawing/2014/main" id="{1D1F9463-51D9-BE05-53DE-190C74A2566F}"/>
              </a:ext>
            </a:extLst>
          </p:cNvPr>
          <p:cNvSpPr txBox="1"/>
          <p:nvPr/>
        </p:nvSpPr>
        <p:spPr>
          <a:xfrm>
            <a:off x="869106" y="831759"/>
            <a:ext cx="49506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結論：分類與回歸比較</a:t>
            </a:r>
            <a:endParaRPr dirty="0"/>
          </a:p>
        </p:txBody>
      </p:sp>
      <p:sp>
        <p:nvSpPr>
          <p:cNvPr id="8" name="Google Shape;371;p29">
            <a:extLst>
              <a:ext uri="{FF2B5EF4-FFF2-40B4-BE49-F238E27FC236}">
                <a16:creationId xmlns:a16="http://schemas.microsoft.com/office/drawing/2014/main" id="{25607BA3-F70C-F03F-421F-3291C8021806}"/>
              </a:ext>
            </a:extLst>
          </p:cNvPr>
          <p:cNvSpPr/>
          <p:nvPr/>
        </p:nvSpPr>
        <p:spPr>
          <a:xfrm>
            <a:off x="630981" y="831759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74" y="1631130"/>
            <a:ext cx="5014916" cy="4561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74375" y="1631131"/>
            <a:ext cx="6012297" cy="4561122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4" y="6347335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760693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0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5905500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000" dirty="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459458" y="2629156"/>
            <a:ext cx="4850732" cy="20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建立跨市場（台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/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美）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ETF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預測基準比較。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同時進行漲跌分類與收盤價迴歸兩種任務。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系統性比較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、集成模型、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LSTM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與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揭示複雜模型無法外推、不如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的侷限。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實作並開源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輔助預測平台。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5744341" y="2345647"/>
            <a:ext cx="5472363" cy="37557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串接即時行情 </a:t>
            </a:r>
            <a:r>
              <a:rPr lang="en-US" altLang="zh-TW" sz="1600" dirty="0">
                <a:latin typeface="+mn-lt"/>
              </a:rPr>
              <a:t>API</a:t>
            </a:r>
            <a:r>
              <a:rPr lang="zh-TW" altLang="en-US" sz="1600" dirty="0">
                <a:latin typeface="+mn-lt"/>
              </a:rPr>
              <a:t>：讓平台支援真實即時更新。</a:t>
            </a:r>
            <a:endParaRPr lang="en-US" altLang="zh-TW" sz="1600" dirty="0">
              <a:latin typeface="+mn-lt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zh-TW" altLang="en-US" sz="1600" dirty="0">
                <a:latin typeface="+mn-lt"/>
              </a:rPr>
              <a:t>    （取代原本的混合模型）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擴大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樣本：將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迴歸從每市場 </a:t>
            </a:r>
            <a:r>
              <a:rPr lang="en-US" altLang="zh-TW" sz="1600" dirty="0">
                <a:latin typeface="+mn-lt"/>
              </a:rPr>
              <a:t>50 </a:t>
            </a:r>
            <a:r>
              <a:rPr lang="zh-TW" altLang="en-US" sz="1600" dirty="0">
                <a:latin typeface="+mn-lt"/>
              </a:rPr>
              <a:t>筆擴大至完整測試集，並統一模型與參數。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加入更多資訊：導入新聞情緒與總經指標，補強純技術面的不足。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比較更多 </a:t>
            </a:r>
            <a:r>
              <a:rPr lang="en-US" altLang="zh-TW" sz="1600" dirty="0">
                <a:latin typeface="+mn-lt"/>
              </a:rPr>
              <a:t>LLM</a:t>
            </a:r>
            <a:r>
              <a:rPr lang="zh-TW" altLang="en-US" sz="1600" dirty="0">
                <a:latin typeface="+mn-lt"/>
              </a:rPr>
              <a:t>：測試 </a:t>
            </a:r>
            <a:r>
              <a:rPr lang="en-US" altLang="zh-TW" sz="1600" dirty="0">
                <a:latin typeface="+mn-lt"/>
              </a:rPr>
              <a:t>Gemini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Llama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Gemma </a:t>
            </a:r>
            <a:r>
              <a:rPr lang="zh-TW" altLang="en-US" sz="1600" dirty="0">
                <a:latin typeface="+mn-lt"/>
              </a:rPr>
              <a:t>等模型。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平台可用性評估：未來邀請使用者實測，以 </a:t>
            </a:r>
            <a:r>
              <a:rPr lang="en-US" altLang="zh-TW" sz="1600" dirty="0">
                <a:latin typeface="+mn-lt"/>
              </a:rPr>
              <a:t>SUS </a:t>
            </a:r>
            <a:r>
              <a:rPr lang="zh-TW" altLang="en-US" sz="1600" dirty="0">
                <a:latin typeface="+mn-lt"/>
              </a:rPr>
              <a:t>量表評估介面可用性。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2672</TotalTime>
  <Words>9587</Words>
  <Application>Microsoft Office PowerPoint</Application>
  <PresentationFormat>寬螢幕</PresentationFormat>
  <Paragraphs>561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3" baseType="lpstr">
      <vt:lpstr>Noto Sans TC</vt:lpstr>
      <vt:lpstr>Amasis MT Pro Medium</vt:lpstr>
      <vt:lpstr>Merriweather</vt:lpstr>
      <vt:lpstr>Arial</vt:lpstr>
      <vt:lpstr>Calibri</vt:lpstr>
      <vt:lpstr>DM Sans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288</cp:revision>
  <dcterms:modified xsi:type="dcterms:W3CDTF">2026-06-20T08:08:07Z</dcterms:modified>
</cp:coreProperties>
</file>