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5" r:id="rId14"/>
    <p:sldId id="567" r:id="rId15"/>
    <p:sldId id="568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Noto Sans TC" panose="020B0200000000000000" pitchFamily="34" charset="-120"/>
      <p:regular r:id="rId39"/>
      <p:bold r:id="rId40"/>
    </p:embeddedFont>
    <p:embeddedFont>
      <p:font typeface="Amasis MT Pro Medium" panose="02040604050005020304" pitchFamily="18" charset="0"/>
      <p:regular r:id="rId41"/>
      <p:italic r:id="rId42"/>
    </p:embeddedFont>
    <p:embeddedFont>
      <p:font typeface="DM Sans" pitchFamily="2" charset="0"/>
      <p:regular r:id="rId43"/>
      <p:bold r:id="rId44"/>
      <p:italic r:id="rId45"/>
      <p:boldItalic r:id="rId46"/>
    </p:embeddedFont>
    <p:embeddedFont>
      <p:font typeface="Merriweather" panose="00000500000000000000" pitchFamily="2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5013" autoAdjust="0"/>
  </p:normalViewPr>
  <p:slideViewPr>
    <p:cSldViewPr snapToGrid="0">
      <p:cViewPr varScale="1">
        <p:scale>
          <a:sx n="60" d="100"/>
          <a:sy n="60" d="100"/>
        </p:scale>
        <p:origin x="78" y="10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endParaRPr dirty="0"/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LLM 我用 GPT-4o-mini。API 金鑰我從 .env 檔載入,不寫死在程式裡。核心是呼叫 OpenAI 的 chat completions,指定模型 gpt-4o-mini,temperature 設 0 確保每次輸出一致、可重現,並用 json_object 格式回傳。最後解析 JSON,取出 predicted_close 當作預測的收盤價。</a:t>
            </a:r>
            <a:br>
              <a:rPr lang="en-US" altLang="zh-TW" dirty="0"/>
            </a:br>
            <a:r>
              <a:rPr lang="zh-TW" altLang="zh-TW"/>
              <a:t>在 prompt 裡提供過去 5 天的價格和技術指標,要求它預測次日收盤價,並以 JSON 格式回傳數值。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SPY 的分類結果。最左邊灰色是我加的『永遠猜漲』基準，F1 是 0.736，我用紅色虛線標出來。可以看到四個模型的 F1 全部貼著這條線、甚至更低——最好的雙層 LSTM 也只有 0.733，跟基準打平。這代表在多頭期間，分類的高 F1 主要來自市場本身上漲的偏態，模型並沒有真正超越無腦策略。這就是我把分類定位成輔助、把重心放到後面迴歸和 LLM 的原因。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這頁用預測曲線把上面的數字視覺化。黑色是實際收盤價</a:t>
            </a:r>
            <a:r>
              <a:rPr lang="en-US" altLang="zh-TW" dirty="0"/>
              <a:t>,</a:t>
            </a:r>
            <a:r>
              <a:rPr lang="zh-TW" altLang="en-US" dirty="0"/>
              <a:t>綠色 </a:t>
            </a:r>
            <a:r>
              <a:rPr lang="en-US" altLang="zh-TW" dirty="0"/>
              <a:t>ARIMA </a:t>
            </a:r>
            <a:r>
              <a:rPr lang="zh-TW" altLang="en-US" dirty="0"/>
              <a:t>幾乎完全貼合、看不太出來</a:t>
            </a:r>
            <a:r>
              <a:rPr lang="en-US" altLang="zh-TW" dirty="0"/>
              <a:t>,</a:t>
            </a:r>
            <a:r>
              <a:rPr lang="zh-TW" altLang="en-US" dirty="0"/>
              <a:t>所以它誤差最小。橘色 </a:t>
            </a:r>
            <a:r>
              <a:rPr lang="en-US" altLang="zh-TW" dirty="0"/>
              <a:t>Random Forest </a:t>
            </a:r>
            <a:r>
              <a:rPr lang="zh-TW" altLang="en-US" dirty="0"/>
              <a:t>整條躺平</a:t>
            </a:r>
            <a:r>
              <a:rPr lang="en-US" altLang="zh-TW" dirty="0"/>
              <a:t>——</a:t>
            </a:r>
            <a:r>
              <a:rPr lang="zh-TW" altLang="en-US" dirty="0"/>
              <a:t>因為樹模型無法預測超出訓練範圍的新高價</a:t>
            </a:r>
            <a:r>
              <a:rPr lang="en-US" altLang="zh-TW" dirty="0"/>
              <a:t>,</a:t>
            </a:r>
            <a:r>
              <a:rPr lang="zh-TW" altLang="en-US" dirty="0"/>
              <a:t>測試期一突破就卡住了。藍色 </a:t>
            </a:r>
            <a:r>
              <a:rPr lang="en-US" altLang="zh-TW" dirty="0"/>
              <a:t>LSTM </a:t>
            </a:r>
            <a:r>
              <a:rPr lang="zh-TW" altLang="en-US" dirty="0"/>
              <a:t>能跟上趨勢</a:t>
            </a:r>
            <a:r>
              <a:rPr lang="en-US" altLang="zh-TW" dirty="0"/>
              <a:t>,</a:t>
            </a:r>
            <a:r>
              <a:rPr lang="zh-TW" altLang="en-US" dirty="0"/>
              <a:t>但有一段落差。這張圖直觀說明</a:t>
            </a:r>
            <a:r>
              <a:rPr lang="en-US" altLang="zh-TW" dirty="0"/>
              <a:t>:</a:t>
            </a:r>
            <a:r>
              <a:rPr lang="zh-TW" altLang="en-US" dirty="0"/>
              <a:t>在價格預測上</a:t>
            </a:r>
            <a:r>
              <a:rPr lang="en-US" altLang="zh-TW" dirty="0"/>
              <a:t>,</a:t>
            </a:r>
            <a:r>
              <a:rPr lang="zh-TW" altLang="en-US" dirty="0"/>
              <a:t>簡單的 </a:t>
            </a:r>
            <a:r>
              <a:rPr lang="en-US" altLang="zh-TW" dirty="0"/>
              <a:t>ARIMA </a:t>
            </a:r>
            <a:r>
              <a:rPr lang="zh-TW" altLang="en-US" dirty="0"/>
              <a:t>反而比複雜的樹模型穩定</a:t>
            </a:r>
            <a:r>
              <a:rPr lang="en-US" altLang="zh-TW" dirty="0"/>
              <a:t>,</a:t>
            </a:r>
            <a:r>
              <a:rPr lang="zh-TW" altLang="en-US" dirty="0"/>
              <a:t>複雜不一定比較好。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zh-TW" dirty="0"/>
              <a:t>平台用 Streamlit 加 Plotly、SQLite，串接 GPT 或 Gemini 產生風險摘要，端對端延遲 840 毫秒，一般電腦、不用 GPU 就能跑。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187743" y="1587336"/>
            <a:ext cx="7319210" cy="351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en-US" altLang="zh-TW" sz="1800" b="1" i="0" u="none" strike="noStrike" dirty="0">
                <a:solidFill>
                  <a:srgbClr val="1E293B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涵蓋台、美、日、港五大指數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869365"/>
            <a:ext cx="5018259" cy="492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0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20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20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20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20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670754" y="550115"/>
            <a:ext cx="5949746" cy="12464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dirty="0"/>
              <a:t>ARIMA(自迴歸整合移動平均)是時間序列預測中最常用的統計模型,本研究作為</a:t>
            </a:r>
            <a:r>
              <a:rPr lang="zh-TW" altLang="zh-TW" sz="1800" b="1" dirty="0"/>
              <a:t>基準模型(Baseline)</a:t>
            </a:r>
            <a:r>
              <a:rPr lang="zh-TW" altLang="zh-TW" sz="1800" dirty="0"/>
              <a:t>。對單變量時間序列進行建模與預測。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913768" y="17550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為什麼</a:t>
            </a:r>
            <a:r>
              <a:rPr lang="en-US" altLang="zh-TW" sz="2000" dirty="0">
                <a:solidFill>
                  <a:srgbClr val="FF0000"/>
                </a:solidFill>
              </a:rPr>
              <a:t>I</a:t>
            </a:r>
            <a:r>
              <a:rPr lang="zh-TW" altLang="en-US" sz="2000" dirty="0">
                <a:solidFill>
                  <a:srgbClr val="FF0000"/>
                </a:solidFill>
              </a:rPr>
              <a:t>要用</a:t>
            </a:r>
            <a:r>
              <a:rPr lang="en-US" altLang="zh-TW" sz="2000" dirty="0">
                <a:solidFill>
                  <a:srgbClr val="FF0000"/>
                </a:solidFill>
              </a:rPr>
              <a:t>1 0</a:t>
            </a:r>
            <a:r>
              <a:rPr lang="zh-TW" altLang="en-US" sz="2000" dirty="0">
                <a:solidFill>
                  <a:srgbClr val="FF0000"/>
                </a:solidFill>
              </a:rPr>
              <a:t>不好嘛</a:t>
            </a:r>
            <a:r>
              <a:rPr lang="en-US" altLang="zh-TW" sz="2000" dirty="0">
                <a:solidFill>
                  <a:srgbClr val="FF0000"/>
                </a:solidFill>
              </a:rPr>
              <a:t>???</a:t>
            </a:r>
            <a:r>
              <a:rPr lang="zh-TW" altLang="en-US" sz="2000" dirty="0">
                <a:solidFill>
                  <a:srgbClr val="FF0000"/>
                </a:solidFill>
              </a:rPr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0</a:t>
            </a:r>
            <a:r>
              <a:rPr lang="zh-TW" altLang="en-US" sz="2000" dirty="0">
                <a:solidFill>
                  <a:srgbClr val="FF0000"/>
                </a:solidFill>
              </a:rPr>
              <a:t>答案很差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282295" y="558350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37DEFDAF-20FE-2595-242B-08825D89BC74}"/>
              </a:ext>
            </a:extLst>
          </p:cNvPr>
          <p:cNvSpPr txBox="1"/>
          <p:nvPr/>
        </p:nvSpPr>
        <p:spPr>
          <a:xfrm>
            <a:off x="1069808" y="6173418"/>
            <a:ext cx="1005238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2000" dirty="0"/>
              <a:t>以 auto_arima 自動選參數，採 rolling forecast 逐日滾動預測，計算 MSE / MAPE。</a:t>
            </a:r>
            <a:endParaRPr sz="2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rgbClr val="FF0000"/>
                </a:solidFill>
              </a:rPr>
              <a:t>P</a:t>
            </a:r>
            <a:r>
              <a:rPr lang="zh-TW" altLang="zh-TW" sz="1600" b="1" dirty="0">
                <a:solidFill>
                  <a:srgbClr val="FF0000"/>
                </a:solidFill>
              </a:rPr>
              <a:t>mdarima</a:t>
            </a:r>
            <a:r>
              <a:rPr lang="zh-TW" altLang="en-US" sz="1600" b="1" dirty="0">
                <a:solidFill>
                  <a:srgbClr val="FF0000"/>
                </a:solidFill>
              </a:rPr>
              <a:t>補說明</a:t>
            </a:r>
            <a:r>
              <a:rPr lang="zh-TW" altLang="zh-TW" sz="1600" dirty="0"/>
              <a:t> 自動選參數 + rolling forecast（arima_baseline.py）</a:t>
            </a:r>
            <a:endParaRPr lang="zh-TW" altLang="en-US" sz="1600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3048000" y="3279122"/>
            <a:ext cx="2759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 err="1">
                <a:solidFill>
                  <a:srgbClr val="FF0000"/>
                </a:solidFill>
              </a:rPr>
              <a:t>Auto_arima</a:t>
            </a:r>
            <a:r>
              <a:rPr lang="zh-TW" altLang="en-US" sz="1800" dirty="0">
                <a:solidFill>
                  <a:srgbClr val="FF0000"/>
                </a:solidFill>
              </a:rPr>
              <a:t>參數如下</a:t>
            </a:r>
            <a:r>
              <a:rPr lang="en-US" altLang="zh-TW" sz="1800" dirty="0">
                <a:solidFill>
                  <a:srgbClr val="FF0000"/>
                </a:solidFill>
              </a:rPr>
              <a:t>:</a:t>
            </a:r>
            <a:endParaRPr lang="zh-TW" altLang="en-US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003301" y="3894842"/>
            <a:ext cx="10908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309360" y="2675265"/>
            <a:ext cx="5162501" cy="150747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50706360-B23B-99AC-91C2-7F28D44AE618}"/>
              </a:ext>
            </a:extLst>
          </p:cNvPr>
          <p:cNvSpPr txBox="1"/>
          <p:nvPr/>
        </p:nvSpPr>
        <p:spPr>
          <a:xfrm>
            <a:off x="6309359" y="2805752"/>
            <a:ext cx="5162501" cy="1246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隨機森林在 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基礎上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,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額外在特徵選擇引入隨機性</a:t>
            </a:r>
            <a:endParaRPr lang="en-US" altLang="zh-TW" sz="1800" b="1" i="0" u="none" strike="noStrike" cap="none" spc="300" dirty="0">
              <a:solidFill>
                <a:srgbClr val="002147"/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每次分裂隨機選部分特徵</a:t>
            </a:r>
            <a:r>
              <a:rPr lang="en-US" altLang="zh-TW" sz="1800" b="1" i="0" u="none" strike="noStrike" cap="none" spc="300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spc="300" dirty="0">
              <a:latin typeface="+mj-lt"/>
            </a:endParaRPr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568977"/>
              </p:ext>
            </p:extLst>
          </p:nvPr>
        </p:nvGraphicFramePr>
        <p:xfrm>
          <a:off x="565734" y="2262425"/>
          <a:ext cx="5530264" cy="3760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較穩定、泛化好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可解釋性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537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537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113E0B5E-2453-7718-5C1B-69E5F936F589}"/>
              </a:ext>
            </a:extLst>
          </p:cNvPr>
          <p:cNvSpPr txBox="1"/>
          <p:nvPr/>
        </p:nvSpPr>
        <p:spPr>
          <a:xfrm>
            <a:off x="6309359" y="4766777"/>
            <a:ext cx="3809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800" b="1" dirty="0">
                <a:solidFill>
                  <a:srgbClr val="FF0000"/>
                </a:solidFill>
              </a:rPr>
              <a:t>決策樹結果 也要拿出來 比較</a:t>
            </a:r>
            <a:endParaRPr lang="en-US" altLang="zh-TW" sz="1800" b="1" dirty="0">
              <a:solidFill>
                <a:srgbClr val="FF0000"/>
              </a:solidFill>
            </a:endParaRPr>
          </a:p>
          <a:p>
            <a:r>
              <a:rPr lang="zh-TW" altLang="en-US" sz="1800" b="1" dirty="0">
                <a:solidFill>
                  <a:srgbClr val="FF0000"/>
                </a:solidFill>
              </a:rPr>
              <a:t> 證明因為他比較差</a:t>
            </a:r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樣本權重隨輪次變化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44979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+mj-lt"/>
                <a:ea typeface="DM Sans"/>
                <a:cs typeface="DM Sans"/>
                <a:sym typeface="DM Sans"/>
              </a:rPr>
              <a:t>殘差逐步縮小</a:t>
            </a:r>
            <a:endParaRPr sz="18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三個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boost  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比較差異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800" dirty="0"/>
              <a:t>RF / AdaBoost / GBM </a:t>
            </a:r>
            <a:r>
              <a:rPr lang="zh-TW" altLang="en-US" sz="1800" dirty="0"/>
              <a:t>來自 </a:t>
            </a:r>
            <a:r>
              <a:rPr lang="en-US" altLang="zh-TW" sz="1800" dirty="0" err="1"/>
              <a:t>sklearn.ensemble</a:t>
            </a:r>
            <a:r>
              <a:rPr lang="zh-TW" altLang="en-US" sz="1800" dirty="0"/>
              <a:t>，</a:t>
            </a:r>
            <a:r>
              <a:rPr lang="en-US" altLang="zh-TW" sz="1800" dirty="0" err="1"/>
              <a:t>XGBoost</a:t>
            </a:r>
            <a:r>
              <a:rPr lang="en-US" altLang="zh-TW" sz="1800" dirty="0"/>
              <a:t> </a:t>
            </a:r>
            <a:r>
              <a:rPr lang="zh-TW" altLang="en-US" sz="1800" dirty="0"/>
              <a:t>來自 </a:t>
            </a:r>
            <a:r>
              <a:rPr lang="en-US" altLang="zh-TW" sz="1800" dirty="0" err="1"/>
              <a:t>xgboost</a:t>
            </a:r>
            <a:r>
              <a:rPr lang="en-US" altLang="zh-TW" sz="1800" dirty="0"/>
              <a:t> </a:t>
            </a:r>
            <a:r>
              <a:rPr lang="zh-TW" altLang="en-US" sz="1800" dirty="0"/>
              <a:t>套件。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四個模型皆以 </a:t>
            </a:r>
            <a:r>
              <a:rPr lang="en-US" altLang="zh-TW" sz="1800" dirty="0" err="1"/>
              <a:t>TimeSeriesSplit</a:t>
            </a:r>
            <a:r>
              <a:rPr lang="zh-TW" altLang="en-US" sz="1800" dirty="0"/>
              <a:t>（時序交叉驗證）評估，</a:t>
            </a:r>
            <a:r>
              <a:rPr lang="zh-TW" altLang="en-US" sz="1800" dirty="0">
                <a:solidFill>
                  <a:srgbClr val="FF0000"/>
                </a:solidFill>
              </a:rPr>
              <a:t>確保不洩漏未來資料。</a:t>
            </a:r>
            <a:r>
              <a:rPr lang="en-US" altLang="zh-TW" sz="1800" dirty="0">
                <a:solidFill>
                  <a:srgbClr val="FF0000"/>
                </a:solidFill>
              </a:rPr>
              <a:t>&lt;</a:t>
            </a:r>
            <a:r>
              <a:rPr lang="zh-TW" altLang="en-US" sz="1800" dirty="0">
                <a:solidFill>
                  <a:srgbClr val="FF0000"/>
                </a:solidFill>
              </a:rPr>
              <a:t>什麼意思</a:t>
            </a:r>
            <a:endParaRPr sz="1800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3" name="Google Shape;217;p20">
            <a:extLst>
              <a:ext uri="{FF2B5EF4-FFF2-40B4-BE49-F238E27FC236}">
                <a16:creationId xmlns:a16="http://schemas.microsoft.com/office/drawing/2014/main" id="{C4835E96-24DB-C93E-091A-43DD95EE84A4}"/>
              </a:ext>
            </a:extLst>
          </p:cNvPr>
          <p:cNvSpPr txBox="1"/>
          <p:nvPr/>
        </p:nvSpPr>
        <p:spPr>
          <a:xfrm>
            <a:off x="7106654" y="256599"/>
            <a:ext cx="532297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2400" dirty="0">
                <a:solidFill>
                  <a:srgbClr val="FF0000"/>
                </a:solidFill>
              </a:rPr>
              <a:t>XGBOOST</a:t>
            </a:r>
            <a:r>
              <a:rPr lang="zh-TW" altLang="en-US" sz="2400" dirty="0">
                <a:solidFill>
                  <a:srgbClr val="FF0000"/>
                </a:solidFill>
              </a:rPr>
              <a:t> 解釋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 marL="285750" lvl="0" indent="-285750">
              <a:buFontTx/>
              <a:buChar char="-"/>
            </a:pPr>
            <a:r>
              <a:rPr lang="zh-TW" altLang="en-US" sz="2400" dirty="0">
                <a:solidFill>
                  <a:srgbClr val="FF0000"/>
                </a:solidFill>
              </a:rPr>
              <a:t>參數要說明 為什麼要設</a:t>
            </a:r>
            <a:r>
              <a:rPr lang="en-US" altLang="zh-TW" sz="2400" dirty="0">
                <a:solidFill>
                  <a:srgbClr val="FF0000"/>
                </a:solidFill>
              </a:rPr>
              <a:t>0.1?</a:t>
            </a:r>
            <a:r>
              <a:rPr lang="zh-TW" altLang="en-US" sz="2400" dirty="0">
                <a:solidFill>
                  <a:srgbClr val="FF0000"/>
                </a:solidFill>
              </a:rPr>
              <a:t>之類的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800" dirty="0"/>
              <a:t>單層 LSTM：一層 LSTM(50) + Dense(1) 輸出數值。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雙層 LSTM：疊兩層 LSTM（第一層 return_sequences=True）。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關鍵：Dense(1) 無 sigmoid、loss='mse'，即為迴歸版本。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E3623A53-27A1-C4A4-BD33-B8827AC3A640}"/>
              </a:ext>
            </a:extLst>
          </p:cNvPr>
          <p:cNvSpPr txBox="1"/>
          <p:nvPr/>
        </p:nvSpPr>
        <p:spPr>
          <a:xfrm>
            <a:off x="7251031" y="422503"/>
            <a:ext cx="23501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 err="1">
                <a:solidFill>
                  <a:srgbClr val="FF0000"/>
                </a:solidFill>
              </a:rPr>
              <a:t>Tensorflow</a:t>
            </a:r>
            <a:r>
              <a:rPr lang="en-US" altLang="zh-TW" sz="2000" dirty="0">
                <a:solidFill>
                  <a:srgbClr val="FF0000"/>
                </a:solidFill>
              </a:rPr>
              <a:t>/</a:t>
            </a:r>
            <a:r>
              <a:rPr lang="en-US" altLang="zh-TW" sz="2000" dirty="0" err="1">
                <a:solidFill>
                  <a:srgbClr val="FF0000"/>
                </a:solidFill>
              </a:rPr>
              <a:t>Keras</a:t>
            </a:r>
            <a:endParaRPr lang="en-US" altLang="zh-TW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雙向還要補一張圖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98861" y="577833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41527" y="5819351"/>
            <a:ext cx="775967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800" dirty="0"/>
              <a:t>單層 LSTM：一層 LSTM(50) + Dense(1) 輸出數值。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雙層 LSTM：疊兩層 LSTM（第一層 return_sequences=True）。 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zh-TW" sz="1800" dirty="0"/>
              <a:t>關鍵：Dense(1) 無 sigmoid、loss='mse'，即為迴歸版本。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回歸任務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282295" y="5583508"/>
            <a:ext cx="1889914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20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784589" y="5768015"/>
            <a:ext cx="888341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en-US" sz="1800" dirty="0"/>
              <a:t>從 </a:t>
            </a:r>
            <a:r>
              <a:rPr lang="en-US" altLang="zh-TW" sz="1800" dirty="0"/>
              <a:t>.env </a:t>
            </a:r>
            <a:r>
              <a:rPr lang="zh-TW" altLang="en-US" sz="1800" dirty="0"/>
              <a:t>載入 </a:t>
            </a:r>
            <a:r>
              <a:rPr lang="en-US" altLang="zh-TW" sz="1800" dirty="0"/>
              <a:t>API </a:t>
            </a:r>
            <a:r>
              <a:rPr lang="zh-TW" altLang="en-US" sz="1800" dirty="0"/>
              <a:t>金鑰。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呼叫 </a:t>
            </a:r>
            <a:r>
              <a:rPr lang="en-US" altLang="zh-TW" sz="1800" dirty="0"/>
              <a:t>OpenAI API</a:t>
            </a:r>
            <a:r>
              <a:rPr lang="zh-TW" altLang="en-US" sz="1800" dirty="0"/>
              <a:t>、指定 </a:t>
            </a:r>
            <a:r>
              <a:rPr lang="en-US" altLang="zh-TW" sz="1800" dirty="0"/>
              <a:t>gpt-4o-mini</a:t>
            </a:r>
            <a:r>
              <a:rPr lang="zh-TW" altLang="en-US" sz="1800" dirty="0"/>
              <a:t>、</a:t>
            </a:r>
            <a:r>
              <a:rPr lang="en-US" altLang="zh-TW" sz="1800" dirty="0">
                <a:solidFill>
                  <a:srgbClr val="FF0000"/>
                </a:solidFill>
              </a:rPr>
              <a:t>temperature=0</a:t>
            </a:r>
            <a:r>
              <a:rPr lang="en-US" altLang="zh-TW" sz="1800" dirty="0"/>
              <a:t> </a:t>
            </a:r>
            <a:r>
              <a:rPr lang="zh-TW" altLang="en-US" sz="1800" dirty="0"/>
              <a:t>確保輸出可重現。</a:t>
            </a:r>
            <a:endParaRPr lang="en-US" altLang="zh-TW" sz="1800" dirty="0"/>
          </a:p>
          <a:p>
            <a:pPr marL="285750" lvl="0" indent="-285750">
              <a:buFontTx/>
              <a:buChar char="-"/>
            </a:pPr>
            <a:r>
              <a:rPr lang="zh-TW" altLang="en-US" sz="1800" dirty="0"/>
              <a:t>以 </a:t>
            </a:r>
            <a:r>
              <a:rPr lang="en-US" altLang="zh-TW" sz="1800" dirty="0" err="1"/>
              <a:t>json_object</a:t>
            </a:r>
            <a:r>
              <a:rPr lang="en-US" altLang="zh-TW" sz="1800" dirty="0"/>
              <a:t> </a:t>
            </a:r>
            <a:r>
              <a:rPr lang="zh-TW" altLang="en-US" sz="1800" dirty="0"/>
              <a:t>格式回傳，解析後取出 </a:t>
            </a:r>
            <a:r>
              <a:rPr lang="en-US" altLang="zh-TW" sz="1800" dirty="0" err="1"/>
              <a:t>predicted_close</a:t>
            </a:r>
            <a:r>
              <a:rPr lang="en-US" altLang="zh-TW" sz="1800" dirty="0"/>
              <a:t> </a:t>
            </a:r>
            <a:r>
              <a:rPr lang="zh-TW" altLang="en-US" sz="1800" dirty="0"/>
              <a:t>作為預測收盤價。</a:t>
            </a:r>
            <a:endParaRPr sz="18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temperature=0 </a:t>
            </a:r>
            <a:r>
              <a:rPr lang="zh-TW" altLang="en-US" sz="1600" dirty="0"/>
              <a:t>確保可重現（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CD88184-5639-0FC3-30EA-FF665093E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7252" y="2159689"/>
            <a:ext cx="7595906" cy="234945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3C82F48-1207-AB6F-C8E2-9985CAD0E9E7}"/>
              </a:ext>
            </a:extLst>
          </p:cNvPr>
          <p:cNvSpPr txBox="1"/>
          <p:nvPr/>
        </p:nvSpPr>
        <p:spPr>
          <a:xfrm>
            <a:off x="4110805" y="4931784"/>
            <a:ext cx="7359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>
                <a:solidFill>
                  <a:srgbClr val="FF0000"/>
                </a:solidFill>
              </a:rPr>
              <a:t>temperature=0(</a:t>
            </a:r>
            <a:r>
              <a:rPr lang="zh-TW" altLang="en-US" sz="1800" b="1" dirty="0">
                <a:solidFill>
                  <a:srgbClr val="FF0000"/>
                </a:solidFill>
              </a:rPr>
              <a:t>不能用</a:t>
            </a:r>
            <a:r>
              <a:rPr lang="en-US" altLang="zh-TW" sz="1800" b="1" dirty="0">
                <a:solidFill>
                  <a:srgbClr val="FF0000"/>
                </a:solidFill>
              </a:rPr>
              <a:t>0&lt;-</a:t>
            </a:r>
            <a:r>
              <a:rPr lang="zh-TW" altLang="en-US" sz="1800" b="1" dirty="0">
                <a:solidFill>
                  <a:srgbClr val="FF0000"/>
                </a:solidFill>
              </a:rPr>
              <a:t>非常保守 </a:t>
            </a:r>
            <a:r>
              <a:rPr lang="en-US" altLang="zh-TW" sz="1800" b="1" dirty="0">
                <a:solidFill>
                  <a:srgbClr val="FF0000"/>
                </a:solidFill>
              </a:rPr>
              <a:t>2&lt;-</a:t>
            </a:r>
            <a:r>
              <a:rPr lang="zh-TW" altLang="en-US" sz="1800" b="1" dirty="0">
                <a:solidFill>
                  <a:srgbClr val="FF0000"/>
                </a:solidFill>
              </a:rPr>
              <a:t>非常活潑 通常都用</a:t>
            </a:r>
            <a:r>
              <a:rPr lang="en-US" altLang="zh-TW" sz="1800" b="1" dirty="0">
                <a:solidFill>
                  <a:srgbClr val="FF0000"/>
                </a:solidFill>
              </a:rPr>
              <a:t>0.7 0.8)</a:t>
            </a:r>
            <a:r>
              <a:rPr lang="en-US" altLang="zh-TW" sz="1800" b="1" dirty="0"/>
              <a:t> </a:t>
            </a:r>
            <a:endParaRPr lang="zh-TW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sz="1800" dirty="0"/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2459" y="608577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09600" y="613388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20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2000" dirty="0">
                <a:solidFill>
                  <a:srgbClr val="FF0000"/>
                </a:solidFill>
              </a:rPr>
              <a:t>為什麼要寫這個</a:t>
            </a:r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5015359"/>
            <a:ext cx="5760363" cy="9233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</a:t>
            </a:r>
            <a:r>
              <a:rPr lang="zh-TW" altLang="en-US" dirty="0"/>
              <a:t>綠線</a:t>
            </a:r>
            <a:r>
              <a:rPr lang="en-US" altLang="zh-TW" dirty="0"/>
              <a:t>(ARIMA)</a:t>
            </a:r>
            <a:r>
              <a:rPr lang="zh-TW" altLang="en-US" dirty="0"/>
              <a:t>幾乎貼合實際值；</a:t>
            </a:r>
            <a:endParaRPr lang="en-US" altLang="zh-TW" dirty="0"/>
          </a:p>
          <a:p>
            <a:r>
              <a:rPr lang="zh-TW" altLang="en-US" dirty="0"/>
              <a:t>橘線</a:t>
            </a:r>
            <a:r>
              <a:rPr lang="en-US" altLang="zh-TW" dirty="0"/>
              <a:t>(Random Forest)</a:t>
            </a:r>
            <a:r>
              <a:rPr lang="zh-TW" altLang="en-US" dirty="0"/>
              <a:t>無法外推、預測躺平；</a:t>
            </a:r>
            <a:endParaRPr lang="en-US" altLang="zh-TW" dirty="0"/>
          </a:p>
          <a:p>
            <a:r>
              <a:rPr lang="zh-TW" altLang="en-US" dirty="0"/>
              <a:t>藍線</a:t>
            </a:r>
            <a:r>
              <a:rPr lang="en-US" altLang="zh-TW" dirty="0"/>
              <a:t>(LSTM)</a:t>
            </a:r>
            <a:r>
              <a:rPr lang="zh-TW" altLang="en-US" dirty="0"/>
              <a:t>能跟上趨勢但略有落差。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ADD2AB-E7A5-120A-EB06-68CD8A6C9115}"/>
              </a:ext>
            </a:extLst>
          </p:cNvPr>
          <p:cNvSpPr txBox="1"/>
          <p:nvPr/>
        </p:nvSpPr>
        <p:spPr>
          <a:xfrm>
            <a:off x="5593437" y="979561"/>
            <a:ext cx="30823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為什麼隨機森林那麼爛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441960" y="4922520"/>
            <a:ext cx="5082540" cy="95821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571500" y="4959250"/>
            <a:ext cx="4953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本平台整合預測結果與 </a:t>
            </a:r>
            <a:r>
              <a:rPr lang="en-US" altLang="zh-TW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摘要，介面輕量、一般設備即可順暢執行，適合作為教學示範與個人投資研究的輔助參考工具。</a:t>
            </a:r>
            <a:endParaRPr sz="1800" dirty="0"/>
          </a:p>
        </p:txBody>
      </p:sp>
      <p:sp>
        <p:nvSpPr>
          <p:cNvPr id="358" name="Google Shape;358;p29"/>
          <p:cNvSpPr txBox="1"/>
          <p:nvPr/>
        </p:nvSpPr>
        <p:spPr>
          <a:xfrm>
            <a:off x="1047750" y="3063775"/>
            <a:ext cx="4476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Streamlit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+ Plotly + SQLite</a:t>
            </a:r>
            <a:endParaRPr sz="1800" dirty="0"/>
          </a:p>
        </p:txBody>
      </p:sp>
      <p:sp>
        <p:nvSpPr>
          <p:cNvPr id="359" name="Google Shape;359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9"/>
          <p:cNvSpPr txBox="1"/>
          <p:nvPr/>
        </p:nvSpPr>
        <p:spPr>
          <a:xfrm>
            <a:off x="1047750" y="3644413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GPT-3.5 / Gemini API </a:t>
            </a:r>
            <a:r>
              <a:rPr lang="zh-TW" alt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即時風險摘要</a:t>
            </a:r>
            <a:endParaRPr sz="1800" dirty="0"/>
          </a:p>
        </p:txBody>
      </p:sp>
      <p:sp>
        <p:nvSpPr>
          <p:cNvPr id="361" name="Google Shape;361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 txBox="1"/>
          <p:nvPr/>
        </p:nvSpPr>
        <p:spPr>
          <a:xfrm>
            <a:off x="1047750" y="4225438"/>
            <a:ext cx="44767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平均延遲：</a:t>
            </a:r>
            <a:r>
              <a:rPr lang="en-US" sz="18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840 毫秒</a:t>
            </a:r>
            <a:endParaRPr sz="1800"/>
          </a:p>
        </p:txBody>
      </p:sp>
      <p:sp>
        <p:nvSpPr>
          <p:cNvPr id="363" name="Google Shape;363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571500" y="348287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4063900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4644925"/>
            <a:ext cx="4953000" cy="9525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7" name="Google Shape;367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09235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6861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249638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平台實作</a:t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92D2DF1-8899-CD1A-2145-6E63CFC27C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425" y="510072"/>
            <a:ext cx="6407288" cy="59646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3"/>
            <a:ext cx="8077201" cy="1432560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43999"/>
            <a:ext cx="5334000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866775" y="2338921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分類任務</a:t>
            </a: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（預測漲跌方向）</a:t>
            </a:r>
            <a:endParaRPr sz="2400" dirty="0"/>
          </a:p>
        </p:txBody>
      </p:sp>
      <p:sp>
        <p:nvSpPr>
          <p:cNvPr id="380" name="Google Shape;380;p30"/>
          <p:cNvSpPr txBox="1"/>
          <p:nvPr/>
        </p:nvSpPr>
        <p:spPr>
          <a:xfrm>
            <a:off x="866775" y="2879292"/>
            <a:ext cx="474345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預測次日「上漲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下跌」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RF 0.732 /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單層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 0.694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但各模型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多貼近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Always-Up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基準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高分主要來自多頭期間的市場偏態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LLM(GPT-3.5) F1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僅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方向看似可分，實則貼近基準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581775" y="2343239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迴歸任務（預測收盤價）</a:t>
            </a:r>
            <a:endParaRPr sz="2400" dirty="0"/>
          </a:p>
        </p:txBody>
      </p:sp>
      <p:sp>
        <p:nvSpPr>
          <p:cNvPr id="382" name="Google Shape;382;p30"/>
          <p:cNvSpPr txBox="1"/>
          <p:nvPr/>
        </p:nvSpPr>
        <p:spPr>
          <a:xfrm>
            <a:off x="6581774" y="2879292"/>
            <a:ext cx="5038725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8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最佳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(MAPE &lt;1.1%)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排序：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 &lt; LSTM &lt;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 </a:t>
            </a: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??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什麼意思</a:t>
            </a:r>
            <a:endParaRPr lang="en-US" altLang="zh-TW" sz="1800" b="1" dirty="0">
              <a:solidFill>
                <a:srgbClr val="FF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集成模型無法外推、誤差最大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- LLM(GPT-4o-mini) </a:t>
            </a:r>
            <a:r>
              <a:rPr lang="zh-TW" alt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altLang="zh-TW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→ </a:t>
            </a:r>
            <a:r>
              <a:rPr lang="zh-TW" altLang="en-US" sz="1800" b="1" i="0" u="none" strike="noStrike" cap="none" dirty="0">
                <a:solidFill>
                  <a:srgbClr val="FF0000"/>
                </a:solidFill>
                <a:latin typeface="DM Sans"/>
                <a:ea typeface="DM Sans"/>
                <a:cs typeface="DM Sans"/>
                <a:sym typeface="DM Sans"/>
              </a:rPr>
              <a:t>數值可預測，但複雜模型未必較佳</a:t>
            </a:r>
            <a:endParaRPr sz="1800" b="1" dirty="0">
              <a:solidFill>
                <a:srgbClr val="FF0000"/>
              </a:solidFill>
            </a:endParaRPr>
          </a:p>
        </p:txBody>
      </p:sp>
      <p:sp>
        <p:nvSpPr>
          <p:cNvPr id="383" name="Google Shape;383;p30"/>
          <p:cNvSpPr txBox="1"/>
          <p:nvPr/>
        </p:nvSpPr>
        <p:spPr>
          <a:xfrm>
            <a:off x="840582" y="963495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分類與迴歸之抉擇</a:t>
            </a:r>
            <a:endParaRPr dirty="0"/>
          </a:p>
        </p:txBody>
      </p:sp>
      <p:sp>
        <p:nvSpPr>
          <p:cNvPr id="384" name="Google Shape;384;p3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270760" y="5175935"/>
            <a:ext cx="8854439" cy="113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2000" b="1" dirty="0">
                <a:solidFill>
                  <a:srgbClr val="FFC000"/>
                </a:solidFill>
              </a:rPr>
              <a:t>三大關鍵發現 </a:t>
            </a:r>
            <a:endParaRPr lang="en-US" altLang="zh-TW" sz="2000" b="1" dirty="0">
              <a:solidFill>
                <a:srgbClr val="FFC000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無單一冠軍：不同市場、不同任務，最佳模型各異 </a:t>
            </a:r>
            <a:r>
              <a:rPr lang="zh-TW" altLang="en-US" sz="1800" dirty="0">
                <a:solidFill>
                  <a:schemeClr val="bg1"/>
                </a:solidFill>
              </a:rPr>
              <a:t>  </a:t>
            </a:r>
            <a:r>
              <a:rPr lang="en-US" altLang="zh-TW" sz="1800" dirty="0">
                <a:solidFill>
                  <a:srgbClr val="FF0000"/>
                </a:solidFill>
                <a:sym typeface="Wingdings" panose="05000000000000000000" pitchFamily="2" charset="2"/>
              </a:rPr>
              <a:t></a:t>
            </a:r>
            <a:r>
              <a:rPr lang="zh-TW" altLang="en-US" sz="1800" dirty="0">
                <a:solidFill>
                  <a:srgbClr val="FF0000"/>
                </a:solidFill>
              </a:rPr>
              <a:t>要有答案 結果什麼市場什麼最好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價格 R² 高但輸基準：次日走勢難預測，分類與</a:t>
            </a:r>
            <a:endParaRPr lang="en-US" altLang="zh-TW" sz="1800" dirty="0">
              <a:solidFill>
                <a:schemeClr val="bg1"/>
              </a:solidFill>
            </a:endParaRPr>
          </a:p>
          <a:p>
            <a:pPr lvl="0"/>
            <a:r>
              <a:rPr lang="zh-TW" altLang="zh-TW" sz="1800" dirty="0">
                <a:solidFill>
                  <a:schemeClr val="bg1"/>
                </a:solidFill>
              </a:rPr>
              <a:t> LLM 為輔助 LLM 定位：適合作為「解釋型」輔助，而非純算力引擎</a:t>
            </a:r>
            <a:endParaRPr sz="1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097881"/>
            <a:ext cx="5334000" cy="3545533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5" y="6147619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866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4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6581775" y="2393156"/>
            <a:ext cx="49806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40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571500" y="3043298"/>
            <a:ext cx="5334000" cy="1374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建立跨市場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(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台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/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美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預測基準比較。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揭示台股受國際連動影響之預測難點。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實作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</a:rPr>
              <a:t>輔助開源平台。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6286500" y="2937168"/>
            <a:ext cx="5275897" cy="226055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導入新聞情緒與總經指標分析。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開發 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LSTM-ARIMA </a:t>
            </a:r>
            <a:r>
              <a:rPr lang="zh-TW" altLang="en-US" b="1" dirty="0">
                <a:solidFill>
                  <a:srgbClr val="FF0000"/>
                </a:solidFill>
                <a:latin typeface="DM Sans"/>
              </a:rPr>
              <a:t>混合模型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????</a:t>
            </a:r>
            <a:r>
              <a:rPr lang="zh-TW" altLang="en-US" dirty="0">
                <a:latin typeface="DM Sans"/>
              </a:rPr>
              <a:t>。</a:t>
            </a: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dirty="0">
                <a:latin typeface="DM Sans"/>
              </a:rPr>
              <a:t>進行正式使用者 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SUS </a:t>
            </a:r>
            <a:r>
              <a:rPr lang="zh-TW" altLang="en-US" b="1" dirty="0">
                <a:solidFill>
                  <a:srgbClr val="FF0000"/>
                </a:solidFill>
                <a:latin typeface="DM Sans"/>
              </a:rPr>
              <a:t>量表研究</a:t>
            </a:r>
            <a:r>
              <a:rPr lang="en-US" altLang="zh-TW" b="1" dirty="0">
                <a:solidFill>
                  <a:srgbClr val="FF0000"/>
                </a:solidFill>
                <a:latin typeface="DM Sans"/>
              </a:rPr>
              <a:t>????</a:t>
            </a:r>
            <a:r>
              <a:rPr lang="zh-TW" altLang="en-US" b="1" dirty="0">
                <a:solidFill>
                  <a:srgbClr val="FF0000"/>
                </a:solidFill>
                <a:latin typeface="DM Sans"/>
              </a:rPr>
              <a:t>。</a:t>
            </a:r>
            <a:endParaRPr lang="en-US" altLang="zh-TW" b="1" dirty="0">
              <a:solidFill>
                <a:srgbClr val="FF0000"/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擴大 LLM 迴歸樣本至完整測試集 </a:t>
            </a:r>
            <a:endParaRPr lang="en-US" altLang="zh-TW" dirty="0">
              <a:latin typeface="DM Sans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zh-TW" dirty="0">
                <a:latin typeface="DM Sans"/>
              </a:rPr>
              <a:t>比較多種 LLM（Gemini、Llama、Gemma）</a:t>
            </a:r>
            <a:endParaRPr lang="zh-TW" altLang="en-US" dirty="0">
              <a:latin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1798</TotalTime>
  <Words>6957</Words>
  <Application>Microsoft Office PowerPoint</Application>
  <PresentationFormat>寬螢幕</PresentationFormat>
  <Paragraphs>472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4" baseType="lpstr">
      <vt:lpstr>Wingdings</vt:lpstr>
      <vt:lpstr>DM Sans</vt:lpstr>
      <vt:lpstr>Noto Sans TC</vt:lpstr>
      <vt:lpstr>Arial</vt:lpstr>
      <vt:lpstr>Amasis MT Pro Medium</vt:lpstr>
      <vt:lpstr>Merriweather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194</cp:revision>
  <dcterms:modified xsi:type="dcterms:W3CDTF">2026-06-15T14:32:06Z</dcterms:modified>
</cp:coreProperties>
</file>