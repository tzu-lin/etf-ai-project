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578" r:id="rId4"/>
    <p:sldId id="258" r:id="rId5"/>
    <p:sldId id="259" r:id="rId6"/>
    <p:sldId id="260" r:id="rId7"/>
    <p:sldId id="262" r:id="rId8"/>
    <p:sldId id="570" r:id="rId9"/>
    <p:sldId id="263" r:id="rId10"/>
    <p:sldId id="553" r:id="rId11"/>
    <p:sldId id="566" r:id="rId12"/>
    <p:sldId id="565" r:id="rId13"/>
    <p:sldId id="567" r:id="rId14"/>
    <p:sldId id="568" r:id="rId15"/>
    <p:sldId id="575" r:id="rId16"/>
    <p:sldId id="571" r:id="rId17"/>
    <p:sldId id="556" r:id="rId18"/>
    <p:sldId id="557" r:id="rId19"/>
    <p:sldId id="555" r:id="rId20"/>
    <p:sldId id="572" r:id="rId21"/>
    <p:sldId id="576" r:id="rId22"/>
    <p:sldId id="265" r:id="rId23"/>
    <p:sldId id="577" r:id="rId24"/>
    <p:sldId id="573" r:id="rId25"/>
    <p:sldId id="558" r:id="rId26"/>
    <p:sldId id="266" r:id="rId27"/>
    <p:sldId id="267" r:id="rId28"/>
    <p:sldId id="268" r:id="rId29"/>
    <p:sldId id="564" r:id="rId30"/>
    <p:sldId id="563" r:id="rId31"/>
    <p:sldId id="562" r:id="rId32"/>
    <p:sldId id="270" r:id="rId33"/>
    <p:sldId id="272" r:id="rId34"/>
    <p:sldId id="273" r:id="rId35"/>
    <p:sldId id="275" r:id="rId36"/>
  </p:sldIdLst>
  <p:sldSz cx="12192000" cy="6858000"/>
  <p:notesSz cx="6858000" cy="9144000"/>
  <p:embeddedFontLst>
    <p:embeddedFont>
      <p:font typeface="Amasis MT Pro Medium" panose="02040604050005020304" pitchFamily="18" charset="0"/>
      <p:regular r:id="rId38"/>
      <p:italic r:id="rId39"/>
    </p:embeddedFont>
    <p:embeddedFont>
      <p:font typeface="DM Sans" pitchFamily="2" charset="0"/>
      <p:regular r:id="rId40"/>
      <p:bold r:id="rId41"/>
      <p:italic r:id="rId42"/>
      <p:boldItalic r:id="rId43"/>
    </p:embeddedFont>
    <p:embeddedFont>
      <p:font typeface="Merriweather" panose="000005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5013" autoAdjust="0"/>
  </p:normalViewPr>
  <p:slideViewPr>
    <p:cSldViewPr snapToGrid="0">
      <p:cViewPr>
        <p:scale>
          <a:sx n="50" d="100"/>
          <a:sy n="50" d="100"/>
        </p:scale>
        <p:origin x="-43" y="6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667E425-7DE3-CDE3-CC02-C6EBC081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8E6FC52-5299-CFC4-67EB-1274E1D75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7322D38-4337-33CC-0D7F-DBDDC1D62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26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F051989-D53C-D7EC-2E19-96DDE00B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BDF80A3-8051-9931-7626-AF25104A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A07FAC0-47F3-EAE9-3959-8B0FA5F8C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790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BE726C1-8783-FCCE-AB55-61DDC167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18DDC3C-0ADC-3044-D09C-3396B9D73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392DE20-D2BD-EAEE-C450-C8A64B9F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26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ACF2C4B-08F9-B851-2B7B-EF5F71F7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D312822-6799-3309-7116-73C6B6AD6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C905F3E-C508-0E87-3151-F78AB4ABB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1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F2B444-DD83-19A0-7993-80DF367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50B81CC1-9CE1-B7CE-5829-63F62BE6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BB2EF076-75E3-F6D4-7D49-12FF3777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91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0E9610-5BC8-CFB5-C70D-5110206A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A70CA79-6DB7-602D-9F9D-ABD381F80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C44E2063-5D05-9CA7-E476-CDDE13F4E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35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E6D3ECD-A64E-C8BC-82D3-6F06A75C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726D0C72-D753-5AB3-C460-1C98A5B50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4595E89-75DC-A607-291E-69E1A85DC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942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5622A4B-9FCE-DE79-FE49-53599DF2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1B77590-90B4-2B6F-7D88-D55B66E02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3D6AB008-FD05-195F-217D-05038DAE2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003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42379A2-2DD8-E93A-D928-60F23F26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3A19D64E-C0EE-1D11-B033-29AC8B2BE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1E316C8-D2AC-AB3A-B3F2-70DFCFFE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5050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212C9C9-2DA8-2C01-8CCC-87D23A8F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4F0CD18B-58FE-DA5B-AC91-C39F582A1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90D9A89D-AB33-65CB-FDB9-1337FAA03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798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我用兩個。GPT-3.5 做漲跌分類，F1 大約 0.48，明顯比傳統模型差——這其實是預期的，因為 LLM 不擅長純數值分類。另一個用 Gemini 做小樣本的數值迴歸探索，兩個都是免費額度。它們的定位是輔助解釋，不是主要預測引擎</a:t>
            </a:r>
            <a:endParaRPr dirty="0"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6B1143D1-3C36-DFFF-7D4C-CF306EF6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>
            <a:extLst>
              <a:ext uri="{FF2B5EF4-FFF2-40B4-BE49-F238E27FC236}">
                <a16:creationId xmlns:a16="http://schemas.microsoft.com/office/drawing/2014/main" id="{BFC5291E-39F3-2D1A-2057-89CF920C5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我用兩個。GPT-3.5 做漲跌分類，F1 大約 0.48，明顯比傳統模型差——這其實是預期的，因為 LLM 不擅長純數值分類。另一個用 Gemini 做小樣本的數值迴歸探索，兩個都是免費額度。它們的定位是輔助解釋，不是主要預測引擎</a:t>
            </a:r>
            <a:endParaRPr dirty="0"/>
          </a:p>
        </p:txBody>
      </p:sp>
      <p:sp>
        <p:nvSpPr>
          <p:cNvPr id="238" name="Google Shape;238;p10:notes">
            <a:extLst>
              <a:ext uri="{FF2B5EF4-FFF2-40B4-BE49-F238E27FC236}">
                <a16:creationId xmlns:a16="http://schemas.microsoft.com/office/drawing/2014/main" id="{BCAFEEF2-24AF-A1F2-C76E-C3B2CED84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071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22410B51-C3B3-862E-7DE3-B85900B3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D20F2394-FA7A-81DA-8A6C-FDAB4DC3E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 GPT-4o-mini。API 金鑰我從 .env 檔載入,不寫死在程式裡。核心是呼叫 OpenAI 的 chat completions,指定模型 gpt-4o-mini,temperature 設 0 確保每次輸出一致、可重現,並用 json_object 格式回傳。最後解析 JSON,取出 predicted_close 當作預測的收盤價。</a:t>
            </a:r>
            <a:br>
              <a:rPr lang="en-US" altLang="zh-TW" dirty="0"/>
            </a:br>
            <a:r>
              <a:rPr lang="zh-TW" altLang="zh-TW"/>
              <a:t>在 prompt 裡提供過去 5 天的價格和技術指標,要求它預測次日收盤價,並以 JSON 格式回傳數值。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1EA3EC1-200C-5CDF-ED5F-32CFB39FB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7697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先說明機器學習的標準流程</a:t>
            </a:r>
            <a:r>
              <a:rPr lang="en-US" altLang="zh-TW" dirty="0"/>
              <a:t>,</a:t>
            </a:r>
            <a:r>
              <a:rPr lang="zh-TW" altLang="en-US" dirty="0"/>
              <a:t>從資料收集、預處理、特徵工程</a:t>
            </a:r>
            <a:r>
              <a:rPr lang="en-US" altLang="zh-TW" dirty="0"/>
              <a:t>,</a:t>
            </a:r>
            <a:r>
              <a:rPr lang="zh-TW" altLang="en-US" dirty="0"/>
              <a:t>到模型訓練、評估、部署。評估指標分類用 </a:t>
            </a:r>
            <a:r>
              <a:rPr lang="en-US" altLang="zh-TW" dirty="0"/>
              <a:t>F1</a:t>
            </a:r>
            <a:r>
              <a:rPr lang="zh-TW" altLang="en-US" dirty="0"/>
              <a:t>、</a:t>
            </a:r>
            <a:r>
              <a:rPr lang="en-US" altLang="zh-TW" dirty="0"/>
              <a:t>ROC-AUC,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RMSE</a:t>
            </a:r>
            <a:r>
              <a:rPr lang="zh-TW" altLang="en-US" dirty="0"/>
              <a:t>、</a:t>
            </a:r>
            <a:r>
              <a:rPr lang="en-US" altLang="zh-TW" dirty="0"/>
              <a:t>MAE</a:t>
            </a:r>
            <a:r>
              <a:rPr lang="zh-TW" altLang="en-US" dirty="0"/>
              <a:t>、</a:t>
            </a:r>
            <a:r>
              <a:rPr lang="en-US" altLang="zh-TW" dirty="0"/>
              <a:t>R²</a:t>
            </a:r>
            <a:r>
              <a:rPr lang="zh-TW" altLang="en-US" dirty="0"/>
              <a:t>、</a:t>
            </a:r>
            <a:r>
              <a:rPr lang="en-US" altLang="zh-TW" dirty="0"/>
              <a:t>MAPE</a:t>
            </a:r>
            <a:r>
              <a:rPr lang="zh-TW" altLang="en-US" dirty="0"/>
              <a:t>。其中模型訓練階段要用交叉驗證確保穩定。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dirty="0"/>
              <a:t>這頁說明我的研究實驗流程</a:t>
            </a:r>
            <a:r>
              <a:rPr lang="en-US" altLang="zh-TW" dirty="0"/>
              <a:t>,</a:t>
            </a:r>
            <a:r>
              <a:rPr lang="zh-TW" altLang="en-US" dirty="0"/>
              <a:t>對應到標準的機器學習 </a:t>
            </a:r>
            <a:r>
              <a:rPr lang="en-US" altLang="zh-TW" dirty="0"/>
              <a:t>pipeline,</a:t>
            </a:r>
            <a:r>
              <a:rPr lang="zh-TW" altLang="en-US" dirty="0"/>
              <a:t>分五個階段。</a:t>
            </a:r>
          </a:p>
          <a:p>
            <a:r>
              <a:rPr lang="zh-TW" altLang="en-US" dirty="0"/>
              <a:t>第一</a:t>
            </a:r>
            <a:r>
              <a:rPr lang="en-US" altLang="zh-TW" dirty="0"/>
              <a:t>,</a:t>
            </a:r>
            <a:r>
              <a:rPr lang="zh-TW" altLang="en-US" b="1" dirty="0"/>
              <a:t>資料來源</a:t>
            </a:r>
            <a:r>
              <a:rPr lang="en-US" altLang="zh-TW" dirty="0"/>
              <a:t>:</a:t>
            </a:r>
            <a:r>
              <a:rPr lang="zh-TW" altLang="en-US" dirty="0"/>
              <a:t>用 </a:t>
            </a:r>
            <a:r>
              <a:rPr lang="en-US" altLang="zh-TW" dirty="0"/>
              <a:t>Yahoo Finance API </a:t>
            </a:r>
            <a:r>
              <a:rPr lang="zh-TW" altLang="en-US" dirty="0"/>
              <a:t>取得 </a:t>
            </a:r>
            <a:r>
              <a:rPr lang="en-US" altLang="zh-TW" dirty="0"/>
              <a:t>ETF </a:t>
            </a:r>
            <a:r>
              <a:rPr lang="zh-TW" altLang="en-US" dirty="0"/>
              <a:t>的歷史股價</a:t>
            </a:r>
            <a:r>
              <a:rPr lang="en-US" altLang="zh-TW" dirty="0"/>
              <a:t>,</a:t>
            </a:r>
            <a:r>
              <a:rPr lang="zh-TW" altLang="en-US" dirty="0"/>
              <a:t>透過 </a:t>
            </a:r>
            <a:r>
              <a:rPr lang="en-US" altLang="zh-TW" dirty="0"/>
              <a:t>update_database.py </a:t>
            </a:r>
            <a:r>
              <a:rPr lang="zh-TW" altLang="en-US" dirty="0"/>
              <a:t>這支程式抓取。</a:t>
            </a:r>
          </a:p>
          <a:p>
            <a:r>
              <a:rPr lang="zh-TW" altLang="en-US" dirty="0"/>
              <a:t>第二</a:t>
            </a:r>
            <a:r>
              <a:rPr lang="en-US" altLang="zh-TW" dirty="0"/>
              <a:t>,</a:t>
            </a:r>
            <a:r>
              <a:rPr lang="zh-TW" altLang="en-US" b="1" dirty="0"/>
              <a:t>資料前處理</a:t>
            </a:r>
            <a:r>
              <a:rPr lang="en-US" altLang="zh-TW" dirty="0"/>
              <a:t>:</a:t>
            </a:r>
            <a:r>
              <a:rPr lang="zh-TW" altLang="en-US" dirty="0"/>
              <a:t>做資料清洗、缺失值處理</a:t>
            </a:r>
            <a:r>
              <a:rPr lang="en-US" altLang="zh-TW" dirty="0"/>
              <a:t>,</a:t>
            </a:r>
            <a:r>
              <a:rPr lang="zh-TW" altLang="en-US" dirty="0"/>
              <a:t>然後存進 </a:t>
            </a:r>
            <a:r>
              <a:rPr lang="en-US" altLang="zh-TW" dirty="0" err="1"/>
              <a:t>etf_data.db</a:t>
            </a:r>
            <a:r>
              <a:rPr lang="en-US" altLang="zh-TW" dirty="0"/>
              <a:t> </a:t>
            </a:r>
            <a:r>
              <a:rPr lang="zh-TW" altLang="en-US" dirty="0"/>
              <a:t>這個本地資料庫。後面所有模型訓練都讀這個 </a:t>
            </a:r>
            <a:r>
              <a:rPr lang="en-US" altLang="zh-TW" dirty="0" err="1"/>
              <a:t>db</a:t>
            </a:r>
            <a:r>
              <a:rPr lang="en-US" altLang="zh-TW" dirty="0"/>
              <a:t>,</a:t>
            </a:r>
            <a:r>
              <a:rPr lang="zh-TW" altLang="en-US" dirty="0"/>
              <a:t>確保實驗可以重現</a:t>
            </a:r>
            <a:r>
              <a:rPr lang="en-US" altLang="zh-TW" dirty="0"/>
              <a:t>——</a:t>
            </a:r>
            <a:r>
              <a:rPr lang="zh-TW" altLang="en-US" dirty="0"/>
              <a:t>不會因為每天重抓 </a:t>
            </a:r>
            <a:r>
              <a:rPr lang="en-US" altLang="zh-TW" dirty="0"/>
              <a:t>API </a:t>
            </a:r>
            <a:r>
              <a:rPr lang="zh-TW" altLang="en-US" dirty="0"/>
              <a:t>而資料變動。</a:t>
            </a:r>
          </a:p>
          <a:p>
            <a:r>
              <a:rPr lang="zh-TW" altLang="en-US" dirty="0"/>
              <a:t>第三</a:t>
            </a:r>
            <a:r>
              <a:rPr lang="en-US" altLang="zh-TW" dirty="0"/>
              <a:t>,</a:t>
            </a:r>
            <a:r>
              <a:rPr lang="zh-TW" altLang="en-US" b="1" dirty="0"/>
              <a:t>特徵工程</a:t>
            </a:r>
            <a:r>
              <a:rPr lang="en-US" altLang="zh-TW" dirty="0"/>
              <a:t>:</a:t>
            </a:r>
            <a:r>
              <a:rPr lang="zh-TW" altLang="en-US" dirty="0"/>
              <a:t>建立 </a:t>
            </a:r>
            <a:r>
              <a:rPr lang="en-US" altLang="zh-TW" dirty="0"/>
              <a:t>Lag</a:t>
            </a:r>
            <a:r>
              <a:rPr lang="zh-TW" altLang="en-US" dirty="0"/>
              <a:t>、移動平均 </a:t>
            </a:r>
            <a:r>
              <a:rPr lang="en-US" altLang="zh-TW" dirty="0"/>
              <a:t>MA</a:t>
            </a:r>
            <a:r>
              <a:rPr lang="zh-TW" altLang="en-US" dirty="0"/>
              <a:t>、波動率 </a:t>
            </a:r>
            <a:r>
              <a:rPr lang="en-US" altLang="zh-TW" dirty="0"/>
              <a:t>Vol </a:t>
            </a:r>
            <a:r>
              <a:rPr lang="zh-TW" altLang="en-US" dirty="0"/>
              <a:t>等技術指標特徵</a:t>
            </a:r>
            <a:r>
              <a:rPr lang="en-US" altLang="zh-TW" dirty="0"/>
              <a:t>,</a:t>
            </a:r>
            <a:r>
              <a:rPr lang="zh-TW" altLang="en-US" dirty="0"/>
              <a:t>主要供樹模型使用</a:t>
            </a:r>
            <a:r>
              <a:rPr lang="en-US" altLang="zh-TW" dirty="0"/>
              <a:t>;ARIMA </a:t>
            </a:r>
            <a:r>
              <a:rPr lang="zh-TW" altLang="en-US" dirty="0"/>
              <a:t>和 </a:t>
            </a:r>
            <a:r>
              <a:rPr lang="en-US" altLang="zh-TW" dirty="0"/>
              <a:t>LSTM </a:t>
            </a:r>
            <a:r>
              <a:rPr lang="zh-TW" altLang="en-US" dirty="0"/>
              <a:t>則直接處理價格序列。</a:t>
            </a:r>
          </a:p>
          <a:p>
            <a:r>
              <a:rPr lang="zh-TW" altLang="en-US" dirty="0"/>
              <a:t>第四</a:t>
            </a:r>
            <a:r>
              <a:rPr lang="en-US" altLang="zh-TW" dirty="0"/>
              <a:t>,</a:t>
            </a:r>
            <a:r>
              <a:rPr lang="zh-TW" altLang="en-US" b="1" dirty="0"/>
              <a:t>模型訓練</a:t>
            </a:r>
            <a:r>
              <a:rPr lang="en-US" altLang="zh-TW" dirty="0"/>
              <a:t>:</a:t>
            </a:r>
            <a:r>
              <a:rPr lang="zh-TW" altLang="en-US" dirty="0"/>
              <a:t>這裡採用各模型領域的標準驗證方法</a:t>
            </a:r>
            <a:r>
              <a:rPr lang="en-US" altLang="zh-TW" dirty="0"/>
              <a:t>——</a:t>
            </a:r>
            <a:r>
              <a:rPr lang="zh-TW" altLang="en-US" dirty="0"/>
              <a:t>樹模型和 </a:t>
            </a:r>
            <a:r>
              <a:rPr lang="en-US" altLang="zh-TW" dirty="0"/>
              <a:t>LSTM </a:t>
            </a:r>
            <a:r>
              <a:rPr lang="zh-TW" altLang="en-US" dirty="0"/>
              <a:t>用 </a:t>
            </a:r>
            <a:r>
              <a:rPr lang="en-US" altLang="zh-TW" dirty="0"/>
              <a:t>TimeSeriesSplit </a:t>
            </a:r>
            <a:r>
              <a:rPr lang="zh-TW" altLang="en-US" dirty="0"/>
              <a:t>時序交叉驗證</a:t>
            </a:r>
            <a:r>
              <a:rPr lang="en-US" altLang="zh-TW" dirty="0"/>
              <a:t>,ARIMA </a:t>
            </a:r>
            <a:r>
              <a:rPr lang="zh-TW" altLang="en-US" dirty="0"/>
              <a:t>用 </a:t>
            </a:r>
            <a:r>
              <a:rPr lang="en-US" altLang="zh-TW" dirty="0"/>
              <a:t>rolling forecast </a:t>
            </a:r>
            <a:r>
              <a:rPr lang="zh-TW" altLang="en-US" dirty="0"/>
              <a:t>滾動預測。之所以不用一般的 </a:t>
            </a:r>
            <a:r>
              <a:rPr lang="en-US" altLang="zh-TW" dirty="0"/>
              <a:t>K-Fold,</a:t>
            </a:r>
            <a:r>
              <a:rPr lang="zh-TW" altLang="en-US" dirty="0"/>
              <a:t>是因為它會打亂時間順序、造成未來資料洩漏。</a:t>
            </a:r>
          </a:p>
          <a:p>
            <a:r>
              <a:rPr lang="zh-TW" altLang="en-US" dirty="0"/>
              <a:t>第五</a:t>
            </a:r>
            <a:r>
              <a:rPr lang="en-US" altLang="zh-TW" dirty="0"/>
              <a:t>,</a:t>
            </a:r>
            <a:r>
              <a:rPr lang="zh-TW" altLang="en-US" b="1" dirty="0"/>
              <a:t>性能評估</a:t>
            </a:r>
            <a:r>
              <a:rPr lang="en-US" altLang="zh-TW" dirty="0"/>
              <a:t>: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MAPE,</a:t>
            </a:r>
            <a:r>
              <a:rPr lang="zh-TW" altLang="en-US" dirty="0"/>
              <a:t>分類用 </a:t>
            </a:r>
            <a:r>
              <a:rPr lang="en-US" altLang="zh-TW" dirty="0"/>
              <a:t>F1-score</a:t>
            </a:r>
            <a:r>
              <a:rPr lang="zh-TW" altLang="en-US" dirty="0"/>
              <a:t>。其中 </a:t>
            </a:r>
            <a:r>
              <a:rPr lang="en-US" altLang="zh-TW" dirty="0"/>
              <a:t>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可以跨市場比較。</a:t>
            </a:r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SPY 的分類結果。最左邊灰色是我加的『永遠猜漲』基準，F1 是 0.736，我用紅色虛線標出來。可以看到四個模型的 F1 全部貼著這條線、甚至更低——最好的雙層 LSTM 也只有 0.733，跟基準打平。這代表在多頭期間，分類的高 F1 主要來自市場本身上漲的偏態，模型並沒有真正超越無腦策略。這就是我把分類定位成輔助、把重心放到後面迴歸和 LLM 的原因。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A7495C2-5F38-10B8-D21B-F38FA073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C955BF73-CCD7-CDD6-3E95-667AFF315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這是迴歸的誤差比較</a:t>
            </a:r>
            <a:r>
              <a:rPr lang="en-US" altLang="zh-TW" dirty="0"/>
              <a:t>,</a:t>
            </a:r>
            <a:r>
              <a:rPr lang="zh-TW" altLang="en-US" dirty="0"/>
              <a:t>左邊是 </a:t>
            </a:r>
            <a:r>
              <a:rPr lang="en-US" altLang="zh-TW" dirty="0"/>
              <a:t>MSE</a:t>
            </a:r>
            <a:r>
              <a:rPr lang="zh-TW" altLang="en-US" dirty="0"/>
              <a:t>、右邊是 </a:t>
            </a:r>
            <a:r>
              <a:rPr lang="en-US" altLang="zh-TW" dirty="0"/>
              <a:t>MAPE</a:t>
            </a:r>
            <a:r>
              <a:rPr lang="zh-TW" altLang="en-US" dirty="0"/>
              <a:t>。</a:t>
            </a:r>
            <a:r>
              <a:rPr lang="en-US" altLang="zh-TW" dirty="0"/>
              <a:t>MSE </a:t>
            </a:r>
            <a:r>
              <a:rPr lang="zh-TW" altLang="en-US" dirty="0"/>
              <a:t>受股價數值影響</a:t>
            </a:r>
            <a:r>
              <a:rPr lang="en-US" altLang="zh-TW" dirty="0"/>
              <a:t>,</a:t>
            </a:r>
            <a:r>
              <a:rPr lang="zh-TW" altLang="en-US" dirty="0"/>
              <a:t>只能在同一市場內比</a:t>
            </a:r>
            <a:r>
              <a:rPr lang="en-US" altLang="zh-TW" dirty="0"/>
              <a:t>;MAPE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可以跨市場比。可以看到不管哪個指標</a:t>
            </a:r>
            <a:r>
              <a:rPr lang="en-US" altLang="zh-TW" dirty="0"/>
              <a:t>,</a:t>
            </a:r>
            <a:r>
              <a:rPr lang="zh-TW" altLang="en-US" dirty="0"/>
              <a:t>三個市場排序都一致</a:t>
            </a:r>
            <a:r>
              <a:rPr lang="en-US" altLang="zh-TW" dirty="0"/>
              <a:t>:ARIMA </a:t>
            </a:r>
            <a:r>
              <a:rPr lang="zh-TW" altLang="en-US" dirty="0"/>
              <a:t>誤差最小、</a:t>
            </a:r>
            <a:r>
              <a:rPr lang="en-US" altLang="zh-TW" dirty="0"/>
              <a:t>LSTM </a:t>
            </a:r>
            <a:r>
              <a:rPr lang="zh-TW" altLang="en-US" dirty="0"/>
              <a:t>次之、樹模型最大。特別是 </a:t>
            </a:r>
            <a:r>
              <a:rPr lang="en-US" altLang="zh-TW" dirty="0"/>
              <a:t>MAPE,ARIMA </a:t>
            </a:r>
            <a:r>
              <a:rPr lang="zh-TW" altLang="en-US" dirty="0"/>
              <a:t>不到 </a:t>
            </a:r>
            <a:r>
              <a:rPr lang="en-US" altLang="zh-TW" dirty="0"/>
              <a:t>1%</a:t>
            </a:r>
            <a:r>
              <a:rPr lang="zh-TW" altLang="en-US" dirty="0"/>
              <a:t>、</a:t>
            </a:r>
            <a:r>
              <a:rPr lang="en-US" altLang="zh-TW" dirty="0"/>
              <a:t>LSTM </a:t>
            </a:r>
            <a:r>
              <a:rPr lang="zh-TW" altLang="en-US" dirty="0"/>
              <a:t>約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3%</a:t>
            </a:r>
            <a:r>
              <a:rPr lang="zh-TW" altLang="en-US" dirty="0"/>
              <a:t>、樹模型高達 </a:t>
            </a:r>
            <a:r>
              <a:rPr lang="en-US" altLang="zh-TW" dirty="0"/>
              <a:t>8 </a:t>
            </a:r>
            <a:r>
              <a:rPr lang="zh-TW" altLang="en-US" dirty="0"/>
              <a:t>到 </a:t>
            </a:r>
            <a:r>
              <a:rPr lang="en-US" altLang="zh-TW" dirty="0"/>
              <a:t>11%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238A708-6F60-564A-1257-7F2FB4108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943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03B08ED-9F1C-18A5-270C-FF47A408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6A4B20C4-067A-EC21-8C3A-666A0E26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這頁用預測曲線把上面的數字視覺化。黑色是實際收盤價</a:t>
            </a:r>
            <a:r>
              <a:rPr lang="en-US" altLang="zh-TW" dirty="0"/>
              <a:t>,</a:t>
            </a:r>
            <a:r>
              <a:rPr lang="zh-TW" altLang="en-US" dirty="0"/>
              <a:t>綠色 </a:t>
            </a:r>
            <a:r>
              <a:rPr lang="en-US" altLang="zh-TW" dirty="0"/>
              <a:t>ARIMA </a:t>
            </a:r>
            <a:r>
              <a:rPr lang="zh-TW" altLang="en-US" dirty="0"/>
              <a:t>幾乎完全貼合、看不太出來</a:t>
            </a:r>
            <a:r>
              <a:rPr lang="en-US" altLang="zh-TW" dirty="0"/>
              <a:t>,</a:t>
            </a:r>
            <a:r>
              <a:rPr lang="zh-TW" altLang="en-US" dirty="0"/>
              <a:t>所以它誤差最小。橘色 </a:t>
            </a:r>
            <a:r>
              <a:rPr lang="en-US" altLang="zh-TW" dirty="0"/>
              <a:t>Random Forest </a:t>
            </a:r>
            <a:r>
              <a:rPr lang="zh-TW" altLang="en-US" dirty="0"/>
              <a:t>整條躺平</a:t>
            </a:r>
            <a:r>
              <a:rPr lang="en-US" altLang="zh-TW" dirty="0"/>
              <a:t>——</a:t>
            </a:r>
            <a:r>
              <a:rPr lang="zh-TW" altLang="en-US" dirty="0"/>
              <a:t>因為樹模型無法預測超出訓練範圍的新高價</a:t>
            </a:r>
            <a:r>
              <a:rPr lang="en-US" altLang="zh-TW" dirty="0"/>
              <a:t>,</a:t>
            </a:r>
            <a:r>
              <a:rPr lang="zh-TW" altLang="en-US" dirty="0"/>
              <a:t>測試期一突破就卡住了。藍色 </a:t>
            </a:r>
            <a:r>
              <a:rPr lang="en-US" altLang="zh-TW" dirty="0"/>
              <a:t>LSTM </a:t>
            </a:r>
            <a:r>
              <a:rPr lang="zh-TW" altLang="en-US" dirty="0"/>
              <a:t>能跟上趨勢</a:t>
            </a:r>
            <a:r>
              <a:rPr lang="en-US" altLang="zh-TW" dirty="0"/>
              <a:t>,</a:t>
            </a:r>
            <a:r>
              <a:rPr lang="zh-TW" altLang="en-US" dirty="0"/>
              <a:t>但有一段落差。這張圖直觀說明</a:t>
            </a:r>
            <a:r>
              <a:rPr lang="en-US" altLang="zh-TW" dirty="0"/>
              <a:t>:</a:t>
            </a:r>
            <a:r>
              <a:rPr lang="zh-TW" altLang="en-US" dirty="0"/>
              <a:t>在價格預測上</a:t>
            </a:r>
            <a:r>
              <a:rPr lang="en-US" altLang="zh-TW" dirty="0"/>
              <a:t>,</a:t>
            </a:r>
            <a:r>
              <a:rPr lang="zh-TW" altLang="en-US" dirty="0"/>
              <a:t>簡單的 </a:t>
            </a:r>
            <a:r>
              <a:rPr lang="en-US" altLang="zh-TW" dirty="0"/>
              <a:t>ARIMA </a:t>
            </a:r>
            <a:r>
              <a:rPr lang="zh-TW" altLang="en-US" dirty="0"/>
              <a:t>反而比複雜的樹模型穩定</a:t>
            </a:r>
            <a:r>
              <a:rPr lang="en-US" altLang="zh-TW" dirty="0"/>
              <a:t>,</a:t>
            </a:r>
            <a:r>
              <a:rPr lang="zh-TW" altLang="en-US" dirty="0"/>
              <a:t>複雜不一定比較好。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0DFA4B07-B505-0C77-FE8C-7B9091F41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556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zh-TW" dirty="0"/>
              <a:t>平台用 Streamlit 加 Plotly、SQLite，串接 GPT 或 Gemini 產生風險摘要，端對端延遲 840 毫秒，一般電腦、不用 GPU 就能跑。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056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前言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背景、動機與研究問題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分析主題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分類問題與迴歸問題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3125" y="44496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8343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模型介紹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跨世代模型架構分析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4056" y="23160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281987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處理</a:t>
            </a:r>
            <a:r>
              <a:rPr lang="en-US" sz="165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流程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355806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數據處理與實驗設計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跨市場表現評估指標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關鍵發現與未來方向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9A153F2-9055-D9A9-AFEF-DAC671E7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9DC9AF68-C4A7-2E42-7299-8636B8BBFF66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FF0000"/>
                </a:solidFill>
                <a:latin typeface="Merriweather"/>
                <a:sym typeface="Merriweather"/>
              </a:rPr>
              <a:t>文獻探討要寫個兩篇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25A4923-28F7-D6E6-0EEA-256C127098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656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327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3711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2330601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資訊不對稱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4283467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潛力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809625" y="4793514"/>
            <a:ext cx="31945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深度學習模型「黑箱」問題</a:t>
            </a:r>
            <a:endParaRPr lang="en-US" altLang="zh-TW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提升模型預測可理解度</a:t>
            </a:r>
            <a:endParaRPr lang="zh-TW" altLang="en-US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04" y="2035327"/>
            <a:ext cx="6682895" cy="3319798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866775" y="2805111"/>
            <a:ext cx="3245566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缺乏直觀同步預測工具</a:t>
            </a:r>
            <a:endParaRPr lang="en-US" sz="15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869365"/>
            <a:ext cx="5018259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</a:t>
            </a:r>
            <a:endParaRPr lang="en-US" sz="20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RQ1: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效能比較：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RQ2: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RQ3: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評估指標差異：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RMSQ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RQ4: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實作應用：建構 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117" y="3749565"/>
            <a:ext cx="4051935" cy="1128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938765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1629681" y="5454743"/>
            <a:ext cx="8775031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670754" y="550115"/>
            <a:ext cx="5949746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2000" dirty="0"/>
              <a:t>ARIMA(自迴歸整合移動平均)是時間序列預測中最常用的統計模型,本研究作為</a:t>
            </a:r>
            <a:r>
              <a:rPr lang="zh-TW" altLang="zh-TW" sz="2000" b="1" dirty="0"/>
              <a:t>基準模型(Baseline)</a:t>
            </a:r>
            <a:r>
              <a:rPr lang="zh-TW" altLang="zh-TW" sz="2000" dirty="0"/>
              <a:t>。對單變量時間序列進行建模與預測。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1934883" y="5523190"/>
            <a:ext cx="8164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本研究三市場最佳參數</a:t>
            </a:r>
            <a:r>
              <a:rPr lang="en-US" altLang="zh-TW" sz="1800" dirty="0">
                <a:solidFill>
                  <a:schemeClr val="bg2"/>
                </a:solidFill>
              </a:rPr>
              <a:t> 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</a:t>
            </a:r>
            <a:r>
              <a:rPr lang="zh-TW" altLang="en-US" sz="1800" dirty="0">
                <a:solidFill>
                  <a:schemeClr val="bg2"/>
                </a:solidFill>
              </a:rPr>
              <a:t> 定態檢定確認須差分，</a:t>
            </a:r>
            <a:r>
              <a:rPr lang="en-US" altLang="zh-TW" sz="1800" dirty="0" err="1">
                <a:solidFill>
                  <a:schemeClr val="bg2"/>
                </a:solidFill>
              </a:rPr>
              <a:t>auto_arima</a:t>
            </a:r>
            <a:r>
              <a:rPr lang="en-US" altLang="zh-TW" sz="1800" dirty="0">
                <a:solidFill>
                  <a:schemeClr val="bg2"/>
                </a:solidFill>
              </a:rPr>
              <a:t> </a:t>
            </a:r>
            <a:r>
              <a:rPr lang="zh-TW" altLang="en-US" sz="1800" dirty="0">
                <a:solidFill>
                  <a:schemeClr val="bg2"/>
                </a:solidFill>
              </a:rPr>
              <a:t>自動選定</a:t>
            </a:r>
            <a:r>
              <a:rPr lang="en-US" altLang="zh-TW" sz="1800" dirty="0">
                <a:solidFill>
                  <a:schemeClr val="bg2"/>
                </a:solidFill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SPY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ARIMA(0,1,2)	QQQ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ARIMA(1,1,0)	0050.TW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ARIMA(0,1,0)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74F66D-ED00-D7D0-EB06-8D1834B75E57}"/>
              </a:ext>
            </a:extLst>
          </p:cNvPr>
          <p:cNvSpPr txBox="1"/>
          <p:nvPr/>
        </p:nvSpPr>
        <p:spPr>
          <a:xfrm>
            <a:off x="913768" y="17550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為什麼</a:t>
            </a:r>
            <a:r>
              <a:rPr lang="en-US" altLang="zh-TW" sz="2000" dirty="0">
                <a:solidFill>
                  <a:srgbClr val="FF0000"/>
                </a:solidFill>
              </a:rPr>
              <a:t>I</a:t>
            </a:r>
            <a:r>
              <a:rPr lang="zh-TW" altLang="en-US" sz="2000" dirty="0">
                <a:solidFill>
                  <a:srgbClr val="FF0000"/>
                </a:solidFill>
              </a:rPr>
              <a:t>要用</a:t>
            </a:r>
            <a:r>
              <a:rPr lang="en-US" altLang="zh-TW" sz="2000" dirty="0">
                <a:solidFill>
                  <a:srgbClr val="FF0000"/>
                </a:solidFill>
              </a:rPr>
              <a:t>1 0</a:t>
            </a:r>
            <a:r>
              <a:rPr lang="zh-TW" altLang="en-US" sz="2000" dirty="0">
                <a:solidFill>
                  <a:srgbClr val="FF0000"/>
                </a:solidFill>
              </a:rPr>
              <a:t>不好嘛</a:t>
            </a:r>
            <a:r>
              <a:rPr lang="en-US" altLang="zh-TW" sz="2000" dirty="0">
                <a:solidFill>
                  <a:srgbClr val="FF0000"/>
                </a:solidFill>
              </a:rPr>
              <a:t>???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0</a:t>
            </a:r>
            <a:r>
              <a:rPr lang="zh-TW" altLang="en-US" sz="2000" dirty="0">
                <a:solidFill>
                  <a:srgbClr val="FF0000"/>
                </a:solidFill>
              </a:rPr>
              <a:t>答案很差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A262AA3-6D40-08EE-2856-15E2AAD5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277AC1F2-7C23-65D6-56F7-9F0EA1BAD548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ARIMA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CD247E8-5C59-214F-AB9E-49CC1BE800F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AA47984B-B105-67F8-E9CD-CFD1718B931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0FA69091-3B6A-AFCC-AE38-FCFD1C0FA660}"/>
              </a:ext>
            </a:extLst>
          </p:cNvPr>
          <p:cNvSpPr txBox="1"/>
          <p:nvPr/>
        </p:nvSpPr>
        <p:spPr>
          <a:xfrm>
            <a:off x="282295" y="558350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37DEFDAF-20FE-2595-242B-08825D89BC74}"/>
              </a:ext>
            </a:extLst>
          </p:cNvPr>
          <p:cNvSpPr txBox="1"/>
          <p:nvPr/>
        </p:nvSpPr>
        <p:spPr>
          <a:xfrm>
            <a:off x="1069808" y="6173418"/>
            <a:ext cx="100523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2000" dirty="0"/>
              <a:t>以 auto_arima 自動選參數，採 rolling forecast 逐日滾動預測，計算 MSE / MAPE。</a:t>
            </a:r>
            <a:endParaRPr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CEFB1-FA05-8DF0-957B-12928AD2ED0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P</a:t>
            </a:r>
            <a:r>
              <a:rPr lang="zh-TW" altLang="zh-TW" sz="1600" b="1" dirty="0">
                <a:solidFill>
                  <a:srgbClr val="FF0000"/>
                </a:solidFill>
              </a:rPr>
              <a:t>mdarima</a:t>
            </a:r>
            <a:r>
              <a:rPr lang="zh-TW" altLang="en-US" sz="1600" b="1" dirty="0">
                <a:solidFill>
                  <a:srgbClr val="FF0000"/>
                </a:solidFill>
              </a:rPr>
              <a:t>補說明</a:t>
            </a:r>
            <a:r>
              <a:rPr lang="zh-TW" altLang="zh-TW" sz="1600" dirty="0"/>
              <a:t> 自動選參數 + rolling forecast（arima_baseline.py）</a:t>
            </a:r>
            <a:endParaRPr lang="zh-TW" altLang="en-US" sz="1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135360D-83C9-4D2C-3695-FE08DEB9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427"/>
          <a:stretch>
            <a:fillRect/>
          </a:stretch>
        </p:blipFill>
        <p:spPr>
          <a:xfrm>
            <a:off x="1947076" y="2102945"/>
            <a:ext cx="8297847" cy="7846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C5AD3E-E081-F6CD-F123-66B7939F26A7}"/>
              </a:ext>
            </a:extLst>
          </p:cNvPr>
          <p:cNvSpPr txBox="1"/>
          <p:nvPr/>
        </p:nvSpPr>
        <p:spPr>
          <a:xfrm>
            <a:off x="3048000" y="3279122"/>
            <a:ext cx="275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>
                <a:solidFill>
                  <a:srgbClr val="FF0000"/>
                </a:solidFill>
              </a:rPr>
              <a:t>Auto_arima</a:t>
            </a:r>
            <a:r>
              <a:rPr lang="zh-TW" altLang="en-US" sz="1800" dirty="0">
                <a:solidFill>
                  <a:srgbClr val="FF0000"/>
                </a:solidFill>
              </a:rPr>
              <a:t>參數如下</a:t>
            </a:r>
            <a:r>
              <a:rPr lang="en-US" altLang="zh-TW" sz="1800" dirty="0">
                <a:solidFill>
                  <a:srgbClr val="FF0000"/>
                </a:solidFill>
              </a:rPr>
              <a:t>: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05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AF6C39-AB7D-F445-419E-7D88FB686807}"/>
              </a:ext>
            </a:extLst>
          </p:cNvPr>
          <p:cNvSpPr txBox="1"/>
          <p:nvPr/>
        </p:nvSpPr>
        <p:spPr>
          <a:xfrm>
            <a:off x="1003301" y="3894842"/>
            <a:ext cx="1090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2000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F902D42-C811-7DC2-C636-C654294B5C85}"/>
              </a:ext>
            </a:extLst>
          </p:cNvPr>
          <p:cNvCxnSpPr/>
          <p:nvPr/>
        </p:nvCxnSpPr>
        <p:spPr>
          <a:xfrm>
            <a:off x="1524000" y="429519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E3D88B7-B777-4F7D-87AF-6777B303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5007B1C9-55DB-634F-55B2-84947DF432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309360" y="2675265"/>
            <a:ext cx="5162501" cy="15074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50706360-B23B-99AC-91C2-7F28D44AE618}"/>
              </a:ext>
            </a:extLst>
          </p:cNvPr>
          <p:cNvSpPr txBox="1"/>
          <p:nvPr/>
        </p:nvSpPr>
        <p:spPr>
          <a:xfrm>
            <a:off x="6309359" y="2805752"/>
            <a:ext cx="5162501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隨機森林在 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基礎上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,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額外在特徵選擇引入隨機性</a:t>
            </a:r>
            <a:endParaRPr lang="en-US" altLang="zh-TW" sz="1800" b="1" i="0" u="none" strike="noStrike" cap="none" spc="300" dirty="0">
              <a:solidFill>
                <a:srgbClr val="002147"/>
              </a:solidFill>
              <a:latin typeface="+mj-lt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每次分裂隨機選部分特徵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spc="300" dirty="0">
              <a:latin typeface="+mj-lt"/>
            </a:endParaRPr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8D0C2472-4CB0-6AA4-AB5F-11B30E6FE6C0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決策樹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隨機森林對照表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0841325-4E93-B25A-03CC-C809B54D8DB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1EA80B-A3E3-AE00-1FD0-DCE2D6E2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68977"/>
              </p:ext>
            </p:extLst>
          </p:nvPr>
        </p:nvGraphicFramePr>
        <p:xfrm>
          <a:off x="565734" y="2262425"/>
          <a:ext cx="5530264" cy="3760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798">
                  <a:extLst>
                    <a:ext uri="{9D8B030D-6E8A-4147-A177-3AD203B41FA5}">
                      <a16:colId xmlns:a16="http://schemas.microsoft.com/office/drawing/2014/main" val="1572107876"/>
                    </a:ext>
                  </a:extLst>
                </a:gridCol>
                <a:gridCol w="1991070">
                  <a:extLst>
                    <a:ext uri="{9D8B030D-6E8A-4147-A177-3AD203B41FA5}">
                      <a16:colId xmlns:a16="http://schemas.microsoft.com/office/drawing/2014/main" val="569532715"/>
                    </a:ext>
                  </a:extLst>
                </a:gridCol>
                <a:gridCol w="2067396">
                  <a:extLst>
                    <a:ext uri="{9D8B030D-6E8A-4147-A177-3AD203B41FA5}">
                      <a16:colId xmlns:a16="http://schemas.microsoft.com/office/drawing/2014/main" val="2506767000"/>
                    </a:ext>
                  </a:extLst>
                </a:gridCol>
              </a:tblGrid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決策樹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隨機森林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474487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模型性質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單一模型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多模型集成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03923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容易過擬合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較穩定、泛化好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2328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訓練方式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單棵樹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多棵樹隨機訓練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6960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可解釋性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較低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3985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準確度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通常較高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29969"/>
                  </a:ext>
                </a:extLst>
              </a:tr>
              <a:tr h="537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計算成本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  <a:r>
                        <a:rPr lang="en-US" altLang="zh-TW" sz="1600" b="0" dirty="0"/>
                        <a:t>(</a:t>
                      </a:r>
                      <a:r>
                        <a:rPr lang="zh-TW" altLang="en-US" sz="1600" b="0" dirty="0"/>
                        <a:t>需訓練多棵樹</a:t>
                      </a:r>
                      <a:r>
                        <a:rPr lang="en-US" altLang="zh-TW" sz="16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689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113E0B5E-2453-7718-5C1B-69E5F936F589}"/>
              </a:ext>
            </a:extLst>
          </p:cNvPr>
          <p:cNvSpPr txBox="1"/>
          <p:nvPr/>
        </p:nvSpPr>
        <p:spPr>
          <a:xfrm>
            <a:off x="6309359" y="4766777"/>
            <a:ext cx="3809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</a:rPr>
              <a:t>決策樹結果 也要拿出來 比較</a:t>
            </a:r>
            <a:endParaRPr lang="en-US" altLang="zh-TW" sz="1800" b="1" dirty="0">
              <a:solidFill>
                <a:srgbClr val="FF0000"/>
              </a:solidFill>
            </a:endParaRPr>
          </a:p>
          <a:p>
            <a:r>
              <a:rPr lang="zh-TW" altLang="en-US" sz="1800" b="1" dirty="0">
                <a:solidFill>
                  <a:srgbClr val="FF0000"/>
                </a:solidFill>
              </a:rPr>
              <a:t> 證明因為他比較差</a:t>
            </a:r>
          </a:p>
        </p:txBody>
      </p:sp>
    </p:spTree>
    <p:extLst>
      <p:ext uri="{BB962C8B-B14F-4D97-AF65-F5344CB8AC3E}">
        <p14:creationId xmlns:p14="http://schemas.microsoft.com/office/powerpoint/2010/main" val="47849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37C9D35-CC4A-7485-9975-BA9E59E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770C55F3-5895-4C37-F449-01AB62CDFE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211839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B8FECAB4-0D25-11A5-4768-C7D97EC3B898}"/>
              </a:ext>
            </a:extLst>
          </p:cNvPr>
          <p:cNvSpPr txBox="1"/>
          <p:nvPr/>
        </p:nvSpPr>
        <p:spPr>
          <a:xfrm>
            <a:off x="5639190" y="224102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以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GBM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為基礎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4687F632-17EC-1ED0-EC53-726A2663EC91}"/>
              </a:ext>
            </a:extLst>
          </p:cNvPr>
          <p:cNvSpPr txBox="1"/>
          <p:nvPr/>
        </p:nvSpPr>
        <p:spPr>
          <a:xfrm>
            <a:off x="5836350" y="259439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同樣用 </a:t>
            </a:r>
            <a:r>
              <a:rPr lang="en-US" altLang="zh-TW" dirty="0"/>
              <a:t>Boosting </a:t>
            </a:r>
            <a:r>
              <a:rPr lang="zh-TW" altLang="en-US" dirty="0"/>
              <a:t>擬合殘差，但做了多項工程強化。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5B97C2B8-78A4-AC38-E683-CFC559DF8062}"/>
              </a:ext>
            </a:extLst>
          </p:cNvPr>
          <p:cNvSpPr txBox="1"/>
          <p:nvPr/>
        </p:nvSpPr>
        <p:spPr>
          <a:xfrm>
            <a:off x="832434" y="835493"/>
            <a:ext cx="52635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n-US" altLang="zh-TW" sz="3300" b="1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極限梯度提升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lang="zh-TW" altLang="en-US" sz="3600"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7AE272A2-076E-E2FF-1770-6BA6AF76895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89EAE-4242-8A55-E671-70C85CC17C8A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Boosting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經典模型，含正規化抑制過擬合，速度快、精度高</a:t>
            </a:r>
          </a:p>
        </p:txBody>
      </p:sp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64E5CE90-B119-FEC5-86AC-5D2983C1EA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303913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25262BD1-2D43-A8DF-24FD-DB280D34614B}"/>
              </a:ext>
            </a:extLst>
          </p:cNvPr>
          <p:cNvSpPr txBox="1"/>
          <p:nvPr/>
        </p:nvSpPr>
        <p:spPr>
          <a:xfrm>
            <a:off x="5639190" y="316177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正規化抑制過擬合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CDE76F6D-EAD9-12EF-8DFB-B130E23C493F}"/>
              </a:ext>
            </a:extLst>
          </p:cNvPr>
          <p:cNvSpPr txBox="1"/>
          <p:nvPr/>
        </p:nvSpPr>
        <p:spPr>
          <a:xfrm>
            <a:off x="5836350" y="351514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目標函數加入正規化項</a:t>
            </a:r>
            <a:r>
              <a:rPr lang="en-US" altLang="zh-TW" dirty="0"/>
              <a:t>(L1/L2)</a:t>
            </a:r>
            <a:r>
              <a:rPr lang="zh-TW" altLang="en-US" dirty="0"/>
              <a:t>，控制複雜度。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46E4D3DE-F89F-B02F-17AB-F4AE317D57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8" y="3934592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B0186777-D49D-8D91-9835-9C9ADDA1E267}"/>
              </a:ext>
            </a:extLst>
          </p:cNvPr>
          <p:cNvSpPr txBox="1"/>
          <p:nvPr/>
        </p:nvSpPr>
        <p:spPr>
          <a:xfrm>
            <a:off x="5639189" y="405722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速度與精度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40221D1D-80DD-DA2B-EE84-AC05CA160B82}"/>
              </a:ext>
            </a:extLst>
          </p:cNvPr>
          <p:cNvSpPr txBox="1"/>
          <p:nvPr/>
        </p:nvSpPr>
        <p:spPr>
          <a:xfrm>
            <a:off x="5836349" y="4410596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採二階梯度近似與平行運算，訓練快、預測準。</a:t>
            </a:r>
            <a:endParaRPr dirty="0"/>
          </a:p>
        </p:txBody>
      </p:sp>
      <p:pic>
        <p:nvPicPr>
          <p:cNvPr id="4" name="Google Shape;207;p20" descr="image.png">
            <a:extLst>
              <a:ext uri="{FF2B5EF4-FFF2-40B4-BE49-F238E27FC236}">
                <a16:creationId xmlns:a16="http://schemas.microsoft.com/office/drawing/2014/main" id="{AC0FF0D6-EE12-ACD7-A849-457BD473DF8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2927" y="5030133"/>
            <a:ext cx="5270919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3;p20">
            <a:extLst>
              <a:ext uri="{FF2B5EF4-FFF2-40B4-BE49-F238E27FC236}">
                <a16:creationId xmlns:a16="http://schemas.microsoft.com/office/drawing/2014/main" id="{DCB6B579-16B5-924F-5700-C3FC8A3C64DE}"/>
              </a:ext>
            </a:extLst>
          </p:cNvPr>
          <p:cNvSpPr txBox="1"/>
          <p:nvPr/>
        </p:nvSpPr>
        <p:spPr>
          <a:xfrm>
            <a:off x="5593973" y="511531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★ 本研究角色</a:t>
            </a:r>
            <a:endParaRPr sz="1800" dirty="0">
              <a:latin typeface="+mj-lt"/>
            </a:endParaRPr>
          </a:p>
        </p:txBody>
      </p:sp>
      <p:sp>
        <p:nvSpPr>
          <p:cNvPr id="6" name="Google Shape;214;p20">
            <a:extLst>
              <a:ext uri="{FF2B5EF4-FFF2-40B4-BE49-F238E27FC236}">
                <a16:creationId xmlns:a16="http://schemas.microsoft.com/office/drawing/2014/main" id="{977EAB23-C7D2-EB99-9335-DB3D5D16C166}"/>
              </a:ext>
            </a:extLst>
          </p:cNvPr>
          <p:cNvSpPr txBox="1"/>
          <p:nvPr/>
        </p:nvSpPr>
        <p:spPr>
          <a:xfrm>
            <a:off x="5791133" y="546868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機器學習</a:t>
            </a:r>
            <a:r>
              <a:rPr lang="en-US" altLang="zh-TW" dirty="0"/>
              <a:t>(ML)</a:t>
            </a:r>
            <a:r>
              <a:rPr lang="zh-TW" altLang="en-US" dirty="0"/>
              <a:t>集成模型之一，與 </a:t>
            </a:r>
            <a:r>
              <a:rPr lang="en-US" altLang="zh-TW" dirty="0"/>
              <a:t>RF/AdaBoost/GBM </a:t>
            </a:r>
            <a:r>
              <a:rPr lang="zh-TW" altLang="en-US" dirty="0"/>
              <a:t>比較。</a:t>
            </a:r>
            <a:endParaRPr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400044-D9E7-FFDF-CD18-993609C7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95" t="33917" r="60551" b="24019"/>
          <a:stretch>
            <a:fillRect/>
          </a:stretch>
        </p:blipFill>
        <p:spPr>
          <a:xfrm>
            <a:off x="508507" y="2277560"/>
            <a:ext cx="5010542" cy="41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9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7C8C2-3C69-45BB-2637-8E8E6A7E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69E9C90D-C2A5-0892-D403-FAEA1E263B83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 (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適應性提升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552D0A77-03A6-41CC-A730-FD4A4227E48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1B5B99-86E9-08FA-CF55-6F81D411F31B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逐輪提高「被分錯樣本」的權重，讓下一輪更專注難分的樣本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0C5FBA2B-A6DE-AD6E-1358-A4BACE2662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755E20B0-F0C8-FCC9-96FB-987CC69071E3}"/>
              </a:ext>
            </a:extLst>
          </p:cNvPr>
          <p:cNvSpPr txBox="1"/>
          <p:nvPr/>
        </p:nvSpPr>
        <p:spPr>
          <a:xfrm>
            <a:off x="5696112" y="24030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+mj-lt"/>
                <a:ea typeface="DM Sans"/>
                <a:cs typeface="DM Sans"/>
                <a:sym typeface="DM Sans"/>
              </a:rPr>
              <a:t>樣本權重隨輪次變化</a:t>
            </a:r>
            <a:endParaRPr sz="1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8BEB7527-264F-822A-DA86-E107D5960B6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3F4B17FD-6B93-CD77-A5F1-C318CAD5EBCE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樣本加權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E69DB1E3-7BA4-014D-0335-137D64FC7E98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每一輪結束後，提高「被分錯的樣本」權重，下一輪更專注它們。</a:t>
            </a:r>
            <a:endParaRPr dirty="0"/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0516AF10-4329-1FA9-B232-FE129C9820E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38F59829-CAE8-30CF-D662-5C029F382AE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串聯弱學習器</a:t>
            </a:r>
            <a:endParaRPr lang="zh-TW" altLang="en-US"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3BCFC9B4-08C3-3158-AC02-6BD0B31FCE4A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串聯多個簡單模型</a:t>
            </a:r>
            <a:r>
              <a:rPr lang="en-US" altLang="zh-TW" dirty="0"/>
              <a:t>(</a:t>
            </a:r>
            <a:r>
              <a:rPr lang="zh-TW" altLang="en-US" dirty="0"/>
              <a:t>通常是淺決策樹</a:t>
            </a:r>
            <a:r>
              <a:rPr lang="en-US" altLang="zh-TW" dirty="0"/>
              <a:t>)</a:t>
            </a:r>
            <a:r>
              <a:rPr lang="zh-TW" altLang="en-US" dirty="0"/>
              <a:t>，逐步補強。</a:t>
            </a:r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44478A32-A229-591C-BBFD-A5C45E9FA0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5C5AA675-1FE6-9A77-C8E0-363CBC3E1903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加權</a:t>
            </a:r>
            <a:endParaRPr lang="zh-TW" altLang="en-US"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61180968-69BC-18F6-16B3-B96623DF4DA8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最終依各學習器表現加權整合結果。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0B5E634-0F01-FA21-E9B9-E68343A2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7247" r="55726" b="16455"/>
          <a:stretch>
            <a:fillRect/>
          </a:stretch>
        </p:blipFill>
        <p:spPr>
          <a:xfrm>
            <a:off x="0" y="2002769"/>
            <a:ext cx="5669668" cy="44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EBB6E27-D955-6486-A215-8FDC26A0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B9BEA063-9F1B-D281-C881-3205305DADEB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3979A1E-5C2B-33BE-3E4C-83A96D5AE945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EBA8D-5F9D-4CC2-D80E-D0AB499DAAFF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沿損失函數梯度方向，逐步擬合殘差以降低偏差</a:t>
            </a: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D975F595-055B-A293-0514-EF2E1C25AA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6FAD8A51-832E-9488-BE8C-8A777342682E}"/>
              </a:ext>
            </a:extLst>
          </p:cNvPr>
          <p:cNvSpPr txBox="1"/>
          <p:nvPr/>
        </p:nvSpPr>
        <p:spPr>
          <a:xfrm>
            <a:off x="5669669" y="244979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+mj-lt"/>
                <a:ea typeface="DM Sans"/>
                <a:cs typeface="DM Sans"/>
                <a:sym typeface="DM Sans"/>
              </a:rPr>
              <a:t>殘差逐步縮小</a:t>
            </a:r>
            <a:endParaRPr sz="1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637C54C3-8D18-2817-5765-C9A38078063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0A154196-2882-2ABE-117B-1BB9C5782EBB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擬合殘差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67BFD05C-C995-375D-4D70-A041C4B10411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每個新模型專門預測前面模型剩下的誤差</a:t>
            </a:r>
            <a:r>
              <a:rPr lang="en-US" altLang="zh-TW" dirty="0"/>
              <a:t>(</a:t>
            </a:r>
            <a:r>
              <a:rPr lang="zh-TW" altLang="en-US" dirty="0"/>
              <a:t>殘差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22964F1D-0906-3A4F-E767-98AB7655807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A67332DD-05D4-E65E-39AC-F17CB34FC0B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梯度下降</a:t>
            </a:r>
            <a:endParaRPr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426F1AE0-2129-C76D-6256-87B0B3561868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沿損失函數梯度方向逐步優化，降低偏差。</a:t>
            </a:r>
            <a:endParaRPr dirty="0"/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72F2DB45-626D-ED1E-2073-AC97C40E88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6FA5080E-5AB3-8F7F-EDD6-6BF67FBFE0AA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逐步降低偏差</a:t>
            </a:r>
            <a:endParaRPr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D7AF7F40-DAD0-E98F-4039-77ED443CC847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弱學習器累加，整體誤差越來越小。</a:t>
            </a:r>
            <a:endParaRPr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4DFFE4D-699B-1B00-527F-B5D7A16BCA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3" t="25680" r="55555" b="42130"/>
          <a:stretch>
            <a:fillRect/>
          </a:stretch>
        </p:blipFill>
        <p:spPr>
          <a:xfrm>
            <a:off x="0" y="2304143"/>
            <a:ext cx="5670916" cy="26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9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C039C04-62C8-BD6A-4B81-17758701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78C19A5-B1C4-291B-E90E-260B7FEC6B26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三個</a:t>
            </a:r>
            <a:r>
              <a:rPr lang="en-US" altLang="zh-TW" sz="3300" b="1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boost  </a:t>
            </a:r>
            <a:r>
              <a:rPr lang="zh-TW" altLang="en-US" sz="3300" b="1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比較差異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97975E4-DBAF-93E5-8E4E-C083B9B459F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855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BB67074C-D8AA-5BF5-D0A6-C9E9046C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700A459B-CEBF-25F5-B3B6-C7A7BB76783E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樹模型：四種集成模型核心程式碼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C656C5F-D67B-70B4-662E-C1DD4D0988F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18B66522-C661-2965-7425-D24F26F0D64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F8F9C82D-E68C-9B7A-49EC-EDA8724158EE}"/>
              </a:ext>
            </a:extLst>
          </p:cNvPr>
          <p:cNvSpPr txBox="1"/>
          <p:nvPr/>
        </p:nvSpPr>
        <p:spPr>
          <a:xfrm>
            <a:off x="282295" y="5400343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6BAEDED2-9812-7DEE-DDF1-F936D4795FE0}"/>
              </a:ext>
            </a:extLst>
          </p:cNvPr>
          <p:cNvSpPr txBox="1"/>
          <p:nvPr/>
        </p:nvSpPr>
        <p:spPr>
          <a:xfrm>
            <a:off x="1069808" y="5822984"/>
            <a:ext cx="1005238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800" dirty="0"/>
              <a:t>RF / AdaBoost / GBM </a:t>
            </a:r>
            <a:r>
              <a:rPr lang="zh-TW" altLang="en-US" sz="1800" dirty="0"/>
              <a:t>來自 </a:t>
            </a:r>
            <a:r>
              <a:rPr lang="en-US" altLang="zh-TW" sz="1800" dirty="0" err="1"/>
              <a:t>sklearn.ensemble</a:t>
            </a:r>
            <a:r>
              <a:rPr lang="zh-TW" altLang="en-US" sz="1800" dirty="0"/>
              <a:t>，</a:t>
            </a:r>
            <a:r>
              <a:rPr lang="en-US" altLang="zh-TW" sz="1800" dirty="0" err="1"/>
              <a:t>XGBoost</a:t>
            </a:r>
            <a:r>
              <a:rPr lang="en-US" altLang="zh-TW" sz="1800" dirty="0"/>
              <a:t> </a:t>
            </a:r>
            <a:r>
              <a:rPr lang="zh-TW" altLang="en-US" sz="1800" dirty="0"/>
              <a:t>來自 </a:t>
            </a:r>
            <a:r>
              <a:rPr lang="en-US" altLang="zh-TW" sz="1800" dirty="0" err="1"/>
              <a:t>xgboost</a:t>
            </a:r>
            <a:r>
              <a:rPr lang="en-US" altLang="zh-TW" sz="1800" dirty="0"/>
              <a:t> </a:t>
            </a:r>
            <a:r>
              <a:rPr lang="zh-TW" altLang="en-US" sz="1800" dirty="0"/>
              <a:t>套件。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en-US" sz="1800" dirty="0"/>
              <a:t>四個模型皆以 </a:t>
            </a:r>
            <a:r>
              <a:rPr lang="en-US" altLang="zh-TW" sz="1800" dirty="0" err="1"/>
              <a:t>TimeSeriesSplit</a:t>
            </a:r>
            <a:r>
              <a:rPr lang="zh-TW" altLang="en-US" sz="1800" dirty="0"/>
              <a:t>（時序交叉驗證）評估，</a:t>
            </a:r>
            <a:r>
              <a:rPr lang="zh-TW" altLang="en-US" sz="1800" dirty="0">
                <a:solidFill>
                  <a:srgbClr val="FF0000"/>
                </a:solidFill>
              </a:rPr>
              <a:t>確保不洩漏未來資料。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什麼意思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98089C-F9E2-87F8-F4CB-A3F79B9BF0B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sklearn.ensemble</a:t>
            </a:r>
            <a:r>
              <a:rPr lang="en-US" altLang="zh-TW" sz="1600" dirty="0"/>
              <a:t> + </a:t>
            </a:r>
            <a:r>
              <a:rPr lang="en-US" altLang="zh-TW" sz="1600" dirty="0" err="1"/>
              <a:t>xgboost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TimeSeriesSplit</a:t>
            </a:r>
            <a:r>
              <a:rPr lang="en-US" altLang="zh-TW" sz="1600" dirty="0"/>
              <a:t> </a:t>
            </a:r>
            <a:r>
              <a:rPr lang="zh-TW" altLang="en-US" sz="1600" dirty="0"/>
              <a:t>驗證（</a:t>
            </a:r>
            <a:r>
              <a:rPr lang="en-US" altLang="zh-TW" sz="1600" dirty="0"/>
              <a:t>run_regression.py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6C2329-EB80-684A-8A14-FB6DB2E5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67" y="3739031"/>
            <a:ext cx="10264725" cy="14152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806C22-B56D-46E7-710F-CB8D17E0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67" y="2184902"/>
            <a:ext cx="10264725" cy="1182809"/>
          </a:xfrm>
          <a:prstGeom prst="rect">
            <a:avLst/>
          </a:prstGeom>
        </p:spPr>
      </p:pic>
      <p:sp>
        <p:nvSpPr>
          <p:cNvPr id="3" name="Google Shape;217;p20">
            <a:extLst>
              <a:ext uri="{FF2B5EF4-FFF2-40B4-BE49-F238E27FC236}">
                <a16:creationId xmlns:a16="http://schemas.microsoft.com/office/drawing/2014/main" id="{C4835E96-24DB-C93E-091A-43DD95EE84A4}"/>
              </a:ext>
            </a:extLst>
          </p:cNvPr>
          <p:cNvSpPr txBox="1"/>
          <p:nvPr/>
        </p:nvSpPr>
        <p:spPr>
          <a:xfrm>
            <a:off x="7106654" y="256599"/>
            <a:ext cx="53229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2400" dirty="0">
                <a:solidFill>
                  <a:srgbClr val="FF0000"/>
                </a:solidFill>
              </a:rPr>
              <a:t>XGBOOST</a:t>
            </a:r>
            <a:r>
              <a:rPr lang="zh-TW" altLang="en-US" sz="2400" dirty="0">
                <a:solidFill>
                  <a:srgbClr val="FF0000"/>
                </a:solidFill>
              </a:rPr>
              <a:t> 解釋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zh-TW" altLang="en-US" sz="2400" dirty="0">
                <a:solidFill>
                  <a:srgbClr val="FF0000"/>
                </a:solidFill>
              </a:rPr>
              <a:t>參數要說明 為什麼要設</a:t>
            </a:r>
            <a:r>
              <a:rPr lang="en-US" altLang="zh-TW" sz="2400" dirty="0">
                <a:solidFill>
                  <a:srgbClr val="FF0000"/>
                </a:solidFill>
              </a:rPr>
              <a:t>0.1?</a:t>
            </a:r>
            <a:r>
              <a:rPr lang="zh-TW" altLang="en-US" sz="2400" dirty="0">
                <a:solidFill>
                  <a:srgbClr val="FF0000"/>
                </a:solidFill>
              </a:rPr>
              <a:t>之類的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6A95A-7BF5-7BA8-DAC0-18DD31CBF24C}"/>
              </a:ext>
            </a:extLst>
          </p:cNvPr>
          <p:cNvSpPr/>
          <p:nvPr/>
        </p:nvSpPr>
        <p:spPr>
          <a:xfrm>
            <a:off x="2005263" y="2184902"/>
            <a:ext cx="1684421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FF330-D1B4-6101-6B37-2AFAB125A231}"/>
              </a:ext>
            </a:extLst>
          </p:cNvPr>
          <p:cNvSpPr/>
          <p:nvPr/>
        </p:nvSpPr>
        <p:spPr>
          <a:xfrm>
            <a:off x="2005263" y="2981825"/>
            <a:ext cx="721896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9C41B-8B22-8D54-748F-992A980DA381}"/>
              </a:ext>
            </a:extLst>
          </p:cNvPr>
          <p:cNvSpPr/>
          <p:nvPr/>
        </p:nvSpPr>
        <p:spPr>
          <a:xfrm>
            <a:off x="6729664" y="4114258"/>
            <a:ext cx="1211178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44370-87DD-9B03-DBCB-1FB6209638E0}"/>
              </a:ext>
            </a:extLst>
          </p:cNvPr>
          <p:cNvSpPr/>
          <p:nvPr/>
        </p:nvSpPr>
        <p:spPr>
          <a:xfrm>
            <a:off x="7122696" y="4324832"/>
            <a:ext cx="1459830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77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透過時間的反向傳播 </a:t>
            </a:r>
            <a:r>
              <a:rPr lang="en-US" altLang="zh-TW" dirty="0"/>
              <a:t>Backpropagation Through Time (BPTT)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標準 </a:t>
            </a:r>
            <a:r>
              <a:rPr lang="en-US" altLang="zh-TW" dirty="0"/>
              <a:t>RNN </a:t>
            </a:r>
            <a:r>
              <a:rPr lang="zh-TW" altLang="en-US" dirty="0"/>
              <a:t>難以記住長期資訊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 → </a:t>
            </a:r>
            <a:r>
              <a:rPr lang="zh-TW" altLang="en-US" dirty="0"/>
              <a:t>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007783"/>
            <a:ext cx="4716379" cy="12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家族演進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逐步解決長期依賴與梯度消失問題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59E725-7266-3445-5C2D-FA16180B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016"/>
          <a:stretch>
            <a:fillRect/>
          </a:stretch>
        </p:blipFill>
        <p:spPr>
          <a:xfrm>
            <a:off x="6449110" y="1952359"/>
            <a:ext cx="5692269" cy="2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資訊輸入閘門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胞狀態輸出閘門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各式各樣的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：單向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依資訊流動方向，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可分為單向與雙向兩種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246222" y="4773225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534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EF08C6F-AEAF-5AE1-BD76-22FFC769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E4A635C2-9C91-D605-A65B-60EFE86A0F2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 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4A80AD10-9C52-1979-57E0-FE63364DF7E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9280F5A1-BB28-BE22-D38B-85C952F070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118A581C-7C2E-CAFD-68F5-6D405B0CE605}"/>
              </a:ext>
            </a:extLst>
          </p:cNvPr>
          <p:cNvSpPr txBox="1"/>
          <p:nvPr/>
        </p:nvSpPr>
        <p:spPr>
          <a:xfrm>
            <a:off x="98861" y="577833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10AC17E-41BE-04E6-BC47-ED6EE662C4BD}"/>
              </a:ext>
            </a:extLst>
          </p:cNvPr>
          <p:cNvSpPr txBox="1"/>
          <p:nvPr/>
        </p:nvSpPr>
        <p:spPr>
          <a:xfrm>
            <a:off x="1841527" y="5819351"/>
            <a:ext cx="77596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1800" dirty="0"/>
              <a:t>單層 LSTM：一層 LSTM(50) + Dense(1) 輸出數值。 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zh-TW" sz="1800" dirty="0"/>
              <a:t>雙層 LSTM：疊兩層 LSTM（第一層 return_sequences=True）。 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zh-TW" sz="1800" dirty="0"/>
              <a:t>關鍵：Dense(1) 無 sigmoid、loss='mse'，即為迴歸版本。</a:t>
            </a:r>
            <a:endParaRPr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8AFD01-DECC-44AB-11CA-9AE19764FCCC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Keras</a:t>
            </a:r>
            <a:r>
              <a:rPr lang="en-US" altLang="zh-TW" sz="1600" dirty="0"/>
              <a:t> Sequential</a:t>
            </a:r>
            <a:r>
              <a:rPr lang="zh-TW" altLang="en-US" sz="1600" dirty="0"/>
              <a:t>，</a:t>
            </a:r>
            <a:r>
              <a:rPr lang="en-US" altLang="zh-TW" sz="1600" dirty="0"/>
              <a:t>Dense(1)+</a:t>
            </a:r>
            <a:r>
              <a:rPr lang="en-US" altLang="zh-TW" sz="1600" dirty="0" err="1"/>
              <a:t>mse</a:t>
            </a:r>
            <a:r>
              <a:rPr lang="en-US" altLang="zh-TW" sz="1600" dirty="0"/>
              <a:t> </a:t>
            </a:r>
            <a:r>
              <a:rPr lang="zh-TW" altLang="en-US" sz="1600" dirty="0"/>
              <a:t>做迴歸（</a:t>
            </a:r>
            <a:r>
              <a:rPr lang="en-US" altLang="zh-TW" sz="1600" dirty="0"/>
              <a:t>models.py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51109F-382E-CDBF-1E63-45C5BC48C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80" y="2148357"/>
            <a:ext cx="9503532" cy="6703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4C20F97-9C1B-1784-E976-8A6BCC0AEC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688" b="52344"/>
          <a:stretch>
            <a:fillRect/>
          </a:stretch>
        </p:blipFill>
        <p:spPr>
          <a:xfrm>
            <a:off x="1237000" y="2923944"/>
            <a:ext cx="9503532" cy="271957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3623A53-27A1-C4A4-BD33-B8827AC3A640}"/>
              </a:ext>
            </a:extLst>
          </p:cNvPr>
          <p:cNvSpPr txBox="1"/>
          <p:nvPr/>
        </p:nvSpPr>
        <p:spPr>
          <a:xfrm>
            <a:off x="7251031" y="422503"/>
            <a:ext cx="23501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 err="1">
                <a:solidFill>
                  <a:srgbClr val="FF0000"/>
                </a:solidFill>
              </a:rPr>
              <a:t>Tensorflow</a:t>
            </a:r>
            <a:r>
              <a:rPr lang="en-US" altLang="zh-TW" sz="2000" dirty="0">
                <a:solidFill>
                  <a:srgbClr val="FF0000"/>
                </a:solidFill>
              </a:rPr>
              <a:t>/</a:t>
            </a:r>
            <a:r>
              <a:rPr lang="en-US" altLang="zh-TW" sz="2000" dirty="0" err="1">
                <a:solidFill>
                  <a:srgbClr val="FF0000"/>
                </a:solidFill>
              </a:rPr>
              <a:t>Keras</a:t>
            </a:r>
            <a:endParaRPr lang="en-US" altLang="zh-TW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8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7370271-6DF3-3642-05D0-1896C693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06D70C9F-714D-0222-C12F-8A4980FB4AB6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雙向還要補一張圖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DD9AEA12-C36E-55DD-9093-BDCE420AFA6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F1215932-1CB7-FEFE-53DC-AB4641C19DF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682ECDFE-B3D1-3F20-A8EF-2BDBFE56AE41}"/>
              </a:ext>
            </a:extLst>
          </p:cNvPr>
          <p:cNvSpPr txBox="1"/>
          <p:nvPr/>
        </p:nvSpPr>
        <p:spPr>
          <a:xfrm>
            <a:off x="98861" y="577833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3C806A2-4620-4DB3-6509-7E218538657B}"/>
              </a:ext>
            </a:extLst>
          </p:cNvPr>
          <p:cNvSpPr txBox="1"/>
          <p:nvPr/>
        </p:nvSpPr>
        <p:spPr>
          <a:xfrm>
            <a:off x="1841527" y="5819351"/>
            <a:ext cx="77596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1800" dirty="0"/>
              <a:t>單層 LSTM：一層 LSTM(50) + Dense(1) 輸出數值。 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zh-TW" sz="1800" dirty="0"/>
              <a:t>雙層 LSTM：疊兩層 LSTM（第一層 return_sequences=True）。 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zh-TW" sz="1800" dirty="0"/>
              <a:t>關鍵：Dense(1) 無 sigmoid、loss='mse'，即為迴歸版本。</a:t>
            </a:r>
            <a:endParaRPr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CD5199-DA2D-932E-4D4A-2B97CE3B7331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Keras</a:t>
            </a:r>
            <a:r>
              <a:rPr lang="en-US" altLang="zh-TW" sz="1600" dirty="0"/>
              <a:t> Sequential</a:t>
            </a:r>
            <a:r>
              <a:rPr lang="zh-TW" altLang="en-US" sz="1600" dirty="0"/>
              <a:t>，</a:t>
            </a:r>
            <a:r>
              <a:rPr lang="en-US" altLang="zh-TW" sz="1600" dirty="0"/>
              <a:t>Dense(1)+</a:t>
            </a:r>
            <a:r>
              <a:rPr lang="en-US" altLang="zh-TW" sz="1600" dirty="0" err="1"/>
              <a:t>mse</a:t>
            </a:r>
            <a:r>
              <a:rPr lang="en-US" altLang="zh-TW" sz="1600" dirty="0"/>
              <a:t> </a:t>
            </a:r>
            <a:r>
              <a:rPr lang="zh-TW" altLang="en-US" sz="1600" dirty="0"/>
              <a:t>做迴歸（</a:t>
            </a:r>
            <a:r>
              <a:rPr lang="en-US" altLang="zh-TW" sz="1600" dirty="0"/>
              <a:t>models.py</a:t>
            </a:r>
            <a:r>
              <a:rPr lang="zh-TW" altLang="en-US" sz="1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27613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99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16825" y="2924198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0.48</a:t>
            </a:r>
            <a:endParaRPr sz="36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571799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GPT-3.5-turbo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（預測次日漲跌）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D1018-AA21-4EEE-9D71-FD9F72C1653F}"/>
              </a:ext>
            </a:extLst>
          </p:cNvPr>
          <p:cNvSpPr txBox="1"/>
          <p:nvPr/>
        </p:nvSpPr>
        <p:spPr>
          <a:xfrm>
            <a:off x="711814" y="15943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以提示詞讓 GPT-3.5 預測「上漲 / 下跌」，SPY 共 200 筆</a:t>
            </a:r>
          </a:p>
        </p:txBody>
      </p:sp>
      <p:pic>
        <p:nvPicPr>
          <p:cNvPr id="8" name="Google Shape;241;p22" descr="image.png">
            <a:extLst>
              <a:ext uri="{FF2B5EF4-FFF2-40B4-BE49-F238E27FC236}">
                <a16:creationId xmlns:a16="http://schemas.microsoft.com/office/drawing/2014/main" id="{6D2EC6A8-5B51-9A89-A7EA-D0620855B6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47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4;p22">
            <a:extLst>
              <a:ext uri="{FF2B5EF4-FFF2-40B4-BE49-F238E27FC236}">
                <a16:creationId xmlns:a16="http://schemas.microsoft.com/office/drawing/2014/main" id="{3175AD40-FC8F-30C2-6786-E9FF54E50345}"/>
              </a:ext>
            </a:extLst>
          </p:cNvPr>
          <p:cNvSpPr txBox="1"/>
          <p:nvPr/>
        </p:nvSpPr>
        <p:spPr>
          <a:xfrm>
            <a:off x="321849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0.47</a:t>
            </a:r>
            <a:endParaRPr sz="3600" dirty="0"/>
          </a:p>
        </p:txBody>
      </p:sp>
      <p:sp>
        <p:nvSpPr>
          <p:cNvPr id="10" name="Google Shape;245;p22">
            <a:extLst>
              <a:ext uri="{FF2B5EF4-FFF2-40B4-BE49-F238E27FC236}">
                <a16:creationId xmlns:a16="http://schemas.microsoft.com/office/drawing/2014/main" id="{02484F4E-B9A1-AA5E-D696-99E0429ABD2D}"/>
              </a:ext>
            </a:extLst>
          </p:cNvPr>
          <p:cNvSpPr txBox="1"/>
          <p:nvPr/>
        </p:nvSpPr>
        <p:spPr>
          <a:xfrm>
            <a:off x="3473473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5" name="Google Shape;241;p22" descr="image.png">
            <a:extLst>
              <a:ext uri="{FF2B5EF4-FFF2-40B4-BE49-F238E27FC236}">
                <a16:creationId xmlns:a16="http://schemas.microsoft.com/office/drawing/2014/main" id="{138664F4-442C-9E57-7EB8-D87C690DC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91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44;p22">
            <a:extLst>
              <a:ext uri="{FF2B5EF4-FFF2-40B4-BE49-F238E27FC236}">
                <a16:creationId xmlns:a16="http://schemas.microsoft.com/office/drawing/2014/main" id="{CB030174-B7EB-0980-A188-183C76A215EE}"/>
              </a:ext>
            </a:extLst>
          </p:cNvPr>
          <p:cNvSpPr txBox="1"/>
          <p:nvPr/>
        </p:nvSpPr>
        <p:spPr>
          <a:xfrm>
            <a:off x="618993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0.42</a:t>
            </a:r>
            <a:endParaRPr sz="3600" dirty="0"/>
          </a:p>
        </p:txBody>
      </p:sp>
      <p:sp>
        <p:nvSpPr>
          <p:cNvPr id="17" name="Google Shape;245;p22">
            <a:extLst>
              <a:ext uri="{FF2B5EF4-FFF2-40B4-BE49-F238E27FC236}">
                <a16:creationId xmlns:a16="http://schemas.microsoft.com/office/drawing/2014/main" id="{73D57E89-EF4B-BBEA-00B7-8BE060B6A52D}"/>
              </a:ext>
            </a:extLst>
          </p:cNvPr>
          <p:cNvSpPr txBox="1"/>
          <p:nvPr/>
        </p:nvSpPr>
        <p:spPr>
          <a:xfrm>
            <a:off x="6444913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8" name="Google Shape;241;p22" descr="image.png">
            <a:extLst>
              <a:ext uri="{FF2B5EF4-FFF2-40B4-BE49-F238E27FC236}">
                <a16:creationId xmlns:a16="http://schemas.microsoft.com/office/drawing/2014/main" id="{6E9FFBA6-1932-47A4-6F52-C73879F52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6587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4;p22">
            <a:extLst>
              <a:ext uri="{FF2B5EF4-FFF2-40B4-BE49-F238E27FC236}">
                <a16:creationId xmlns:a16="http://schemas.microsoft.com/office/drawing/2014/main" id="{4B44F2C5-C6FA-4608-2CB3-7DAE61C6F09F}"/>
              </a:ext>
            </a:extLst>
          </p:cNvPr>
          <p:cNvSpPr txBox="1"/>
          <p:nvPr/>
        </p:nvSpPr>
        <p:spPr>
          <a:xfrm>
            <a:off x="9091613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0.56</a:t>
            </a:r>
            <a:endParaRPr sz="3600" dirty="0"/>
          </a:p>
        </p:txBody>
      </p:sp>
      <p:sp>
        <p:nvSpPr>
          <p:cNvPr id="20" name="Google Shape;245;p22">
            <a:extLst>
              <a:ext uri="{FF2B5EF4-FFF2-40B4-BE49-F238E27FC236}">
                <a16:creationId xmlns:a16="http://schemas.microsoft.com/office/drawing/2014/main" id="{1BC4FA08-2CDC-D6A4-00E3-C8E98A4D9B0E}"/>
              </a:ext>
            </a:extLst>
          </p:cNvPr>
          <p:cNvSpPr txBox="1"/>
          <p:nvPr/>
        </p:nvSpPr>
        <p:spPr>
          <a:xfrm>
            <a:off x="9346587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915315-D050-1A7E-C08E-92479B4CCFAC}"/>
              </a:ext>
            </a:extLst>
          </p:cNvPr>
          <p:cNvSpPr/>
          <p:nvPr/>
        </p:nvSpPr>
        <p:spPr>
          <a:xfrm>
            <a:off x="5715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結果不如傳統模型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F1 </a:t>
            </a:r>
            <a:r>
              <a:rPr lang="zh-TW" altLang="en-US" dirty="0">
                <a:solidFill>
                  <a:schemeClr val="tx1"/>
                </a:solidFill>
              </a:rPr>
              <a:t>僅 </a:t>
            </a:r>
            <a:r>
              <a:rPr lang="en-US" altLang="zh-TW" dirty="0">
                <a:solidFill>
                  <a:schemeClr val="tx1"/>
                </a:solidFill>
              </a:rPr>
              <a:t>0.48</a:t>
            </a:r>
            <a:r>
              <a:rPr lang="zh-TW" altLang="en-US" dirty="0">
                <a:solidFill>
                  <a:schemeClr val="tx1"/>
                </a:solidFill>
              </a:rPr>
              <a:t>，明顯低於 </a:t>
            </a:r>
            <a:r>
              <a:rPr lang="en-US" altLang="zh-TW" dirty="0">
                <a:solidFill>
                  <a:schemeClr val="tx1"/>
                </a:solidFill>
              </a:rPr>
              <a:t>RF/LSTM </a:t>
            </a:r>
            <a:r>
              <a:rPr lang="zh-TW" altLang="en-US" dirty="0">
                <a:solidFill>
                  <a:schemeClr val="tx1"/>
                </a:solidFill>
              </a:rPr>
              <a:t>的 </a:t>
            </a:r>
            <a:r>
              <a:rPr lang="en-US" altLang="zh-TW" dirty="0">
                <a:solidFill>
                  <a:schemeClr val="tx1"/>
                </a:solidFill>
              </a:rPr>
              <a:t>0.69~0.73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D89640-2CA4-1239-7F85-36C0DF3A3764}"/>
              </a:ext>
            </a:extLst>
          </p:cNvPr>
          <p:cNvSpPr/>
          <p:nvPr/>
        </p:nvSpPr>
        <p:spPr>
          <a:xfrm>
            <a:off x="60960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分類非 </a:t>
            </a:r>
            <a:r>
              <a:rPr lang="en-US" altLang="zh-TW" sz="1600" b="1" dirty="0">
                <a:solidFill>
                  <a:schemeClr val="bg2"/>
                </a:solidFill>
              </a:rPr>
              <a:t>LLM </a:t>
            </a:r>
            <a:r>
              <a:rPr lang="zh-TW" altLang="en-US" sz="1600" b="1" dirty="0">
                <a:solidFill>
                  <a:schemeClr val="bg2"/>
                </a:solidFill>
              </a:rPr>
              <a:t>強項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GPT-3.5 </a:t>
            </a:r>
            <a:r>
              <a:rPr lang="zh-TW" altLang="en-US" dirty="0">
                <a:solidFill>
                  <a:schemeClr val="tx1"/>
                </a:solidFill>
              </a:rPr>
              <a:t>以文字推理漲跌方向，缺乏穩定的數值判斷依據。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079416A-1C34-627A-D99B-DC2832EC2F3F}"/>
              </a:ext>
            </a:extLst>
          </p:cNvPr>
          <p:cNvSpPr/>
          <p:nvPr/>
        </p:nvSpPr>
        <p:spPr>
          <a:xfrm>
            <a:off x="1610793" y="5777496"/>
            <a:ext cx="857607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F0000"/>
                </a:solidFill>
              </a:rPr>
              <a:t>對比：</a:t>
            </a:r>
            <a:r>
              <a:rPr lang="en-US" altLang="zh-TW" sz="1600" b="1" dirty="0">
                <a:solidFill>
                  <a:srgbClr val="FF0000"/>
                </a:solidFill>
              </a:rPr>
              <a:t>LLM </a:t>
            </a:r>
            <a:r>
              <a:rPr lang="zh-TW" altLang="en-US" sz="1600" b="1" dirty="0">
                <a:solidFill>
                  <a:srgbClr val="FF0000"/>
                </a:solidFill>
              </a:rPr>
              <a:t>迴歸表現佳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同一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改做數值迴歸</a:t>
            </a:r>
            <a:r>
              <a:rPr lang="en-US" altLang="zh-TW" dirty="0">
                <a:solidFill>
                  <a:schemeClr val="tx1"/>
                </a:solidFill>
              </a:rPr>
              <a:t>(GPT-4o-mini)</a:t>
            </a:r>
            <a:r>
              <a:rPr lang="zh-TW" altLang="en-US" dirty="0">
                <a:solidFill>
                  <a:schemeClr val="tx1"/>
                </a:solidFill>
              </a:rPr>
              <a:t>，</a:t>
            </a:r>
            <a:r>
              <a:rPr lang="en-US" altLang="zh-TW" dirty="0">
                <a:solidFill>
                  <a:schemeClr val="tx1"/>
                </a:solidFill>
              </a:rPr>
              <a:t>R² </a:t>
            </a:r>
            <a:r>
              <a:rPr lang="zh-TW" altLang="en-US" dirty="0">
                <a:solidFill>
                  <a:schemeClr val="tx1"/>
                </a:solidFill>
              </a:rPr>
              <a:t>達 </a:t>
            </a:r>
            <a:r>
              <a:rPr lang="en-US" altLang="zh-TW" dirty="0">
                <a:solidFill>
                  <a:schemeClr val="tx1"/>
                </a:solidFill>
              </a:rPr>
              <a:t>0.80 —— </a:t>
            </a:r>
            <a:r>
              <a:rPr lang="zh-TW" altLang="en-US" dirty="0">
                <a:solidFill>
                  <a:schemeClr val="tx1"/>
                </a:solidFill>
              </a:rPr>
              <a:t>顯示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較擅長「數值預測」而非「漲跌分類」。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2582E059-24F8-DF9B-C212-4382F2C5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>
            <a:extLst>
              <a:ext uri="{FF2B5EF4-FFF2-40B4-BE49-F238E27FC236}">
                <a16:creationId xmlns:a16="http://schemas.microsoft.com/office/drawing/2014/main" id="{A7C5713E-B02A-1914-8C80-0C27D5BF6935}"/>
              </a:ext>
            </a:extLst>
          </p:cNvPr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回歸任務</a:t>
            </a:r>
            <a:endParaRPr dirty="0"/>
          </a:p>
        </p:txBody>
      </p:sp>
      <p:sp>
        <p:nvSpPr>
          <p:cNvPr id="253" name="Google Shape;253;p22">
            <a:extLst>
              <a:ext uri="{FF2B5EF4-FFF2-40B4-BE49-F238E27FC236}">
                <a16:creationId xmlns:a16="http://schemas.microsoft.com/office/drawing/2014/main" id="{F7F0E63E-8530-0425-9CAD-DA09B3BB33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940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BF7FA5D-4A19-73A2-8D53-1928861D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CAC14968-9803-EED6-50FD-2DFE00CC577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870A2D8-7AB6-5AA7-EC32-15C6D8E5C7F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80D1E6E2-516C-B8DE-546C-E1555EFBB73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ED10ACE4-9182-E0D0-88D1-41C6714C32B4}"/>
              </a:ext>
            </a:extLst>
          </p:cNvPr>
          <p:cNvSpPr txBox="1"/>
          <p:nvPr/>
        </p:nvSpPr>
        <p:spPr>
          <a:xfrm>
            <a:off x="282295" y="558350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5882777B-F296-C5EA-C7C3-655E1ED0118B}"/>
              </a:ext>
            </a:extLst>
          </p:cNvPr>
          <p:cNvSpPr txBox="1"/>
          <p:nvPr/>
        </p:nvSpPr>
        <p:spPr>
          <a:xfrm>
            <a:off x="1784589" y="5768015"/>
            <a:ext cx="888341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en-US" sz="1800" dirty="0"/>
              <a:t>從 </a:t>
            </a:r>
            <a:r>
              <a:rPr lang="en-US" altLang="zh-TW" sz="1800" dirty="0"/>
              <a:t>.env </a:t>
            </a:r>
            <a:r>
              <a:rPr lang="zh-TW" altLang="en-US" sz="1800" dirty="0"/>
              <a:t>載入 </a:t>
            </a:r>
            <a:r>
              <a:rPr lang="en-US" altLang="zh-TW" sz="1800" dirty="0"/>
              <a:t>API </a:t>
            </a:r>
            <a:r>
              <a:rPr lang="zh-TW" altLang="en-US" sz="1800" dirty="0"/>
              <a:t>金鑰。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en-US" sz="1800" dirty="0"/>
              <a:t>呼叫 </a:t>
            </a:r>
            <a:r>
              <a:rPr lang="en-US" altLang="zh-TW" sz="1800" dirty="0"/>
              <a:t>OpenAI API</a:t>
            </a:r>
            <a:r>
              <a:rPr lang="zh-TW" altLang="en-US" sz="1800" dirty="0"/>
              <a:t>、指定 </a:t>
            </a:r>
            <a:r>
              <a:rPr lang="en-US" altLang="zh-TW" sz="1800" dirty="0"/>
              <a:t>gpt-4o-mini</a:t>
            </a:r>
            <a:r>
              <a:rPr lang="zh-TW" altLang="en-US" sz="1800" dirty="0"/>
              <a:t>、</a:t>
            </a:r>
            <a:r>
              <a:rPr lang="en-US" altLang="zh-TW" sz="1800" dirty="0">
                <a:solidFill>
                  <a:srgbClr val="FF0000"/>
                </a:solidFill>
              </a:rPr>
              <a:t>temperature=0</a:t>
            </a:r>
            <a:r>
              <a:rPr lang="en-US" altLang="zh-TW" sz="1800" dirty="0"/>
              <a:t> </a:t>
            </a:r>
            <a:r>
              <a:rPr lang="zh-TW" altLang="en-US" sz="1800" dirty="0"/>
              <a:t>確保輸出可重現。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en-US" sz="1800" dirty="0"/>
              <a:t>以 </a:t>
            </a:r>
            <a:r>
              <a:rPr lang="en-US" altLang="zh-TW" sz="1800" dirty="0" err="1"/>
              <a:t>json_object</a:t>
            </a:r>
            <a:r>
              <a:rPr lang="en-US" altLang="zh-TW" sz="1800" dirty="0"/>
              <a:t> </a:t>
            </a:r>
            <a:r>
              <a:rPr lang="zh-TW" altLang="en-US" sz="1800" dirty="0"/>
              <a:t>格式回傳，解析後取出 </a:t>
            </a:r>
            <a:r>
              <a:rPr lang="en-US" altLang="zh-TW" sz="1800" dirty="0" err="1"/>
              <a:t>predicted_close</a:t>
            </a:r>
            <a:r>
              <a:rPr lang="en-US" altLang="zh-TW" sz="1800" dirty="0"/>
              <a:t> </a:t>
            </a:r>
            <a:r>
              <a:rPr lang="zh-TW" altLang="en-US" sz="1800" dirty="0"/>
              <a:t>作為預測收盤價。</a:t>
            </a:r>
            <a:endParaRPr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85144F-FB0E-7E32-3E92-522E770D6F3D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OpenAI API</a:t>
            </a:r>
            <a:r>
              <a:rPr lang="zh-TW" altLang="en-US" sz="1600" dirty="0"/>
              <a:t>，</a:t>
            </a:r>
            <a:r>
              <a:rPr lang="en-US" altLang="zh-TW" sz="1600" dirty="0"/>
              <a:t>temperature=0 </a:t>
            </a:r>
            <a:r>
              <a:rPr lang="zh-TW" altLang="en-US" sz="1600" dirty="0"/>
              <a:t>確保可重現（</a:t>
            </a:r>
            <a:r>
              <a:rPr lang="en-US" altLang="zh-TW" sz="1600" dirty="0"/>
              <a:t>llm_regression.py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CD88184-5639-0FC3-30EA-FF665093E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252" y="2159689"/>
            <a:ext cx="7595906" cy="234945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3C82F48-1207-AB6F-C8E2-9985CAD0E9E7}"/>
              </a:ext>
            </a:extLst>
          </p:cNvPr>
          <p:cNvSpPr txBox="1"/>
          <p:nvPr/>
        </p:nvSpPr>
        <p:spPr>
          <a:xfrm>
            <a:off x="4110805" y="4931784"/>
            <a:ext cx="735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solidFill>
                  <a:srgbClr val="FF0000"/>
                </a:solidFill>
              </a:rPr>
              <a:t>temperature=0(</a:t>
            </a:r>
            <a:r>
              <a:rPr lang="zh-TW" altLang="en-US" sz="1800" b="1" dirty="0">
                <a:solidFill>
                  <a:srgbClr val="FF0000"/>
                </a:solidFill>
              </a:rPr>
              <a:t>不能用</a:t>
            </a:r>
            <a:r>
              <a:rPr lang="en-US" altLang="zh-TW" sz="1800" b="1" dirty="0">
                <a:solidFill>
                  <a:srgbClr val="FF0000"/>
                </a:solidFill>
              </a:rPr>
              <a:t>0&lt;-</a:t>
            </a:r>
            <a:r>
              <a:rPr lang="zh-TW" altLang="en-US" sz="1800" b="1" dirty="0">
                <a:solidFill>
                  <a:srgbClr val="FF0000"/>
                </a:solidFill>
              </a:rPr>
              <a:t>非常保守 </a:t>
            </a:r>
            <a:r>
              <a:rPr lang="en-US" altLang="zh-TW" sz="1800" b="1" dirty="0">
                <a:solidFill>
                  <a:srgbClr val="FF0000"/>
                </a:solidFill>
              </a:rPr>
              <a:t>2&lt;-</a:t>
            </a:r>
            <a:r>
              <a:rPr lang="zh-TW" altLang="en-US" sz="1800" b="1" dirty="0">
                <a:solidFill>
                  <a:srgbClr val="FF0000"/>
                </a:solidFill>
              </a:rPr>
              <a:t>非常活潑 通常都用</a:t>
            </a:r>
            <a:r>
              <a:rPr lang="en-US" altLang="zh-TW" sz="1800" b="1" dirty="0">
                <a:solidFill>
                  <a:srgbClr val="FF0000"/>
                </a:solidFill>
              </a:rPr>
              <a:t>0.7 0.8)</a:t>
            </a:r>
            <a:r>
              <a:rPr lang="en-US" altLang="zh-TW" sz="1800" b="1" dirty="0"/>
              <a:t> </a:t>
            </a:r>
            <a:endParaRPr lang="zh-TW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90832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機器學習的標準流程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6;p23">
            <a:extLst>
              <a:ext uri="{FF2B5EF4-FFF2-40B4-BE49-F238E27FC236}">
                <a16:creationId xmlns:a16="http://schemas.microsoft.com/office/drawing/2014/main" id="{8B263DF9-0D41-E203-FEE0-CADCE4C58AD6}"/>
              </a:ext>
            </a:extLst>
          </p:cNvPr>
          <p:cNvSpPr/>
          <p:nvPr/>
        </p:nvSpPr>
        <p:spPr>
          <a:xfrm>
            <a:off x="6953533" y="4000122"/>
            <a:ext cx="2376356" cy="226484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FE5CDCE3-EF3C-7465-503D-B607E6207D2A}"/>
              </a:ext>
            </a:extLst>
          </p:cNvPr>
          <p:cNvSpPr/>
          <p:nvPr/>
        </p:nvSpPr>
        <p:spPr>
          <a:xfrm>
            <a:off x="8903143" y="1660264"/>
            <a:ext cx="2406659" cy="226809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6;p23">
            <a:extLst>
              <a:ext uri="{FF2B5EF4-FFF2-40B4-BE49-F238E27FC236}">
                <a16:creationId xmlns:a16="http://schemas.microsoft.com/office/drawing/2014/main" id="{7149195A-0517-A9BC-731A-4F5051D5C5C1}"/>
              </a:ext>
            </a:extLst>
          </p:cNvPr>
          <p:cNvSpPr/>
          <p:nvPr/>
        </p:nvSpPr>
        <p:spPr>
          <a:xfrm>
            <a:off x="4877556" y="1637021"/>
            <a:ext cx="2314689" cy="23167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6;p23">
            <a:extLst>
              <a:ext uri="{FF2B5EF4-FFF2-40B4-BE49-F238E27FC236}">
                <a16:creationId xmlns:a16="http://schemas.microsoft.com/office/drawing/2014/main" id="{31F78A9D-CF0E-F2D1-CA30-CA9A1AEE7620}"/>
              </a:ext>
            </a:extLst>
          </p:cNvPr>
          <p:cNvSpPr/>
          <p:nvPr/>
        </p:nvSpPr>
        <p:spPr>
          <a:xfrm>
            <a:off x="2612760" y="3993662"/>
            <a:ext cx="2314689" cy="229848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90112" y="1650070"/>
            <a:ext cx="2248940" cy="2298484"/>
          </a:xfrm>
          <a:prstGeom prst="roundRect">
            <a:avLst>
              <a:gd name="adj" fmla="val 50000"/>
            </a:avLst>
          </a:prstGeom>
          <a:solidFill>
            <a:srgbClr val="CCCCFF">
              <a:alpha val="50196"/>
            </a:srgb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060503" y="2264143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280429" y="2833556"/>
            <a:ext cx="313137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 lang="en-US" sz="160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sym typeface="DM Sans"/>
              </a:rPr>
              <a:t>(</a:t>
            </a:r>
            <a:r>
              <a:rPr lang="en-US" altLang="zh-TW" sz="1600" dirty="0"/>
              <a:t>update_database.py)</a:t>
            </a:r>
            <a:endParaRPr sz="16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2896053" y="4418090"/>
            <a:ext cx="17730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2400"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2678509" y="4909077"/>
            <a:ext cx="220815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清洗、缺失值處理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40000"/>
              </a:lnSpc>
            </a:pPr>
            <a:r>
              <a:rPr lang="zh-TW" altLang="en-US" sz="1600" dirty="0"/>
              <a:t>→ 存入 </a:t>
            </a:r>
            <a:r>
              <a:rPr lang="en-US" altLang="zh-TW" sz="1600" dirty="0" err="1"/>
              <a:t>etf_data.db</a:t>
            </a:r>
            <a:endParaRPr sz="1600"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237135" y="2252905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2400"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5324073" y="2958821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Lag/MA/Vol</a:t>
            </a:r>
            <a:endParaRPr sz="16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7400782" y="4542708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6745292" y="5056035"/>
            <a:ext cx="284960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RF</a:t>
            </a:r>
            <a:r>
              <a:rPr lang="en-US" altLang="zh-TW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LSTM：TimeSeriesSplit</a:t>
            </a:r>
            <a:endParaRPr lang="en-US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ARIMA：rolling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forecast</a:t>
            </a:r>
            <a:endParaRPr sz="160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9392127" y="222489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428036" y="2939978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MSE/MAPE/F1</a:t>
            </a:r>
            <a:endParaRPr sz="1600" dirty="0"/>
          </a:p>
        </p:txBody>
      </p:sp>
      <p:sp>
        <p:nvSpPr>
          <p:cNvPr id="273" name="Google Shape;273;p23"/>
          <p:cNvSpPr/>
          <p:nvPr/>
        </p:nvSpPr>
        <p:spPr>
          <a:xfrm>
            <a:off x="571500" y="3986307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84288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本研究實驗流程：對應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的實作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698617" y="38208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81203" y="38537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93838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919103" y="38713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7;p23">
            <a:extLst>
              <a:ext uri="{FF2B5EF4-FFF2-40B4-BE49-F238E27FC236}">
                <a16:creationId xmlns:a16="http://schemas.microsoft.com/office/drawing/2014/main" id="{4F8FFC45-65E4-3077-FD5C-0E2E814F5924}"/>
              </a:ext>
            </a:extLst>
          </p:cNvPr>
          <p:cNvSpPr/>
          <p:nvPr/>
        </p:nvSpPr>
        <p:spPr>
          <a:xfrm>
            <a:off x="1669380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1381311903"/>
              </p:ext>
            </p:extLst>
          </p:nvPr>
        </p:nvGraphicFramePr>
        <p:xfrm>
          <a:off x="609600" y="255494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開、高、低、收、量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405852" y="5302890"/>
            <a:ext cx="5578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1800" b="1" dirty="0">
                <a:solidFill>
                  <a:srgbClr val="FF0000"/>
                </a:solidFill>
              </a:rPr>
              <a:t>觀察：</a:t>
            </a:r>
            <a:r>
              <a:rPr lang="zh-TW" altLang="zh-TW" sz="1800" dirty="0"/>
              <a:t>四個模型 F1 均貼近或低於 Always-Up 基準（0.736） ，顯示分類的高分主要來自多頭市場的上漲</a:t>
            </a:r>
            <a:endParaRPr lang="en-US" altLang="zh-TW" sz="1800" dirty="0"/>
          </a:p>
          <a:p>
            <a:pPr lvl="0"/>
            <a:r>
              <a:rPr lang="zh-TW" altLang="zh-TW" sz="1800" dirty="0"/>
              <a:t>偏態；雙向 LSTM 因引入未來資訊反而最差。</a:t>
            </a:r>
            <a:endParaRPr sz="1800" dirty="0"/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59" y="608577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74D3299-37D6-5099-1F54-18716A2304A4}"/>
              </a:ext>
            </a:extLst>
          </p:cNvPr>
          <p:cNvSpPr txBox="1"/>
          <p:nvPr/>
        </p:nvSpPr>
        <p:spPr>
          <a:xfrm>
            <a:off x="609600" y="6133887"/>
            <a:ext cx="52341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solidFill>
                  <a:srgbClr val="FF0000"/>
                </a:solidFill>
              </a:rPr>
              <a:t>Always-Up 基準（0.736）</a:t>
            </a:r>
            <a:r>
              <a:rPr lang="zh-TW" altLang="en-US" sz="2000" dirty="0">
                <a:solidFill>
                  <a:srgbClr val="FF0000"/>
                </a:solidFill>
              </a:rPr>
              <a:t>為什麼要寫這個</a:t>
            </a:r>
            <a:br>
              <a:rPr lang="en-US" altLang="zh-TW" sz="2000" dirty="0">
                <a:solidFill>
                  <a:srgbClr val="FF0000"/>
                </a:solidFill>
              </a:rPr>
            </a:br>
            <a:r>
              <a:rPr lang="en-US" altLang="zh-TW" sz="2000" dirty="0">
                <a:solidFill>
                  <a:srgbClr val="FF0000"/>
                </a:solidFill>
              </a:rPr>
              <a:t>F1</a:t>
            </a:r>
            <a:r>
              <a:rPr lang="zh-TW" altLang="en-US" sz="2000" dirty="0">
                <a:solidFill>
                  <a:srgbClr val="FF0000"/>
                </a:solidFill>
              </a:rPr>
              <a:t>隨機森林為什麼這麼爛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A4504C6-D350-6AF5-005A-632DD2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6456466-95F6-3217-210C-9F0D2A80EF04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迴歸結果：各模型誤差比較（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MSE / MAPE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B5923A-9CD6-4FB8-6E3D-79FDCAD64D0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A5A8134A-0615-4362-E2A2-A8C0F433A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75541"/>
              </p:ext>
            </p:extLst>
          </p:nvPr>
        </p:nvGraphicFramePr>
        <p:xfrm>
          <a:off x="571500" y="1970321"/>
          <a:ext cx="5407030" cy="335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24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</a:t>
                      </a:r>
                      <a:r>
                        <a:rPr lang="zh-TW" altLang="en-US"/>
                        <a:t>測試</a:t>
                      </a: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QQQ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0050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2797.95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3291.94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37.17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3398.31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3596.48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33.98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2821.29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3277.47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125.56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200.68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132.77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279.36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graphicFrame>
        <p:nvGraphicFramePr>
          <p:cNvPr id="6" name="Google Shape;288;p24">
            <a:extLst>
              <a:ext uri="{FF2B5EF4-FFF2-40B4-BE49-F238E27FC236}">
                <a16:creationId xmlns:a16="http://schemas.microsoft.com/office/drawing/2014/main" id="{243ADC06-20B2-DF68-02A3-0718AA58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691373"/>
              </p:ext>
            </p:extLst>
          </p:nvPr>
        </p:nvGraphicFramePr>
        <p:xfrm>
          <a:off x="6214494" y="1952632"/>
          <a:ext cx="5074953" cy="3352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3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QQQ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0050 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1.07%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F311B0-B17B-1A99-C4B9-2E2A8D81C2A9}"/>
              </a:ext>
            </a:extLst>
          </p:cNvPr>
          <p:cNvSpPr txBox="1"/>
          <p:nvPr/>
        </p:nvSpPr>
        <p:spPr>
          <a:xfrm>
            <a:off x="972190" y="5729345"/>
            <a:ext cx="100126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MSE </a:t>
            </a:r>
            <a:r>
              <a:rPr lang="zh-TW" altLang="en-US" dirty="0"/>
              <a:t>受股價尺度影響，僅供同市場內比較；</a:t>
            </a:r>
            <a:r>
              <a:rPr lang="en-US" altLang="zh-TW" dirty="0"/>
              <a:t>MAPE </a:t>
            </a:r>
            <a:r>
              <a:rPr lang="zh-TW" altLang="en-US" dirty="0"/>
              <a:t>為百分比，可跨市場比較。 </a:t>
            </a:r>
            <a:r>
              <a:rPr lang="en-US" altLang="zh-TW" dirty="0"/>
              <a:t>※ </a:t>
            </a:r>
            <a:r>
              <a:rPr lang="zh-TW" altLang="en-US" dirty="0"/>
              <a:t>同市場內排序一致：</a:t>
            </a:r>
            <a:r>
              <a:rPr lang="en-US" altLang="zh-TW" dirty="0"/>
              <a:t>ARIMA </a:t>
            </a:r>
            <a:r>
              <a:rPr lang="zh-TW" altLang="en-US" dirty="0"/>
              <a:t>＜ </a:t>
            </a:r>
            <a:r>
              <a:rPr lang="en-US" altLang="zh-TW" dirty="0"/>
              <a:t>LSTM </a:t>
            </a:r>
            <a:r>
              <a:rPr lang="zh-TW" altLang="en-US" dirty="0"/>
              <a:t>＜ 集成模型（誤差越小越佳）。</a:t>
            </a:r>
          </a:p>
        </p:txBody>
      </p:sp>
    </p:spTree>
    <p:extLst>
      <p:ext uri="{BB962C8B-B14F-4D97-AF65-F5344CB8AC3E}">
        <p14:creationId xmlns:p14="http://schemas.microsoft.com/office/powerpoint/2010/main" val="1684306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7355B00E-D0D5-7D41-1360-A5600395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88C4E738-C6FF-8328-7CE8-B3A63E7B9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DA0048B-F754-1D55-19D0-A672B0D8F6C0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預測曲線比較</a:t>
            </a:r>
            <a:endParaRPr lang="zh-TW" altLang="en-US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DD1A8AD1-2255-D1A3-8F48-17D9DAE8084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6D1F1-F788-8ADD-C6D0-97C55214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" y="1743581"/>
            <a:ext cx="5015515" cy="25077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84D124-A2F9-0040-B6E1-538D605C5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41" y="1743581"/>
            <a:ext cx="5015516" cy="25077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A9E784-970E-0DBF-04A9-70C4A1A4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39" y="4300790"/>
            <a:ext cx="5015516" cy="250775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AB294-1C3D-DC1D-AB31-B0DCFB201911}"/>
              </a:ext>
            </a:extLst>
          </p:cNvPr>
          <p:cNvSpPr txBox="1"/>
          <p:nvPr/>
        </p:nvSpPr>
        <p:spPr>
          <a:xfrm>
            <a:off x="5593437" y="5015359"/>
            <a:ext cx="576036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</a:t>
            </a:r>
            <a:r>
              <a:rPr lang="zh-TW" altLang="en-US" dirty="0"/>
              <a:t>綠線</a:t>
            </a:r>
            <a:r>
              <a:rPr lang="en-US" altLang="zh-TW" dirty="0"/>
              <a:t>(ARIMA)</a:t>
            </a:r>
            <a:r>
              <a:rPr lang="zh-TW" altLang="en-US" dirty="0"/>
              <a:t>幾乎貼合實際值；</a:t>
            </a:r>
            <a:endParaRPr lang="en-US" altLang="zh-TW" dirty="0"/>
          </a:p>
          <a:p>
            <a:r>
              <a:rPr lang="zh-TW" altLang="en-US" dirty="0"/>
              <a:t>橘線</a:t>
            </a:r>
            <a:r>
              <a:rPr lang="en-US" altLang="zh-TW" dirty="0"/>
              <a:t>(Random Forest)</a:t>
            </a:r>
            <a:r>
              <a:rPr lang="zh-TW" altLang="en-US" dirty="0"/>
              <a:t>無法外推、預測躺平；</a:t>
            </a:r>
            <a:endParaRPr lang="en-US" altLang="zh-TW" dirty="0"/>
          </a:p>
          <a:p>
            <a:r>
              <a:rPr lang="zh-TW" altLang="en-US" dirty="0"/>
              <a:t>藍線</a:t>
            </a:r>
            <a:r>
              <a:rPr lang="en-US" altLang="zh-TW" dirty="0"/>
              <a:t>(LSTM)</a:t>
            </a:r>
            <a:r>
              <a:rPr lang="zh-TW" altLang="en-US" dirty="0"/>
              <a:t>能跟上趨勢但略有落差。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ADD2AB-E7A5-120A-EB06-68CD8A6C9115}"/>
              </a:ext>
            </a:extLst>
          </p:cNvPr>
          <p:cNvSpPr txBox="1"/>
          <p:nvPr/>
        </p:nvSpPr>
        <p:spPr>
          <a:xfrm>
            <a:off x="5593437" y="979561"/>
            <a:ext cx="3082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為什麼隨機森林那麼爛</a:t>
            </a:r>
          </a:p>
        </p:txBody>
      </p:sp>
    </p:spTree>
    <p:extLst>
      <p:ext uri="{BB962C8B-B14F-4D97-AF65-F5344CB8AC3E}">
        <p14:creationId xmlns:p14="http://schemas.microsoft.com/office/powerpoint/2010/main" val="2335695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201856"/>
              </p:ext>
            </p:extLst>
          </p:nvPr>
        </p:nvGraphicFramePr>
        <p:xfrm>
          <a:off x="417395" y="1740419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49B34A-9817-C288-C26D-FDC9E89083F3}"/>
              </a:ext>
            </a:extLst>
          </p:cNvPr>
          <p:cNvSpPr txBox="1"/>
          <p:nvPr/>
        </p:nvSpPr>
        <p:spPr>
          <a:xfrm>
            <a:off x="8246343" y="2373012"/>
            <a:ext cx="3778018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GPT-4o-mini </a:t>
            </a:r>
            <a:r>
              <a:rPr lang="zh-TW" altLang="en-US" dirty="0"/>
              <a:t>在 </a:t>
            </a:r>
            <a:r>
              <a:rPr lang="en-US" altLang="zh-TW" dirty="0"/>
              <a:t>SPY</a:t>
            </a:r>
            <a:r>
              <a:rPr lang="zh-TW" altLang="en-US" dirty="0"/>
              <a:t>、</a:t>
            </a:r>
            <a:r>
              <a:rPr lang="en-US" altLang="zh-TW" dirty="0"/>
              <a:t>QQQ </a:t>
            </a:r>
            <a:r>
              <a:rPr lang="zh-TW" altLang="en-US" dirty="0"/>
              <a:t>各 </a:t>
            </a:r>
            <a:r>
              <a:rPr lang="en-US" altLang="zh-TW" dirty="0"/>
              <a:t>50 </a:t>
            </a:r>
            <a:r>
              <a:rPr lang="zh-TW" altLang="en-US" dirty="0"/>
              <a:t>個交易日的小樣本上預測次日收盤價， </a:t>
            </a:r>
            <a:r>
              <a:rPr lang="en-US" altLang="zh-TW" dirty="0"/>
              <a:t>R² </a:t>
            </a:r>
            <a:r>
              <a:rPr lang="zh-TW" altLang="en-US" dirty="0"/>
              <a:t>皆達 </a:t>
            </a:r>
            <a:r>
              <a:rPr lang="en-US" altLang="zh-TW" dirty="0"/>
              <a:t>0.80</a:t>
            </a:r>
            <a:r>
              <a:rPr lang="zh-TW" altLang="en-US" dirty="0"/>
              <a:t>。藍線為實際、紅線為預測，趨勢貼合度高。</a:t>
            </a:r>
          </a:p>
        </p:txBody>
      </p:sp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(0050.tw)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</a:t>
            </a:r>
            <a:r>
              <a:rPr lang="zh-TW" altLang="en-US" sz="2000" b="1" dirty="0"/>
              <a:t>模型排序一致：ARIMA &lt; LSTM &lt; 集成模型</a:t>
            </a:r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LSTM（2~4%）優於樹模型（8~11%）。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</a:t>
            </a:r>
            <a:r>
              <a:rPr lang="zh-TW" altLang="en-US" sz="2000" b="1" dirty="0"/>
              <a:t>集成模型的限制：無法外推</a:t>
            </a:r>
          </a:p>
          <a:p>
            <a:r>
              <a:rPr lang="zh-TW" altLang="en-US" sz="1600" dirty="0"/>
              <a:t>　　集成模型(RF/XGBoost等)無法預測超出訓練範圍的新高價，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</a:t>
            </a:r>
            <a:r>
              <a:rPr lang="zh-TW" altLang="en-US" sz="2000" b="1" dirty="0"/>
              <a:t>LLM 展現潛力：三市場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3523D12E-1476-4FD9-9ADF-963B90043229}"/>
              </a:ext>
            </a:extLst>
          </p:cNvPr>
          <p:cNvSpPr/>
          <p:nvPr/>
        </p:nvSpPr>
        <p:spPr>
          <a:xfrm>
            <a:off x="441960" y="4922520"/>
            <a:ext cx="5082540" cy="95821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Google Shape;356;p29"/>
          <p:cNvSpPr txBox="1"/>
          <p:nvPr/>
        </p:nvSpPr>
        <p:spPr>
          <a:xfrm>
            <a:off x="571500" y="4959250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本平台整合預測結果與 </a:t>
            </a:r>
            <a:r>
              <a:rPr lang="en-US" altLang="zh-TW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摘要，介面輕量、一般設備即可順暢執行，適合作為教學示範與個人投資研究的輔助參考工具。</a:t>
            </a:r>
            <a:endParaRPr sz="1800" dirty="0"/>
          </a:p>
        </p:txBody>
      </p:sp>
      <p:sp>
        <p:nvSpPr>
          <p:cNvPr id="358" name="Google Shape;358;p29"/>
          <p:cNvSpPr txBox="1"/>
          <p:nvPr/>
        </p:nvSpPr>
        <p:spPr>
          <a:xfrm>
            <a:off x="1047750" y="30637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+ Plotly + SQLite</a:t>
            </a:r>
            <a:endParaRPr sz="1800" dirty="0"/>
          </a:p>
        </p:txBody>
      </p:sp>
      <p:sp>
        <p:nvSpPr>
          <p:cNvPr id="359" name="Google Shape;359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047750" y="3644413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GPT-3.5 / Gemini API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即時風險摘要</a:t>
            </a:r>
            <a:endParaRPr sz="1800" dirty="0"/>
          </a:p>
        </p:txBody>
      </p:sp>
      <p:sp>
        <p:nvSpPr>
          <p:cNvPr id="361" name="Google Shape;361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1047750" y="4225438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平均延遲：</a:t>
            </a: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840 毫秒</a:t>
            </a:r>
            <a:endParaRPr sz="1800"/>
          </a:p>
        </p:txBody>
      </p:sp>
      <p:sp>
        <p:nvSpPr>
          <p:cNvPr id="363" name="Google Shape;363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23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6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63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平台實作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2D2DF1-8899-CD1A-2145-6E63CFC2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5" y="510072"/>
            <a:ext cx="6407288" cy="59646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6">
            <a:extLst>
              <a:ext uri="{FF2B5EF4-FFF2-40B4-BE49-F238E27FC236}">
                <a16:creationId xmlns:a16="http://schemas.microsoft.com/office/drawing/2014/main" id="{BF5115FE-9D54-E5EC-9285-4BA8549019AC}"/>
              </a:ext>
            </a:extLst>
          </p:cNvPr>
          <p:cNvSpPr/>
          <p:nvPr/>
        </p:nvSpPr>
        <p:spPr>
          <a:xfrm>
            <a:off x="2042159" y="5091753"/>
            <a:ext cx="8077201" cy="1432560"/>
          </a:xfrm>
          <a:prstGeom prst="roundRect">
            <a:avLst/>
          </a:prstGeom>
          <a:effectLst/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43999"/>
            <a:ext cx="5334000" cy="285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43999"/>
            <a:ext cx="5334000" cy="285837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866775" y="233892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分類任務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（預測漲跌方向）</a:t>
            </a:r>
            <a:endParaRPr sz="2400" dirty="0"/>
          </a:p>
        </p:txBody>
      </p:sp>
      <p:sp>
        <p:nvSpPr>
          <p:cNvPr id="380" name="Google Shape;380;p30"/>
          <p:cNvSpPr txBox="1"/>
          <p:nvPr/>
        </p:nvSpPr>
        <p:spPr>
          <a:xfrm>
            <a:off x="866775" y="2879292"/>
            <a:ext cx="47434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預測次日「上漲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/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下跌」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最佳：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RF 0.732 /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單層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 0.694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但各模型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F1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多貼近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Always-Up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基準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高分主要來自多頭期間的市場偏態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LLM(GPT-3.5) F1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僅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0.48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方向看似可分，實則貼近基準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6581775" y="2343239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迴歸任務（預測收盤價）</a:t>
            </a:r>
            <a:endParaRPr sz="2400" dirty="0"/>
          </a:p>
        </p:txBody>
      </p:sp>
      <p:sp>
        <p:nvSpPr>
          <p:cNvPr id="382" name="Google Shape;382;p30"/>
          <p:cNvSpPr txBox="1"/>
          <p:nvPr/>
        </p:nvSpPr>
        <p:spPr>
          <a:xfrm>
            <a:off x="6581774" y="2879292"/>
            <a:ext cx="50387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預測次日「收盤價」數值</a:t>
            </a:r>
            <a:endParaRPr lang="en-US" altLang="zh-TW" sz="18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(MAPE &lt;1.1%)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排序：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 &lt; LSTM &lt;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集成模型 </a:t>
            </a: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??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什麼意思</a:t>
            </a:r>
            <a:endParaRPr lang="en-US" altLang="zh-TW" sz="1800" b="1" dirty="0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集成模型無法外推、誤差最大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 LLM(GPT-4o-mini)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三市場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R²≈0.80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數值可預測，但複雜模型未必較佳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840582" y="963495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分類與迴歸之抉擇</a:t>
            </a:r>
            <a:endParaRPr dirty="0"/>
          </a:p>
        </p:txBody>
      </p:sp>
      <p:sp>
        <p:nvSpPr>
          <p:cNvPr id="384" name="Google Shape;384;p3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4DF5F-6DE2-3EE7-A987-1F863D6AEFD6}"/>
              </a:ext>
            </a:extLst>
          </p:cNvPr>
          <p:cNvSpPr txBox="1"/>
          <p:nvPr/>
        </p:nvSpPr>
        <p:spPr>
          <a:xfrm>
            <a:off x="707231" y="16170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本研究兩種任務皆做，各回答不同問題</a:t>
            </a:r>
          </a:p>
        </p:txBody>
      </p:sp>
      <p:sp>
        <p:nvSpPr>
          <p:cNvPr id="5" name="Google Shape;394;p31">
            <a:extLst>
              <a:ext uri="{FF2B5EF4-FFF2-40B4-BE49-F238E27FC236}">
                <a16:creationId xmlns:a16="http://schemas.microsoft.com/office/drawing/2014/main" id="{10A165C8-523F-9F85-F109-0B1D232994CC}"/>
              </a:ext>
            </a:extLst>
          </p:cNvPr>
          <p:cNvSpPr txBox="1"/>
          <p:nvPr/>
        </p:nvSpPr>
        <p:spPr>
          <a:xfrm>
            <a:off x="2270760" y="5175935"/>
            <a:ext cx="885443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2000" b="1" dirty="0">
                <a:solidFill>
                  <a:srgbClr val="FFC000"/>
                </a:solidFill>
              </a:rPr>
              <a:t>三大關鍵發現 </a:t>
            </a:r>
            <a:endParaRPr lang="en-US" altLang="zh-TW" sz="2000" b="1" dirty="0">
              <a:solidFill>
                <a:srgbClr val="FFC000"/>
              </a:solidFill>
            </a:endParaRPr>
          </a:p>
          <a:p>
            <a:pPr lvl="0"/>
            <a:r>
              <a:rPr lang="zh-TW" altLang="zh-TW" sz="1800" dirty="0">
                <a:solidFill>
                  <a:schemeClr val="bg1"/>
                </a:solidFill>
              </a:rPr>
              <a:t>無單一冠軍：不同市場、不同任務，最佳模型各異 </a:t>
            </a:r>
            <a:r>
              <a:rPr lang="zh-TW" altLang="en-US" sz="1800" dirty="0">
                <a:solidFill>
                  <a:schemeClr val="bg1"/>
                </a:solidFill>
              </a:rPr>
              <a:t>  </a:t>
            </a:r>
            <a:r>
              <a:rPr lang="en-US" altLang="zh-TW" sz="1800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zh-TW" altLang="en-US" sz="1800" dirty="0">
                <a:solidFill>
                  <a:srgbClr val="FF0000"/>
                </a:solidFill>
              </a:rPr>
              <a:t>要有答案 結果什麼市場什麼最好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lvl="0"/>
            <a:r>
              <a:rPr lang="zh-TW" altLang="zh-TW" sz="1800" dirty="0">
                <a:solidFill>
                  <a:schemeClr val="bg1"/>
                </a:solidFill>
              </a:rPr>
              <a:t>價格 R² 高但輸基準：次日走勢難預測，分類與</a:t>
            </a:r>
            <a:endParaRPr lang="en-US" altLang="zh-TW" sz="1800" dirty="0">
              <a:solidFill>
                <a:schemeClr val="bg1"/>
              </a:solidFill>
            </a:endParaRPr>
          </a:p>
          <a:p>
            <a:pPr lvl="0"/>
            <a:r>
              <a:rPr lang="zh-TW" altLang="zh-TW" sz="1800" dirty="0">
                <a:solidFill>
                  <a:schemeClr val="bg1"/>
                </a:solidFill>
              </a:rPr>
              <a:t> LLM 為輔助 LLM 定位：適合作為「解釋型」輔助，而非純算力引擎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97881"/>
            <a:ext cx="5334000" cy="354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97881"/>
            <a:ext cx="5334000" cy="354553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5" y="6147619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866775" y="2393156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本研究貢獻</a:t>
            </a:r>
            <a:endParaRPr sz="24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6581775" y="2393156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40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571500" y="3043298"/>
            <a:ext cx="5334000" cy="1374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建立跨市場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(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台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/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美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預測基準比較。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揭示台股受國際連動影響之預測難點。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實作 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LLM 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輔助開源平台。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6286500" y="2937168"/>
            <a:ext cx="5275897" cy="22605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dirty="0">
                <a:latin typeface="DM Sans"/>
              </a:rPr>
              <a:t>導入新聞情緒與總經指標分析。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dirty="0">
                <a:latin typeface="DM Sans"/>
              </a:rPr>
              <a:t>開發 </a:t>
            </a:r>
            <a:r>
              <a:rPr lang="en-US" altLang="zh-TW" b="1" dirty="0">
                <a:solidFill>
                  <a:srgbClr val="FF0000"/>
                </a:solidFill>
                <a:latin typeface="DM Sans"/>
              </a:rPr>
              <a:t>LSTM-ARIMA </a:t>
            </a:r>
            <a:r>
              <a:rPr lang="zh-TW" altLang="en-US" b="1" dirty="0">
                <a:solidFill>
                  <a:srgbClr val="FF0000"/>
                </a:solidFill>
                <a:latin typeface="DM Sans"/>
              </a:rPr>
              <a:t>混合模型</a:t>
            </a:r>
            <a:r>
              <a:rPr lang="en-US" altLang="zh-TW" b="1" dirty="0">
                <a:solidFill>
                  <a:srgbClr val="FF0000"/>
                </a:solidFill>
                <a:latin typeface="DM Sans"/>
              </a:rPr>
              <a:t>????</a:t>
            </a:r>
            <a:r>
              <a:rPr lang="zh-TW" altLang="en-US" dirty="0">
                <a:latin typeface="DM Sans"/>
              </a:rPr>
              <a:t>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dirty="0">
                <a:latin typeface="DM Sans"/>
              </a:rPr>
              <a:t>進行正式使用者 </a:t>
            </a:r>
            <a:r>
              <a:rPr lang="en-US" altLang="zh-TW" b="1" dirty="0">
                <a:solidFill>
                  <a:srgbClr val="FF0000"/>
                </a:solidFill>
                <a:latin typeface="DM Sans"/>
              </a:rPr>
              <a:t>SUS </a:t>
            </a:r>
            <a:r>
              <a:rPr lang="zh-TW" altLang="en-US" b="1" dirty="0">
                <a:solidFill>
                  <a:srgbClr val="FF0000"/>
                </a:solidFill>
                <a:latin typeface="DM Sans"/>
              </a:rPr>
              <a:t>量表研究</a:t>
            </a:r>
            <a:r>
              <a:rPr lang="en-US" altLang="zh-TW" b="1" dirty="0">
                <a:solidFill>
                  <a:srgbClr val="FF0000"/>
                </a:solidFill>
                <a:latin typeface="DM Sans"/>
              </a:rPr>
              <a:t>????</a:t>
            </a:r>
            <a:r>
              <a:rPr lang="zh-TW" altLang="en-US" b="1" dirty="0">
                <a:solidFill>
                  <a:srgbClr val="FF0000"/>
                </a:solidFill>
                <a:latin typeface="DM Sans"/>
              </a:rPr>
              <a:t>。</a:t>
            </a:r>
            <a:endParaRPr lang="en-US" altLang="zh-TW" b="1" dirty="0">
              <a:solidFill>
                <a:srgbClr val="FF0000"/>
              </a:solidFill>
              <a:latin typeface="DM Sans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dirty="0">
                <a:latin typeface="DM Sans"/>
              </a:rPr>
              <a:t>擴大 LLM 迴歸樣本至完整測試集 </a:t>
            </a:r>
            <a:endParaRPr lang="en-US" altLang="zh-TW" dirty="0">
              <a:latin typeface="DM Sans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dirty="0">
                <a:latin typeface="DM Sans"/>
              </a:rPr>
              <a:t>比較多種 LLM（Gemini、Llama、Gemma）</a:t>
            </a:r>
            <a:endParaRPr lang="zh-TW" altLang="en-US" dirty="0"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</TotalTime>
  <Words>6674</Words>
  <Application>Microsoft Office PowerPoint</Application>
  <PresentationFormat>寬螢幕</PresentationFormat>
  <Paragraphs>454</Paragraphs>
  <Slides>35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2" baseType="lpstr">
      <vt:lpstr>DM Sans</vt:lpstr>
      <vt:lpstr>Arial</vt:lpstr>
      <vt:lpstr>Calibri</vt:lpstr>
      <vt:lpstr>Amasis MT Pro Medium</vt:lpstr>
      <vt:lpstr>Merriweather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Zoelin</dc:creator>
  <cp:lastModifiedBy>子瑜 林</cp:lastModifiedBy>
  <cp:revision>186</cp:revision>
  <dcterms:modified xsi:type="dcterms:W3CDTF">2026-06-11T07:59:04Z</dcterms:modified>
</cp:coreProperties>
</file>