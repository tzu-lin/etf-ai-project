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7"/>
  </p:notesMasterIdLst>
  <p:sldIdLst>
    <p:sldId id="256" r:id="rId2"/>
    <p:sldId id="257" r:id="rId3"/>
    <p:sldId id="578" r:id="rId4"/>
    <p:sldId id="258" r:id="rId5"/>
    <p:sldId id="259" r:id="rId6"/>
    <p:sldId id="260" r:id="rId7"/>
    <p:sldId id="262" r:id="rId8"/>
    <p:sldId id="570" r:id="rId9"/>
    <p:sldId id="263" r:id="rId10"/>
    <p:sldId id="553" r:id="rId11"/>
    <p:sldId id="566" r:id="rId12"/>
    <p:sldId id="565" r:id="rId13"/>
    <p:sldId id="567" r:id="rId14"/>
    <p:sldId id="568" r:id="rId15"/>
    <p:sldId id="575" r:id="rId16"/>
    <p:sldId id="571" r:id="rId17"/>
    <p:sldId id="556" r:id="rId18"/>
    <p:sldId id="557" r:id="rId19"/>
    <p:sldId id="555" r:id="rId20"/>
    <p:sldId id="572" r:id="rId21"/>
    <p:sldId id="576" r:id="rId22"/>
    <p:sldId id="265" r:id="rId23"/>
    <p:sldId id="577" r:id="rId24"/>
    <p:sldId id="573" r:id="rId25"/>
    <p:sldId id="558" r:id="rId26"/>
    <p:sldId id="266" r:id="rId27"/>
    <p:sldId id="267" r:id="rId28"/>
    <p:sldId id="268" r:id="rId29"/>
    <p:sldId id="564" r:id="rId30"/>
    <p:sldId id="563" r:id="rId31"/>
    <p:sldId id="562" r:id="rId32"/>
    <p:sldId id="270" r:id="rId33"/>
    <p:sldId id="272" r:id="rId34"/>
    <p:sldId id="273" r:id="rId35"/>
    <p:sldId id="275" r:id="rId36"/>
  </p:sldIdLst>
  <p:sldSz cx="12192000" cy="6858000"/>
  <p:notesSz cx="6858000" cy="9144000"/>
  <p:embeddedFontLst>
    <p:embeddedFont>
      <p:font typeface="Amasis MT Pro Medium" panose="02040604050005020304" pitchFamily="18" charset="0"/>
      <p:regular r:id="rId38"/>
      <p:italic r:id="rId39"/>
    </p:embeddedFont>
    <p:embeddedFont>
      <p:font typeface="DM Sans" pitchFamily="2" charset="0"/>
      <p:regular r:id="rId40"/>
      <p:bold r:id="rId41"/>
      <p:italic r:id="rId42"/>
      <p:boldItalic r:id="rId43"/>
    </p:embeddedFont>
    <p:embeddedFont>
      <p:font typeface="Merriweather" panose="00000500000000000000" pitchFamily="2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5013" autoAdjust="0"/>
  </p:normalViewPr>
  <p:slideViewPr>
    <p:cSldViewPr snapToGrid="0">
      <p:cViewPr>
        <p:scale>
          <a:sx n="50" d="100"/>
          <a:sy n="50" d="100"/>
        </p:scale>
        <p:origin x="-43" y="6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667E425-7DE3-CDE3-CC02-C6EBC0819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B8E6FC52-5299-CFC4-67EB-1274E1D75A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77322D38-4337-33CC-0D7F-DBDDC1D62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26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F051989-D53C-D7EC-2E19-96DDE00B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BDF80A3-8051-9931-7626-AF25104A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A07FAC0-47F3-EAE9-3959-8B0FA5F8C0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7907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E6D3ECD-A64E-C8BC-82D3-6F06A75C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726D0C72-D753-5AB3-C460-1C98A5B50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4595E89-75DC-A607-291E-69E1A85DC6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29428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F5622A4B-9FCE-DE79-FE49-53599DF2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1B77590-90B4-2B6F-7D88-D55B66E02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3D6AB008-FD05-195F-217D-05038DAE2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0038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42379A2-2DD8-E93A-D928-60F23F26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A19D64E-C0EE-1D11-B033-29AC8B2BE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1E316C8-D2AC-AB3A-B3F2-70DFCFFE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55050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212C9C9-2DA8-2C01-8CCC-87D23A8F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4F0CD18B-58FE-DA5B-AC91-C39F582A13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90D9A89D-AB33-65CB-FDB9-1337FAA032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83798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6B1143D1-3C36-DFFF-7D4C-CF306EF6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>
            <a:extLst>
              <a:ext uri="{FF2B5EF4-FFF2-40B4-BE49-F238E27FC236}">
                <a16:creationId xmlns:a16="http://schemas.microsoft.com/office/drawing/2014/main" id="{BFC5291E-39F3-2D1A-2057-89CF920C5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>
            <a:extLst>
              <a:ext uri="{FF2B5EF4-FFF2-40B4-BE49-F238E27FC236}">
                <a16:creationId xmlns:a16="http://schemas.microsoft.com/office/drawing/2014/main" id="{BCAFEEF2-24AF-A1F2-C76E-C3B2CED84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07180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22410B51-C3B3-862E-7DE3-B85900B3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D20F2394-FA7A-81DA-8A6C-FDAB4DC3E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 GPT-4o-mini。API 金鑰我從 .env 檔載入,不寫死在程式裡。核心是呼叫 OpenAI 的 chat completions,指定模型 gpt-4o-mini,temperature 設 0 確保每次輸出一致、可重現,並用 json_object 格式回傳。最後解析 JSON,取出 predicted_close 當作預測的收盤價。</a:t>
            </a:r>
            <a:br>
              <a:rPr lang="en-US" altLang="zh-TW" dirty="0"/>
            </a:br>
            <a:r>
              <a:rPr lang="zh-TW" altLang="zh-TW"/>
              <a:t>在 prompt 裡提供過去 5 天的價格和技術指標,要求它預測次日收盤價,並以 JSON 格式回傳數值。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1EA3EC1-200C-5CDF-ED5F-32CFB39FBA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67697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r>
              <a:rPr lang="zh-TW" altLang="en-US" dirty="0"/>
              <a:t>第四</a:t>
            </a:r>
            <a:r>
              <a:rPr lang="en-US" altLang="zh-TW" dirty="0"/>
              <a:t>,</a:t>
            </a:r>
            <a:r>
              <a:rPr lang="zh-TW" altLang="en-US" b="1" dirty="0"/>
              <a:t>模型訓練</a:t>
            </a:r>
            <a:r>
              <a:rPr lang="en-US" altLang="zh-TW" dirty="0"/>
              <a:t>:</a:t>
            </a:r>
            <a:r>
              <a:rPr lang="zh-TW" altLang="en-US" dirty="0"/>
              <a:t>這裡採用各模型領域的標準驗證方法</a:t>
            </a:r>
            <a:r>
              <a:rPr lang="en-US" altLang="zh-TW" dirty="0"/>
              <a:t>——</a:t>
            </a:r>
            <a:r>
              <a:rPr lang="zh-TW" altLang="en-US" dirty="0"/>
              <a:t>樹模型和 </a:t>
            </a:r>
            <a:r>
              <a:rPr lang="en-US" altLang="zh-TW" dirty="0"/>
              <a:t>LSTM </a:t>
            </a:r>
            <a:r>
              <a:rPr lang="zh-TW" altLang="en-US" dirty="0"/>
              <a:t>用 </a:t>
            </a:r>
            <a:r>
              <a:rPr lang="en-US" altLang="zh-TW" dirty="0"/>
              <a:t>TimeSeriesSplit </a:t>
            </a:r>
            <a:r>
              <a:rPr lang="zh-TW" altLang="en-US" dirty="0"/>
              <a:t>時序交叉驗證</a:t>
            </a:r>
            <a:r>
              <a:rPr lang="en-US" altLang="zh-TW" dirty="0"/>
              <a:t>,ARIMA </a:t>
            </a:r>
            <a:r>
              <a:rPr lang="zh-TW" altLang="en-US" dirty="0"/>
              <a:t>用 </a:t>
            </a:r>
            <a:r>
              <a:rPr lang="en-US" altLang="zh-TW" dirty="0"/>
              <a:t>rolling forecast </a:t>
            </a:r>
            <a:r>
              <a:rPr lang="zh-TW" altLang="en-US" dirty="0"/>
              <a:t>滾動預測。之所以不用一般的 </a:t>
            </a:r>
            <a:r>
              <a:rPr lang="en-US" altLang="zh-TW" dirty="0"/>
              <a:t>K-Fold,</a:t>
            </a:r>
            <a:r>
              <a:rPr lang="zh-TW" altLang="en-US" dirty="0"/>
              <a:t>是因為它會打亂時間順序、造成未來資料洩漏。</a:t>
            </a:r>
          </a:p>
          <a:p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SPY 的分類結果。最左邊灰色是我加的『永遠猜漲』基準，F1 是 0.736，我用紅色虛線標出來。可以看到四個模型的 F1 全部貼著這條線、甚至更低——最好的雙層 LSTM 也只有 0.733，跟基準打平。這代表在多頭期間，分類的高 F1 主要來自市場本身上漲的偏態，模型並沒有真正超越無腦策略。這就是我把分類定位成輔助、把重心放到後面迴歸和 LLM 的原因。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這頁用預測曲線把上面的數字視覺化。黑色是實際收盤價</a:t>
            </a:r>
            <a:r>
              <a:rPr lang="en-US" altLang="zh-TW" dirty="0"/>
              <a:t>,</a:t>
            </a:r>
            <a:r>
              <a:rPr lang="zh-TW" altLang="en-US" dirty="0"/>
              <a:t>綠色 </a:t>
            </a:r>
            <a:r>
              <a:rPr lang="en-US" altLang="zh-TW" dirty="0"/>
              <a:t>ARIMA </a:t>
            </a:r>
            <a:r>
              <a:rPr lang="zh-TW" altLang="en-US" dirty="0"/>
              <a:t>幾乎完全貼合、看不太出來</a:t>
            </a:r>
            <a:r>
              <a:rPr lang="en-US" altLang="zh-TW" dirty="0"/>
              <a:t>,</a:t>
            </a:r>
            <a:r>
              <a:rPr lang="zh-TW" altLang="en-US" dirty="0"/>
              <a:t>所以它誤差最小。橘色 </a:t>
            </a:r>
            <a:r>
              <a:rPr lang="en-US" altLang="zh-TW" dirty="0"/>
              <a:t>Random Forest </a:t>
            </a:r>
            <a:r>
              <a:rPr lang="zh-TW" altLang="en-US" dirty="0"/>
              <a:t>整條躺平</a:t>
            </a:r>
            <a:r>
              <a:rPr lang="en-US" altLang="zh-TW" dirty="0"/>
              <a:t>——</a:t>
            </a:r>
            <a:r>
              <a:rPr lang="zh-TW" altLang="en-US" dirty="0"/>
              <a:t>因為樹模型無法預測超出訓練範圍的新高價</a:t>
            </a:r>
            <a:r>
              <a:rPr lang="en-US" altLang="zh-TW" dirty="0"/>
              <a:t>,</a:t>
            </a:r>
            <a:r>
              <a:rPr lang="zh-TW" altLang="en-US" dirty="0"/>
              <a:t>測試期一突破就卡住了。藍色 </a:t>
            </a:r>
            <a:r>
              <a:rPr lang="en-US" altLang="zh-TW" dirty="0"/>
              <a:t>LSTM </a:t>
            </a:r>
            <a:r>
              <a:rPr lang="zh-TW" altLang="en-US" dirty="0"/>
              <a:t>能跟上趨勢</a:t>
            </a:r>
            <a:r>
              <a:rPr lang="en-US" altLang="zh-TW" dirty="0"/>
              <a:t>,</a:t>
            </a:r>
            <a:r>
              <a:rPr lang="zh-TW" altLang="en-US" dirty="0"/>
              <a:t>但有一段落差。這張圖直觀說明</a:t>
            </a:r>
            <a:r>
              <a:rPr lang="en-US" altLang="zh-TW" dirty="0"/>
              <a:t>:</a:t>
            </a:r>
            <a:r>
              <a:rPr lang="zh-TW" altLang="en-US" dirty="0"/>
              <a:t>在價格預測上</a:t>
            </a:r>
            <a:r>
              <a:rPr lang="en-US" altLang="zh-TW" dirty="0"/>
              <a:t>,</a:t>
            </a:r>
            <a:r>
              <a:rPr lang="zh-TW" altLang="en-US" dirty="0"/>
              <a:t>簡單的 </a:t>
            </a:r>
            <a:r>
              <a:rPr lang="en-US" altLang="zh-TW" dirty="0"/>
              <a:t>ARIMA </a:t>
            </a:r>
            <a:r>
              <a:rPr lang="zh-TW" altLang="en-US" dirty="0"/>
              <a:t>反而比複雜的樹模型穩定</a:t>
            </a:r>
            <a:r>
              <a:rPr lang="en-US" altLang="zh-TW" dirty="0"/>
              <a:t>,</a:t>
            </a:r>
            <a:r>
              <a:rPr lang="zh-TW" altLang="en-US" dirty="0"/>
              <a:t>複雜不一定比較好。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zh-TW" dirty="0"/>
              <a:t>平台用 Streamlit 加 Plotly、SQLite，串接 GPT 或 Gemini 產生風險摘要，端對端延遲 840 毫秒，一般電腦、不用 GPU 就能跑。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8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0056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43125" y="44496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94056" y="23160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8281987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處理</a:t>
            </a:r>
            <a:r>
              <a:rPr lang="en-US" sz="165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355806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9A153F2-9055-D9A9-AFEF-DAC671E7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9DC9AF68-C4A7-2E42-7299-8636B8BBFF66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FF0000"/>
                </a:solidFill>
                <a:latin typeface="Merriweather"/>
                <a:sym typeface="Merriweather"/>
              </a:rPr>
              <a:t>文獻探討要寫個兩篇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325A4923-28F7-D6E6-0EEA-256C127098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6566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869365"/>
            <a:ext cx="5018259" cy="4924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</a:t>
            </a:r>
            <a:endParaRPr lang="en-US" sz="20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RQ1: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效能比較：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RQ2: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RQ3: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評估指標差異：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RMSQ</a:t>
            </a: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RQ4: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 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 dirty="0"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670754" y="550115"/>
            <a:ext cx="5949746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2000" dirty="0"/>
              <a:t>ARIMA(自迴歸整合移動平均)是時間序列預測中最常用的統計模型,本研究作為</a:t>
            </a:r>
            <a:r>
              <a:rPr lang="zh-TW" altLang="zh-TW" sz="2000" b="1" dirty="0"/>
              <a:t>基準模型(Baseline)</a:t>
            </a:r>
            <a:r>
              <a:rPr lang="zh-TW" altLang="zh-TW" sz="2000" dirty="0"/>
              <a:t>。對單變量時間序列進行建模與預測。</a:t>
            </a:r>
            <a:endParaRPr sz="16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374F66D-ED00-D7D0-EB06-8D1834B75E57}"/>
              </a:ext>
            </a:extLst>
          </p:cNvPr>
          <p:cNvSpPr txBox="1"/>
          <p:nvPr/>
        </p:nvSpPr>
        <p:spPr>
          <a:xfrm>
            <a:off x="913768" y="17550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</a:rPr>
              <a:t>為什麼</a:t>
            </a:r>
            <a:r>
              <a:rPr lang="en-US" altLang="zh-TW" sz="2000" dirty="0">
                <a:solidFill>
                  <a:srgbClr val="FF0000"/>
                </a:solidFill>
              </a:rPr>
              <a:t>I</a:t>
            </a:r>
            <a:r>
              <a:rPr lang="zh-TW" altLang="en-US" sz="2000" dirty="0">
                <a:solidFill>
                  <a:srgbClr val="FF0000"/>
                </a:solidFill>
              </a:rPr>
              <a:t>要用</a:t>
            </a:r>
            <a:r>
              <a:rPr lang="en-US" altLang="zh-TW" sz="2000" dirty="0">
                <a:solidFill>
                  <a:srgbClr val="FF0000"/>
                </a:solidFill>
              </a:rPr>
              <a:t>1 0</a:t>
            </a:r>
            <a:r>
              <a:rPr lang="zh-TW" altLang="en-US" sz="2000" dirty="0">
                <a:solidFill>
                  <a:srgbClr val="FF0000"/>
                </a:solidFill>
              </a:rPr>
              <a:t>不好嘛</a:t>
            </a:r>
            <a:r>
              <a:rPr lang="en-US" altLang="zh-TW" sz="2000" dirty="0">
                <a:solidFill>
                  <a:srgbClr val="FF0000"/>
                </a:solidFill>
              </a:rPr>
              <a:t>???</a:t>
            </a:r>
            <a:r>
              <a:rPr lang="zh-TW" altLang="en-US" sz="2000" dirty="0">
                <a:solidFill>
                  <a:srgbClr val="FF0000"/>
                </a:solidFill>
              </a:rPr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0</a:t>
            </a:r>
            <a:r>
              <a:rPr lang="zh-TW" altLang="en-US" sz="2000" dirty="0">
                <a:solidFill>
                  <a:srgbClr val="FF0000"/>
                </a:solidFill>
              </a:rPr>
              <a:t>答案很差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A262AA3-6D40-08EE-2856-15E2AAD5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277AC1F2-7C23-65D6-56F7-9F0EA1BAD548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CD247E8-5C59-214F-AB9E-49CC1BE800F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AA47984B-B105-67F8-E9CD-CFD1718B931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0FA69091-3B6A-AFCC-AE38-FCFD1C0FA660}"/>
              </a:ext>
            </a:extLst>
          </p:cNvPr>
          <p:cNvSpPr txBox="1"/>
          <p:nvPr/>
        </p:nvSpPr>
        <p:spPr>
          <a:xfrm>
            <a:off x="282295" y="558350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37DEFDAF-20FE-2595-242B-08825D89BC74}"/>
              </a:ext>
            </a:extLst>
          </p:cNvPr>
          <p:cNvSpPr txBox="1"/>
          <p:nvPr/>
        </p:nvSpPr>
        <p:spPr>
          <a:xfrm>
            <a:off x="1069808" y="6173418"/>
            <a:ext cx="1005238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2000" dirty="0"/>
              <a:t>以 auto_arima 自動選參數，採 rolling forecast 逐日滾動預測，計算 MSE / MAPE。</a:t>
            </a:r>
            <a:endParaRPr sz="2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CEFB1-FA05-8DF0-957B-12928AD2ED0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rgbClr val="FF0000"/>
                </a:solidFill>
              </a:rPr>
              <a:t>P</a:t>
            </a:r>
            <a:r>
              <a:rPr lang="zh-TW" altLang="zh-TW" sz="1600" b="1" dirty="0">
                <a:solidFill>
                  <a:srgbClr val="FF0000"/>
                </a:solidFill>
              </a:rPr>
              <a:t>mdarima</a:t>
            </a:r>
            <a:r>
              <a:rPr lang="zh-TW" altLang="en-US" sz="1600" b="1" dirty="0">
                <a:solidFill>
                  <a:srgbClr val="FF0000"/>
                </a:solidFill>
              </a:rPr>
              <a:t>補說明</a:t>
            </a:r>
            <a:r>
              <a:rPr lang="zh-TW" altLang="zh-TW" sz="1600" dirty="0"/>
              <a:t> 自動選參數 + rolling forecast（arima_baseline.py）</a:t>
            </a:r>
            <a:endParaRPr lang="zh-TW" altLang="en-US" sz="16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135360D-83C9-4D2C-3695-FE08DEB925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9427"/>
          <a:stretch>
            <a:fillRect/>
          </a:stretch>
        </p:blipFill>
        <p:spPr>
          <a:xfrm>
            <a:off x="1947076" y="2102945"/>
            <a:ext cx="8297847" cy="7846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7C5AD3E-E081-F6CD-F123-66B7939F26A7}"/>
              </a:ext>
            </a:extLst>
          </p:cNvPr>
          <p:cNvSpPr txBox="1"/>
          <p:nvPr/>
        </p:nvSpPr>
        <p:spPr>
          <a:xfrm>
            <a:off x="3048000" y="3279122"/>
            <a:ext cx="27592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 err="1">
                <a:solidFill>
                  <a:srgbClr val="FF0000"/>
                </a:solidFill>
              </a:rPr>
              <a:t>Auto_arima</a:t>
            </a:r>
            <a:r>
              <a:rPr lang="zh-TW" altLang="en-US" sz="1800" dirty="0">
                <a:solidFill>
                  <a:srgbClr val="FF0000"/>
                </a:solidFill>
              </a:rPr>
              <a:t>參數如下</a:t>
            </a:r>
            <a:r>
              <a:rPr lang="en-US" altLang="zh-TW" sz="1800" dirty="0">
                <a:solidFill>
                  <a:srgbClr val="FF0000"/>
                </a:solidFill>
              </a:rPr>
              <a:t>:</a:t>
            </a:r>
            <a:endParaRPr lang="zh-TW" altLang="en-US" sz="1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053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5AF6C39-AB7D-F445-419E-7D88FB686807}"/>
              </a:ext>
            </a:extLst>
          </p:cNvPr>
          <p:cNvSpPr txBox="1"/>
          <p:nvPr/>
        </p:nvSpPr>
        <p:spPr>
          <a:xfrm>
            <a:off x="1003301" y="3894842"/>
            <a:ext cx="10908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2000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F902D42-C811-7DC2-C636-C654294B5C85}"/>
              </a:ext>
            </a:extLst>
          </p:cNvPr>
          <p:cNvCxnSpPr/>
          <p:nvPr/>
        </p:nvCxnSpPr>
        <p:spPr>
          <a:xfrm>
            <a:off x="1524000" y="429519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309360" y="2675265"/>
            <a:ext cx="5162501" cy="150747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50706360-B23B-99AC-91C2-7F28D44AE618}"/>
              </a:ext>
            </a:extLst>
          </p:cNvPr>
          <p:cNvSpPr txBox="1"/>
          <p:nvPr/>
        </p:nvSpPr>
        <p:spPr>
          <a:xfrm>
            <a:off x="6309359" y="2805752"/>
            <a:ext cx="5162501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隨機森林在 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基礎上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,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額外在特徵選擇引入隨機性</a:t>
            </a:r>
            <a:endParaRPr lang="en-US" altLang="zh-TW" sz="1800" b="1" i="0" u="none" strike="noStrike" cap="none" spc="300" dirty="0">
              <a:solidFill>
                <a:srgbClr val="002147"/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每次分裂隨機選部分特徵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spc="300" dirty="0">
              <a:latin typeface="+mj-lt"/>
            </a:endParaRPr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568977"/>
              </p:ext>
            </p:extLst>
          </p:nvPr>
        </p:nvGraphicFramePr>
        <p:xfrm>
          <a:off x="565734" y="2262425"/>
          <a:ext cx="5530264" cy="37600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較穩定、泛化好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可解釋性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537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113E0B5E-2453-7718-5C1B-69E5F936F589}"/>
              </a:ext>
            </a:extLst>
          </p:cNvPr>
          <p:cNvSpPr txBox="1"/>
          <p:nvPr/>
        </p:nvSpPr>
        <p:spPr>
          <a:xfrm>
            <a:off x="6309359" y="4766777"/>
            <a:ext cx="3809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800" b="1" dirty="0">
                <a:solidFill>
                  <a:srgbClr val="FF0000"/>
                </a:solidFill>
              </a:rPr>
              <a:t>決策樹結果 也要拿出來 比較</a:t>
            </a:r>
            <a:endParaRPr lang="en-US" altLang="zh-TW" sz="1800" b="1" dirty="0">
              <a:solidFill>
                <a:srgbClr val="FF0000"/>
              </a:solidFill>
            </a:endParaRPr>
          </a:p>
          <a:p>
            <a:r>
              <a:rPr lang="zh-TW" altLang="en-US" sz="1800" b="1" dirty="0">
                <a:solidFill>
                  <a:srgbClr val="FF0000"/>
                </a:solidFill>
              </a:rPr>
              <a:t> 證明因為他比較差</a:t>
            </a:r>
          </a:p>
        </p:txBody>
      </p:sp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52635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en-US" altLang="zh-TW" sz="3300" b="1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lang="zh-TW" altLang="en-US" sz="3600"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樣本權重隨輪次變化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44979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殘差逐步縮小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C039C04-62C8-BD6A-4B81-17758701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78C19A5-B1C4-291B-E90E-260B7FEC6B26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三個</a:t>
            </a:r>
            <a:r>
              <a:rPr lang="en-US" altLang="zh-TW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boost  </a:t>
            </a: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比較差異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97975E4-DBAF-93E5-8E4E-C083B9B459F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85506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BB67074C-D8AA-5BF5-D0A6-C9E9046CA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700A459B-CEBF-25F5-B3B6-C7A7BB76783E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樹模型：四種集成模型核心程式碼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C656C5F-D67B-70B4-662E-C1DD4D0988F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18B66522-C661-2965-7425-D24F26F0D64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F8F9C82D-E68C-9B7A-49EC-EDA8724158EE}"/>
              </a:ext>
            </a:extLst>
          </p:cNvPr>
          <p:cNvSpPr txBox="1"/>
          <p:nvPr/>
        </p:nvSpPr>
        <p:spPr>
          <a:xfrm>
            <a:off x="282295" y="5400343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6BAEDED2-9812-7DEE-DDF1-F936D4795FE0}"/>
              </a:ext>
            </a:extLst>
          </p:cNvPr>
          <p:cNvSpPr txBox="1"/>
          <p:nvPr/>
        </p:nvSpPr>
        <p:spPr>
          <a:xfrm>
            <a:off x="1069808" y="5822984"/>
            <a:ext cx="1005238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800" dirty="0"/>
              <a:t>RF / AdaBoost / GBM </a:t>
            </a:r>
            <a:r>
              <a:rPr lang="zh-TW" altLang="en-US" sz="1800" dirty="0"/>
              <a:t>來自 </a:t>
            </a:r>
            <a:r>
              <a:rPr lang="en-US" altLang="zh-TW" sz="1800" dirty="0" err="1"/>
              <a:t>sklearn.ensemble</a:t>
            </a:r>
            <a:r>
              <a:rPr lang="zh-TW" altLang="en-US" sz="1800" dirty="0"/>
              <a:t>，</a:t>
            </a:r>
            <a:r>
              <a:rPr lang="en-US" altLang="zh-TW" sz="1800" dirty="0" err="1"/>
              <a:t>XGBoost</a:t>
            </a:r>
            <a:r>
              <a:rPr lang="en-US" altLang="zh-TW" sz="1800" dirty="0"/>
              <a:t> </a:t>
            </a:r>
            <a:r>
              <a:rPr lang="zh-TW" altLang="en-US" sz="1800" dirty="0"/>
              <a:t>來自 </a:t>
            </a:r>
            <a:r>
              <a:rPr lang="en-US" altLang="zh-TW" sz="1800" dirty="0" err="1"/>
              <a:t>xgboost</a:t>
            </a:r>
            <a:r>
              <a:rPr lang="en-US" altLang="zh-TW" sz="1800" dirty="0"/>
              <a:t> </a:t>
            </a:r>
            <a:r>
              <a:rPr lang="zh-TW" altLang="en-US" sz="1800" dirty="0"/>
              <a:t>套件。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en-US" sz="1800" dirty="0"/>
              <a:t>四個模型皆以 </a:t>
            </a:r>
            <a:r>
              <a:rPr lang="en-US" altLang="zh-TW" sz="1800" dirty="0" err="1"/>
              <a:t>TimeSeriesSplit</a:t>
            </a:r>
            <a:r>
              <a:rPr lang="zh-TW" altLang="en-US" sz="1800" dirty="0"/>
              <a:t>（時序交叉驗證）評估，</a:t>
            </a:r>
            <a:r>
              <a:rPr lang="zh-TW" altLang="en-US" sz="1800" dirty="0">
                <a:solidFill>
                  <a:srgbClr val="FF0000"/>
                </a:solidFill>
              </a:rPr>
              <a:t>確保不洩漏未來資料。</a:t>
            </a:r>
            <a:r>
              <a:rPr lang="en-US" altLang="zh-TW" sz="1800" dirty="0">
                <a:solidFill>
                  <a:srgbClr val="FF0000"/>
                </a:solidFill>
              </a:rPr>
              <a:t>&lt;</a:t>
            </a:r>
            <a:r>
              <a:rPr lang="zh-TW" altLang="en-US" sz="1800" dirty="0">
                <a:solidFill>
                  <a:srgbClr val="FF0000"/>
                </a:solidFill>
              </a:rPr>
              <a:t>什麼意思</a:t>
            </a:r>
            <a:endParaRPr sz="1800" dirty="0">
              <a:solidFill>
                <a:srgbClr val="FF000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98089C-F9E2-87F8-F4CB-A3F79B9BF0B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sklearn.ensemble</a:t>
            </a:r>
            <a:r>
              <a:rPr lang="en-US" altLang="zh-TW" sz="1600" dirty="0"/>
              <a:t> + </a:t>
            </a:r>
            <a:r>
              <a:rPr lang="en-US" altLang="zh-TW" sz="1600" dirty="0" err="1"/>
              <a:t>xgboost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TimeSeriesSplit</a:t>
            </a:r>
            <a:r>
              <a:rPr lang="en-US" altLang="zh-TW" sz="1600" dirty="0"/>
              <a:t> </a:t>
            </a:r>
            <a:r>
              <a:rPr lang="zh-TW" altLang="en-US" sz="1600" dirty="0"/>
              <a:t>驗證（</a:t>
            </a:r>
            <a:r>
              <a:rPr lang="en-US" altLang="zh-TW" sz="1600" dirty="0"/>
              <a:t>run_regression.py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36C2329-EB80-684A-8A14-FB6DB2E55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67" y="3739031"/>
            <a:ext cx="10264725" cy="14152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2806C22-B56D-46E7-710F-CB8D17E05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67" y="2184902"/>
            <a:ext cx="10264725" cy="1182809"/>
          </a:xfrm>
          <a:prstGeom prst="rect">
            <a:avLst/>
          </a:prstGeom>
        </p:spPr>
      </p:pic>
      <p:sp>
        <p:nvSpPr>
          <p:cNvPr id="3" name="Google Shape;217;p20">
            <a:extLst>
              <a:ext uri="{FF2B5EF4-FFF2-40B4-BE49-F238E27FC236}">
                <a16:creationId xmlns:a16="http://schemas.microsoft.com/office/drawing/2014/main" id="{C4835E96-24DB-C93E-091A-43DD95EE84A4}"/>
              </a:ext>
            </a:extLst>
          </p:cNvPr>
          <p:cNvSpPr txBox="1"/>
          <p:nvPr/>
        </p:nvSpPr>
        <p:spPr>
          <a:xfrm>
            <a:off x="7106654" y="256599"/>
            <a:ext cx="532297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2400" dirty="0">
                <a:solidFill>
                  <a:srgbClr val="FF0000"/>
                </a:solidFill>
              </a:rPr>
              <a:t>XGBOOST</a:t>
            </a:r>
            <a:r>
              <a:rPr lang="zh-TW" altLang="en-US" sz="2400" dirty="0">
                <a:solidFill>
                  <a:srgbClr val="FF0000"/>
                </a:solidFill>
              </a:rPr>
              <a:t> 解釋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zh-TW" altLang="en-US" sz="2400" dirty="0">
                <a:solidFill>
                  <a:srgbClr val="FF0000"/>
                </a:solidFill>
              </a:rPr>
              <a:t>參數要說明 為什麼要設</a:t>
            </a:r>
            <a:r>
              <a:rPr lang="en-US" altLang="zh-TW" sz="2400" dirty="0">
                <a:solidFill>
                  <a:srgbClr val="FF0000"/>
                </a:solidFill>
              </a:rPr>
              <a:t>0.1?</a:t>
            </a:r>
            <a:r>
              <a:rPr lang="zh-TW" altLang="en-US" sz="2400" dirty="0">
                <a:solidFill>
                  <a:srgbClr val="FF0000"/>
                </a:solidFill>
              </a:rPr>
              <a:t>之類的</a:t>
            </a:r>
            <a:endParaRPr sz="2400" dirty="0">
              <a:solidFill>
                <a:srgbClr val="FF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CB6A95A-7BF5-7BA8-DAC0-18DD31CBF24C}"/>
              </a:ext>
            </a:extLst>
          </p:cNvPr>
          <p:cNvSpPr/>
          <p:nvPr/>
        </p:nvSpPr>
        <p:spPr>
          <a:xfrm>
            <a:off x="2005263" y="2184902"/>
            <a:ext cx="1684421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8FF330-D1B4-6101-6B37-2AFAB125A231}"/>
              </a:ext>
            </a:extLst>
          </p:cNvPr>
          <p:cNvSpPr/>
          <p:nvPr/>
        </p:nvSpPr>
        <p:spPr>
          <a:xfrm>
            <a:off x="2005263" y="2981825"/>
            <a:ext cx="721896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09C41B-8B22-8D54-748F-992A980DA381}"/>
              </a:ext>
            </a:extLst>
          </p:cNvPr>
          <p:cNvSpPr/>
          <p:nvPr/>
        </p:nvSpPr>
        <p:spPr>
          <a:xfrm>
            <a:off x="6729664" y="4114258"/>
            <a:ext cx="1211178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B44370-87DD-9B03-DBCB-1FB6209638E0}"/>
              </a:ext>
            </a:extLst>
          </p:cNvPr>
          <p:cNvSpPr/>
          <p:nvPr/>
        </p:nvSpPr>
        <p:spPr>
          <a:xfrm>
            <a:off x="7122696" y="4324832"/>
            <a:ext cx="1459830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778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EF08C6F-AEAF-5AE1-BD76-22FFC769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E4A635C2-9C91-D605-A65B-60EFE86A0F2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 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4A80AD10-9C52-1979-57E0-FE63364DF7E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9280F5A1-BB28-BE22-D38B-85C952F070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118A581C-7C2E-CAFD-68F5-6D405B0CE605}"/>
              </a:ext>
            </a:extLst>
          </p:cNvPr>
          <p:cNvSpPr txBox="1"/>
          <p:nvPr/>
        </p:nvSpPr>
        <p:spPr>
          <a:xfrm>
            <a:off x="98861" y="577833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10AC17E-41BE-04E6-BC47-ED6EE662C4BD}"/>
              </a:ext>
            </a:extLst>
          </p:cNvPr>
          <p:cNvSpPr txBox="1"/>
          <p:nvPr/>
        </p:nvSpPr>
        <p:spPr>
          <a:xfrm>
            <a:off x="1841527" y="5819351"/>
            <a:ext cx="775967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800" dirty="0"/>
              <a:t>單層 LSTM：一層 LSTM(50) + Dense(1) 輸出數值。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雙層 LSTM：疊兩層 LSTM（第一層 return_sequences=True）。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關鍵：Dense(1) 無 sigmoid、loss='mse'，即為迴歸版本。</a:t>
            </a:r>
            <a:endParaRPr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78AFD01-DECC-44AB-11CA-9AE19764FCCC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51109F-382E-CDBF-1E63-45C5BC48C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380" y="2148357"/>
            <a:ext cx="9503532" cy="67037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4C20F97-9C1B-1784-E976-8A6BCC0AEC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688" b="52344"/>
          <a:stretch>
            <a:fillRect/>
          </a:stretch>
        </p:blipFill>
        <p:spPr>
          <a:xfrm>
            <a:off x="1237000" y="2923944"/>
            <a:ext cx="9503532" cy="271957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E3623A53-27A1-C4A4-BD33-B8827AC3A640}"/>
              </a:ext>
            </a:extLst>
          </p:cNvPr>
          <p:cNvSpPr txBox="1"/>
          <p:nvPr/>
        </p:nvSpPr>
        <p:spPr>
          <a:xfrm>
            <a:off x="7251031" y="422503"/>
            <a:ext cx="23501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 err="1">
                <a:solidFill>
                  <a:srgbClr val="FF0000"/>
                </a:solidFill>
              </a:rPr>
              <a:t>Tensorflow</a:t>
            </a:r>
            <a:r>
              <a:rPr lang="en-US" altLang="zh-TW" sz="2000" dirty="0">
                <a:solidFill>
                  <a:srgbClr val="FF0000"/>
                </a:solidFill>
              </a:rPr>
              <a:t>/</a:t>
            </a:r>
            <a:r>
              <a:rPr lang="en-US" altLang="zh-TW" sz="2000" dirty="0" err="1">
                <a:solidFill>
                  <a:srgbClr val="FF0000"/>
                </a:solidFill>
              </a:rPr>
              <a:t>Keras</a:t>
            </a:r>
            <a:endParaRPr lang="en-US" altLang="zh-TW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2840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7370271-6DF3-3642-05D0-1896C693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06D70C9F-714D-0222-C12F-8A4980FB4AB6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雙向還要補一張圖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DD9AEA12-C36E-55DD-9093-BDCE420AFA6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F1215932-1CB7-FEFE-53DC-AB4641C19DF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682ECDFE-B3D1-3F20-A8EF-2BDBFE56AE41}"/>
              </a:ext>
            </a:extLst>
          </p:cNvPr>
          <p:cNvSpPr txBox="1"/>
          <p:nvPr/>
        </p:nvSpPr>
        <p:spPr>
          <a:xfrm>
            <a:off x="98861" y="577833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3C806A2-4620-4DB3-6509-7E218538657B}"/>
              </a:ext>
            </a:extLst>
          </p:cNvPr>
          <p:cNvSpPr txBox="1"/>
          <p:nvPr/>
        </p:nvSpPr>
        <p:spPr>
          <a:xfrm>
            <a:off x="1841527" y="5819351"/>
            <a:ext cx="775967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800" dirty="0"/>
              <a:t>單層 LSTM：一層 LSTM(50) + Dense(1) 輸出數值。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雙層 LSTM：疊兩層 LSTM（第一層 return_sequences=True）。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關鍵：Dense(1) 無 sigmoid、loss='mse'，即為迴歸版本。</a:t>
            </a:r>
            <a:endParaRPr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5CD5199-DA2D-932E-4D4A-2B97CE3B7331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0276132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0.47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0.42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0.56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結果不如傳統模型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僅 </a:t>
            </a:r>
            <a:r>
              <a:rPr lang="en-US" altLang="zh-TW" dirty="0">
                <a:solidFill>
                  <a:schemeClr val="tx1"/>
                </a:solidFill>
              </a:rPr>
              <a:t>0.48</a:t>
            </a:r>
            <a:r>
              <a:rPr lang="zh-TW" altLang="en-US" dirty="0">
                <a:solidFill>
                  <a:schemeClr val="tx1"/>
                </a:solidFill>
              </a:rPr>
              <a:t>，明顯低於 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的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以文字推理漲跌方向，缺乏穩定的數值判斷依據。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1610793" y="5777496"/>
            <a:ext cx="857607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</a:t>
            </a:r>
            <a:r>
              <a:rPr lang="en-US" altLang="zh-TW" dirty="0">
                <a:solidFill>
                  <a:schemeClr val="tx1"/>
                </a:solidFill>
              </a:rPr>
              <a:t>(GPT-4o-mini)</a:t>
            </a:r>
            <a:r>
              <a:rPr lang="zh-TW" altLang="en-US" dirty="0">
                <a:solidFill>
                  <a:schemeClr val="tx1"/>
                </a:solidFill>
              </a:rPr>
              <a:t>，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達 </a:t>
            </a:r>
            <a:r>
              <a:rPr lang="en-US" altLang="zh-TW" dirty="0">
                <a:solidFill>
                  <a:schemeClr val="tx1"/>
                </a:solidFill>
              </a:rPr>
              <a:t>0.80 —— </a:t>
            </a: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2582E059-24F8-DF9B-C212-4382F2C5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">
            <a:extLst>
              <a:ext uri="{FF2B5EF4-FFF2-40B4-BE49-F238E27FC236}">
                <a16:creationId xmlns:a16="http://schemas.microsoft.com/office/drawing/2014/main" id="{A7C5713E-B02A-1914-8C80-0C27D5BF6935}"/>
              </a:ext>
            </a:extLst>
          </p:cNvPr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回歸任務</a:t>
            </a:r>
            <a:endParaRPr dirty="0"/>
          </a:p>
        </p:txBody>
      </p:sp>
      <p:sp>
        <p:nvSpPr>
          <p:cNvPr id="253" name="Google Shape;253;p22">
            <a:extLst>
              <a:ext uri="{FF2B5EF4-FFF2-40B4-BE49-F238E27FC236}">
                <a16:creationId xmlns:a16="http://schemas.microsoft.com/office/drawing/2014/main" id="{F7F0E63E-8530-0425-9CAD-DA09B3BB33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67940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BF7FA5D-4A19-73A2-8D53-1928861D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CAC14968-9803-EED6-50FD-2DFE00CC577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870A2D8-7AB6-5AA7-EC32-15C6D8E5C7F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80D1E6E2-516C-B8DE-546C-E1555EFBB73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ED10ACE4-9182-E0D0-88D1-41C6714C32B4}"/>
              </a:ext>
            </a:extLst>
          </p:cNvPr>
          <p:cNvSpPr txBox="1"/>
          <p:nvPr/>
        </p:nvSpPr>
        <p:spPr>
          <a:xfrm>
            <a:off x="282295" y="558350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5882777B-F296-C5EA-C7C3-655E1ED0118B}"/>
              </a:ext>
            </a:extLst>
          </p:cNvPr>
          <p:cNvSpPr txBox="1"/>
          <p:nvPr/>
        </p:nvSpPr>
        <p:spPr>
          <a:xfrm>
            <a:off x="1784589" y="5768015"/>
            <a:ext cx="888341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en-US" sz="1800" dirty="0"/>
              <a:t>從 </a:t>
            </a:r>
            <a:r>
              <a:rPr lang="en-US" altLang="zh-TW" sz="1800" dirty="0"/>
              <a:t>.env </a:t>
            </a:r>
            <a:r>
              <a:rPr lang="zh-TW" altLang="en-US" sz="1800" dirty="0"/>
              <a:t>載入 </a:t>
            </a:r>
            <a:r>
              <a:rPr lang="en-US" altLang="zh-TW" sz="1800" dirty="0"/>
              <a:t>API </a:t>
            </a:r>
            <a:r>
              <a:rPr lang="zh-TW" altLang="en-US" sz="1800" dirty="0"/>
              <a:t>金鑰。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en-US" sz="1800" dirty="0"/>
              <a:t>呼叫 </a:t>
            </a:r>
            <a:r>
              <a:rPr lang="en-US" altLang="zh-TW" sz="1800" dirty="0"/>
              <a:t>OpenAI API</a:t>
            </a:r>
            <a:r>
              <a:rPr lang="zh-TW" altLang="en-US" sz="1800" dirty="0"/>
              <a:t>、指定 </a:t>
            </a:r>
            <a:r>
              <a:rPr lang="en-US" altLang="zh-TW" sz="1800" dirty="0"/>
              <a:t>gpt-4o-mini</a:t>
            </a:r>
            <a:r>
              <a:rPr lang="zh-TW" altLang="en-US" sz="1800" dirty="0"/>
              <a:t>、</a:t>
            </a:r>
            <a:r>
              <a:rPr lang="en-US" altLang="zh-TW" sz="1800" dirty="0">
                <a:solidFill>
                  <a:srgbClr val="FF0000"/>
                </a:solidFill>
              </a:rPr>
              <a:t>temperature=0</a:t>
            </a:r>
            <a:r>
              <a:rPr lang="en-US" altLang="zh-TW" sz="1800" dirty="0"/>
              <a:t> </a:t>
            </a:r>
            <a:r>
              <a:rPr lang="zh-TW" altLang="en-US" sz="1800" dirty="0"/>
              <a:t>確保輸出可重現。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en-US" sz="1800" dirty="0"/>
              <a:t>以 </a:t>
            </a:r>
            <a:r>
              <a:rPr lang="en-US" altLang="zh-TW" sz="1800" dirty="0" err="1"/>
              <a:t>json_object</a:t>
            </a:r>
            <a:r>
              <a:rPr lang="en-US" altLang="zh-TW" sz="1800" dirty="0"/>
              <a:t> </a:t>
            </a:r>
            <a:r>
              <a:rPr lang="zh-TW" altLang="en-US" sz="1800" dirty="0"/>
              <a:t>格式回傳，解析後取出 </a:t>
            </a:r>
            <a:r>
              <a:rPr lang="en-US" altLang="zh-TW" sz="1800" dirty="0" err="1"/>
              <a:t>predicted_close</a:t>
            </a:r>
            <a:r>
              <a:rPr lang="en-US" altLang="zh-TW" sz="1800" dirty="0"/>
              <a:t> </a:t>
            </a:r>
            <a:r>
              <a:rPr lang="zh-TW" altLang="en-US" sz="1800" dirty="0"/>
              <a:t>作為預測收盤價。</a:t>
            </a:r>
            <a:endParaRPr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85144F-FB0E-7E32-3E92-522E770D6F3D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OpenAI API</a:t>
            </a:r>
            <a:r>
              <a:rPr lang="zh-TW" altLang="en-US" sz="1600" dirty="0"/>
              <a:t>，</a:t>
            </a:r>
            <a:r>
              <a:rPr lang="en-US" altLang="zh-TW" sz="1600" dirty="0"/>
              <a:t>temperature=0 </a:t>
            </a:r>
            <a:r>
              <a:rPr lang="zh-TW" altLang="en-US" sz="1600" dirty="0"/>
              <a:t>確保可重現（</a:t>
            </a:r>
            <a:r>
              <a:rPr lang="en-US" altLang="zh-TW" sz="1600" dirty="0"/>
              <a:t>llm_regression.py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CD88184-5639-0FC3-30EA-FF665093E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7252" y="2159689"/>
            <a:ext cx="7595906" cy="234945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3C82F48-1207-AB6F-C8E2-9985CAD0E9E7}"/>
              </a:ext>
            </a:extLst>
          </p:cNvPr>
          <p:cNvSpPr txBox="1"/>
          <p:nvPr/>
        </p:nvSpPr>
        <p:spPr>
          <a:xfrm>
            <a:off x="4110805" y="4931784"/>
            <a:ext cx="7359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>
                <a:solidFill>
                  <a:srgbClr val="FF0000"/>
                </a:solidFill>
              </a:rPr>
              <a:t>temperature=0(</a:t>
            </a:r>
            <a:r>
              <a:rPr lang="zh-TW" altLang="en-US" sz="1800" b="1" dirty="0">
                <a:solidFill>
                  <a:srgbClr val="FF0000"/>
                </a:solidFill>
              </a:rPr>
              <a:t>不能用</a:t>
            </a:r>
            <a:r>
              <a:rPr lang="en-US" altLang="zh-TW" sz="1800" b="1" dirty="0">
                <a:solidFill>
                  <a:srgbClr val="FF0000"/>
                </a:solidFill>
              </a:rPr>
              <a:t>0&lt;-</a:t>
            </a:r>
            <a:r>
              <a:rPr lang="zh-TW" altLang="en-US" sz="1800" b="1" dirty="0">
                <a:solidFill>
                  <a:srgbClr val="FF0000"/>
                </a:solidFill>
              </a:rPr>
              <a:t>非常保守 </a:t>
            </a:r>
            <a:r>
              <a:rPr lang="en-US" altLang="zh-TW" sz="1800" b="1" dirty="0">
                <a:solidFill>
                  <a:srgbClr val="FF0000"/>
                </a:solidFill>
              </a:rPr>
              <a:t>2&lt;-</a:t>
            </a:r>
            <a:r>
              <a:rPr lang="zh-TW" altLang="en-US" sz="1800" b="1" dirty="0">
                <a:solidFill>
                  <a:srgbClr val="FF0000"/>
                </a:solidFill>
              </a:rPr>
              <a:t>非常活潑 通常都用</a:t>
            </a:r>
            <a:r>
              <a:rPr lang="en-US" altLang="zh-TW" sz="1800" b="1" dirty="0">
                <a:solidFill>
                  <a:srgbClr val="FF0000"/>
                </a:solidFill>
              </a:rPr>
              <a:t>0.7 0.8)</a:t>
            </a:r>
            <a:r>
              <a:rPr lang="en-US" altLang="zh-TW" sz="1800" b="1" dirty="0"/>
              <a:t> </a:t>
            </a:r>
            <a:endParaRPr lang="zh-TW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908327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53533" y="4000122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903143" y="1660264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77556" y="1637021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12760" y="399366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90112" y="1650070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1060503" y="226414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80429" y="2833556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896053" y="441809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678509" y="490907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37135" y="2252905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324073" y="2958821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400782" y="4542708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745292" y="5056035"/>
            <a:ext cx="2849603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LSTM：TimeSeriesSplit</a:t>
            </a:r>
            <a:endParaRPr lang="en-US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ARIMA：rolling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forecast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92127" y="222489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428036" y="2939978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 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sz="1800" dirty="0"/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2459" y="608577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74D3299-37D6-5099-1F54-18716A2304A4}"/>
              </a:ext>
            </a:extLst>
          </p:cNvPr>
          <p:cNvSpPr txBox="1"/>
          <p:nvPr/>
        </p:nvSpPr>
        <p:spPr>
          <a:xfrm>
            <a:off x="609600" y="6133887"/>
            <a:ext cx="52341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000" dirty="0">
                <a:solidFill>
                  <a:srgbClr val="FF0000"/>
                </a:solidFill>
              </a:rPr>
              <a:t>Always-Up 基準（0.736）</a:t>
            </a:r>
            <a:r>
              <a:rPr lang="zh-TW" altLang="en-US" sz="2000" dirty="0">
                <a:solidFill>
                  <a:srgbClr val="FF0000"/>
                </a:solidFill>
              </a:rPr>
              <a:t>為什麼要寫這個</a:t>
            </a:r>
            <a:br>
              <a:rPr lang="en-US" altLang="zh-TW" sz="2000" dirty="0">
                <a:solidFill>
                  <a:srgbClr val="FF0000"/>
                </a:solidFill>
              </a:rPr>
            </a:br>
            <a:r>
              <a:rPr lang="en-US" altLang="zh-TW" sz="2000" dirty="0">
                <a:solidFill>
                  <a:srgbClr val="FF0000"/>
                </a:solidFill>
              </a:rPr>
              <a:t>F1</a:t>
            </a:r>
            <a:r>
              <a:rPr lang="zh-TW" altLang="en-US" sz="2000" dirty="0">
                <a:solidFill>
                  <a:srgbClr val="FF0000"/>
                </a:solidFill>
              </a:rPr>
              <a:t>隨機森林為什麼這麼爛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775541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40.07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4691373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0.89%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1.07%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 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 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5015359"/>
            <a:ext cx="5760363" cy="923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</a:t>
            </a:r>
            <a:r>
              <a:rPr lang="zh-TW" altLang="en-US" dirty="0"/>
              <a:t>綠線</a:t>
            </a:r>
            <a:r>
              <a:rPr lang="en-US" altLang="zh-TW" dirty="0"/>
              <a:t>(ARIMA)</a:t>
            </a:r>
            <a:r>
              <a:rPr lang="zh-TW" altLang="en-US" dirty="0"/>
              <a:t>幾乎貼合實際值；</a:t>
            </a:r>
            <a:endParaRPr lang="en-US" altLang="zh-TW" dirty="0"/>
          </a:p>
          <a:p>
            <a:r>
              <a:rPr lang="zh-TW" altLang="en-US" dirty="0"/>
              <a:t>橘線</a:t>
            </a:r>
            <a:r>
              <a:rPr lang="en-US" altLang="zh-TW" dirty="0"/>
              <a:t>(Random Forest)</a:t>
            </a:r>
            <a:r>
              <a:rPr lang="zh-TW" altLang="en-US" dirty="0"/>
              <a:t>無法外推、預測躺平；</a:t>
            </a:r>
            <a:endParaRPr lang="en-US" altLang="zh-TW" dirty="0"/>
          </a:p>
          <a:p>
            <a:r>
              <a:rPr lang="zh-TW" altLang="en-US" dirty="0"/>
              <a:t>藍線</a:t>
            </a:r>
            <a:r>
              <a:rPr lang="en-US" altLang="zh-TW" dirty="0"/>
              <a:t>(LSTM)</a:t>
            </a:r>
            <a:r>
              <a:rPr lang="zh-TW" altLang="en-US" dirty="0"/>
              <a:t>能跟上趨勢但略有落差。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BADD2AB-E7A5-120A-EB06-68CD8A6C9115}"/>
              </a:ext>
            </a:extLst>
          </p:cNvPr>
          <p:cNvSpPr txBox="1"/>
          <p:nvPr/>
        </p:nvSpPr>
        <p:spPr>
          <a:xfrm>
            <a:off x="5593437" y="979561"/>
            <a:ext cx="30823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</a:rPr>
              <a:t>為什麼隨機森林那麼爛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</a:t>
            </a:r>
            <a:r>
              <a:rPr lang="zh-TW" altLang="en-US" sz="2000" b="1" dirty="0"/>
              <a:t>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zh-TW" altLang="en-US" sz="2000" b="1" dirty="0"/>
              <a:t>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</a:t>
            </a:r>
            <a:r>
              <a:rPr lang="zh-TW" altLang="en-US" sz="2000" b="1" dirty="0"/>
              <a:t>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441960" y="4922520"/>
            <a:ext cx="5082540" cy="958215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571500" y="4959250"/>
            <a:ext cx="4953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本平台整合預測結果與 </a:t>
            </a:r>
            <a:r>
              <a:rPr lang="en-US" altLang="zh-TW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摘要，介面輕量、一般設備即可順暢執行，適合作為教學示範與個人投資研究的輔助參考工具。</a:t>
            </a:r>
            <a:endParaRPr sz="1800" dirty="0"/>
          </a:p>
        </p:txBody>
      </p:sp>
      <p:sp>
        <p:nvSpPr>
          <p:cNvPr id="358" name="Google Shape;358;p29"/>
          <p:cNvSpPr txBox="1"/>
          <p:nvPr/>
        </p:nvSpPr>
        <p:spPr>
          <a:xfrm>
            <a:off x="1047750" y="3063775"/>
            <a:ext cx="4476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Streamlit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+ Plotly + SQLite</a:t>
            </a:r>
            <a:endParaRPr sz="1800" dirty="0"/>
          </a:p>
        </p:txBody>
      </p:sp>
      <p:sp>
        <p:nvSpPr>
          <p:cNvPr id="359" name="Google Shape;359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 txBox="1"/>
          <p:nvPr/>
        </p:nvSpPr>
        <p:spPr>
          <a:xfrm>
            <a:off x="1047750" y="3644413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GPT-3.5 / Gemini API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即時風險摘要</a:t>
            </a:r>
            <a:endParaRPr sz="1800" dirty="0"/>
          </a:p>
        </p:txBody>
      </p:sp>
      <p:sp>
        <p:nvSpPr>
          <p:cNvPr id="361" name="Google Shape;361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1047750" y="4225438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平均延遲：</a:t>
            </a:r>
            <a:r>
              <a:rPr lang="en-US" sz="18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840 毫秒</a:t>
            </a:r>
            <a:endParaRPr sz="1800"/>
          </a:p>
        </p:txBody>
      </p:sp>
      <p:sp>
        <p:nvSpPr>
          <p:cNvPr id="363" name="Google Shape;363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7" name="Google Shape;367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09235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6861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平台實作</a:t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92D2DF1-8899-CD1A-2145-6E63CFC27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425" y="510072"/>
            <a:ext cx="6407288" cy="596465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2042159" y="5091753"/>
            <a:ext cx="8077201" cy="1432560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43999"/>
            <a:ext cx="5334000" cy="2858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043999"/>
            <a:ext cx="5334000" cy="285837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866775" y="233892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分類任務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（預測漲跌方向）</a:t>
            </a:r>
            <a:endParaRPr sz="2400" dirty="0"/>
          </a:p>
        </p:txBody>
      </p:sp>
      <p:sp>
        <p:nvSpPr>
          <p:cNvPr id="380" name="Google Shape;380;p30"/>
          <p:cNvSpPr txBox="1"/>
          <p:nvPr/>
        </p:nvSpPr>
        <p:spPr>
          <a:xfrm>
            <a:off x="866775" y="2879292"/>
            <a:ext cx="474345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預測次日「上漲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/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下跌」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最佳：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RF 0.732 /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單層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 0.694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但各模型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F1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多貼近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Always-Up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基準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高分主要來自多頭期間的市場偏態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LLM(GPT-3.5) F1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僅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方向看似可分，實則貼近基準</a:t>
            </a:r>
            <a:endParaRPr sz="1800" b="1" dirty="0">
              <a:solidFill>
                <a:srgbClr val="FF0000"/>
              </a:solidFill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6581775" y="2343239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迴歸任務（預測收盤價）</a:t>
            </a:r>
            <a:endParaRPr sz="2400" dirty="0"/>
          </a:p>
        </p:txBody>
      </p:sp>
      <p:sp>
        <p:nvSpPr>
          <p:cNvPr id="382" name="Google Shape;382;p30"/>
          <p:cNvSpPr txBox="1"/>
          <p:nvPr/>
        </p:nvSpPr>
        <p:spPr>
          <a:xfrm>
            <a:off x="6581774" y="2879292"/>
            <a:ext cx="5038725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預測次日「收盤價」數值</a:t>
            </a:r>
            <a:endParaRPr lang="en-US" altLang="zh-TW" sz="18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(MAPE &lt;1.1%)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排序：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 &lt; LSTM &lt;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集成模型 </a:t>
            </a: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??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什麼意思</a:t>
            </a:r>
            <a:endParaRPr lang="en-US" altLang="zh-TW" sz="1800" b="1" dirty="0">
              <a:solidFill>
                <a:srgbClr val="FF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集成模型無法外推、誤差最大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- LLM(GPT-4o-mini)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三市場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R²≈0.80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數值可預測，但複雜模型未必較佳</a:t>
            </a:r>
            <a:endParaRPr sz="1800" b="1" dirty="0">
              <a:solidFill>
                <a:srgbClr val="FF0000"/>
              </a:solidFill>
            </a:endParaRPr>
          </a:p>
        </p:txBody>
      </p:sp>
      <p:sp>
        <p:nvSpPr>
          <p:cNvPr id="383" name="Google Shape;383;p30"/>
          <p:cNvSpPr txBox="1"/>
          <p:nvPr/>
        </p:nvSpPr>
        <p:spPr>
          <a:xfrm>
            <a:off x="840582" y="963495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分類與迴歸之抉擇</a:t>
            </a:r>
            <a:endParaRPr dirty="0"/>
          </a:p>
        </p:txBody>
      </p:sp>
      <p:sp>
        <p:nvSpPr>
          <p:cNvPr id="384" name="Google Shape;384;p3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270760" y="5175935"/>
            <a:ext cx="8854439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2000" b="1" dirty="0">
                <a:solidFill>
                  <a:srgbClr val="FFC000"/>
                </a:solidFill>
              </a:rPr>
              <a:t>三大關鍵發現 </a:t>
            </a:r>
            <a:endParaRPr lang="en-US" altLang="zh-TW" sz="2000" b="1" dirty="0">
              <a:solidFill>
                <a:srgbClr val="FFC000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無單一冠軍：不同市場、不同任務，最佳模型各異 </a:t>
            </a:r>
            <a:r>
              <a:rPr lang="zh-TW" altLang="en-US" sz="1800" dirty="0">
                <a:solidFill>
                  <a:schemeClr val="bg1"/>
                </a:solidFill>
              </a:rPr>
              <a:t>  </a:t>
            </a:r>
            <a:r>
              <a:rPr lang="en-US" altLang="zh-TW" sz="1800" dirty="0">
                <a:solidFill>
                  <a:srgbClr val="FF0000"/>
                </a:solidFill>
                <a:sym typeface="Wingdings" panose="05000000000000000000" pitchFamily="2" charset="2"/>
              </a:rPr>
              <a:t></a:t>
            </a:r>
            <a:r>
              <a:rPr lang="zh-TW" altLang="en-US" sz="1800" dirty="0">
                <a:solidFill>
                  <a:srgbClr val="FF0000"/>
                </a:solidFill>
              </a:rPr>
              <a:t>要有答案 結果什麼市場什麼最好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價格 R² 高但輸基準：次日走勢難預測，分類與</a:t>
            </a:r>
            <a:endParaRPr lang="en-US" altLang="zh-TW" sz="1800" dirty="0">
              <a:solidFill>
                <a:schemeClr val="bg1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 LLM 為輔助 LLM 定位：適合作為「解釋型」輔助，而非純算力引擎</a:t>
            </a:r>
            <a:endParaRPr sz="1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97881"/>
            <a:ext cx="5334000" cy="3545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097881"/>
            <a:ext cx="5334000" cy="3545533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5" y="6147619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866775" y="2393156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4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6581775" y="2393156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40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571500" y="3043298"/>
            <a:ext cx="5334000" cy="1374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建立跨市場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(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台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/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美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預測基準比較。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揭示台股受國際連動影響之預測難點。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實作 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LLM 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輔助開源平台。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6286500" y="2937168"/>
            <a:ext cx="5275897" cy="22605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導入新聞情緒與總經指標分析。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開發 </a:t>
            </a:r>
            <a:r>
              <a:rPr lang="en-US" altLang="zh-TW" b="1" dirty="0">
                <a:solidFill>
                  <a:srgbClr val="FF0000"/>
                </a:solidFill>
                <a:latin typeface="DM Sans"/>
              </a:rPr>
              <a:t>LSTM-ARIMA </a:t>
            </a:r>
            <a:r>
              <a:rPr lang="zh-TW" altLang="en-US" b="1" dirty="0">
                <a:solidFill>
                  <a:srgbClr val="FF0000"/>
                </a:solidFill>
                <a:latin typeface="DM Sans"/>
              </a:rPr>
              <a:t>混合模型</a:t>
            </a:r>
            <a:r>
              <a:rPr lang="en-US" altLang="zh-TW" b="1" dirty="0">
                <a:solidFill>
                  <a:srgbClr val="FF0000"/>
                </a:solidFill>
                <a:latin typeface="DM Sans"/>
              </a:rPr>
              <a:t>????</a:t>
            </a:r>
            <a:r>
              <a:rPr lang="zh-TW" altLang="en-US" dirty="0">
                <a:latin typeface="DM Sans"/>
              </a:rPr>
              <a:t>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進行正式使用者 </a:t>
            </a:r>
            <a:r>
              <a:rPr lang="en-US" altLang="zh-TW" b="1" dirty="0">
                <a:solidFill>
                  <a:srgbClr val="FF0000"/>
                </a:solidFill>
                <a:latin typeface="DM Sans"/>
              </a:rPr>
              <a:t>SUS </a:t>
            </a:r>
            <a:r>
              <a:rPr lang="zh-TW" altLang="en-US" b="1" dirty="0">
                <a:solidFill>
                  <a:srgbClr val="FF0000"/>
                </a:solidFill>
                <a:latin typeface="DM Sans"/>
              </a:rPr>
              <a:t>量表研究</a:t>
            </a:r>
            <a:r>
              <a:rPr lang="en-US" altLang="zh-TW" b="1" dirty="0">
                <a:solidFill>
                  <a:srgbClr val="FF0000"/>
                </a:solidFill>
                <a:latin typeface="DM Sans"/>
              </a:rPr>
              <a:t>????</a:t>
            </a:r>
            <a:r>
              <a:rPr lang="zh-TW" altLang="en-US" b="1" dirty="0">
                <a:solidFill>
                  <a:srgbClr val="FF0000"/>
                </a:solidFill>
                <a:latin typeface="DM Sans"/>
              </a:rPr>
              <a:t>。</a:t>
            </a:r>
            <a:endParaRPr lang="en-US" altLang="zh-TW" b="1" dirty="0">
              <a:solidFill>
                <a:srgbClr val="FF0000"/>
              </a:solidFill>
              <a:latin typeface="DM Sans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dirty="0">
                <a:latin typeface="DM Sans"/>
              </a:rPr>
              <a:t>擴大 LLM 迴歸樣本至完整測試集 </a:t>
            </a:r>
            <a:endParaRPr lang="en-US" altLang="zh-TW" dirty="0">
              <a:latin typeface="DM Sans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dirty="0">
                <a:latin typeface="DM Sans"/>
              </a:rPr>
              <a:t>比較多種 LLM（Gemini、Llama、Gemma）</a:t>
            </a:r>
            <a:endParaRPr lang="zh-TW" altLang="en-US" dirty="0">
              <a:latin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1780</TotalTime>
  <Words>6674</Words>
  <Application>Microsoft Office PowerPoint</Application>
  <PresentationFormat>寬螢幕</PresentationFormat>
  <Paragraphs>454</Paragraphs>
  <Slides>35</Slides>
  <Notes>35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2" baseType="lpstr">
      <vt:lpstr>DM Sans</vt:lpstr>
      <vt:lpstr>Arial</vt:lpstr>
      <vt:lpstr>Calibri</vt:lpstr>
      <vt:lpstr>Amasis MT Pro Medium</vt:lpstr>
      <vt:lpstr>Merriweather</vt:lpstr>
      <vt:lpstr>Wingdings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186</cp:revision>
  <dcterms:modified xsi:type="dcterms:W3CDTF">2026-06-11T07:56:30Z</dcterms:modified>
</cp:coreProperties>
</file>