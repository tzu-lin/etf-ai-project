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typeface="Cambria Math" panose="02040503050406030204" pitchFamily="18" charset="0"/>
      <p:regular r:id="rId24"/>
    </p:embeddedFont>
    <p:embeddedFont>
      <p:font typeface="DM Sans" pitchFamily="2" charset="0"/>
      <p:regular r:id="rId25"/>
      <p:bold r:id="rId26"/>
      <p:italic r:id="rId27"/>
      <p:boldItalic r:id="rId28"/>
    </p:embeddedFont>
    <p:embeddedFont>
      <p:font typeface="DM Sans Medium" pitchFamily="2" charset="0"/>
      <p:regular r:id="rId29"/>
      <p:bold r:id="rId30"/>
      <p:italic r:id="rId31"/>
      <p:boldItalic r:id="rId32"/>
    </p:embeddedFont>
    <p:embeddedFont>
      <p:font typeface="Merriweather" panose="00000500000000000000" pitchFamily="2" charset="0"/>
      <p:regular r:id="rId33"/>
      <p:bold r:id="rId34"/>
      <p:italic r:id="rId35"/>
      <p:boldItalic r:id="rId3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63394A8-6561-4F67-BD20-A1EB724447CB}">
  <a:tblStyle styleId="{C63394A8-6561-4F67-BD20-A1EB724447CB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125E5076-3810-47DD-B79F-674D7AD40C01}" styleName="深色樣式 1 - 輔色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-648" y="259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1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font" Target="fonts/font10.fntdata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36" Type="http://schemas.openxmlformats.org/officeDocument/2006/relationships/font" Target="fonts/font1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font" Target="fonts/font12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2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台美市場連動緊密，但缺乏直觀同步預測工具</a:t>
            </a:r>
            <a:endParaRPr lang="zh-TW" altLang="en-US" sz="12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跨市場數據處理複雜度高，一般投資者難以負擔</a:t>
            </a:r>
            <a:endParaRPr lang="zh-TW" altLang="en-US" dirty="0"/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TW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1" name="Google Shape;12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" name="Google Shape;14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" name="Google Shape;28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03" name="Google Shape;30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4" name="Google Shape;374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7" name="Google Shape;38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0" name="Google Shape;430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14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1315402" y="1571922"/>
            <a:ext cx="9561195" cy="1360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 dirty="0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LLM-ETF：</a:t>
            </a:r>
          </a:p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 err="1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基於大語言模型輔助之跨市場</a:t>
            </a:r>
            <a:r>
              <a:rPr lang="en-US" sz="2800" b="1" i="0" u="none" strike="noStrike" cap="none" dirty="0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 ETF </a:t>
            </a:r>
            <a:r>
              <a:rPr lang="en-US" sz="2800" b="1" i="0" u="none" strike="noStrike" cap="none" dirty="0" err="1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趨勢預測與模型比較研究</a:t>
            </a:r>
            <a:endParaRPr sz="2800" dirty="0"/>
          </a:p>
        </p:txBody>
      </p:sp>
      <p:sp>
        <p:nvSpPr>
          <p:cNvPr id="86" name="Google Shape;86;p13"/>
          <p:cNvSpPr txBox="1"/>
          <p:nvPr/>
        </p:nvSpPr>
        <p:spPr>
          <a:xfrm>
            <a:off x="0" y="3465314"/>
            <a:ext cx="1219200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D4AF37"/>
                </a:solidFill>
                <a:latin typeface="DM Sans"/>
                <a:ea typeface="DM Sans"/>
                <a:cs typeface="DM Sans"/>
                <a:sym typeface="DM Sans"/>
              </a:rPr>
              <a:t>Graduate School of Information Engineering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D4AF37"/>
                </a:solidFill>
                <a:latin typeface="DM Sans"/>
                <a:ea typeface="DM Sans"/>
                <a:cs typeface="DM Sans"/>
                <a:sym typeface="DM Sans"/>
              </a:rPr>
              <a:t>Kun Shan University</a:t>
            </a:r>
          </a:p>
        </p:txBody>
      </p:sp>
      <p:sp>
        <p:nvSpPr>
          <p:cNvPr id="87" name="Google Shape;87;p13"/>
          <p:cNvSpPr txBox="1"/>
          <p:nvPr/>
        </p:nvSpPr>
        <p:spPr>
          <a:xfrm>
            <a:off x="-1" y="4644665"/>
            <a:ext cx="12192000" cy="1900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研究生：林子瑜		 </a:t>
            </a:r>
            <a:r>
              <a:rPr 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Tzu-Yu Lin</a:t>
            </a:r>
          </a:p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指導教授：李冠榮	副教授　　　　</a:t>
            </a:r>
            <a:r>
              <a:rPr 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Kuan-Rong Lee</a:t>
            </a:r>
          </a:p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50" dirty="0">
                <a:solidFill>
                  <a:srgbClr val="F3F0DF"/>
                </a:solidFill>
                <a:latin typeface="DM Sans"/>
                <a:ea typeface="Calibri"/>
                <a:cs typeface="Calibri"/>
                <a:sym typeface="DM Sans"/>
              </a:rPr>
              <a:t>JUN , 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875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96250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875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96250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119312" y="2316063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4"/>
          <p:cNvSpPr txBox="1"/>
          <p:nvPr/>
        </p:nvSpPr>
        <p:spPr>
          <a:xfrm>
            <a:off x="783431" y="30494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前言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857250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背景、動機與研究問題</a:t>
            </a:r>
            <a:endParaRPr/>
          </a:p>
        </p:txBody>
      </p:sp>
      <p:pic>
        <p:nvPicPr>
          <p:cNvPr id="102" name="Google Shape;102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05500" y="2316063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4"/>
          <p:cNvSpPr txBox="1"/>
          <p:nvPr/>
        </p:nvSpPr>
        <p:spPr>
          <a:xfrm>
            <a:off x="4545806" y="30494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分析主題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4619625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分類問題與迴歸問題</a:t>
            </a:r>
            <a:endParaRPr dirty="0"/>
          </a:p>
        </p:txBody>
      </p:sp>
      <p:pic>
        <p:nvPicPr>
          <p:cNvPr id="105" name="Google Shape;105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667875" y="2316063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4"/>
          <p:cNvSpPr txBox="1"/>
          <p:nvPr/>
        </p:nvSpPr>
        <p:spPr>
          <a:xfrm>
            <a:off x="8308181" y="30494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模型介紹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8382000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跨世代模型架構分析</a:t>
            </a:r>
            <a:endParaRPr dirty="0"/>
          </a:p>
        </p:txBody>
      </p:sp>
      <p:pic>
        <p:nvPicPr>
          <p:cNvPr id="108" name="Google Shape;108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95500" y="4449663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783431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研究流程</a:t>
            </a:r>
            <a:endParaRPr/>
          </a:p>
        </p:txBody>
      </p:sp>
      <p:sp>
        <p:nvSpPr>
          <p:cNvPr id="110" name="Google Shape;110;p14"/>
          <p:cNvSpPr txBox="1"/>
          <p:nvPr/>
        </p:nvSpPr>
        <p:spPr>
          <a:xfrm>
            <a:off x="857250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數據處理與實驗設計</a:t>
            </a:r>
            <a:endParaRPr/>
          </a:p>
        </p:txBody>
      </p:sp>
      <p:pic>
        <p:nvPicPr>
          <p:cNvPr id="111" name="Google Shape;111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929312" y="4449663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4"/>
          <p:cNvSpPr txBox="1"/>
          <p:nvPr/>
        </p:nvSpPr>
        <p:spPr>
          <a:xfrm>
            <a:off x="4545806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實驗結果</a:t>
            </a:r>
            <a:endParaRPr/>
          </a:p>
        </p:txBody>
      </p:sp>
      <p:sp>
        <p:nvSpPr>
          <p:cNvPr id="113" name="Google Shape;113;p14"/>
          <p:cNvSpPr txBox="1"/>
          <p:nvPr/>
        </p:nvSpPr>
        <p:spPr>
          <a:xfrm>
            <a:off x="4619625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跨市場表現評估指標</a:t>
            </a:r>
            <a:endParaRPr/>
          </a:p>
        </p:txBody>
      </p:sp>
      <p:pic>
        <p:nvPicPr>
          <p:cNvPr id="114" name="Google Shape;114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91687" y="4449663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4"/>
          <p:cNvSpPr txBox="1"/>
          <p:nvPr/>
        </p:nvSpPr>
        <p:spPr>
          <a:xfrm>
            <a:off x="8308181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結論</a:t>
            </a:r>
            <a:endParaRPr/>
          </a:p>
        </p:txBody>
      </p:sp>
      <p:sp>
        <p:nvSpPr>
          <p:cNvPr id="116" name="Google Shape;116;p14"/>
          <p:cNvSpPr txBox="1"/>
          <p:nvPr/>
        </p:nvSpPr>
        <p:spPr>
          <a:xfrm>
            <a:off x="8382000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關鍵發現與未來方向</a:t>
            </a:r>
            <a:endParaRPr dirty="0"/>
          </a:p>
        </p:txBody>
      </p:sp>
      <p:sp>
        <p:nvSpPr>
          <p:cNvPr id="117" name="Google Shape;117;p14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簡報大綱 Agenda</a:t>
            </a:r>
            <a:endParaRPr/>
          </a:p>
        </p:txBody>
      </p:sp>
      <p:sp>
        <p:nvSpPr>
          <p:cNvPr id="118" name="Google Shape;118;p14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35327"/>
            <a:ext cx="4334870" cy="17739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983711"/>
            <a:ext cx="4334870" cy="1929615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5"/>
          <p:cNvSpPr txBox="1"/>
          <p:nvPr/>
        </p:nvSpPr>
        <p:spPr>
          <a:xfrm>
            <a:off x="866775" y="2330601"/>
            <a:ext cx="4980622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資訊不對稱</a:t>
            </a:r>
            <a:endParaRPr dirty="0"/>
          </a:p>
        </p:txBody>
      </p:sp>
      <p:sp>
        <p:nvSpPr>
          <p:cNvPr id="127" name="Google Shape;127;p15"/>
          <p:cNvSpPr txBox="1"/>
          <p:nvPr/>
        </p:nvSpPr>
        <p:spPr>
          <a:xfrm>
            <a:off x="866775" y="4283467"/>
            <a:ext cx="4980622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AI </a:t>
            </a:r>
            <a:r>
              <a:rPr lang="en-US" sz="195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潛力</a:t>
            </a:r>
            <a:endParaRPr dirty="0"/>
          </a:p>
        </p:txBody>
      </p:sp>
      <p:sp>
        <p:nvSpPr>
          <p:cNvPr id="136" name="Google Shape;136;p15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研究背景與動機</a:t>
            </a:r>
            <a:endParaRPr dirty="0"/>
          </a:p>
        </p:txBody>
      </p:sp>
      <p:sp>
        <p:nvSpPr>
          <p:cNvPr id="137" name="Google Shape;137;p15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29;p15">
            <a:extLst>
              <a:ext uri="{FF2B5EF4-FFF2-40B4-BE49-F238E27FC236}">
                <a16:creationId xmlns:a16="http://schemas.microsoft.com/office/drawing/2014/main" id="{65B060A5-54F5-3C86-B612-950BF19D0DA0}"/>
              </a:ext>
            </a:extLst>
          </p:cNvPr>
          <p:cNvSpPr txBox="1"/>
          <p:nvPr/>
        </p:nvSpPr>
        <p:spPr>
          <a:xfrm>
            <a:off x="809625" y="4793514"/>
            <a:ext cx="3194501" cy="7140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深度學習模型「黑箱」問題</a:t>
            </a: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 </a:t>
            </a:r>
            <a:r>
              <a:rPr lang="zh-TW" altLang="en-US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具可解釋性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5E6E3EEA-9ED6-CB95-60E9-A8F4B33BD9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3104" y="2035327"/>
            <a:ext cx="6682895" cy="3319798"/>
          </a:xfrm>
          <a:prstGeom prst="rect">
            <a:avLst/>
          </a:prstGeom>
        </p:spPr>
      </p:pic>
      <p:sp>
        <p:nvSpPr>
          <p:cNvPr id="6" name="Google Shape;129;p15">
            <a:extLst>
              <a:ext uri="{FF2B5EF4-FFF2-40B4-BE49-F238E27FC236}">
                <a16:creationId xmlns:a16="http://schemas.microsoft.com/office/drawing/2014/main" id="{60DCBED5-8FB8-058F-637C-3D539110F25A}"/>
              </a:ext>
            </a:extLst>
          </p:cNvPr>
          <p:cNvSpPr txBox="1"/>
          <p:nvPr/>
        </p:nvSpPr>
        <p:spPr>
          <a:xfrm>
            <a:off x="866775" y="2805111"/>
            <a:ext cx="3245566" cy="1058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缺乏直觀同步預測工具</a:t>
            </a:r>
            <a:endParaRPr lang="en-US" sz="15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跨市場數據處理複雜度高</a:t>
            </a:r>
            <a:endParaRPr lang="zh-TW" altLang="en-US" dirty="0"/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377975"/>
            <a:ext cx="3200400" cy="333375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6"/>
          <p:cNvSpPr txBox="1"/>
          <p:nvPr/>
        </p:nvSpPr>
        <p:spPr>
          <a:xfrm>
            <a:off x="4914900" y="2923221"/>
            <a:ext cx="7086600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效能比較：探討統計、ML、DL</a:t>
            </a:r>
            <a:r>
              <a:rPr lang="en-US" sz="20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與 LLM 在 ETF </a:t>
            </a:r>
            <a:r>
              <a:rPr lang="en-US" sz="20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預測之優劣</a:t>
            </a:r>
            <a:endParaRPr sz="2000" dirty="0"/>
          </a:p>
        </p:txBody>
      </p:sp>
      <p:sp>
        <p:nvSpPr>
          <p:cNvPr id="145" name="Google Shape;145;p16"/>
          <p:cNvSpPr/>
          <p:nvPr/>
        </p:nvSpPr>
        <p:spPr>
          <a:xfrm>
            <a:off x="4438650" y="3475136"/>
            <a:ext cx="68961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6"/>
          <p:cNvSpPr txBox="1"/>
          <p:nvPr/>
        </p:nvSpPr>
        <p:spPr>
          <a:xfrm>
            <a:off x="4914900" y="3553657"/>
            <a:ext cx="7086600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市場差異：分析台股</a:t>
            </a:r>
            <a:r>
              <a:rPr lang="en-US" sz="20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(0050)</a:t>
            </a:r>
            <a:r>
              <a:rPr lang="en-US" sz="20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與美股</a:t>
            </a:r>
            <a:r>
              <a:rPr lang="en-US" sz="20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(SPY/QQQ)</a:t>
            </a:r>
            <a:r>
              <a:rPr lang="en-US" sz="20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之預測難度差異</a:t>
            </a:r>
            <a:endParaRPr sz="2000" dirty="0"/>
          </a:p>
        </p:txBody>
      </p:sp>
      <p:sp>
        <p:nvSpPr>
          <p:cNvPr id="147" name="Google Shape;147;p16"/>
          <p:cNvSpPr/>
          <p:nvPr/>
        </p:nvSpPr>
        <p:spPr>
          <a:xfrm>
            <a:off x="4438650" y="4105572"/>
            <a:ext cx="68961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6"/>
          <p:cNvSpPr txBox="1"/>
          <p:nvPr/>
        </p:nvSpPr>
        <p:spPr>
          <a:xfrm>
            <a:off x="4914900" y="4184093"/>
            <a:ext cx="7086600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實作應用：建構</a:t>
            </a:r>
            <a:r>
              <a:rPr lang="en-US" sz="20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LLM </a:t>
            </a:r>
            <a:r>
              <a:rPr lang="en-US" sz="20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輔助視覺化平台，提升預測可解釋性</a:t>
            </a:r>
            <a:endParaRPr sz="2000" dirty="0"/>
          </a:p>
        </p:txBody>
      </p:sp>
      <p:sp>
        <p:nvSpPr>
          <p:cNvPr id="149" name="Google Shape;149;p16"/>
          <p:cNvSpPr/>
          <p:nvPr/>
        </p:nvSpPr>
        <p:spPr>
          <a:xfrm>
            <a:off x="4438650" y="4736008"/>
            <a:ext cx="68961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6"/>
          <p:cNvSpPr/>
          <p:nvPr/>
        </p:nvSpPr>
        <p:spPr>
          <a:xfrm>
            <a:off x="4438650" y="3475136"/>
            <a:ext cx="68961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6"/>
          <p:cNvSpPr/>
          <p:nvPr/>
        </p:nvSpPr>
        <p:spPr>
          <a:xfrm>
            <a:off x="4438650" y="4105572"/>
            <a:ext cx="68961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6"/>
          <p:cNvSpPr/>
          <p:nvPr/>
        </p:nvSpPr>
        <p:spPr>
          <a:xfrm>
            <a:off x="4438650" y="4736008"/>
            <a:ext cx="68961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3" name="Google Shape;153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38650" y="3055143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38650" y="3685579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38650" y="4316015"/>
            <a:ext cx="209550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研究目的與問題</a:t>
            </a:r>
            <a:endParaRPr/>
          </a:p>
        </p:txBody>
      </p:sp>
      <p:sp>
        <p:nvSpPr>
          <p:cNvPr id="157" name="Google Shape;157;p16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9624" y="3795890"/>
            <a:ext cx="4051935" cy="1128891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7"/>
          <p:cNvSpPr txBox="1"/>
          <p:nvPr/>
        </p:nvSpPr>
        <p:spPr>
          <a:xfrm>
            <a:off x="590550" y="2354460"/>
            <a:ext cx="56007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目標與任務</a:t>
            </a:r>
            <a:endParaRPr sz="2400" dirty="0"/>
          </a:p>
        </p:txBody>
      </p:sp>
      <p:sp>
        <p:nvSpPr>
          <p:cNvPr id="165" name="Google Shape;165;p17"/>
          <p:cNvSpPr txBox="1"/>
          <p:nvPr/>
        </p:nvSpPr>
        <p:spPr>
          <a:xfrm>
            <a:off x="571500" y="2896492"/>
            <a:ext cx="53340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預測次日收盤價相對於當日是「上漲」或「下跌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」，</a:t>
            </a: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定義為</a:t>
            </a:r>
            <a:r>
              <a:rPr lang="en-US" sz="1800" b="1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二元分類任務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pic>
        <p:nvPicPr>
          <p:cNvPr id="168" name="Google Shape;168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0125" y="3938765"/>
            <a:ext cx="3653920" cy="75049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7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分析主題：分類問題 (Classification)</a:t>
            </a:r>
            <a:endParaRPr/>
          </a:p>
        </p:txBody>
      </p:sp>
      <p:sp>
        <p:nvSpPr>
          <p:cNvPr id="170" name="Google Shape;170;p17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C4606BA-515A-D20B-8E67-BD51C644A1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3407" y="3668549"/>
            <a:ext cx="4817243" cy="204141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1CB251F2-E23F-D6CD-0E9C-E63D1AA065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3407" y="1888824"/>
            <a:ext cx="4817243" cy="157632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8"/>
          <p:cNvSpPr txBox="1"/>
          <p:nvPr/>
        </p:nvSpPr>
        <p:spPr>
          <a:xfrm>
            <a:off x="571500" y="2651968"/>
            <a:ext cx="11049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目標：預測次日收盤價之「連續數值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」，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直接計算投資損益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2000" dirty="0"/>
          </a:p>
        </p:txBody>
      </p:sp>
      <p:sp>
        <p:nvSpPr>
          <p:cNvPr id="190" name="Google Shape;190;p18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分析主題：迴歸問題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(Regression)</a:t>
            </a:r>
            <a:endParaRPr dirty="0"/>
          </a:p>
        </p:txBody>
      </p:sp>
      <p:sp>
        <p:nvSpPr>
          <p:cNvPr id="191" name="Google Shape;191;p18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表格 1">
                <a:extLst>
                  <a:ext uri="{FF2B5EF4-FFF2-40B4-BE49-F238E27FC236}">
                    <a16:creationId xmlns:a16="http://schemas.microsoft.com/office/drawing/2014/main" id="{500B4407-A198-7B43-0ABF-4D6B4CF4F56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79543968"/>
                  </p:ext>
                </p:extLst>
              </p:nvPr>
            </p:nvGraphicFramePr>
            <p:xfrm>
              <a:off x="647700" y="3639846"/>
              <a:ext cx="9373419" cy="2260760"/>
            </p:xfrm>
            <a:graphic>
              <a:graphicData uri="http://schemas.openxmlformats.org/drawingml/2006/table">
                <a:tbl>
                  <a:tblPr firstRow="1" bandRow="1">
                    <a:tableStyleId>{69012ECD-51FC-41F1-AA8D-1B2483CD663E}</a:tableStyleId>
                  </a:tblPr>
                  <a:tblGrid>
                    <a:gridCol w="3124473">
                      <a:extLst>
                        <a:ext uri="{9D8B030D-6E8A-4147-A177-3AD203B41FA5}">
                          <a16:colId xmlns:a16="http://schemas.microsoft.com/office/drawing/2014/main" val="201553602"/>
                        </a:ext>
                      </a:extLst>
                    </a:gridCol>
                    <a:gridCol w="3124473">
                      <a:extLst>
                        <a:ext uri="{9D8B030D-6E8A-4147-A177-3AD203B41FA5}">
                          <a16:colId xmlns:a16="http://schemas.microsoft.com/office/drawing/2014/main" val="1569471700"/>
                        </a:ext>
                      </a:extLst>
                    </a:gridCol>
                    <a:gridCol w="3124473">
                      <a:extLst>
                        <a:ext uri="{9D8B030D-6E8A-4147-A177-3AD203B41FA5}">
                          <a16:colId xmlns:a16="http://schemas.microsoft.com/office/drawing/2014/main" val="2582999260"/>
                        </a:ext>
                      </a:extLst>
                    </a:gridCol>
                  </a:tblGrid>
                  <a:tr h="500968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zh-TW" altLang="en-US">
                              <a:solidFill>
                                <a:srgbClr val="FFFFFF"/>
                              </a:solidFill>
                              <a:effectLst/>
                            </a:rPr>
                            <a:t>指標名稱</a:t>
                          </a:r>
                        </a:p>
                      </a:txBody>
                      <a:tcPr marL="114300" marR="114300" marT="114300" marB="114300" anchor="ctr">
                        <a:solidFill>
                          <a:srgbClr val="00206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zh-TW" altLang="en-US" dirty="0">
                              <a:solidFill>
                                <a:srgbClr val="FFFFFF"/>
                              </a:solidFill>
                              <a:effectLst/>
                            </a:rPr>
                            <a:t>公式說明</a:t>
                          </a:r>
                        </a:p>
                      </a:txBody>
                      <a:tcPr marL="114300" marR="114300" marT="114300" marB="114300" anchor="ctr">
                        <a:solidFill>
                          <a:srgbClr val="00206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zh-TW" altLang="en-US">
                              <a:solidFill>
                                <a:srgbClr val="FFFFFF"/>
                              </a:solidFill>
                              <a:effectLst/>
                            </a:rPr>
                            <a:t>代表意義</a:t>
                          </a:r>
                        </a:p>
                      </a:txBody>
                      <a:tcPr marL="114300" marR="114300" marT="114300" marB="114300" anchor="ctr">
                        <a:solidFill>
                          <a:srgbClr val="00206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8356468"/>
                      </a:ext>
                    </a:extLst>
                  </a:tr>
                  <a:tr h="500968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>
                              <a:solidFill>
                                <a:srgbClr val="1E293B"/>
                              </a:solidFill>
                              <a:effectLst/>
                            </a:rPr>
                            <a:t>MAE / MSE</a:t>
                          </a:r>
                        </a:p>
                      </a:txBody>
                      <a:tcPr marL="114300" marR="114300" marT="114300" marB="11430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ar-AE" altLang="zh-TW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ar-AE" altLang="zh-TW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zh-TW" altLang="ar-AE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den>
                                </m:f>
                                <m:r>
                                  <m:rPr>
                                    <m:sty m:val="p"/>
                                  </m:rPr>
                                  <a:rPr lang="el-GR" altLang="zh-TW" i="0">
                                    <a:latin typeface="Cambria Math" panose="02040503050406030204" pitchFamily="18" charset="0"/>
                                  </a:rPr>
                                  <m:t>Σ</m:t>
                                </m:r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ar-AE" altLang="zh-TW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ar-AE" altLang="zh-TW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ar-AE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zh-TW" altLang="ar-AE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ar-AE" altLang="zh-TW" i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ar-AE" altLang="zh-TW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̂"/>
                                            <m:ctrlPr>
                                              <a:rPr lang="ar-AE" altLang="zh-TW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zh-TW" altLang="ar-AE" i="1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zh-TW" altLang="ar-AE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ar-AE" dirty="0">
                            <a:solidFill>
                              <a:srgbClr val="1E293B"/>
                            </a:solidFill>
                            <a:effectLst/>
                          </a:endParaRPr>
                        </a:p>
                      </a:txBody>
                      <a:tcPr marL="114300" marR="114300" marT="114300" marB="11430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zh-TW" altLang="en-US">
                              <a:solidFill>
                                <a:srgbClr val="1E293B"/>
                              </a:solidFill>
                              <a:effectLst/>
                            </a:rPr>
                            <a:t>數值預測誤差絕對量</a:t>
                          </a:r>
                        </a:p>
                      </a:txBody>
                      <a:tcPr marL="114300" marR="114300" marT="114300" marB="114300" anchor="ctr"/>
                    </a:tc>
                    <a:extLst>
                      <a:ext uri="{0D108BD9-81ED-4DB2-BD59-A6C34878D82A}">
                        <a16:rowId xmlns:a16="http://schemas.microsoft.com/office/drawing/2014/main" val="3580304090"/>
                      </a:ext>
                    </a:extLst>
                  </a:tr>
                  <a:tr h="500968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>
                              <a:solidFill>
                                <a:srgbClr val="1E293B"/>
                              </a:solidFill>
                              <a:effectLst/>
                            </a:rPr>
                            <a:t>RMSE</a:t>
                          </a:r>
                        </a:p>
                      </a:txBody>
                      <a:tcPr marL="114300" marR="114300" marT="114300" marB="11430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ad>
                                  <m:radPr>
                                    <m:degHide m:val="on"/>
                                    <m:ctrlPr>
                                      <a:rPr lang="ar-AE" altLang="zh-TW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altLang="zh-TW" b="0"/>
                                      <m:t>MSE</m:t>
                                    </m:r>
                                  </m:e>
                                </m:rad>
                              </m:oMath>
                            </m:oMathPara>
                          </a14:m>
                          <a:endParaRPr lang="ar-AE" dirty="0">
                            <a:solidFill>
                              <a:srgbClr val="1E293B"/>
                            </a:solidFill>
                            <a:effectLst/>
                          </a:endParaRPr>
                        </a:p>
                      </a:txBody>
                      <a:tcPr marL="114300" marR="114300" marT="114300" marB="11430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zh-TW" altLang="en-US">
                              <a:solidFill>
                                <a:srgbClr val="1E293B"/>
                              </a:solidFill>
                              <a:effectLst/>
                            </a:rPr>
                            <a:t>對極端誤差較敏感的指標</a:t>
                          </a:r>
                        </a:p>
                      </a:txBody>
                      <a:tcPr marL="114300" marR="114300" marT="114300" marB="114300" anchor="ctr"/>
                    </a:tc>
                    <a:extLst>
                      <a:ext uri="{0D108BD9-81ED-4DB2-BD59-A6C34878D82A}">
                        <a16:rowId xmlns:a16="http://schemas.microsoft.com/office/drawing/2014/main" val="641184465"/>
                      </a:ext>
                    </a:extLst>
                  </a:tr>
                  <a:tr h="500968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>
                              <a:solidFill>
                                <a:srgbClr val="1E293B"/>
                              </a:solidFill>
                              <a:effectLst/>
                            </a:rPr>
                            <a:t>R² / Adj. R²</a:t>
                          </a:r>
                        </a:p>
                      </a:txBody>
                      <a:tcPr marL="114300" marR="114300" marT="114300" marB="11430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ar-AE" altLang="zh-TW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ar-AE" altLang="zh-TW" i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ar-AE" altLang="zh-TW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m:rPr>
                                        <m:nor/>
                                      </m:rPr>
                                      <a:rPr lang="en-US" altLang="zh-TW" b="0" i="1">
                                        <a:latin typeface="Cambria Math" panose="02040503050406030204" pitchFamily="18" charset="0"/>
                                      </a:rPr>
                                      <m:t>SSres</m:t>
                                    </m:r>
                                  </m:num>
                                  <m:den>
                                    <m:r>
                                      <m:rPr>
                                        <m:nor/>
                                      </m:rPr>
                                      <a:rPr lang="en-US" altLang="zh-TW" b="0" i="1">
                                        <a:latin typeface="Cambria Math" panose="02040503050406030204" pitchFamily="18" charset="0"/>
                                      </a:rPr>
                                      <m:t>SStot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ar-AE" dirty="0">
                            <a:solidFill>
                              <a:srgbClr val="1E293B"/>
                            </a:solidFill>
                            <a:effectLst/>
                          </a:endParaRPr>
                        </a:p>
                      </a:txBody>
                      <a:tcPr marL="114300" marR="114300" marT="114300" marB="11430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zh-TW" altLang="en-US" dirty="0">
                              <a:solidFill>
                                <a:srgbClr val="1E293B"/>
                              </a:solidFill>
                              <a:effectLst/>
                            </a:rPr>
                            <a:t>模型對變異量的解釋能力</a:t>
                          </a:r>
                        </a:p>
                      </a:txBody>
                      <a:tcPr marL="114300" marR="114300" marT="114300" marB="114300" anchor="ctr"/>
                    </a:tc>
                    <a:extLst>
                      <a:ext uri="{0D108BD9-81ED-4DB2-BD59-A6C34878D82A}">
                        <a16:rowId xmlns:a16="http://schemas.microsoft.com/office/drawing/2014/main" val="362391147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表格 1">
                <a:extLst>
                  <a:ext uri="{FF2B5EF4-FFF2-40B4-BE49-F238E27FC236}">
                    <a16:creationId xmlns:a16="http://schemas.microsoft.com/office/drawing/2014/main" id="{500B4407-A198-7B43-0ABF-4D6B4CF4F56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79543968"/>
                  </p:ext>
                </p:extLst>
              </p:nvPr>
            </p:nvGraphicFramePr>
            <p:xfrm>
              <a:off x="647700" y="3639846"/>
              <a:ext cx="9373419" cy="2260760"/>
            </p:xfrm>
            <a:graphic>
              <a:graphicData uri="http://schemas.openxmlformats.org/drawingml/2006/table">
                <a:tbl>
                  <a:tblPr firstRow="1" bandRow="1">
                    <a:tableStyleId>{69012ECD-51FC-41F1-AA8D-1B2483CD663E}</a:tableStyleId>
                  </a:tblPr>
                  <a:tblGrid>
                    <a:gridCol w="3124473">
                      <a:extLst>
                        <a:ext uri="{9D8B030D-6E8A-4147-A177-3AD203B41FA5}">
                          <a16:colId xmlns:a16="http://schemas.microsoft.com/office/drawing/2014/main" val="201553602"/>
                        </a:ext>
                      </a:extLst>
                    </a:gridCol>
                    <a:gridCol w="3124473">
                      <a:extLst>
                        <a:ext uri="{9D8B030D-6E8A-4147-A177-3AD203B41FA5}">
                          <a16:colId xmlns:a16="http://schemas.microsoft.com/office/drawing/2014/main" val="1569471700"/>
                        </a:ext>
                      </a:extLst>
                    </a:gridCol>
                    <a:gridCol w="3124473">
                      <a:extLst>
                        <a:ext uri="{9D8B030D-6E8A-4147-A177-3AD203B41FA5}">
                          <a16:colId xmlns:a16="http://schemas.microsoft.com/office/drawing/2014/main" val="2582999260"/>
                        </a:ext>
                      </a:extLst>
                    </a:gridCol>
                  </a:tblGrid>
                  <a:tr h="500968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zh-TW" altLang="en-US">
                              <a:solidFill>
                                <a:srgbClr val="FFFFFF"/>
                              </a:solidFill>
                              <a:effectLst/>
                            </a:rPr>
                            <a:t>指標名稱</a:t>
                          </a:r>
                        </a:p>
                      </a:txBody>
                      <a:tcPr marL="114300" marR="114300" marT="114300" marB="114300" anchor="ctr">
                        <a:solidFill>
                          <a:srgbClr val="00206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zh-TW" altLang="en-US" dirty="0">
                              <a:solidFill>
                                <a:srgbClr val="FFFFFF"/>
                              </a:solidFill>
                              <a:effectLst/>
                            </a:rPr>
                            <a:t>公式說明</a:t>
                          </a:r>
                        </a:p>
                      </a:txBody>
                      <a:tcPr marL="114300" marR="114300" marT="114300" marB="114300" anchor="ctr">
                        <a:solidFill>
                          <a:srgbClr val="00206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zh-TW" altLang="en-US">
                              <a:solidFill>
                                <a:srgbClr val="FFFFFF"/>
                              </a:solidFill>
                              <a:effectLst/>
                            </a:rPr>
                            <a:t>代表意義</a:t>
                          </a:r>
                        </a:p>
                      </a:txBody>
                      <a:tcPr marL="114300" marR="114300" marT="114300" marB="114300" anchor="ctr">
                        <a:solidFill>
                          <a:srgbClr val="00206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8356468"/>
                      </a:ext>
                    </a:extLst>
                  </a:tr>
                  <a:tr h="629412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>
                              <a:solidFill>
                                <a:srgbClr val="1E293B"/>
                              </a:solidFill>
                              <a:effectLst/>
                            </a:rPr>
                            <a:t>MAE / MSE</a:t>
                          </a:r>
                        </a:p>
                      </a:txBody>
                      <a:tcPr marL="114300" marR="114300" marT="114300" marB="114300" anchor="ctr"/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114300" marR="114300" marT="114300" marB="114300" anchor="ctr">
                        <a:blipFill>
                          <a:blip r:embed="rId3"/>
                          <a:stretch>
                            <a:fillRect l="-100391" t="-79808" r="-100586" b="-17980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zh-TW" altLang="en-US">
                              <a:solidFill>
                                <a:srgbClr val="1E293B"/>
                              </a:solidFill>
                              <a:effectLst/>
                            </a:rPr>
                            <a:t>數值預測誤差絕對量</a:t>
                          </a:r>
                        </a:p>
                      </a:txBody>
                      <a:tcPr marL="114300" marR="114300" marT="114300" marB="114300" anchor="ctr"/>
                    </a:tc>
                    <a:extLst>
                      <a:ext uri="{0D108BD9-81ED-4DB2-BD59-A6C34878D82A}">
                        <a16:rowId xmlns:a16="http://schemas.microsoft.com/office/drawing/2014/main" val="3580304090"/>
                      </a:ext>
                    </a:extLst>
                  </a:tr>
                  <a:tr h="500968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>
                              <a:solidFill>
                                <a:srgbClr val="1E293B"/>
                              </a:solidFill>
                              <a:effectLst/>
                            </a:rPr>
                            <a:t>RMSE</a:t>
                          </a:r>
                        </a:p>
                      </a:txBody>
                      <a:tcPr marL="114300" marR="114300" marT="114300" marB="114300" anchor="ctr"/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114300" marR="114300" marT="114300" marB="114300" anchor="ctr">
                        <a:blipFill>
                          <a:blip r:embed="rId3"/>
                          <a:stretch>
                            <a:fillRect l="-100391" t="-228049" r="-100586" b="-1280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zh-TW" altLang="en-US">
                              <a:solidFill>
                                <a:srgbClr val="1E293B"/>
                              </a:solidFill>
                              <a:effectLst/>
                            </a:rPr>
                            <a:t>對極端誤差較敏感的指標</a:t>
                          </a:r>
                        </a:p>
                      </a:txBody>
                      <a:tcPr marL="114300" marR="114300" marT="114300" marB="114300" anchor="ctr"/>
                    </a:tc>
                    <a:extLst>
                      <a:ext uri="{0D108BD9-81ED-4DB2-BD59-A6C34878D82A}">
                        <a16:rowId xmlns:a16="http://schemas.microsoft.com/office/drawing/2014/main" val="641184465"/>
                      </a:ext>
                    </a:extLst>
                  </a:tr>
                  <a:tr h="629412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>
                              <a:solidFill>
                                <a:srgbClr val="1E293B"/>
                              </a:solidFill>
                              <a:effectLst/>
                            </a:rPr>
                            <a:t>R² / Adj. R²</a:t>
                          </a:r>
                        </a:p>
                      </a:txBody>
                      <a:tcPr marL="114300" marR="114300" marT="114300" marB="114300" anchor="ctr"/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114300" marR="114300" marT="114300" marB="114300" anchor="ctr">
                        <a:blipFill>
                          <a:blip r:embed="rId3"/>
                          <a:stretch>
                            <a:fillRect l="-100391" t="-261165" r="-100586" b="-19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zh-TW" altLang="en-US" dirty="0">
                              <a:solidFill>
                                <a:srgbClr val="1E293B"/>
                              </a:solidFill>
                              <a:effectLst/>
                            </a:rPr>
                            <a:t>模型對變異量的解釋能力</a:t>
                          </a:r>
                        </a:p>
                      </a:txBody>
                      <a:tcPr marL="114300" marR="114300" marT="114300" marB="114300" anchor="ctr"/>
                    </a:tc>
                    <a:extLst>
                      <a:ext uri="{0D108BD9-81ED-4DB2-BD59-A6C34878D82A}">
                        <a16:rowId xmlns:a16="http://schemas.microsoft.com/office/drawing/2014/main" val="3623911476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19"/>
          <p:cNvSpPr txBox="1"/>
          <p:nvPr/>
        </p:nvSpPr>
        <p:spPr>
          <a:xfrm>
            <a:off x="571500" y="3473350"/>
            <a:ext cx="5219700" cy="1354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P,D,Q</a:t>
            </a:r>
            <a:r>
              <a:rPr lang="en-US" sz="4400" b="1" i="0" u="none" strike="noStrike" cap="none" dirty="0">
                <a:solidFill>
                  <a:srgbClr val="D4AF37"/>
                </a:solidFill>
                <a:latin typeface="DM Sans"/>
                <a:ea typeface="DM Sans"/>
                <a:cs typeface="DM Sans"/>
                <a:sym typeface="DM Sans"/>
              </a:rPr>
              <a:t>(p, d, q)</a:t>
            </a:r>
            <a:endParaRPr sz="600" dirty="0"/>
          </a:p>
        </p:txBody>
      </p:sp>
      <p:sp>
        <p:nvSpPr>
          <p:cNvPr id="198" name="Google Shape;198;p19"/>
          <p:cNvSpPr txBox="1"/>
          <p:nvPr/>
        </p:nvSpPr>
        <p:spPr>
          <a:xfrm>
            <a:off x="5899785" y="2758470"/>
            <a:ext cx="5614035" cy="1846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基準模型 (Baseline)</a:t>
            </a:r>
            <a:b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0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20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捕捉單變數時間序列之線性趨勢與季節性</a:t>
            </a:r>
            <a:r>
              <a:rPr lang="en-US" sz="20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b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0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優點：數學基礎穩固、計算快速。</a:t>
            </a:r>
            <a:b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0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缺點：無法處理複雜非線性關係及多因子連動。</a:t>
            </a:r>
            <a:endParaRPr sz="1600" dirty="0"/>
          </a:p>
        </p:txBody>
      </p:sp>
      <p:sp>
        <p:nvSpPr>
          <p:cNvPr id="199" name="Google Shape;199;p19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統計模型：ARIMA</a:t>
            </a:r>
            <a:endParaRPr/>
          </a:p>
        </p:txBody>
      </p:sp>
      <p:sp>
        <p:nvSpPr>
          <p:cNvPr id="200" name="Google Shape;200;p19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" name="Google Shape;205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7700" y="2804160"/>
            <a:ext cx="3524250" cy="268224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33875" y="2804160"/>
            <a:ext cx="3524250" cy="268224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96250" y="2804160"/>
            <a:ext cx="3524250" cy="268224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166937" y="3282850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0"/>
          <p:cNvSpPr txBox="1"/>
          <p:nvPr/>
        </p:nvSpPr>
        <p:spPr>
          <a:xfrm>
            <a:off x="783431" y="4016275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Random Forest</a:t>
            </a:r>
            <a:endParaRPr sz="2400" dirty="0"/>
          </a:p>
        </p:txBody>
      </p:sp>
      <p:sp>
        <p:nvSpPr>
          <p:cNvPr id="211" name="Google Shape;211;p20"/>
          <p:cNvSpPr txBox="1"/>
          <p:nvPr/>
        </p:nvSpPr>
        <p:spPr>
          <a:xfrm>
            <a:off x="857250" y="4387750"/>
            <a:ext cx="29527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Bagging </a:t>
            </a:r>
            <a:r>
              <a:rPr lang="en-US" sz="1800" b="0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架構，降低變異數，對特徵選擇有高敏感度</a:t>
            </a:r>
            <a:r>
              <a:rPr 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pic>
        <p:nvPicPr>
          <p:cNvPr id="212" name="Google Shape;212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929312" y="3282850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/>
          <p:cNvSpPr txBox="1"/>
          <p:nvPr/>
        </p:nvSpPr>
        <p:spPr>
          <a:xfrm>
            <a:off x="4545806" y="4016275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XGBoost</a:t>
            </a:r>
            <a:endParaRPr sz="2400"/>
          </a:p>
        </p:txBody>
      </p:sp>
      <p:sp>
        <p:nvSpPr>
          <p:cNvPr id="214" name="Google Shape;214;p20"/>
          <p:cNvSpPr txBox="1"/>
          <p:nvPr/>
        </p:nvSpPr>
        <p:spPr>
          <a:xfrm>
            <a:off x="4619625" y="4387750"/>
            <a:ext cx="29527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Boosting 經典模型，速度快且能有效處理稀疏數據。</a:t>
            </a:r>
            <a:endParaRPr sz="1800"/>
          </a:p>
        </p:txBody>
      </p:sp>
      <p:pic>
        <p:nvPicPr>
          <p:cNvPr id="215" name="Google Shape;215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644062" y="3282850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0"/>
          <p:cNvSpPr txBox="1"/>
          <p:nvPr/>
        </p:nvSpPr>
        <p:spPr>
          <a:xfrm>
            <a:off x="8308181" y="4016275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Ada/GBM</a:t>
            </a:r>
            <a:endParaRPr sz="2400"/>
          </a:p>
        </p:txBody>
      </p:sp>
      <p:sp>
        <p:nvSpPr>
          <p:cNvPr id="217" name="Google Shape;217;p20"/>
          <p:cNvSpPr txBox="1"/>
          <p:nvPr/>
        </p:nvSpPr>
        <p:spPr>
          <a:xfrm>
            <a:off x="8382000" y="4387750"/>
            <a:ext cx="29527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迭代修正錯誤樣本，提升弱分類器效能</a:t>
            </a:r>
            <a:r>
              <a:rPr 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sp>
        <p:nvSpPr>
          <p:cNvPr id="218" name="Google Shape;218;p20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機器學習：集成迴歸模型</a:t>
            </a:r>
            <a:endParaRPr/>
          </a:p>
        </p:txBody>
      </p:sp>
      <p:sp>
        <p:nvSpPr>
          <p:cNvPr id="219" name="Google Shape;219;p20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Google Shape;225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27209" y="2006219"/>
            <a:ext cx="6183261" cy="4338225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1"/>
          <p:cNvSpPr txBox="1"/>
          <p:nvPr/>
        </p:nvSpPr>
        <p:spPr>
          <a:xfrm>
            <a:off x="386305" y="2566580"/>
            <a:ext cx="5747795" cy="2462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LSTM </a:t>
            </a:r>
            <a:r>
              <a:rPr lang="en-US" sz="2400" b="1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架構特性</a:t>
            </a:r>
            <a:endParaRPr lang="en-US" sz="2400" b="1" i="0" u="none" strike="noStrike" cap="none" dirty="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404" b="1" dirty="0">
              <a:latin typeface="DM Sans"/>
              <a:sym typeface="DM Sans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/>
              <a:t>透過遺忘門、輸入門與輸出門控制記憶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dirty="0"/>
              <a:t>擅長捕捉金融數據中的長短期依賴關係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800" b="1" dirty="0"/>
              <a:t>端到端學習：</a:t>
            </a:r>
            <a:r>
              <a:rPr lang="zh-TW" altLang="en-US" sz="1800" dirty="0"/>
              <a:t> 神經網路自動提取特徵，不需手動 </a:t>
            </a:r>
            <a:r>
              <a:rPr lang="en-US" altLang="zh-TW" sz="1800" dirty="0"/>
              <a:t>Feature Engineering</a:t>
            </a:r>
            <a:r>
              <a:rPr lang="zh-TW" altLang="en-US" sz="1800" dirty="0"/>
              <a:t>。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dirty="0"/>
          </a:p>
        </p:txBody>
      </p:sp>
      <p:pic>
        <p:nvPicPr>
          <p:cNvPr id="227" name="Google Shape;227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65348" y="2110994"/>
            <a:ext cx="5940347" cy="4027530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21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深度學習：LSTM 神經網路</a:t>
            </a:r>
            <a:endParaRPr/>
          </a:p>
        </p:txBody>
      </p:sp>
      <p:sp>
        <p:nvSpPr>
          <p:cNvPr id="235" name="Google Shape;235;p21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801073"/>
            <a:ext cx="3524250" cy="2685327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875" y="2801073"/>
            <a:ext cx="3524250" cy="2685327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96250" y="2801073"/>
            <a:ext cx="3524250" cy="2685327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2"/>
          <p:cNvSpPr txBox="1"/>
          <p:nvPr/>
        </p:nvSpPr>
        <p:spPr>
          <a:xfrm>
            <a:off x="783431" y="3692425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GPT-4o / 3.5</a:t>
            </a:r>
            <a:endParaRPr sz="2400" dirty="0"/>
          </a:p>
        </p:txBody>
      </p:sp>
      <p:sp>
        <p:nvSpPr>
          <p:cNvPr id="245" name="Google Shape;245;p22"/>
          <p:cNvSpPr txBox="1"/>
          <p:nvPr/>
        </p:nvSpPr>
        <p:spPr>
          <a:xfrm>
            <a:off x="931068" y="4164874"/>
            <a:ext cx="29527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作為主要解釋引擎，提供分類預測邏輯</a:t>
            </a:r>
            <a:r>
              <a:rPr lang="en-US" sz="1800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pic>
        <p:nvPicPr>
          <p:cNvPr id="246" name="Google Shape;246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905500" y="3282850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22"/>
          <p:cNvSpPr txBox="1"/>
          <p:nvPr/>
        </p:nvSpPr>
        <p:spPr>
          <a:xfrm>
            <a:off x="4545806" y="4016275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Gemini / Llama</a:t>
            </a:r>
            <a:endParaRPr sz="2400"/>
          </a:p>
        </p:txBody>
      </p:sp>
      <p:sp>
        <p:nvSpPr>
          <p:cNvPr id="248" name="Google Shape;248;p22"/>
          <p:cNvSpPr txBox="1"/>
          <p:nvPr/>
        </p:nvSpPr>
        <p:spPr>
          <a:xfrm>
            <a:off x="4693443" y="4488724"/>
            <a:ext cx="29527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進行小樣本數值迴歸測試，驗證邏輯推理潛力</a:t>
            </a:r>
            <a:r>
              <a:rPr lang="en-US" sz="1800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pic>
        <p:nvPicPr>
          <p:cNvPr id="249" name="Google Shape;249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667875" y="3282850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22"/>
          <p:cNvSpPr txBox="1"/>
          <p:nvPr/>
        </p:nvSpPr>
        <p:spPr>
          <a:xfrm>
            <a:off x="8308181" y="4016275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Prompt Engineering</a:t>
            </a:r>
            <a:endParaRPr sz="2400"/>
          </a:p>
        </p:txBody>
      </p:sp>
      <p:sp>
        <p:nvSpPr>
          <p:cNvPr id="251" name="Google Shape;251;p22"/>
          <p:cNvSpPr txBox="1"/>
          <p:nvPr/>
        </p:nvSpPr>
        <p:spPr>
          <a:xfrm>
            <a:off x="8455818" y="4488724"/>
            <a:ext cx="29527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技術指標數值轉文字，誘導模型進行零樣本預測</a:t>
            </a:r>
            <a:r>
              <a:rPr lang="en-US" sz="1800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sp>
        <p:nvSpPr>
          <p:cNvPr id="252" name="Google Shape;252;p22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大語言模型 LLM：金融輔助決策</a:t>
            </a:r>
            <a:endParaRPr/>
          </a:p>
        </p:txBody>
      </p:sp>
      <p:sp>
        <p:nvSpPr>
          <p:cNvPr id="253" name="Google Shape;253;p22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23"/>
          <p:cNvSpPr txBox="1"/>
          <p:nvPr/>
        </p:nvSpPr>
        <p:spPr>
          <a:xfrm>
            <a:off x="455381" y="3435519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資料來源</a:t>
            </a:r>
            <a:endParaRPr sz="2400"/>
          </a:p>
        </p:txBody>
      </p:sp>
      <p:sp>
        <p:nvSpPr>
          <p:cNvPr id="260" name="Google Shape;260;p23"/>
          <p:cNvSpPr txBox="1"/>
          <p:nvPr/>
        </p:nvSpPr>
        <p:spPr>
          <a:xfrm>
            <a:off x="491290" y="4238491"/>
            <a:ext cx="1436340" cy="603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Yahoo Finance API</a:t>
            </a:r>
            <a:endParaRPr/>
          </a:p>
        </p:txBody>
      </p:sp>
      <p:sp>
        <p:nvSpPr>
          <p:cNvPr id="261" name="Google Shape;261;p23"/>
          <p:cNvSpPr txBox="1"/>
          <p:nvPr/>
        </p:nvSpPr>
        <p:spPr>
          <a:xfrm>
            <a:off x="2057367" y="3435519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預處理</a:t>
            </a:r>
            <a:endParaRPr sz="2400"/>
          </a:p>
        </p:txBody>
      </p:sp>
      <p:sp>
        <p:nvSpPr>
          <p:cNvPr id="262" name="Google Shape;262;p23"/>
          <p:cNvSpPr txBox="1"/>
          <p:nvPr/>
        </p:nvSpPr>
        <p:spPr>
          <a:xfrm>
            <a:off x="2093275" y="4238491"/>
            <a:ext cx="1436340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清洗、缺失值插補</a:t>
            </a:r>
            <a:endParaRPr/>
          </a:p>
        </p:txBody>
      </p:sp>
      <p:sp>
        <p:nvSpPr>
          <p:cNvPr id="263" name="Google Shape;263;p23"/>
          <p:cNvSpPr txBox="1"/>
          <p:nvPr/>
        </p:nvSpPr>
        <p:spPr>
          <a:xfrm>
            <a:off x="3659353" y="3435519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EDA</a:t>
            </a:r>
            <a:endParaRPr sz="2400"/>
          </a:p>
        </p:txBody>
      </p:sp>
      <p:sp>
        <p:nvSpPr>
          <p:cNvPr id="264" name="Google Shape;264;p23"/>
          <p:cNvSpPr txBox="1"/>
          <p:nvPr/>
        </p:nvSpPr>
        <p:spPr>
          <a:xfrm>
            <a:off x="3565828" y="4238491"/>
            <a:ext cx="1731419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皮爾森相關分析</a:t>
            </a:r>
            <a:endParaRPr dirty="0"/>
          </a:p>
        </p:txBody>
      </p:sp>
      <p:sp>
        <p:nvSpPr>
          <p:cNvPr id="265" name="Google Shape;265;p23"/>
          <p:cNvSpPr txBox="1"/>
          <p:nvPr/>
        </p:nvSpPr>
        <p:spPr>
          <a:xfrm>
            <a:off x="5261339" y="3435519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特徵選擇</a:t>
            </a:r>
            <a:endParaRPr sz="2400"/>
          </a:p>
        </p:txBody>
      </p:sp>
      <p:sp>
        <p:nvSpPr>
          <p:cNvPr id="266" name="Google Shape;266;p23"/>
          <p:cNvSpPr txBox="1"/>
          <p:nvPr/>
        </p:nvSpPr>
        <p:spPr>
          <a:xfrm>
            <a:off x="5297247" y="4238491"/>
            <a:ext cx="1436340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僅對 ML 執行</a:t>
            </a:r>
            <a:endParaRPr/>
          </a:p>
        </p:txBody>
      </p:sp>
      <p:sp>
        <p:nvSpPr>
          <p:cNvPr id="267" name="Google Shape;267;p23"/>
          <p:cNvSpPr txBox="1"/>
          <p:nvPr/>
        </p:nvSpPr>
        <p:spPr>
          <a:xfrm>
            <a:off x="6863325" y="3435519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模型訓練</a:t>
            </a:r>
            <a:endParaRPr sz="2400"/>
          </a:p>
        </p:txBody>
      </p:sp>
      <p:sp>
        <p:nvSpPr>
          <p:cNvPr id="268" name="Google Shape;268;p23"/>
          <p:cNvSpPr txBox="1"/>
          <p:nvPr/>
        </p:nvSpPr>
        <p:spPr>
          <a:xfrm>
            <a:off x="6899233" y="4238491"/>
            <a:ext cx="1731420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TimeSeriesSplit</a:t>
            </a:r>
            <a:endParaRPr dirty="0"/>
          </a:p>
        </p:txBody>
      </p:sp>
      <p:sp>
        <p:nvSpPr>
          <p:cNvPr id="269" name="Google Shape;269;p23"/>
          <p:cNvSpPr txBox="1"/>
          <p:nvPr/>
        </p:nvSpPr>
        <p:spPr>
          <a:xfrm>
            <a:off x="8465311" y="3435519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超參調教</a:t>
            </a:r>
            <a:endParaRPr sz="2400"/>
          </a:p>
        </p:txBody>
      </p:sp>
      <p:sp>
        <p:nvSpPr>
          <p:cNvPr id="270" name="Google Shape;270;p23"/>
          <p:cNvSpPr txBox="1"/>
          <p:nvPr/>
        </p:nvSpPr>
        <p:spPr>
          <a:xfrm>
            <a:off x="8537128" y="4238491"/>
            <a:ext cx="1436340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網格搜尋</a:t>
            </a:r>
            <a:endParaRPr dirty="0"/>
          </a:p>
        </p:txBody>
      </p:sp>
      <p:sp>
        <p:nvSpPr>
          <p:cNvPr id="271" name="Google Shape;271;p23"/>
          <p:cNvSpPr txBox="1"/>
          <p:nvPr/>
        </p:nvSpPr>
        <p:spPr>
          <a:xfrm>
            <a:off x="10067297" y="3435519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性能評估</a:t>
            </a:r>
            <a:endParaRPr sz="2400"/>
          </a:p>
        </p:txBody>
      </p:sp>
      <p:sp>
        <p:nvSpPr>
          <p:cNvPr id="272" name="Google Shape;272;p23"/>
          <p:cNvSpPr txBox="1"/>
          <p:nvPr/>
        </p:nvSpPr>
        <p:spPr>
          <a:xfrm>
            <a:off x="10103205" y="4238491"/>
            <a:ext cx="1436340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計算各項</a:t>
            </a:r>
            <a:r>
              <a:rPr lang="en-US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Metrics</a:t>
            </a:r>
            <a:endParaRPr dirty="0"/>
          </a:p>
        </p:txBody>
      </p:sp>
      <p:sp>
        <p:nvSpPr>
          <p:cNvPr id="273" name="Google Shape;273;p23"/>
          <p:cNvSpPr/>
          <p:nvPr/>
        </p:nvSpPr>
        <p:spPr>
          <a:xfrm>
            <a:off x="455381" y="2963779"/>
            <a:ext cx="11049000" cy="381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3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研究流程 Pipeline</a:t>
            </a:r>
            <a:endParaRPr/>
          </a:p>
        </p:txBody>
      </p:sp>
      <p:sp>
        <p:nvSpPr>
          <p:cNvPr id="275" name="Google Shape;275;p23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3"/>
          <p:cNvSpPr/>
          <p:nvPr/>
        </p:nvSpPr>
        <p:spPr>
          <a:xfrm>
            <a:off x="1091336" y="2849479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3"/>
          <p:cNvSpPr/>
          <p:nvPr/>
        </p:nvSpPr>
        <p:spPr>
          <a:xfrm>
            <a:off x="2693322" y="2849479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3"/>
          <p:cNvSpPr/>
          <p:nvPr/>
        </p:nvSpPr>
        <p:spPr>
          <a:xfrm>
            <a:off x="4295307" y="2849479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3"/>
          <p:cNvSpPr/>
          <p:nvPr/>
        </p:nvSpPr>
        <p:spPr>
          <a:xfrm>
            <a:off x="5897293" y="2849479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3"/>
          <p:cNvSpPr/>
          <p:nvPr/>
        </p:nvSpPr>
        <p:spPr>
          <a:xfrm>
            <a:off x="7499279" y="2849479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3"/>
          <p:cNvSpPr/>
          <p:nvPr/>
        </p:nvSpPr>
        <p:spPr>
          <a:xfrm>
            <a:off x="9101265" y="2849479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3"/>
          <p:cNvSpPr/>
          <p:nvPr/>
        </p:nvSpPr>
        <p:spPr>
          <a:xfrm>
            <a:off x="10703251" y="2849479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8" name="Google Shape;288;p24"/>
          <p:cNvGraphicFramePr/>
          <p:nvPr>
            <p:extLst>
              <p:ext uri="{D42A27DB-BD31-4B8C-83A1-F6EECF244321}">
                <p14:modId xmlns:p14="http://schemas.microsoft.com/office/powerpoint/2010/main" val="102687070"/>
              </p:ext>
            </p:extLst>
          </p:nvPr>
        </p:nvGraphicFramePr>
        <p:xfrm>
          <a:off x="571500" y="2633564"/>
          <a:ext cx="10158302" cy="3305125"/>
        </p:xfrm>
        <a:graphic>
          <a:graphicData uri="http://schemas.openxmlformats.org/drawingml/2006/table">
            <a:tbl>
              <a:tblPr firstRow="1" bandRow="1">
                <a:noFill/>
                <a:tableStyleId>{C63394A8-6561-4F67-BD20-A1EB724447CB}</a:tableStyleId>
              </a:tblPr>
              <a:tblGrid>
                <a:gridCol w="29770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812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i="0" u="none" strike="noStrike" cap="none" dirty="0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2400" b="1" i="0" u="none" strike="noStrike" cap="none" dirty="0" err="1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類型</a:t>
                      </a:r>
                      <a:endParaRPr sz="24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i="0" u="none" strike="noStrike" cap="none" dirty="0" err="1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細節描述</a:t>
                      </a:r>
                      <a:endParaRPr sz="24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預測標的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SPY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美股大盤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), QQQ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科技股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), 0050.TW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台股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資料期間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2010 – 2025 (約 15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年，日級別資料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原始特徵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OHLCV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開、高、低、收、量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技術指標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MA20, MA60, RSI(14),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年化波動率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(20)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0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驗證方式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時間序列交叉驗證，確保訓練集早於測試集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9" name="Google Shape;289;p24"/>
          <p:cNvSpPr/>
          <p:nvPr/>
        </p:nvSpPr>
        <p:spPr>
          <a:xfrm>
            <a:off x="797718" y="37146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24"/>
          <p:cNvSpPr/>
          <p:nvPr/>
        </p:nvSpPr>
        <p:spPr>
          <a:xfrm>
            <a:off x="797718" y="426710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4"/>
          <p:cNvSpPr/>
          <p:nvPr/>
        </p:nvSpPr>
        <p:spPr>
          <a:xfrm>
            <a:off x="797718" y="48195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4"/>
          <p:cNvSpPr/>
          <p:nvPr/>
        </p:nvSpPr>
        <p:spPr>
          <a:xfrm>
            <a:off x="797718" y="537200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4"/>
          <p:cNvSpPr/>
          <p:nvPr/>
        </p:nvSpPr>
        <p:spPr>
          <a:xfrm>
            <a:off x="797718" y="59244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4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實驗設計：資料集與特徵</a:t>
            </a:r>
            <a:endParaRPr/>
          </a:p>
        </p:txBody>
      </p:sp>
      <p:sp>
        <p:nvSpPr>
          <p:cNvPr id="300" name="Google Shape;300;p24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1803201"/>
            <a:ext cx="11049000" cy="4483298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25"/>
          <p:cNvSpPr txBox="1"/>
          <p:nvPr/>
        </p:nvSpPr>
        <p:spPr>
          <a:xfrm>
            <a:off x="609600" y="6133444"/>
            <a:ext cx="110490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1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觀察：雙層</a:t>
            </a:r>
            <a:r>
              <a:rPr lang="en-US" sz="1800" b="0" i="1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LSTM </a:t>
            </a:r>
            <a:r>
              <a:rPr lang="en-US" sz="1800" b="0" i="1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召回率高達</a:t>
            </a:r>
            <a:r>
              <a:rPr lang="en-US" sz="1800" b="0" i="1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1.0，但 F1 </a:t>
            </a:r>
            <a:r>
              <a:rPr lang="en-US" sz="1800" b="0" i="1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略低於</a:t>
            </a:r>
            <a:r>
              <a:rPr lang="en-US" sz="1800" b="0" i="1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800" b="0" i="1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RF。BiLSTM</a:t>
            </a:r>
            <a:r>
              <a:rPr lang="en-US" sz="1800" b="0" i="1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800" b="0" i="1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因引入未來雜訊表現較差</a:t>
            </a:r>
            <a:r>
              <a:rPr lang="en-US" sz="1800" b="0" i="1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sp>
        <p:nvSpPr>
          <p:cNvPr id="308" name="Google Shape;308;p25"/>
          <p:cNvSpPr txBox="1"/>
          <p:nvPr/>
        </p:nvSpPr>
        <p:spPr>
          <a:xfrm>
            <a:off x="1468227" y="5330725"/>
            <a:ext cx="95651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 dirty="0" err="1">
                <a:solidFill>
                  <a:srgbClr val="000000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隨機森林</a:t>
            </a:r>
            <a:endParaRPr dirty="0"/>
          </a:p>
        </p:txBody>
      </p:sp>
      <p:sp>
        <p:nvSpPr>
          <p:cNvPr id="309" name="Google Shape;309;p25"/>
          <p:cNvSpPr txBox="1"/>
          <p:nvPr/>
        </p:nvSpPr>
        <p:spPr>
          <a:xfrm>
            <a:off x="4277977" y="5330725"/>
            <a:ext cx="99060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 dirty="0" err="1">
                <a:solidFill>
                  <a:srgbClr val="000000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單層</a:t>
            </a:r>
            <a:r>
              <a:rPr lang="en-US" b="0" i="0" u="none" strike="noStrike" cap="none" dirty="0">
                <a:solidFill>
                  <a:srgbClr val="000000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 LSTM</a:t>
            </a:r>
            <a:endParaRPr dirty="0"/>
          </a:p>
        </p:txBody>
      </p:sp>
      <p:sp>
        <p:nvSpPr>
          <p:cNvPr id="310" name="Google Shape;310;p25"/>
          <p:cNvSpPr txBox="1"/>
          <p:nvPr/>
        </p:nvSpPr>
        <p:spPr>
          <a:xfrm>
            <a:off x="6838449" y="5330725"/>
            <a:ext cx="1262814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 dirty="0" err="1">
                <a:solidFill>
                  <a:srgbClr val="000000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雙層</a:t>
            </a:r>
            <a:r>
              <a:rPr lang="en-US" b="0" i="0" u="none" strike="noStrike" cap="none" dirty="0">
                <a:solidFill>
                  <a:srgbClr val="000000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 LSTM</a:t>
            </a:r>
            <a:endParaRPr dirty="0"/>
          </a:p>
        </p:txBody>
      </p:sp>
      <p:sp>
        <p:nvSpPr>
          <p:cNvPr id="311" name="Google Shape;311;p25"/>
          <p:cNvSpPr txBox="1"/>
          <p:nvPr/>
        </p:nvSpPr>
        <p:spPr>
          <a:xfrm>
            <a:off x="9618746" y="5335471"/>
            <a:ext cx="1247775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 dirty="0" err="1">
                <a:solidFill>
                  <a:srgbClr val="000000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雙向</a:t>
            </a:r>
            <a:r>
              <a:rPr lang="en-US" b="0" i="0" u="none" strike="noStrike" cap="none" dirty="0">
                <a:solidFill>
                  <a:srgbClr val="000000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 </a:t>
            </a:r>
            <a:r>
              <a:rPr lang="en-US" b="0" i="0" u="none" strike="noStrike" cap="none" dirty="0" err="1">
                <a:solidFill>
                  <a:srgbClr val="000000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BiLSTM</a:t>
            </a:r>
            <a:endParaRPr dirty="0"/>
          </a:p>
        </p:txBody>
      </p:sp>
      <p:sp>
        <p:nvSpPr>
          <p:cNvPr id="312" name="Google Shape;312;p25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分類問題結果 (SPY)</a:t>
            </a:r>
            <a:endParaRPr/>
          </a:p>
        </p:txBody>
      </p:sp>
      <p:sp>
        <p:nvSpPr>
          <p:cNvPr id="313" name="Google Shape;313;p25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308;p25">
            <a:extLst>
              <a:ext uri="{FF2B5EF4-FFF2-40B4-BE49-F238E27FC236}">
                <a16:creationId xmlns:a16="http://schemas.microsoft.com/office/drawing/2014/main" id="{C7EB4210-5251-CC00-947A-3C613C25BCF7}"/>
              </a:ext>
            </a:extLst>
          </p:cNvPr>
          <p:cNvSpPr txBox="1"/>
          <p:nvPr/>
        </p:nvSpPr>
        <p:spPr>
          <a:xfrm>
            <a:off x="1580522" y="2499293"/>
            <a:ext cx="95651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b="1" i="0" u="none" strike="noStrike" cap="none" dirty="0">
                <a:solidFill>
                  <a:srgbClr val="000000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0.72</a:t>
            </a:r>
          </a:p>
        </p:txBody>
      </p:sp>
      <p:sp>
        <p:nvSpPr>
          <p:cNvPr id="3" name="Google Shape;308;p25">
            <a:extLst>
              <a:ext uri="{FF2B5EF4-FFF2-40B4-BE49-F238E27FC236}">
                <a16:creationId xmlns:a16="http://schemas.microsoft.com/office/drawing/2014/main" id="{F85AB027-8B8F-553E-4F8B-FC8266180262}"/>
              </a:ext>
            </a:extLst>
          </p:cNvPr>
          <p:cNvSpPr txBox="1"/>
          <p:nvPr/>
        </p:nvSpPr>
        <p:spPr>
          <a:xfrm>
            <a:off x="4277977" y="2499293"/>
            <a:ext cx="95651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b="1" dirty="0">
                <a:latin typeface="DM Sans Medium"/>
                <a:ea typeface="DM Sans Medium"/>
                <a:cs typeface="DM Sans Medium"/>
                <a:sym typeface="DM Sans Medium"/>
              </a:rPr>
              <a:t>0.68</a:t>
            </a:r>
          </a:p>
        </p:txBody>
      </p:sp>
      <p:sp>
        <p:nvSpPr>
          <p:cNvPr id="4" name="Google Shape;308;p25">
            <a:extLst>
              <a:ext uri="{FF2B5EF4-FFF2-40B4-BE49-F238E27FC236}">
                <a16:creationId xmlns:a16="http://schemas.microsoft.com/office/drawing/2014/main" id="{5DA74FB2-6D21-E05D-8D1E-F58DABBCE24A}"/>
              </a:ext>
            </a:extLst>
          </p:cNvPr>
          <p:cNvSpPr txBox="1"/>
          <p:nvPr/>
        </p:nvSpPr>
        <p:spPr>
          <a:xfrm>
            <a:off x="6957514" y="2499293"/>
            <a:ext cx="95651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b="1" dirty="0">
                <a:latin typeface="DM Sans Medium"/>
                <a:ea typeface="DM Sans Medium"/>
                <a:cs typeface="DM Sans Medium"/>
                <a:sym typeface="DM Sans Medium"/>
              </a:rPr>
              <a:t>0.7</a:t>
            </a:r>
          </a:p>
        </p:txBody>
      </p:sp>
      <p:sp>
        <p:nvSpPr>
          <p:cNvPr id="5" name="Google Shape;308;p25">
            <a:extLst>
              <a:ext uri="{FF2B5EF4-FFF2-40B4-BE49-F238E27FC236}">
                <a16:creationId xmlns:a16="http://schemas.microsoft.com/office/drawing/2014/main" id="{490343AB-176E-123A-958B-BFF48AC662B9}"/>
              </a:ext>
            </a:extLst>
          </p:cNvPr>
          <p:cNvSpPr txBox="1"/>
          <p:nvPr/>
        </p:nvSpPr>
        <p:spPr>
          <a:xfrm>
            <a:off x="9764377" y="2954906"/>
            <a:ext cx="95651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b="1" dirty="0">
                <a:latin typeface="DM Sans Medium"/>
                <a:ea typeface="DM Sans Medium"/>
                <a:cs typeface="DM Sans Medium"/>
                <a:sym typeface="DM Sans Medium"/>
              </a:rPr>
              <a:t>0.55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9" name="Google Shape;319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716113"/>
            <a:ext cx="5334000" cy="3222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20" name="Google Shape;320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2716113"/>
            <a:ext cx="5334000" cy="3222576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26"/>
          <p:cNvSpPr txBox="1"/>
          <p:nvPr/>
        </p:nvSpPr>
        <p:spPr>
          <a:xfrm>
            <a:off x="866775" y="3011388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QQQ (</a:t>
            </a: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美股科技</a:t>
            </a: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)</a:t>
            </a:r>
            <a:endParaRPr sz="2400" dirty="0"/>
          </a:p>
        </p:txBody>
      </p:sp>
      <p:sp>
        <p:nvSpPr>
          <p:cNvPr id="322" name="Google Shape;322;p26"/>
          <p:cNvSpPr txBox="1"/>
          <p:nvPr/>
        </p:nvSpPr>
        <p:spPr>
          <a:xfrm>
            <a:off x="866775" y="3592413"/>
            <a:ext cx="4743450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最佳模型：</a:t>
            </a:r>
            <a:r>
              <a:rPr lang="en-US" sz="1800" b="1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隨機森林</a:t>
            </a:r>
            <a:endParaRPr sz="1800" dirty="0"/>
          </a:p>
        </p:txBody>
      </p:sp>
      <p:sp>
        <p:nvSpPr>
          <p:cNvPr id="323" name="Google Shape;323;p26"/>
          <p:cNvSpPr txBox="1"/>
          <p:nvPr/>
        </p:nvSpPr>
        <p:spPr>
          <a:xfrm>
            <a:off x="866775" y="4087713"/>
            <a:ext cx="4743450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F1-score: </a:t>
            </a:r>
            <a:r>
              <a:rPr lang="en-US" sz="1800" b="1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0.732</a:t>
            </a:r>
            <a:endParaRPr sz="1800"/>
          </a:p>
        </p:txBody>
      </p:sp>
      <p:sp>
        <p:nvSpPr>
          <p:cNvPr id="324" name="Google Shape;324;p26"/>
          <p:cNvSpPr txBox="1"/>
          <p:nvPr/>
        </p:nvSpPr>
        <p:spPr>
          <a:xfrm>
            <a:off x="866775" y="4583013"/>
            <a:ext cx="474345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美股市場規律性較強，機器學習集成模型表現穩定</a:t>
            </a:r>
            <a:r>
              <a:rPr 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sp>
        <p:nvSpPr>
          <p:cNvPr id="325" name="Google Shape;325;p26"/>
          <p:cNvSpPr txBox="1"/>
          <p:nvPr/>
        </p:nvSpPr>
        <p:spPr>
          <a:xfrm>
            <a:off x="6581775" y="3011388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0050.TW (</a:t>
            </a: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台股</a:t>
            </a: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)</a:t>
            </a:r>
            <a:endParaRPr sz="2400" dirty="0"/>
          </a:p>
        </p:txBody>
      </p:sp>
      <p:sp>
        <p:nvSpPr>
          <p:cNvPr id="326" name="Google Shape;326;p26"/>
          <p:cNvSpPr txBox="1"/>
          <p:nvPr/>
        </p:nvSpPr>
        <p:spPr>
          <a:xfrm>
            <a:off x="6581775" y="3592413"/>
            <a:ext cx="4743450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最佳模型：</a:t>
            </a:r>
            <a:r>
              <a:rPr lang="en-US" sz="1800" b="1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單層 LSTM</a:t>
            </a:r>
            <a:endParaRPr sz="1800"/>
          </a:p>
        </p:txBody>
      </p:sp>
      <p:sp>
        <p:nvSpPr>
          <p:cNvPr id="327" name="Google Shape;327;p26"/>
          <p:cNvSpPr txBox="1"/>
          <p:nvPr/>
        </p:nvSpPr>
        <p:spPr>
          <a:xfrm>
            <a:off x="6581775" y="4087713"/>
            <a:ext cx="4743450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F1-score: </a:t>
            </a:r>
            <a:r>
              <a:rPr lang="en-US" sz="1800" b="1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0.694</a:t>
            </a:r>
            <a:endParaRPr sz="1800"/>
          </a:p>
        </p:txBody>
      </p:sp>
      <p:sp>
        <p:nvSpPr>
          <p:cNvPr id="328" name="Google Shape;328;p26"/>
          <p:cNvSpPr txBox="1"/>
          <p:nvPr/>
        </p:nvSpPr>
        <p:spPr>
          <a:xfrm>
            <a:off x="6581775" y="4583013"/>
            <a:ext cx="474345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台股受盤後美股連動影響，預測難度顯著高於美股。</a:t>
            </a:r>
            <a:endParaRPr sz="1800"/>
          </a:p>
        </p:txBody>
      </p:sp>
      <p:sp>
        <p:nvSpPr>
          <p:cNvPr id="329" name="Google Shape;329;p26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分類結果：跨市場比較</a:t>
            </a:r>
            <a:endParaRPr/>
          </a:p>
        </p:txBody>
      </p:sp>
      <p:sp>
        <p:nvSpPr>
          <p:cNvPr id="330" name="Google Shape;330;p26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957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6" name="Google Shape;336;p27"/>
          <p:cNvSpPr txBox="1"/>
          <p:nvPr/>
        </p:nvSpPr>
        <p:spPr>
          <a:xfrm>
            <a:off x="602457" y="4886336"/>
            <a:ext cx="110490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XGBoost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與 Gradient Boosting </a:t>
            </a: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同樣展現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R² &gt; 0.95 </a:t>
            </a: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的穩定性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sp>
        <p:nvSpPr>
          <p:cNvPr id="337" name="Google Shape;337;p27"/>
          <p:cNvSpPr txBox="1"/>
          <p:nvPr/>
        </p:nvSpPr>
        <p:spPr>
          <a:xfrm>
            <a:off x="571500" y="3059013"/>
            <a:ext cx="3519237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0.97</a:t>
            </a:r>
            <a:r>
              <a:rPr lang="en-US" sz="5000" b="1" i="0" u="none" strike="noStrike" cap="none" dirty="0">
                <a:solidFill>
                  <a:srgbClr val="D4AF37"/>
                </a:solidFill>
                <a:latin typeface="DM Sans"/>
                <a:ea typeface="DM Sans"/>
                <a:cs typeface="DM Sans"/>
                <a:sym typeface="DM Sans"/>
              </a:rPr>
              <a:t>R²</a:t>
            </a:r>
            <a:endParaRPr sz="5000" dirty="0"/>
          </a:p>
        </p:txBody>
      </p:sp>
      <p:sp>
        <p:nvSpPr>
          <p:cNvPr id="338" name="Google Shape;338;p27"/>
          <p:cNvSpPr txBox="1"/>
          <p:nvPr/>
        </p:nvSpPr>
        <p:spPr>
          <a:xfrm>
            <a:off x="4622133" y="2667253"/>
            <a:ext cx="6958263" cy="15234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隨機森林迴歸</a:t>
            </a:r>
            <a:r>
              <a:rPr lang="en-US" sz="2200" b="1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(RF Regression)</a:t>
            </a:r>
            <a:br>
              <a:rPr lang="en-US" sz="2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2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MSE: 1745.83 | MAE: 32.53</a:t>
            </a:r>
            <a:br>
              <a:rPr lang="en-US" sz="2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2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22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在數值預測上展示極高擬合度，優於傳統統計模型</a:t>
            </a:r>
            <a:r>
              <a:rPr lang="en-US" sz="22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2200" dirty="0"/>
          </a:p>
        </p:txBody>
      </p:sp>
      <p:sp>
        <p:nvSpPr>
          <p:cNvPr id="339" name="Google Shape;339;p27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迴歸結果：機器學習效能</a:t>
            </a:r>
            <a:endParaRPr/>
          </a:p>
        </p:txBody>
      </p:sp>
      <p:sp>
        <p:nvSpPr>
          <p:cNvPr id="340" name="Google Shape;340;p27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5" name="Google Shape;345;p2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28"/>
          <p:cNvSpPr txBox="1"/>
          <p:nvPr/>
        </p:nvSpPr>
        <p:spPr>
          <a:xfrm>
            <a:off x="571500" y="2106513"/>
            <a:ext cx="110490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小樣本測試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(50個交易日) - GPT-4o-mini</a:t>
            </a:r>
            <a:endParaRPr sz="1800" dirty="0"/>
          </a:p>
        </p:txBody>
      </p:sp>
      <p:sp>
        <p:nvSpPr>
          <p:cNvPr id="347" name="Google Shape;347;p28"/>
          <p:cNvSpPr txBox="1"/>
          <p:nvPr/>
        </p:nvSpPr>
        <p:spPr>
          <a:xfrm>
            <a:off x="571500" y="5954613"/>
            <a:ext cx="110490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R²: 0.7997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800" b="1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MAE: 5.23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800" b="1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RMSE: 6.58</a:t>
            </a:r>
            <a:endParaRPr sz="1800" dirty="0"/>
          </a:p>
        </p:txBody>
      </p:sp>
      <p:pic>
        <p:nvPicPr>
          <p:cNvPr id="348" name="Google Shape;348;p2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430363"/>
            <a:ext cx="11049000" cy="3333750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LLM 數值預測潛力分析</a:t>
            </a:r>
            <a:endParaRPr/>
          </a:p>
        </p:txBody>
      </p:sp>
      <p:sp>
        <p:nvSpPr>
          <p:cNvPr id="350" name="Google Shape;350;p28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29"/>
          <p:cNvSpPr txBox="1"/>
          <p:nvPr/>
        </p:nvSpPr>
        <p:spPr>
          <a:xfrm>
            <a:off x="571500" y="4959250"/>
            <a:ext cx="49530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低延遲保證在一般終端設備亦能順暢執行，極具商用價值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sp>
        <p:nvSpPr>
          <p:cNvPr id="358" name="Google Shape;358;p29"/>
          <p:cNvSpPr txBox="1"/>
          <p:nvPr/>
        </p:nvSpPr>
        <p:spPr>
          <a:xfrm>
            <a:off x="1047750" y="3063775"/>
            <a:ext cx="44767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Streamlit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+ Plotly + SQLite</a:t>
            </a:r>
            <a:endParaRPr sz="1800" dirty="0"/>
          </a:p>
        </p:txBody>
      </p:sp>
      <p:sp>
        <p:nvSpPr>
          <p:cNvPr id="359" name="Google Shape;359;p29"/>
          <p:cNvSpPr/>
          <p:nvPr/>
        </p:nvSpPr>
        <p:spPr>
          <a:xfrm>
            <a:off x="571500" y="3482875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29"/>
          <p:cNvSpPr txBox="1"/>
          <p:nvPr/>
        </p:nvSpPr>
        <p:spPr>
          <a:xfrm>
            <a:off x="1047750" y="3644413"/>
            <a:ext cx="44767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OpenAI API 即時解釋功能</a:t>
            </a:r>
            <a:endParaRPr sz="1800"/>
          </a:p>
        </p:txBody>
      </p:sp>
      <p:sp>
        <p:nvSpPr>
          <p:cNvPr id="361" name="Google Shape;361;p29"/>
          <p:cNvSpPr/>
          <p:nvPr/>
        </p:nvSpPr>
        <p:spPr>
          <a:xfrm>
            <a:off x="571500" y="4063900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9"/>
          <p:cNvSpPr txBox="1"/>
          <p:nvPr/>
        </p:nvSpPr>
        <p:spPr>
          <a:xfrm>
            <a:off x="1047750" y="4225438"/>
            <a:ext cx="44767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平均延遲：</a:t>
            </a:r>
            <a:r>
              <a:rPr lang="en-US" sz="1800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840 毫秒</a:t>
            </a:r>
            <a:endParaRPr sz="1800"/>
          </a:p>
        </p:txBody>
      </p:sp>
      <p:sp>
        <p:nvSpPr>
          <p:cNvPr id="363" name="Google Shape;363;p29"/>
          <p:cNvSpPr/>
          <p:nvPr/>
        </p:nvSpPr>
        <p:spPr>
          <a:xfrm>
            <a:off x="571500" y="4644925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9"/>
          <p:cNvSpPr/>
          <p:nvPr/>
        </p:nvSpPr>
        <p:spPr>
          <a:xfrm>
            <a:off x="571500" y="3482875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9"/>
          <p:cNvSpPr/>
          <p:nvPr/>
        </p:nvSpPr>
        <p:spPr>
          <a:xfrm>
            <a:off x="571500" y="4063900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29"/>
          <p:cNvSpPr/>
          <p:nvPr/>
        </p:nvSpPr>
        <p:spPr>
          <a:xfrm>
            <a:off x="571500" y="4644925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7" name="Google Shape;367;p2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3092350"/>
            <a:ext cx="2667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8" name="Google Shape;368;p2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668613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9" name="Google Shape;369;p2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4249638"/>
            <a:ext cx="180975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29"/>
          <p:cNvSpPr txBox="1"/>
          <p:nvPr/>
        </p:nvSpPr>
        <p:spPr>
          <a:xfrm>
            <a:off x="809625" y="1884610"/>
            <a:ext cx="49506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LLM-ETF 平台實作</a:t>
            </a:r>
            <a:endParaRPr/>
          </a:p>
        </p:txBody>
      </p:sp>
      <p:sp>
        <p:nvSpPr>
          <p:cNvPr id="371" name="Google Shape;371;p29"/>
          <p:cNvSpPr/>
          <p:nvPr/>
        </p:nvSpPr>
        <p:spPr>
          <a:xfrm>
            <a:off x="571500" y="1884610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092D2DF1-8899-CD1A-2145-6E63CFC27CA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6425" y="510072"/>
            <a:ext cx="6407288" cy="596465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7" name="Google Shape;377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807369"/>
            <a:ext cx="5334000" cy="2550694"/>
          </a:xfrm>
          <a:prstGeom prst="rect">
            <a:avLst/>
          </a:prstGeom>
          <a:noFill/>
          <a:ln>
            <a:noFill/>
          </a:ln>
        </p:spPr>
      </p:pic>
      <p:pic>
        <p:nvPicPr>
          <p:cNvPr id="378" name="Google Shape;378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2807369"/>
            <a:ext cx="5334000" cy="2550694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30"/>
          <p:cNvSpPr txBox="1"/>
          <p:nvPr/>
        </p:nvSpPr>
        <p:spPr>
          <a:xfrm>
            <a:off x="866775" y="3354288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分類任務</a:t>
            </a: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 (</a:t>
            </a: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漲跌</a:t>
            </a: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)</a:t>
            </a:r>
            <a:endParaRPr sz="2400" dirty="0"/>
          </a:p>
        </p:txBody>
      </p:sp>
      <p:sp>
        <p:nvSpPr>
          <p:cNvPr id="380" name="Google Shape;380;p30"/>
          <p:cNvSpPr txBox="1"/>
          <p:nvPr/>
        </p:nvSpPr>
        <p:spPr>
          <a:xfrm>
            <a:off x="866775" y="3935313"/>
            <a:ext cx="474345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雖然直覺，但缺乏幅度資訊。實務上難以判斷波動大小，投資價值受限</a:t>
            </a:r>
            <a:r>
              <a:rPr 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sp>
        <p:nvSpPr>
          <p:cNvPr id="381" name="Google Shape;381;p30"/>
          <p:cNvSpPr txBox="1"/>
          <p:nvPr/>
        </p:nvSpPr>
        <p:spPr>
          <a:xfrm>
            <a:off x="6581775" y="3354288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迴歸任務 (數值)</a:t>
            </a:r>
            <a:endParaRPr sz="2400"/>
          </a:p>
        </p:txBody>
      </p:sp>
      <p:sp>
        <p:nvSpPr>
          <p:cNvPr id="382" name="Google Shape;382;p30"/>
          <p:cNvSpPr txBox="1"/>
          <p:nvPr/>
        </p:nvSpPr>
        <p:spPr>
          <a:xfrm>
            <a:off x="6581775" y="3935313"/>
            <a:ext cx="474345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能精確計算損益與風險比率，更符合專業投資機構之決策需求。</a:t>
            </a:r>
            <a:endParaRPr sz="1800"/>
          </a:p>
        </p:txBody>
      </p:sp>
      <p:sp>
        <p:nvSpPr>
          <p:cNvPr id="383" name="Google Shape;383;p30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討論：分類與迴歸之抉擇</a:t>
            </a:r>
            <a:endParaRPr/>
          </a:p>
        </p:txBody>
      </p:sp>
      <p:sp>
        <p:nvSpPr>
          <p:cNvPr id="384" name="Google Shape;384;p30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0" name="Google Shape;390;p3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743200"/>
            <a:ext cx="3524250" cy="2662989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3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875" y="2743200"/>
            <a:ext cx="3524250" cy="2662989"/>
          </a:xfrm>
          <a:prstGeom prst="rect">
            <a:avLst/>
          </a:prstGeom>
          <a:noFill/>
          <a:ln>
            <a:noFill/>
          </a:ln>
        </p:spPr>
      </p:pic>
      <p:pic>
        <p:nvPicPr>
          <p:cNvPr id="392" name="Google Shape;392;p3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96250" y="2743200"/>
            <a:ext cx="3524250" cy="2662989"/>
          </a:xfrm>
          <a:prstGeom prst="rect">
            <a:avLst/>
          </a:prstGeom>
          <a:noFill/>
          <a:ln>
            <a:noFill/>
          </a:ln>
        </p:spPr>
      </p:pic>
      <p:pic>
        <p:nvPicPr>
          <p:cNvPr id="393" name="Google Shape;393;p3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119312" y="3278088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4" name="Google Shape;394;p31"/>
          <p:cNvSpPr txBox="1"/>
          <p:nvPr/>
        </p:nvSpPr>
        <p:spPr>
          <a:xfrm>
            <a:off x="809625" y="3884850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無單一冠軍</a:t>
            </a:r>
            <a:endParaRPr sz="2400" dirty="0"/>
          </a:p>
        </p:txBody>
      </p:sp>
      <p:sp>
        <p:nvSpPr>
          <p:cNvPr id="395" name="Google Shape;395;p31"/>
          <p:cNvSpPr txBox="1"/>
          <p:nvPr/>
        </p:nvSpPr>
        <p:spPr>
          <a:xfrm>
            <a:off x="957262" y="4426089"/>
            <a:ext cx="29527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不同市場與不同時段，最佳模型各異</a:t>
            </a:r>
            <a:r>
              <a:rPr lang="en-US" sz="1800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pic>
        <p:nvPicPr>
          <p:cNvPr id="396" name="Google Shape;396;p3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57875" y="3278088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7" name="Google Shape;397;p31"/>
          <p:cNvSpPr txBox="1"/>
          <p:nvPr/>
        </p:nvSpPr>
        <p:spPr>
          <a:xfrm>
            <a:off x="4572000" y="3884850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ML 穩健性</a:t>
            </a:r>
            <a:endParaRPr sz="2400"/>
          </a:p>
        </p:txBody>
      </p:sp>
      <p:sp>
        <p:nvSpPr>
          <p:cNvPr id="398" name="Google Shape;398;p31"/>
          <p:cNvSpPr txBox="1"/>
          <p:nvPr/>
        </p:nvSpPr>
        <p:spPr>
          <a:xfrm>
            <a:off x="4719637" y="4426089"/>
            <a:ext cx="29527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RF/XGBoost 在數據量適中時表現優異。</a:t>
            </a:r>
            <a:endParaRPr sz="1800"/>
          </a:p>
        </p:txBody>
      </p:sp>
      <p:pic>
        <p:nvPicPr>
          <p:cNvPr id="399" name="Google Shape;399;p3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620250" y="3278088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31"/>
          <p:cNvSpPr txBox="1"/>
          <p:nvPr/>
        </p:nvSpPr>
        <p:spPr>
          <a:xfrm>
            <a:off x="8334375" y="3884850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LLM 定位</a:t>
            </a:r>
            <a:endParaRPr sz="2400"/>
          </a:p>
        </p:txBody>
      </p:sp>
      <p:sp>
        <p:nvSpPr>
          <p:cNvPr id="401" name="Google Shape;401;p31"/>
          <p:cNvSpPr txBox="1"/>
          <p:nvPr/>
        </p:nvSpPr>
        <p:spPr>
          <a:xfrm>
            <a:off x="8482012" y="4426089"/>
            <a:ext cx="29527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適合作為「解釋型」輔助，而非純算力引擎。</a:t>
            </a:r>
            <a:endParaRPr sz="1800"/>
          </a:p>
        </p:txBody>
      </p:sp>
      <p:sp>
        <p:nvSpPr>
          <p:cNvPr id="402" name="Google Shape;402;p31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討論：模型比較關鍵發現</a:t>
            </a:r>
            <a:endParaRPr/>
          </a:p>
        </p:txBody>
      </p:sp>
      <p:sp>
        <p:nvSpPr>
          <p:cNvPr id="403" name="Google Shape;403;p31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" name="Google Shape;409;p3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393156"/>
            <a:ext cx="5334000" cy="223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10" name="Google Shape;410;p3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2393156"/>
            <a:ext cx="5334000" cy="2238375"/>
          </a:xfrm>
          <a:prstGeom prst="rect">
            <a:avLst/>
          </a:prstGeom>
          <a:noFill/>
          <a:ln>
            <a:noFill/>
          </a:ln>
        </p:spPr>
      </p:pic>
      <p:sp>
        <p:nvSpPr>
          <p:cNvPr id="411" name="Google Shape;411;p32"/>
          <p:cNvSpPr txBox="1"/>
          <p:nvPr/>
        </p:nvSpPr>
        <p:spPr>
          <a:xfrm>
            <a:off x="295275" y="5202138"/>
            <a:ext cx="116014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簡報結束，敬請指導</a:t>
            </a:r>
            <a:endParaRPr sz="2400" dirty="0"/>
          </a:p>
        </p:txBody>
      </p:sp>
      <p:sp>
        <p:nvSpPr>
          <p:cNvPr id="412" name="Google Shape;412;p32"/>
          <p:cNvSpPr txBox="1"/>
          <p:nvPr/>
        </p:nvSpPr>
        <p:spPr>
          <a:xfrm>
            <a:off x="866775" y="2688431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本研究貢獻</a:t>
            </a:r>
            <a:endParaRPr sz="2400" dirty="0"/>
          </a:p>
        </p:txBody>
      </p:sp>
      <p:sp>
        <p:nvSpPr>
          <p:cNvPr id="413" name="Google Shape;413;p32"/>
          <p:cNvSpPr txBox="1"/>
          <p:nvPr/>
        </p:nvSpPr>
        <p:spPr>
          <a:xfrm>
            <a:off x="6581775" y="2688431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未來展望</a:t>
            </a:r>
            <a:endParaRPr sz="2400"/>
          </a:p>
        </p:txBody>
      </p:sp>
      <p:sp>
        <p:nvSpPr>
          <p:cNvPr id="426" name="Google Shape;426;p32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結論與未來研究方向</a:t>
            </a:r>
            <a:endParaRPr dirty="0"/>
          </a:p>
        </p:txBody>
      </p:sp>
      <p:sp>
        <p:nvSpPr>
          <p:cNvPr id="427" name="Google Shape;427;p32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90EF307-A7F2-3724-B068-BD51B5CF8A18}"/>
              </a:ext>
            </a:extLst>
          </p:cNvPr>
          <p:cNvSpPr txBox="1"/>
          <p:nvPr/>
        </p:nvSpPr>
        <p:spPr>
          <a:xfrm>
            <a:off x="571500" y="3338573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建立跨市場</a:t>
            </a:r>
            <a:r>
              <a:rPr lang="en-US" altLang="zh-TW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(</a:t>
            </a: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台</a:t>
            </a:r>
            <a:r>
              <a:rPr lang="en-US" altLang="zh-TW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/</a:t>
            </a: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美</a:t>
            </a:r>
            <a:r>
              <a:rPr lang="en-US" altLang="zh-TW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)</a:t>
            </a: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預測基準比較。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揭示台股受國際連動影響之預測難點。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實作 </a:t>
            </a:r>
            <a:r>
              <a:rPr lang="en-US" altLang="zh-TW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LLM </a:t>
            </a: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輔助開源平台。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53F690D-E60C-6686-A658-86DCDA59AD5B}"/>
              </a:ext>
            </a:extLst>
          </p:cNvPr>
          <p:cNvSpPr txBox="1"/>
          <p:nvPr/>
        </p:nvSpPr>
        <p:spPr>
          <a:xfrm>
            <a:off x="6485334" y="3342510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導入新聞情緒與總經指標分析。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開發 </a:t>
            </a:r>
            <a:r>
              <a:rPr lang="en-US" altLang="zh-TW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LSTM-ARIMA </a:t>
            </a: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混合模型。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進行正式使用者 </a:t>
            </a:r>
            <a:r>
              <a:rPr lang="en-US" altLang="zh-TW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SUS </a:t>
            </a:r>
            <a:r>
              <a:rPr lang="zh-TW" altLang="en-US" sz="1800" b="0" i="0" dirty="0">
                <a:solidFill>
                  <a:srgbClr val="1E293B"/>
                </a:solidFill>
                <a:effectLst/>
                <a:latin typeface="DM Sans" pitchFamily="2" charset="0"/>
              </a:rPr>
              <a:t>量表研究。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33"/>
          <p:cNvSpPr/>
          <p:nvPr/>
        </p:nvSpPr>
        <p:spPr>
          <a:xfrm>
            <a:off x="571500" y="2458938"/>
            <a:ext cx="1104900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33"/>
          <p:cNvSpPr/>
          <p:nvPr/>
        </p:nvSpPr>
        <p:spPr>
          <a:xfrm>
            <a:off x="571500" y="3230463"/>
            <a:ext cx="11049000" cy="866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33"/>
          <p:cNvSpPr/>
          <p:nvPr/>
        </p:nvSpPr>
        <p:spPr>
          <a:xfrm>
            <a:off x="571500" y="4097238"/>
            <a:ext cx="1104900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3"/>
          <p:cNvSpPr/>
          <p:nvPr/>
        </p:nvSpPr>
        <p:spPr>
          <a:xfrm>
            <a:off x="571500" y="3220938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33"/>
          <p:cNvSpPr/>
          <p:nvPr/>
        </p:nvSpPr>
        <p:spPr>
          <a:xfrm>
            <a:off x="571500" y="3220938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33"/>
          <p:cNvSpPr/>
          <p:nvPr/>
        </p:nvSpPr>
        <p:spPr>
          <a:xfrm>
            <a:off x="571500" y="4087713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33"/>
          <p:cNvSpPr/>
          <p:nvPr/>
        </p:nvSpPr>
        <p:spPr>
          <a:xfrm>
            <a:off x="571500" y="4087713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33"/>
          <p:cNvSpPr/>
          <p:nvPr/>
        </p:nvSpPr>
        <p:spPr>
          <a:xfrm>
            <a:off x="571500" y="4859238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33"/>
          <p:cNvSpPr/>
          <p:nvPr/>
        </p:nvSpPr>
        <p:spPr>
          <a:xfrm>
            <a:off x="571500" y="4859238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2" name="Google Shape;442;p3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601813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33"/>
          <p:cNvSpPr txBox="1"/>
          <p:nvPr/>
        </p:nvSpPr>
        <p:spPr>
          <a:xfrm>
            <a:off x="1666875" y="2635150"/>
            <a:ext cx="99536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https://img.freepik.com/free-vector/global-business-background-with-stock-chart-blue-tone_53876-117483.jpg</a:t>
            </a:r>
            <a:endParaRPr/>
          </a:p>
        </p:txBody>
      </p:sp>
      <p:sp>
        <p:nvSpPr>
          <p:cNvPr id="444" name="Google Shape;444;p33"/>
          <p:cNvSpPr txBox="1"/>
          <p:nvPr/>
        </p:nvSpPr>
        <p:spPr>
          <a:xfrm>
            <a:off x="1666875" y="2844700"/>
            <a:ext cx="9953625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DM Sans"/>
                <a:ea typeface="DM Sans"/>
                <a:cs typeface="DM Sans"/>
                <a:sym typeface="DM Sans"/>
              </a:rPr>
              <a:t>www.freepik.com</a:t>
            </a:r>
            <a:endParaRPr/>
          </a:p>
        </p:txBody>
      </p:sp>
      <p:pic>
        <p:nvPicPr>
          <p:cNvPr id="445" name="Google Shape;445;p3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420963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446" name="Google Shape;446;p33"/>
          <p:cNvSpPr txBox="1"/>
          <p:nvPr/>
        </p:nvSpPr>
        <p:spPr>
          <a:xfrm>
            <a:off x="1666875" y="3373338"/>
            <a:ext cx="9953625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https://media.istockphoto.com/id/1179291552/vector/abstract-financial-chart-with-bulls-and-bear-in-stock-market-on-blue-colour-background.jpg?s=1024x1024&amp;w=is&amp;k=20&amp;c=69puchKZqipsWjW8mqqju9dZPS9s5BluKcPZA8Jwblg=</a:t>
            </a:r>
            <a:endParaRPr/>
          </a:p>
        </p:txBody>
      </p:sp>
      <p:sp>
        <p:nvSpPr>
          <p:cNvPr id="447" name="Google Shape;447;p33"/>
          <p:cNvSpPr txBox="1"/>
          <p:nvPr/>
        </p:nvSpPr>
        <p:spPr>
          <a:xfrm>
            <a:off x="1666875" y="3744813"/>
            <a:ext cx="9953625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DM Sans"/>
                <a:ea typeface="DM Sans"/>
                <a:cs typeface="DM Sans"/>
                <a:sym typeface="DM Sans"/>
              </a:rPr>
              <a:t>www.istockphoto.com</a:t>
            </a:r>
            <a:endParaRPr/>
          </a:p>
        </p:txBody>
      </p:sp>
      <p:pic>
        <p:nvPicPr>
          <p:cNvPr id="448" name="Google Shape;448;p3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4240113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449" name="Google Shape;449;p33"/>
          <p:cNvSpPr txBox="1"/>
          <p:nvPr/>
        </p:nvSpPr>
        <p:spPr>
          <a:xfrm>
            <a:off x="1666875" y="4273450"/>
            <a:ext cx="99536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https://miro.medium.com/1*laH0_xXEkFE0lKJu54gkFQ.png</a:t>
            </a:r>
            <a:endParaRPr/>
          </a:p>
        </p:txBody>
      </p:sp>
      <p:sp>
        <p:nvSpPr>
          <p:cNvPr id="450" name="Google Shape;450;p33"/>
          <p:cNvSpPr txBox="1"/>
          <p:nvPr/>
        </p:nvSpPr>
        <p:spPr>
          <a:xfrm>
            <a:off x="1666875" y="4483000"/>
            <a:ext cx="9953625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DM Sans"/>
                <a:ea typeface="DM Sans"/>
                <a:cs typeface="DM Sans"/>
                <a:sym typeface="DM Sans"/>
              </a:rPr>
              <a:t>blog.mlreview.com</a:t>
            </a:r>
            <a:endParaRPr/>
          </a:p>
        </p:txBody>
      </p:sp>
      <p:pic>
        <p:nvPicPr>
          <p:cNvPr id="451" name="Google Shape;451;p3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5011638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452" name="Google Shape;452;p33"/>
          <p:cNvSpPr txBox="1"/>
          <p:nvPr/>
        </p:nvSpPr>
        <p:spPr>
          <a:xfrm>
            <a:off x="1666875" y="5044975"/>
            <a:ext cx="99536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https://storage.googleapis.com/blink-451505.firebasestorage.app/screenshots/ai-stock-trading-prediction-alert-app-yqdydsj5.sites.blink.new-1755329598984.webp</a:t>
            </a:r>
            <a:endParaRPr/>
          </a:p>
        </p:txBody>
      </p:sp>
      <p:sp>
        <p:nvSpPr>
          <p:cNvPr id="453" name="Google Shape;453;p33"/>
          <p:cNvSpPr txBox="1"/>
          <p:nvPr/>
        </p:nvSpPr>
        <p:spPr>
          <a:xfrm>
            <a:off x="1666875" y="5254525"/>
            <a:ext cx="9953625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DM Sans"/>
                <a:ea typeface="DM Sans"/>
                <a:cs typeface="DM Sans"/>
                <a:sym typeface="DM Sans"/>
              </a:rPr>
              <a:t>blink.new</a:t>
            </a:r>
            <a:endParaRPr/>
          </a:p>
        </p:txBody>
      </p:sp>
      <p:sp>
        <p:nvSpPr>
          <p:cNvPr id="454" name="Google Shape;454;p33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Image Sources</a:t>
            </a:r>
            <a:endParaRPr/>
          </a:p>
        </p:txBody>
      </p:sp>
      <p:sp>
        <p:nvSpPr>
          <p:cNvPr id="455" name="Google Shape;455;p33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</TotalTime>
  <Words>781</Words>
  <Application>Microsoft Office PowerPoint</Application>
  <PresentationFormat>寬螢幕</PresentationFormat>
  <Paragraphs>163</Paragraphs>
  <Slides>21</Slides>
  <Notes>21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21</vt:i4>
      </vt:variant>
    </vt:vector>
  </HeadingPairs>
  <TitlesOfParts>
    <vt:vector size="28" baseType="lpstr">
      <vt:lpstr>Cambria Math</vt:lpstr>
      <vt:lpstr>Merriweather</vt:lpstr>
      <vt:lpstr>DM Sans Medium</vt:lpstr>
      <vt:lpstr>Arial</vt:lpstr>
      <vt:lpstr>DM Sans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子瑜 林</cp:lastModifiedBy>
  <cp:revision>31</cp:revision>
  <dcterms:modified xsi:type="dcterms:W3CDTF">2026-05-30T15:00:19Z</dcterms:modified>
</cp:coreProperties>
</file>