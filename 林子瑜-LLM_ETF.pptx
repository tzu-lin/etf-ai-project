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0" r:id="rId9"/>
    <p:sldId id="263" r:id="rId10"/>
    <p:sldId id="279" r:id="rId11"/>
    <p:sldId id="264" r:id="rId12"/>
    <p:sldId id="281" r:id="rId13"/>
    <p:sldId id="265" r:id="rId14"/>
    <p:sldId id="266" r:id="rId15"/>
    <p:sldId id="267" r:id="rId16"/>
    <p:sldId id="268" r:id="rId17"/>
    <p:sldId id="269" r:id="rId18"/>
    <p:sldId id="270" r:id="rId19"/>
    <p:sldId id="278" r:id="rId20"/>
    <p:sldId id="272" r:id="rId21"/>
    <p:sldId id="273" r:id="rId22"/>
    <p:sldId id="274" r:id="rId23"/>
    <p:sldId id="275" r:id="rId24"/>
    <p:sldId id="276" r:id="rId25"/>
  </p:sldIdLst>
  <p:sldSz cx="12192000" cy="6858000"/>
  <p:notesSz cx="6858000" cy="9144000"/>
  <p:embeddedFontLst>
    <p:embeddedFont>
      <p:font typeface="Cambria Math" panose="02040503050406030204" pitchFamily="18" charset="0"/>
      <p:regular r:id="rId27"/>
    </p:embeddedFont>
    <p:embeddedFont>
      <p:font typeface="DM Sans" pitchFamily="2" charset="0"/>
      <p:regular r:id="rId28"/>
      <p:bold r:id="rId29"/>
      <p:italic r:id="rId30"/>
      <p:boldItalic r:id="rId31"/>
    </p:embeddedFont>
    <p:embeddedFont>
      <p:font typeface="Merriweather" panose="00000500000000000000" pitchFamily="2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en-US" altLang="zh-TW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1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研究不同的模型技術用在股票分析</a:t>
            </a: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迴歸的歷史源頭是統計模型 ARIMA，它數學基礎穩固，但只能處理單變數的線性趨勢，無法應付多因子的非線性連動。本研究將它定位為歷史沿革，不實作，作為後續機器學習與深度學習的對照起點。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93160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流程上要特別說明交叉驗證。一般 K-Fold 會打亂順序，但時間序列一打亂就會用到未來資料、造成洩漏。所以我用 TimeSeriesSplit，每次訓練集都只用測試集之前的歷史，這對金融預測非常關鍵。</a:t>
            </a:r>
            <a:endParaRPr dirty="0"/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SPY 的分類結果。最左邊灰色是我加的『永遠猜漲』基準，F1 是 0.736，我用紅色虛線標出來。可以看到四個模型的 F1 全部貼著這條線、甚至更低——最好的雙層 LSTM 也只有 0.733，跟基準打平。這代表在多頭期間，分類的高 F1 主要來自市場本身上漲的偏態，模型並沒有真正超越無腦策略。這就是我把分類定位成輔助、把重心放到後面迴歸和 LLM 的原因。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D265B3C7-2463-84DC-3480-DC40C28BE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5D9BF4EB-97F8-8C15-88BD-0B5BD5BA1D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這頁是迴歸的收尾，分兩塊看。左邊是傳統四個模型預測『報酬率』的結果，R² 全部接近 0 甚至為負，比直接猜 0% 還差——這正好驗證隨機漫步理論，次日漲跌幅本來就難預測。右邊是 LLM 的探索：GPT-4o-mini 在 50 筆小樣本上 R² 是 0.80，看起來不錯，但因為樣本太少、又跟傳統模型不是同一個驗證基準，我只把它定位成潛力探索，不做直接比較。整體來說，迴歸這部分告訴我們：價格水準預測贏不過基準、報酬率預測接近隨機，所以真正的價值在於分類輔助和 LLM 的可解釋性。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B64CD026-CCE8-5E70-4609-5E0BAA084C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2227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zh-TW" dirty="0"/>
              <a:t>平台用 Streamlit 加 Plotly、SQLite，串接 GPT 或 Gemini 產生風險摘要，端對端延遲 840 毫秒，一般電腦、不用 GPU 就能跑。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綜合發現有三點：沒有單一冠軍模型，不同市場最佳模型不同；迴歸顯示次日走勢本質難預測；所以 LLM 定位在解釋型輔助，而不是當主要算力引擎。</a:t>
            </a:r>
            <a:endParaRPr dirty="0"/>
          </a:p>
        </p:txBody>
      </p:sp>
      <p:sp>
        <p:nvSpPr>
          <p:cNvPr id="387" name="Google Shape;38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67875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830818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38200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44496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研究流程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具有預測力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4914900" y="2923221"/>
            <a:ext cx="70866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架構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比較：探討統計、ML、DL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與 LLM 在 ETF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sz="2000" dirty="0"/>
          </a:p>
        </p:txBody>
      </p:sp>
      <p:sp>
        <p:nvSpPr>
          <p:cNvPr id="145" name="Google Shape;145;p16"/>
          <p:cNvSpPr/>
          <p:nvPr/>
        </p:nvSpPr>
        <p:spPr>
          <a:xfrm>
            <a:off x="4438650" y="3475136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 txBox="1"/>
          <p:nvPr/>
        </p:nvSpPr>
        <p:spPr>
          <a:xfrm>
            <a:off x="4914900" y="3553657"/>
            <a:ext cx="70866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市場差異：分析台股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sz="2000" dirty="0"/>
          </a:p>
        </p:txBody>
      </p:sp>
      <p:sp>
        <p:nvSpPr>
          <p:cNvPr id="147" name="Google Shape;147;p16"/>
          <p:cNvSpPr/>
          <p:nvPr/>
        </p:nvSpPr>
        <p:spPr>
          <a:xfrm>
            <a:off x="4438650" y="4105572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 txBox="1"/>
          <p:nvPr/>
        </p:nvSpPr>
        <p:spPr>
          <a:xfrm>
            <a:off x="4914900" y="4184093"/>
            <a:ext cx="70866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實作應用：建構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LLM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視覺化平台，提升預測</a:t>
            </a:r>
            <a:r>
              <a:rPr lang="zh-TW" alt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理解度</a:t>
            </a:r>
            <a:endParaRPr sz="2000" dirty="0"/>
          </a:p>
        </p:txBody>
      </p:sp>
      <p:sp>
        <p:nvSpPr>
          <p:cNvPr id="149" name="Google Shape;149;p16"/>
          <p:cNvSpPr/>
          <p:nvPr/>
        </p:nvSpPr>
        <p:spPr>
          <a:xfrm>
            <a:off x="4438650" y="4736008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4438650" y="3475136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4438650" y="4105572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4438650" y="4736008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992215D-42D3-FDC4-24D8-78EFE192C10E}"/>
              </a:ext>
            </a:extLst>
          </p:cNvPr>
          <p:cNvSpPr txBox="1"/>
          <p:nvPr/>
        </p:nvSpPr>
        <p:spPr>
          <a:xfrm>
            <a:off x="68827" y="2693074"/>
            <a:ext cx="5014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rgbClr val="FF0000"/>
                </a:solidFill>
              </a:rPr>
              <a:t>ETF</a:t>
            </a:r>
            <a:r>
              <a:rPr lang="zh-TW" altLang="en-US" b="1" dirty="0">
                <a:solidFill>
                  <a:srgbClr val="FF0000"/>
                </a:solidFill>
              </a:rPr>
              <a:t>預測 統計模型 機器學習 深度學習 大語言模型 </a:t>
            </a:r>
            <a:endParaRPr lang="en-US" altLang="zh-TW" b="1" dirty="0">
              <a:solidFill>
                <a:srgbClr val="FF0000"/>
              </a:solidFill>
            </a:endParaRPr>
          </a:p>
          <a:p>
            <a:pPr algn="ctr"/>
            <a:r>
              <a:rPr lang="zh-TW" altLang="en-US" b="1" dirty="0">
                <a:solidFill>
                  <a:srgbClr val="FF0000"/>
                </a:solidFill>
              </a:rPr>
              <a:t>的統計圖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B9742B6-07F5-15D2-CD91-545950C79FBC}"/>
              </a:ext>
            </a:extLst>
          </p:cNvPr>
          <p:cNvSpPr txBox="1"/>
          <p:nvPr/>
        </p:nvSpPr>
        <p:spPr>
          <a:xfrm>
            <a:off x="1052051" y="4225497"/>
            <a:ext cx="26940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0" i="0" u="none" strike="noStrike" cap="none" dirty="0" err="1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建構</a:t>
            </a:r>
            <a:r>
              <a:rPr lang="en-US" altLang="zh-TW" sz="2000" b="0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 LLM </a:t>
            </a:r>
            <a:r>
              <a:rPr lang="en-US" altLang="zh-TW" sz="2000" b="0" i="0" u="none" strike="noStrike" cap="none" dirty="0" err="1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視覺化平台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4" y="3795890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590550" y="2354460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571500" y="2896492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1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F938398-16B4-3DAC-05E0-DCEB014642E0}"/>
              </a:ext>
            </a:extLst>
          </p:cNvPr>
          <p:cNvSpPr txBox="1"/>
          <p:nvPr/>
        </p:nvSpPr>
        <p:spPr>
          <a:xfrm>
            <a:off x="1606045" y="550991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rgbClr val="1E293B"/>
                </a:solidFill>
                <a:highlight>
                  <a:srgbClr val="FFFF00"/>
                </a:highlight>
                <a:latin typeface="DM Sans"/>
                <a:sym typeface="DM Sans"/>
              </a:rPr>
              <a:t>補上指標</a:t>
            </a:r>
            <a:endParaRPr lang="zh-TW" altLang="en-US" sz="2000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8"/>
          <p:cNvSpPr txBox="1"/>
          <p:nvPr/>
        </p:nvSpPr>
        <p:spPr>
          <a:xfrm>
            <a:off x="571500" y="2651968"/>
            <a:ext cx="11049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目標：預測</a:t>
            </a:r>
            <a:r>
              <a:rPr lang="en-US" sz="2000" b="1" i="0" u="none" strike="noStrike" cap="none" dirty="0" err="1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次日收盤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價之「連續數值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直接計算投資損益</a:t>
            </a:r>
            <a:r>
              <a:rPr lang="en-US" sz="2000" b="0" i="0" u="none" strike="noStrike" cap="none" dirty="0">
                <a:solidFill>
                  <a:schemeClr val="tx1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r>
              <a:rPr lang="en-US" altLang="zh-TW" sz="2000" b="0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(</a:t>
            </a:r>
            <a:r>
              <a:rPr lang="zh-TW" altLang="en-US" sz="2000" b="0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未來將提供短中長期預測</a:t>
            </a:r>
            <a:r>
              <a:rPr lang="en-US" altLang="zh-TW" sz="2000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sz="2000" dirty="0">
              <a:solidFill>
                <a:srgbClr val="FF0000"/>
              </a:solidFill>
            </a:endParaRPr>
          </a:p>
        </p:txBody>
      </p:sp>
      <p:sp>
        <p:nvSpPr>
          <p:cNvPr id="190" name="Google Shape;190;p18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2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：迴歸問題 (Regression)</a:t>
            </a:r>
            <a:endParaRPr dirty="0"/>
          </a:p>
        </p:txBody>
      </p:sp>
      <p:sp>
        <p:nvSpPr>
          <p:cNvPr id="191" name="Google Shape;191;p18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格 1">
                <a:extLst>
                  <a:ext uri="{FF2B5EF4-FFF2-40B4-BE49-F238E27FC236}">
                    <a16:creationId xmlns:a16="http://schemas.microsoft.com/office/drawing/2014/main" id="{500B4407-A198-7B43-0ABF-4D6B4CF4F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56747147"/>
                  </p:ext>
                </p:extLst>
              </p:nvPr>
            </p:nvGraphicFramePr>
            <p:xfrm>
              <a:off x="647700" y="3639846"/>
              <a:ext cx="9373419" cy="2200880"/>
            </p:xfrm>
            <a:graphic>
              <a:graphicData uri="http://schemas.openxmlformats.org/drawingml/2006/table">
                <a:tbl>
                  <a:tblPr firstRow="1" bandRow="1">
                    <a:tableStyleId>{69012ECD-51FC-41F1-AA8D-1B2483CD663E}</a:tableStyleId>
                  </a:tblPr>
                  <a:tblGrid>
                    <a:gridCol w="3124473">
                      <a:extLst>
                        <a:ext uri="{9D8B030D-6E8A-4147-A177-3AD203B41FA5}">
                          <a16:colId xmlns:a16="http://schemas.microsoft.com/office/drawing/2014/main" val="201553602"/>
                        </a:ext>
                      </a:extLst>
                    </a:gridCol>
                    <a:gridCol w="3124473">
                      <a:extLst>
                        <a:ext uri="{9D8B030D-6E8A-4147-A177-3AD203B41FA5}">
                          <a16:colId xmlns:a16="http://schemas.microsoft.com/office/drawing/2014/main" val="1569471700"/>
                        </a:ext>
                      </a:extLst>
                    </a:gridCol>
                    <a:gridCol w="3124473">
                      <a:extLst>
                        <a:ext uri="{9D8B030D-6E8A-4147-A177-3AD203B41FA5}">
                          <a16:colId xmlns:a16="http://schemas.microsoft.com/office/drawing/2014/main" val="2582999260"/>
                        </a:ext>
                      </a:extLst>
                    </a:gridCol>
                  </a:tblGrid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FFFFFF"/>
                              </a:solidFill>
                              <a:effectLst/>
                            </a:rPr>
                            <a:t>指標名稱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 dirty="0">
                              <a:solidFill>
                                <a:srgbClr val="FFFFFF"/>
                              </a:solidFill>
                              <a:effectLst/>
                            </a:rPr>
                            <a:t>公式說明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FFFFFF"/>
                              </a:solidFill>
                              <a:effectLst/>
                            </a:rPr>
                            <a:t>代表意義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356468"/>
                      </a:ext>
                    </a:extLst>
                  </a:tr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dirty="0">
                              <a:solidFill>
                                <a:srgbClr val="1E293B"/>
                              </a:solidFill>
                              <a:effectLst/>
                              <a:highlight>
                                <a:srgbClr val="FFFF00"/>
                              </a:highlight>
                            </a:rPr>
                            <a:t>MAE / MSE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ar-AE" altLang="zh-TW" i="1">
                                        <a:highlight>
                                          <a:srgbClr val="FFFF00"/>
                                        </a:highlight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 altLang="zh-TW">
                                        <a:highlight>
                                          <a:srgbClr val="FFFF00"/>
                                        </a:highlight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TW" altLang="ar-AE" i="1">
                                        <a:highlight>
                                          <a:srgbClr val="FFFF00"/>
                                        </a:highlight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el-GR" altLang="zh-TW" i="0">
                                    <a:highlight>
                                      <a:srgbClr val="FFFF00"/>
                                    </a:highlight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ar-AE" altLang="zh-TW" i="1">
                                        <a:highlight>
                                          <a:srgbClr val="FFFF00"/>
                                        </a:highlight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altLang="zh-TW" i="1">
                                            <a:highlight>
                                              <a:srgbClr val="FFFF00"/>
                                            </a:highlight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ar-AE" i="1">
                                            <a:highlight>
                                              <a:srgbClr val="FFFF00"/>
                                            </a:highlight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zh-TW" altLang="ar-AE" i="1">
                                            <a:highlight>
                                              <a:srgbClr val="FFFF00"/>
                                            </a:highlight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altLang="zh-TW" i="0">
                                        <a:highlight>
                                          <a:srgbClr val="FFFF00"/>
                                        </a:highlight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ar-AE" altLang="zh-TW" i="1">
                                            <a:highlight>
                                              <a:srgbClr val="FFFF00"/>
                                            </a:highlight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ar-AE" altLang="zh-TW" i="1">
                                                <a:highlight>
                                                  <a:srgbClr val="FFFF00"/>
                                                </a:highlight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zh-TW" altLang="ar-AE" i="1">
                                                <a:highlight>
                                                  <a:srgbClr val="FFFF00"/>
                                                </a:highlight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zh-TW" altLang="ar-AE" i="1">
                                            <a:highlight>
                                              <a:srgbClr val="FFFF00"/>
                                            </a:highlight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ar-AE" dirty="0">
                            <a:solidFill>
                              <a:srgbClr val="1E293B"/>
                            </a:solidFill>
                            <a:effectLst/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1E293B"/>
                              </a:solidFill>
                              <a:effectLst/>
                            </a:rPr>
                            <a:t>數值預測誤差絕對量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3580304090"/>
                      </a:ext>
                    </a:extLst>
                  </a:tr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>
                              <a:solidFill>
                                <a:srgbClr val="1E293B"/>
                              </a:solidFill>
                              <a:effectLst/>
                              <a:highlight>
                                <a:srgbClr val="FFFF00"/>
                              </a:highlight>
                            </a:rPr>
                            <a:t>RMSE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ar-AE" altLang="zh-TW" b="0" i="1">
                                        <a:highlight>
                                          <a:srgbClr val="FFFF00"/>
                                        </a:highlight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zh-TW" b="0">
                                        <a:highlight>
                                          <a:srgbClr val="FFFF00"/>
                                        </a:highlight>
                                      </a:rPr>
                                      <m:t>MSE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ar-AE" dirty="0">
                            <a:solidFill>
                              <a:srgbClr val="1E293B"/>
                            </a:solidFill>
                            <a:effectLst/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1E293B"/>
                              </a:solidFill>
                              <a:effectLst/>
                            </a:rPr>
                            <a:t>對極端誤差較敏感的指標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641184465"/>
                      </a:ext>
                    </a:extLst>
                  </a:tr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dirty="0">
                              <a:solidFill>
                                <a:srgbClr val="1E293B"/>
                              </a:solidFill>
                              <a:effectLst/>
                              <a:highlight>
                                <a:srgbClr val="FFFF00"/>
                              </a:highlight>
                            </a:rPr>
                            <a:t>R² / Adj. R²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ar-AE" altLang="zh-TW">
                                  <a:highlight>
                                    <a:srgbClr val="FFFF00"/>
                                  </a:highlight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 altLang="zh-TW" i="0">
                                  <a:highlight>
                                    <a:srgbClr val="FFFF00"/>
                                  </a:highlight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ar-AE" altLang="zh-TW" i="1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altLang="zh-TW" b="0" i="1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</a:rPr>
                                    <m:t>SSres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en-US" altLang="zh-TW" b="0" i="1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</a:rPr>
                                    <m:t>SStot</m:t>
                                  </m:r>
                                </m:den>
                              </m:f>
                            </m:oMath>
                          </a14:m>
                          <a:r>
                            <a:rPr lang="zh-TW" altLang="en-US" dirty="0">
                              <a:solidFill>
                                <a:srgbClr val="1E293B"/>
                              </a:solidFill>
                              <a:effectLst/>
                              <a:highlight>
                                <a:srgbClr val="FFFF00"/>
                              </a:highlight>
                            </a:rPr>
                            <a:t>    </a:t>
                          </a:r>
                          <a:r>
                            <a:rPr lang="zh-TW" altLang="en-US" b="1" dirty="0">
                              <a:solidFill>
                                <a:srgbClr val="FF0000"/>
                              </a:solidFill>
                              <a:effectLst/>
                              <a:highlight>
                                <a:srgbClr val="FFFF00"/>
                              </a:highlight>
                            </a:rPr>
                            <a:t>寫錯要改</a:t>
                          </a:r>
                          <a:endParaRPr lang="ar-AE" b="1" dirty="0">
                            <a:solidFill>
                              <a:srgbClr val="FF0000"/>
                            </a:solidFill>
                            <a:effectLst/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 dirty="0">
                              <a:solidFill>
                                <a:srgbClr val="1E293B"/>
                              </a:solidFill>
                              <a:effectLst/>
                            </a:rPr>
                            <a:t>模型對變異量的解釋能力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362391147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格 1">
                <a:extLst>
                  <a:ext uri="{FF2B5EF4-FFF2-40B4-BE49-F238E27FC236}">
                    <a16:creationId xmlns:a16="http://schemas.microsoft.com/office/drawing/2014/main" id="{500B4407-A198-7B43-0ABF-4D6B4CF4F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56747147"/>
                  </p:ext>
                </p:extLst>
              </p:nvPr>
            </p:nvGraphicFramePr>
            <p:xfrm>
              <a:off x="647700" y="3639846"/>
              <a:ext cx="9373419" cy="2200880"/>
            </p:xfrm>
            <a:graphic>
              <a:graphicData uri="http://schemas.openxmlformats.org/drawingml/2006/table">
                <a:tbl>
                  <a:tblPr firstRow="1" bandRow="1">
                    <a:tableStyleId>{69012ECD-51FC-41F1-AA8D-1B2483CD663E}</a:tableStyleId>
                  </a:tblPr>
                  <a:tblGrid>
                    <a:gridCol w="3124473">
                      <a:extLst>
                        <a:ext uri="{9D8B030D-6E8A-4147-A177-3AD203B41FA5}">
                          <a16:colId xmlns:a16="http://schemas.microsoft.com/office/drawing/2014/main" val="201553602"/>
                        </a:ext>
                      </a:extLst>
                    </a:gridCol>
                    <a:gridCol w="3124473">
                      <a:extLst>
                        <a:ext uri="{9D8B030D-6E8A-4147-A177-3AD203B41FA5}">
                          <a16:colId xmlns:a16="http://schemas.microsoft.com/office/drawing/2014/main" val="1569471700"/>
                        </a:ext>
                      </a:extLst>
                    </a:gridCol>
                    <a:gridCol w="3124473">
                      <a:extLst>
                        <a:ext uri="{9D8B030D-6E8A-4147-A177-3AD203B41FA5}">
                          <a16:colId xmlns:a16="http://schemas.microsoft.com/office/drawing/2014/main" val="2582999260"/>
                        </a:ext>
                      </a:extLst>
                    </a:gridCol>
                  </a:tblGrid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FFFFFF"/>
                              </a:solidFill>
                              <a:effectLst/>
                            </a:rPr>
                            <a:t>指標名稱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 dirty="0">
                              <a:solidFill>
                                <a:srgbClr val="FFFFFF"/>
                              </a:solidFill>
                              <a:effectLst/>
                            </a:rPr>
                            <a:t>公式說明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FFFFFF"/>
                              </a:solidFill>
                              <a:effectLst/>
                            </a:rPr>
                            <a:t>代表意義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356468"/>
                      </a:ext>
                    </a:extLst>
                  </a:tr>
                  <a:tr h="62941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dirty="0">
                              <a:solidFill>
                                <a:srgbClr val="1E293B"/>
                              </a:solidFill>
                              <a:effectLst/>
                              <a:highlight>
                                <a:srgbClr val="FFFF00"/>
                              </a:highlight>
                            </a:rPr>
                            <a:t>MAE / MSE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114300" marR="114300" marT="114300" marB="114300" anchor="ctr">
                        <a:blipFill>
                          <a:blip r:embed="rId3"/>
                          <a:stretch>
                            <a:fillRect l="-100391" t="-79808" r="-100586" b="-1701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1E293B"/>
                              </a:solidFill>
                              <a:effectLst/>
                            </a:rPr>
                            <a:t>數值預測誤差絕對量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3580304090"/>
                      </a:ext>
                    </a:extLst>
                  </a:tr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>
                              <a:solidFill>
                                <a:srgbClr val="1E293B"/>
                              </a:solidFill>
                              <a:effectLst/>
                              <a:highlight>
                                <a:srgbClr val="FFFF00"/>
                              </a:highlight>
                            </a:rPr>
                            <a:t>RMSE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114300" marR="114300" marT="114300" marB="114300" anchor="ctr">
                        <a:blipFill>
                          <a:blip r:embed="rId3"/>
                          <a:stretch>
                            <a:fillRect l="-100391" t="-228049" r="-100586" b="-1158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1E293B"/>
                              </a:solidFill>
                              <a:effectLst/>
                            </a:rPr>
                            <a:t>對極端誤差較敏感的指標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641184465"/>
                      </a:ext>
                    </a:extLst>
                  </a:tr>
                  <a:tr h="56953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dirty="0">
                              <a:solidFill>
                                <a:srgbClr val="1E293B"/>
                              </a:solidFill>
                              <a:effectLst/>
                              <a:highlight>
                                <a:srgbClr val="FFFF00"/>
                              </a:highlight>
                            </a:rPr>
                            <a:t>R² / Adj. R²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114300" marR="114300" marT="114300" marB="114300" anchor="ctr">
                        <a:blipFill>
                          <a:blip r:embed="rId3"/>
                          <a:stretch>
                            <a:fillRect l="-100391" t="-286170" r="-100586" b="-10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 dirty="0">
                              <a:solidFill>
                                <a:srgbClr val="1E293B"/>
                              </a:solidFill>
                              <a:effectLst/>
                            </a:rPr>
                            <a:t>模型對變異量的解釋能力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3623911476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 txBox="1"/>
          <p:nvPr/>
        </p:nvSpPr>
        <p:spPr>
          <a:xfrm>
            <a:off x="571500" y="3473350"/>
            <a:ext cx="52197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P,D,Q</a:t>
            </a:r>
            <a:r>
              <a:rPr lang="en-US" sz="4400" b="1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(p, d, q)</a:t>
            </a:r>
            <a:endParaRPr sz="600" dirty="0"/>
          </a:p>
        </p:txBody>
      </p:sp>
      <p:sp>
        <p:nvSpPr>
          <p:cNvPr id="198" name="Google Shape;198;p19"/>
          <p:cNvSpPr txBox="1"/>
          <p:nvPr/>
        </p:nvSpPr>
        <p:spPr>
          <a:xfrm>
            <a:off x="5899785" y="2758470"/>
            <a:ext cx="5614035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基準模型 (Baseline)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捕捉單變數時間序列之線性趨勢與季節性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0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優點：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數學基礎穩固、計算快速。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000" b="1" i="0" u="none" strike="noStrike" cap="none" dirty="0" err="1">
                <a:solidFill>
                  <a:srgbClr val="00B050"/>
                </a:solidFill>
                <a:latin typeface="DM Sans"/>
                <a:ea typeface="DM Sans"/>
                <a:cs typeface="DM Sans"/>
                <a:sym typeface="DM Sans"/>
              </a:rPr>
              <a:t>缺點：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無法處理複雜非線性關係及多因子連動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</a:p>
          <a:p>
            <a:pPr lvl="0">
              <a:lnSpc>
                <a:spcPct val="150000"/>
              </a:lnSpc>
            </a:pPr>
            <a:r>
              <a:rPr lang="zh-TW" altLang="zh-TW" sz="1600" dirty="0">
                <a:solidFill>
                  <a:srgbClr val="FF0000"/>
                </a:solidFill>
                <a:highlight>
                  <a:srgbClr val="C0C0C0"/>
                </a:highlight>
              </a:rPr>
              <a:t>本研究僅作為歷史沿革介紹，未實際實作。</a:t>
            </a:r>
            <a:endParaRPr sz="1600" dirty="0">
              <a:solidFill>
                <a:srgbClr val="FF0000"/>
              </a:solidFill>
              <a:highlight>
                <a:srgbClr val="C0C0C0"/>
              </a:highlight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EFB8C60-E17A-92BA-389E-4256222211E3}"/>
              </a:ext>
            </a:extLst>
          </p:cNvPr>
          <p:cNvSpPr txBox="1"/>
          <p:nvPr/>
        </p:nvSpPr>
        <p:spPr>
          <a:xfrm>
            <a:off x="3682181" y="4827567"/>
            <a:ext cx="21090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</a:rPr>
              <a:t>說明一下 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CE58700-F8D0-E2BD-D0A4-9F530258C262}"/>
              </a:ext>
            </a:extLst>
          </p:cNvPr>
          <p:cNvSpPr txBox="1"/>
          <p:nvPr/>
        </p:nvSpPr>
        <p:spPr>
          <a:xfrm>
            <a:off x="7492181" y="5131400"/>
            <a:ext cx="29398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</a:rPr>
              <a:t>把實作做出來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4BD6D0-2BCB-198A-5DDE-DFC10AE23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ARIMA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468B97-B4C8-2CBC-3736-A774B5950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600200"/>
            <a:ext cx="11321845" cy="4525963"/>
          </a:xfrm>
        </p:spPr>
        <p:txBody>
          <a:bodyPr>
            <a:normAutofit/>
          </a:bodyPr>
          <a:lstStyle/>
          <a:p>
            <a:r>
              <a:rPr lang="zh-TW" altLang="en-US" dirty="0"/>
              <a:t>最常用</a:t>
            </a:r>
            <a:endParaRPr lang="en-US" altLang="zh-TW" dirty="0"/>
          </a:p>
          <a:p>
            <a:r>
              <a:rPr lang="zh-TW" altLang="en-US" dirty="0"/>
              <a:t>單變量</a:t>
            </a:r>
            <a:endParaRPr lang="en-US" altLang="zh-TW" dirty="0"/>
          </a:p>
          <a:p>
            <a:r>
              <a:rPr lang="zh-TW" altLang="en-US" dirty="0"/>
              <a:t>把三個整合為一體</a:t>
            </a:r>
            <a:endParaRPr lang="en-US" altLang="zh-TW" dirty="0"/>
          </a:p>
          <a:p>
            <a:r>
              <a:rPr lang="en-US" altLang="zh-TW" dirty="0"/>
              <a:t>ARIMA = </a:t>
            </a:r>
            <a:r>
              <a:rPr lang="en-US" altLang="zh-TW" dirty="0" err="1"/>
              <a:t>AutoRegressive</a:t>
            </a:r>
            <a:r>
              <a:rPr lang="en-US" altLang="zh-TW" dirty="0"/>
              <a:t> Integrated Moving Average</a:t>
            </a:r>
            <a:r>
              <a:rPr lang="zh-TW" altLang="en-US" dirty="0"/>
              <a:t>，由三個部分組成，參數寫成 </a:t>
            </a:r>
            <a:r>
              <a:rPr lang="en-US" altLang="zh-TW" b="1" dirty="0"/>
              <a:t>(p, d, q)</a:t>
            </a:r>
            <a:r>
              <a:rPr lang="zh-TW" altLang="en-US" dirty="0"/>
              <a:t>：</a:t>
            </a:r>
          </a:p>
          <a:p>
            <a:r>
              <a:rPr lang="en-US" altLang="zh-TW" b="1" dirty="0"/>
              <a:t>AR(p) </a:t>
            </a:r>
            <a:r>
              <a:rPr lang="zh-TW" altLang="en-US" b="1" dirty="0"/>
              <a:t>自迴歸</a:t>
            </a:r>
            <a:r>
              <a:rPr lang="zh-TW" altLang="en-US" dirty="0"/>
              <a:t>：用過去 </a:t>
            </a:r>
            <a:r>
              <a:rPr lang="en-US" altLang="zh-TW" dirty="0"/>
              <a:t>p </a:t>
            </a:r>
            <a:r>
              <a:rPr lang="zh-TW" altLang="en-US" dirty="0"/>
              <a:t>期的「值」預測現在</a:t>
            </a:r>
          </a:p>
          <a:p>
            <a:r>
              <a:rPr lang="en-US" altLang="zh-TW" b="1" dirty="0"/>
              <a:t>I(d) </a:t>
            </a:r>
            <a:r>
              <a:rPr lang="zh-TW" altLang="en-US" b="1" dirty="0"/>
              <a:t>差分</a:t>
            </a:r>
            <a:r>
              <a:rPr lang="zh-TW" altLang="en-US" dirty="0"/>
              <a:t>：做 </a:t>
            </a:r>
            <a:r>
              <a:rPr lang="en-US" altLang="zh-TW" dirty="0"/>
              <a:t>d </a:t>
            </a:r>
            <a:r>
              <a:rPr lang="zh-TW" altLang="en-US" dirty="0"/>
              <a:t>次差分，把不穩定的序列轉成穩定</a:t>
            </a:r>
          </a:p>
          <a:p>
            <a:r>
              <a:rPr lang="en-US" altLang="zh-TW" b="1" dirty="0"/>
              <a:t>MA(q) </a:t>
            </a:r>
            <a:r>
              <a:rPr lang="zh-TW" altLang="en-US" b="1" dirty="0"/>
              <a:t>移動平均</a:t>
            </a:r>
            <a:r>
              <a:rPr lang="zh-TW" altLang="en-US" dirty="0"/>
              <a:t>：用過去 </a:t>
            </a:r>
            <a:r>
              <a:rPr lang="en-US" altLang="zh-TW" dirty="0"/>
              <a:t>q </a:t>
            </a:r>
            <a:r>
              <a:rPr lang="zh-TW" altLang="en-US" dirty="0"/>
              <a:t>期的「預測誤差」修正</a:t>
            </a:r>
          </a:p>
          <a:p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424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集成sample</a:t>
            </a:r>
            <a:r>
              <a:rPr 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learning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  <p:sp>
        <p:nvSpPr>
          <p:cNvPr id="6" name="Google Shape;210;p20">
            <a:extLst>
              <a:ext uri="{FF2B5EF4-FFF2-40B4-BE49-F238E27FC236}">
                <a16:creationId xmlns:a16="http://schemas.microsoft.com/office/drawing/2014/main" id="{A5B9CAE6-49DF-5162-5179-B60FF15FB9F4}"/>
              </a:ext>
            </a:extLst>
          </p:cNvPr>
          <p:cNvSpPr txBox="1"/>
          <p:nvPr/>
        </p:nvSpPr>
        <p:spPr>
          <a:xfrm>
            <a:off x="4856996" y="4443364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>
                <a:solidFill>
                  <a:srgbClr val="FF0000"/>
                </a:solidFill>
                <a:sym typeface="DM Sans"/>
              </a:rPr>
              <a:t>其他模型請參閱教科書</a:t>
            </a:r>
            <a:endParaRPr dirty="0">
              <a:solidFill>
                <a:srgbClr val="FF0000"/>
              </a:solidFill>
            </a:endParaRPr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068AFE73-D5C8-F147-2024-8A7711C5E2DD}"/>
              </a:ext>
            </a:extLst>
          </p:cNvPr>
          <p:cNvCxnSpPr/>
          <p:nvPr/>
        </p:nvCxnSpPr>
        <p:spPr>
          <a:xfrm flipV="1">
            <a:off x="6485334" y="3864077"/>
            <a:ext cx="456240" cy="509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5EA6B0F1-9337-7CDA-47D8-016B862F581C}"/>
              </a:ext>
            </a:extLst>
          </p:cNvPr>
          <p:cNvCxnSpPr>
            <a:cxnSpLocks/>
          </p:cNvCxnSpPr>
          <p:nvPr/>
        </p:nvCxnSpPr>
        <p:spPr>
          <a:xfrm>
            <a:off x="6448146" y="4816827"/>
            <a:ext cx="233353" cy="5810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59E6B7A3-FB60-082E-6083-0A114BF22811}"/>
              </a:ext>
            </a:extLst>
          </p:cNvPr>
          <p:cNvCxnSpPr>
            <a:cxnSpLocks/>
          </p:cNvCxnSpPr>
          <p:nvPr/>
        </p:nvCxnSpPr>
        <p:spPr>
          <a:xfrm flipH="1">
            <a:off x="4766922" y="4874608"/>
            <a:ext cx="391259" cy="3659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A15F2C0-8BBA-AE9F-E756-76E53319C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抽樣 抽出子集 </a:t>
            </a:r>
            <a:endParaRPr lang="en-US" altLang="zh-TW" dirty="0"/>
          </a:p>
          <a:p>
            <a:r>
              <a:rPr lang="zh-TW" altLang="en-US" dirty="0"/>
              <a:t>很多樹 都是森林</a:t>
            </a:r>
            <a:endParaRPr lang="en-US" altLang="zh-TW" dirty="0"/>
          </a:p>
          <a:p>
            <a:r>
              <a:rPr lang="zh-TW" altLang="en-US" dirty="0"/>
              <a:t>多數決</a:t>
            </a:r>
            <a:endParaRPr lang="en-US" altLang="zh-TW" dirty="0"/>
          </a:p>
          <a:p>
            <a:r>
              <a:rPr lang="en-US" altLang="zh-TW" dirty="0"/>
              <a:t>(</a:t>
            </a:r>
            <a:r>
              <a:rPr lang="zh-TW" altLang="en-US" dirty="0"/>
              <a:t>畫圖 旁邊有解釋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Google Shape;210;p20">
            <a:extLst>
              <a:ext uri="{FF2B5EF4-FFF2-40B4-BE49-F238E27FC236}">
                <a16:creationId xmlns:a16="http://schemas.microsoft.com/office/drawing/2014/main" id="{2A31CD39-6461-CC8A-B59C-A2548AEBAB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9013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7209" y="2006219"/>
            <a:ext cx="6183261" cy="4338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/>
          <p:cNvSpPr txBox="1"/>
          <p:nvPr/>
        </p:nvSpPr>
        <p:spPr>
          <a:xfrm>
            <a:off x="386305" y="2566580"/>
            <a:ext cx="5747795" cy="2462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LSTM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架構特性</a:t>
            </a:r>
            <a:endParaRPr lang="en-US" sz="2400" b="1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404" b="1" dirty="0">
              <a:latin typeface="DM Sans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/>
              <a:t>透過遺忘門、輸入門與輸出門控制記憶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/>
              <a:t>擅長捕捉金融數據中的長短期依賴關係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b="1" dirty="0"/>
              <a:t>端到端學習：</a:t>
            </a:r>
            <a:r>
              <a:rPr lang="zh-TW" altLang="en-US" sz="1800" dirty="0"/>
              <a:t> 神經網路自動提取特徵，不需手動 </a:t>
            </a:r>
            <a:r>
              <a:rPr lang="en-US" altLang="zh-TW" sz="1800" dirty="0"/>
              <a:t>Feature Engineering</a:t>
            </a:r>
            <a:r>
              <a:rPr lang="zh-TW" altLang="en-US" sz="1800" dirty="0"/>
              <a:t>。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pic>
        <p:nvPicPr>
          <p:cNvPr id="227" name="Google Shape;22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65348" y="2110994"/>
            <a:ext cx="5940347" cy="402753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深度學習：LSTM 神經網路</a:t>
            </a:r>
            <a:endParaRPr/>
          </a:p>
        </p:txBody>
      </p:sp>
      <p:sp>
        <p:nvSpPr>
          <p:cNvPr id="235" name="Google Shape;235;p21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98B46-DC98-3D34-00DE-EDE24C3F6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59680F0-DDD5-A5D2-0962-6B198D4EC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8001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647700" y="4022024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GPT-3.5</a:t>
            </a:r>
            <a:endParaRPr sz="24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795337" y="4494473"/>
            <a:ext cx="2952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分類任務（漲跌）</a:t>
            </a:r>
            <a:endParaRPr sz="1800" dirty="0"/>
          </a:p>
        </p:txBody>
      </p:sp>
      <p:sp>
        <p:nvSpPr>
          <p:cNvPr id="247" name="Google Shape;247;p22"/>
          <p:cNvSpPr txBox="1"/>
          <p:nvPr/>
        </p:nvSpPr>
        <p:spPr>
          <a:xfrm>
            <a:off x="4545806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GPT-4o-mini</a:t>
            </a:r>
            <a:endParaRPr sz="2400" dirty="0"/>
          </a:p>
        </p:txBody>
      </p:sp>
      <p:sp>
        <p:nvSpPr>
          <p:cNvPr id="248" name="Google Shape;248;p22"/>
          <p:cNvSpPr txBox="1"/>
          <p:nvPr/>
        </p:nvSpPr>
        <p:spPr>
          <a:xfrm>
            <a:off x="4693443" y="4488724"/>
            <a:ext cx="2952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小樣本數值迴歸</a:t>
            </a:r>
            <a:endParaRPr sz="1800" dirty="0"/>
          </a:p>
        </p:txBody>
      </p:sp>
      <p:pic>
        <p:nvPicPr>
          <p:cNvPr id="249" name="Google Shape;24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48698" y="3311631"/>
            <a:ext cx="566989" cy="558238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2"/>
          <p:cNvSpPr txBox="1"/>
          <p:nvPr/>
        </p:nvSpPr>
        <p:spPr>
          <a:xfrm>
            <a:off x="8308181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Prompt Engineering</a:t>
            </a:r>
            <a:endParaRPr sz="2400" dirty="0"/>
          </a:p>
        </p:txBody>
      </p:sp>
      <p:sp>
        <p:nvSpPr>
          <p:cNvPr id="251" name="Google Shape;251;p22"/>
          <p:cNvSpPr txBox="1"/>
          <p:nvPr/>
        </p:nvSpPr>
        <p:spPr>
          <a:xfrm>
            <a:off x="8455818" y="4488724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技術指標數值轉文字，引導模型零樣本預測</a:t>
            </a:r>
            <a:endParaRPr sz="1800" dirty="0"/>
          </a:p>
        </p:txBody>
      </p:sp>
      <p:sp>
        <p:nvSpPr>
          <p:cNvPr id="252" name="Google Shape;252;p22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LLM：金融輔助決策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45;p22">
            <a:extLst>
              <a:ext uri="{FF2B5EF4-FFF2-40B4-BE49-F238E27FC236}">
                <a16:creationId xmlns:a16="http://schemas.microsoft.com/office/drawing/2014/main" id="{7FF8DCA4-76B3-479C-CFE4-23BB0B58CE0D}"/>
              </a:ext>
            </a:extLst>
          </p:cNvPr>
          <p:cNvSpPr txBox="1"/>
          <p:nvPr/>
        </p:nvSpPr>
        <p:spPr>
          <a:xfrm>
            <a:off x="547687" y="5756923"/>
            <a:ext cx="34480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F1 </a:t>
            </a:r>
            <a:r>
              <a:rPr lang="zh-TW" altLang="en-US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約 </a:t>
            </a:r>
            <a:r>
              <a:rPr lang="en-US" altLang="zh-TW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0.48</a:t>
            </a:r>
            <a:r>
              <a:rPr lang="zh-TW" altLang="en-US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，遜於傳統模型，但能提供可解釋文本</a:t>
            </a:r>
            <a:endParaRPr sz="1800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6" name="圖片 5" descr="ChatGPT 人工智能標誌圖標| Premium矢量">
            <a:extLst>
              <a:ext uri="{FF2B5EF4-FFF2-40B4-BE49-F238E27FC236}">
                <a16:creationId xmlns:a16="http://schemas.microsoft.com/office/drawing/2014/main" id="{CDCB6382-6871-4FE8-F8DB-ADCD445826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D4AF37"/>
              </a:clrFrom>
              <a:clrTo>
                <a:srgbClr val="D4AF37">
                  <a:alpha val="0"/>
                </a:srgbClr>
              </a:clrTo>
            </a:clrChange>
          </a:blip>
          <a:stretch/>
        </p:blipFill>
        <p:spPr>
          <a:xfrm>
            <a:off x="1815764" y="3105612"/>
            <a:ext cx="764257" cy="764257"/>
          </a:xfrm>
          <a:prstGeom prst="rect">
            <a:avLst/>
          </a:prstGeom>
          <a:noFill/>
        </p:spPr>
      </p:pic>
      <p:pic>
        <p:nvPicPr>
          <p:cNvPr id="7" name="圖片 6" descr="Gemini for macOS：原生AI 電腦版應用程式">
            <a:extLst>
              <a:ext uri="{FF2B5EF4-FFF2-40B4-BE49-F238E27FC236}">
                <a16:creationId xmlns:a16="http://schemas.microsoft.com/office/drawing/2014/main" id="{FD830594-1296-CA10-698F-FD54B06529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235349" y="3105612"/>
            <a:ext cx="1721300" cy="8825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3"/>
          <p:cNvSpPr txBox="1"/>
          <p:nvPr/>
        </p:nvSpPr>
        <p:spPr>
          <a:xfrm>
            <a:off x="455381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/>
          </a:p>
        </p:txBody>
      </p:sp>
      <p:sp>
        <p:nvSpPr>
          <p:cNvPr id="260" name="Google Shape;260;p23"/>
          <p:cNvSpPr txBox="1"/>
          <p:nvPr/>
        </p:nvSpPr>
        <p:spPr>
          <a:xfrm>
            <a:off x="491290" y="4238491"/>
            <a:ext cx="1436340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2057367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預處理</a:t>
            </a:r>
            <a:endParaRPr sz="2400"/>
          </a:p>
        </p:txBody>
      </p:sp>
      <p:sp>
        <p:nvSpPr>
          <p:cNvPr id="262" name="Google Shape;262;p23"/>
          <p:cNvSpPr txBox="1"/>
          <p:nvPr/>
        </p:nvSpPr>
        <p:spPr>
          <a:xfrm>
            <a:off x="2093275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清洗、缺失值插補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3659353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EDA</a:t>
            </a:r>
            <a:endParaRPr sz="2400"/>
          </a:p>
        </p:txBody>
      </p:sp>
      <p:sp>
        <p:nvSpPr>
          <p:cNvPr id="264" name="Google Shape;264;p23"/>
          <p:cNvSpPr txBox="1"/>
          <p:nvPr/>
        </p:nvSpPr>
        <p:spPr>
          <a:xfrm>
            <a:off x="3565828" y="4238491"/>
            <a:ext cx="1731419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皮爾森相關分析</a:t>
            </a:r>
            <a:endParaRPr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61339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2400"/>
          </a:p>
        </p:txBody>
      </p:sp>
      <p:sp>
        <p:nvSpPr>
          <p:cNvPr id="266" name="Google Shape;266;p23"/>
          <p:cNvSpPr txBox="1"/>
          <p:nvPr/>
        </p:nvSpPr>
        <p:spPr>
          <a:xfrm>
            <a:off x="5297247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僅對 ML 執行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6863325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/>
          </a:p>
        </p:txBody>
      </p:sp>
      <p:sp>
        <p:nvSpPr>
          <p:cNvPr id="268" name="Google Shape;268;p23"/>
          <p:cNvSpPr txBox="1"/>
          <p:nvPr/>
        </p:nvSpPr>
        <p:spPr>
          <a:xfrm>
            <a:off x="6769496" y="4203736"/>
            <a:ext cx="173142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TimeSeriesSplit</a:t>
            </a:r>
            <a:endParaRPr dirty="0"/>
          </a:p>
        </p:txBody>
      </p:sp>
      <p:sp>
        <p:nvSpPr>
          <p:cNvPr id="269" name="Google Shape;269;p23"/>
          <p:cNvSpPr txBox="1"/>
          <p:nvPr/>
        </p:nvSpPr>
        <p:spPr>
          <a:xfrm>
            <a:off x="8465311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超參調教</a:t>
            </a:r>
            <a:endParaRPr sz="2400"/>
          </a:p>
        </p:txBody>
      </p:sp>
      <p:sp>
        <p:nvSpPr>
          <p:cNvPr id="270" name="Google Shape;270;p23"/>
          <p:cNvSpPr txBox="1"/>
          <p:nvPr/>
        </p:nvSpPr>
        <p:spPr>
          <a:xfrm>
            <a:off x="8537128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網格搜尋</a:t>
            </a:r>
            <a:endParaRPr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10067297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/>
          </a:p>
        </p:txBody>
      </p:sp>
      <p:sp>
        <p:nvSpPr>
          <p:cNvPr id="272" name="Google Shape;272;p23"/>
          <p:cNvSpPr txBox="1"/>
          <p:nvPr/>
        </p:nvSpPr>
        <p:spPr>
          <a:xfrm>
            <a:off x="10103205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計算各項</a:t>
            </a:r>
            <a:r>
              <a:rPr lang="en-US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Metrics</a:t>
            </a:r>
            <a:endParaRPr dirty="0"/>
          </a:p>
        </p:txBody>
      </p:sp>
      <p:sp>
        <p:nvSpPr>
          <p:cNvPr id="273" name="Google Shape;273;p23"/>
          <p:cNvSpPr/>
          <p:nvPr/>
        </p:nvSpPr>
        <p:spPr>
          <a:xfrm>
            <a:off x="455381" y="2963779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760463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研究流程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Pipeline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 machine learning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1091336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2693322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4295307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97293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499279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3"/>
          <p:cNvSpPr/>
          <p:nvPr/>
        </p:nvSpPr>
        <p:spPr>
          <a:xfrm>
            <a:off x="9101265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10703251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1DEFE47-2665-0ABF-F6D1-3398B6F23B49}"/>
              </a:ext>
            </a:extLst>
          </p:cNvPr>
          <p:cNvSpPr txBox="1"/>
          <p:nvPr/>
        </p:nvSpPr>
        <p:spPr>
          <a:xfrm>
            <a:off x="5581689" y="5122439"/>
            <a:ext cx="4292379" cy="584775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zh-TW" altLang="zh-TW" sz="1600" dirty="0">
                <a:solidFill>
                  <a:srgbClr val="FF0000"/>
                </a:solidFill>
              </a:rPr>
              <a:t>傳統 K-Fold 會打亂時間造成未來資料洩漏；TimeSeriesSplit 確保訓練集永遠早於測試集。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502108346"/>
              </p:ext>
            </p:extLst>
          </p:nvPr>
        </p:nvGraphicFramePr>
        <p:xfrm>
          <a:off x="609600" y="221458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4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4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4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609600" y="6133444"/>
            <a:ext cx="11049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基準（0.736），顯示分類的高分主要來自多頭市場的上漲偏態；</a:t>
            </a:r>
            <a:endParaRPr lang="en-US" altLang="zh-TW" sz="1800" dirty="0"/>
          </a:p>
          <a:p>
            <a:pPr lvl="0"/>
            <a:r>
              <a:rPr lang="zh-TW" altLang="en-US" sz="1800" dirty="0"/>
              <a:t>　　　</a:t>
            </a:r>
            <a:r>
              <a:rPr lang="zh-TW" altLang="zh-TW" sz="1800" dirty="0"/>
              <a:t>雙向 LSTM 因引入未來資訊反而最差。</a:t>
            </a:r>
            <a:endParaRPr sz="1800" dirty="0"/>
          </a:p>
        </p:txBody>
      </p:sp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 (SPY)</a:t>
            </a:r>
            <a:endParaRPr/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03" y="1561822"/>
            <a:ext cx="8228919" cy="457162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716113"/>
            <a:ext cx="5334000" cy="322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716113"/>
            <a:ext cx="5334000" cy="3222576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6"/>
          <p:cNvSpPr txBox="1"/>
          <p:nvPr/>
        </p:nvSpPr>
        <p:spPr>
          <a:xfrm>
            <a:off x="866775" y="3011388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QQQ (</a:t>
            </a: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美股科技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sz="2400" dirty="0"/>
          </a:p>
        </p:txBody>
      </p:sp>
      <p:sp>
        <p:nvSpPr>
          <p:cNvPr id="322" name="Google Shape;322;p26"/>
          <p:cNvSpPr txBox="1"/>
          <p:nvPr/>
        </p:nvSpPr>
        <p:spPr>
          <a:xfrm>
            <a:off x="866775" y="3592413"/>
            <a:ext cx="474345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最佳模型：</a:t>
            </a:r>
            <a:r>
              <a:rPr lang="en-US" sz="1800" b="1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隨機森林</a:t>
            </a:r>
            <a:endParaRPr sz="1800" dirty="0"/>
          </a:p>
        </p:txBody>
      </p:sp>
      <p:sp>
        <p:nvSpPr>
          <p:cNvPr id="323" name="Google Shape;323;p26"/>
          <p:cNvSpPr txBox="1"/>
          <p:nvPr/>
        </p:nvSpPr>
        <p:spPr>
          <a:xfrm>
            <a:off x="866775" y="4087713"/>
            <a:ext cx="474345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F1-score: </a:t>
            </a:r>
            <a:r>
              <a:rPr lang="en-US" sz="1800" b="1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0.732</a:t>
            </a:r>
            <a:endParaRPr sz="1800"/>
          </a:p>
        </p:txBody>
      </p:sp>
      <p:sp>
        <p:nvSpPr>
          <p:cNvPr id="324" name="Google Shape;324;p26"/>
          <p:cNvSpPr txBox="1"/>
          <p:nvPr/>
        </p:nvSpPr>
        <p:spPr>
          <a:xfrm>
            <a:off x="866775" y="4583013"/>
            <a:ext cx="474345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機器學習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</a:t>
            </a: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模型表現穩定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25" name="Google Shape;325;p26"/>
          <p:cNvSpPr txBox="1"/>
          <p:nvPr/>
        </p:nvSpPr>
        <p:spPr>
          <a:xfrm>
            <a:off x="6581775" y="3011388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0050.TW (</a:t>
            </a: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台股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sz="2400" dirty="0"/>
          </a:p>
        </p:txBody>
      </p:sp>
      <p:sp>
        <p:nvSpPr>
          <p:cNvPr id="326" name="Google Shape;326;p26"/>
          <p:cNvSpPr txBox="1"/>
          <p:nvPr/>
        </p:nvSpPr>
        <p:spPr>
          <a:xfrm>
            <a:off x="6581775" y="3592413"/>
            <a:ext cx="474345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最佳模型：</a:t>
            </a:r>
            <a:r>
              <a:rPr lang="en-US" sz="1800" b="1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單層 LSTM</a:t>
            </a:r>
            <a:endParaRPr sz="1800"/>
          </a:p>
        </p:txBody>
      </p:sp>
      <p:sp>
        <p:nvSpPr>
          <p:cNvPr id="327" name="Google Shape;327;p26"/>
          <p:cNvSpPr txBox="1"/>
          <p:nvPr/>
        </p:nvSpPr>
        <p:spPr>
          <a:xfrm>
            <a:off x="6581775" y="4087713"/>
            <a:ext cx="474345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F1-score: </a:t>
            </a:r>
            <a:r>
              <a:rPr lang="en-US" sz="1800" b="1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0.694</a:t>
            </a:r>
            <a:endParaRPr sz="1800"/>
          </a:p>
        </p:txBody>
      </p:sp>
      <p:sp>
        <p:nvSpPr>
          <p:cNvPr id="328" name="Google Shape;328;p26"/>
          <p:cNvSpPr txBox="1"/>
          <p:nvPr/>
        </p:nvSpPr>
        <p:spPr>
          <a:xfrm>
            <a:off x="6581775" y="4583013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台股受盤後美股連動影響，預測難度顯著高於美股。</a:t>
            </a:r>
            <a:endParaRPr lang="zh-TW" altLang="en-US" sz="1800" dirty="0"/>
          </a:p>
        </p:txBody>
      </p:sp>
      <p:sp>
        <p:nvSpPr>
          <p:cNvPr id="329" name="Google Shape;329;p26"/>
          <p:cNvSpPr txBox="1"/>
          <p:nvPr/>
        </p:nvSpPr>
        <p:spPr>
          <a:xfrm>
            <a:off x="809625" y="919311"/>
            <a:ext cx="11351418" cy="12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分類結果：跨市場比較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 </a:t>
            </a:r>
            <a:r>
              <a:rPr lang="en-US" altLang="zh-TW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(</a:t>
            </a: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只要說哪一個結果好就好</a:t>
            </a:r>
            <a:r>
              <a:rPr lang="zh-TW" altLang="en-US" sz="3300" b="1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 不用這麼多廢話</a:t>
            </a:r>
            <a:r>
              <a:rPr lang="en-US" altLang="zh-TW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30" name="Google Shape;330;p2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8F6692E-7F2B-7EBE-B31C-26558DFED881}"/>
              </a:ext>
            </a:extLst>
          </p:cNvPr>
          <p:cNvSpPr txBox="1"/>
          <p:nvPr/>
        </p:nvSpPr>
        <p:spPr>
          <a:xfrm>
            <a:off x="2576330" y="6233964"/>
            <a:ext cx="7039339" cy="343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（QQQ 基準 F1 約 0.73、0050.TW 約 0.69，最佳模型與基準差距同樣有限）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迴歸結果：機器學習效能</a:t>
            </a:r>
            <a:endParaRPr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66A97FD-A624-E57E-5041-E402D9C0E5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840"/>
          <a:stretch>
            <a:fillRect/>
          </a:stretch>
        </p:blipFill>
        <p:spPr>
          <a:xfrm>
            <a:off x="313135" y="2341511"/>
            <a:ext cx="7754949" cy="3597177"/>
          </a:xfrm>
          <a:prstGeom prst="rect">
            <a:avLst/>
          </a:prstGeom>
        </p:spPr>
      </p:pic>
      <p:sp>
        <p:nvSpPr>
          <p:cNvPr id="7" name="Google Shape;338;p27">
            <a:extLst>
              <a:ext uri="{FF2B5EF4-FFF2-40B4-BE49-F238E27FC236}">
                <a16:creationId xmlns:a16="http://schemas.microsoft.com/office/drawing/2014/main" id="{80EC67A1-A8F3-26B8-584A-B237CAEEE9D0}"/>
              </a:ext>
            </a:extLst>
          </p:cNvPr>
          <p:cNvSpPr txBox="1"/>
          <p:nvPr/>
        </p:nvSpPr>
        <p:spPr>
          <a:xfrm>
            <a:off x="647700" y="5888920"/>
            <a:ext cx="1123116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四個集成模型 </a:t>
            </a:r>
            <a:r>
              <a:rPr 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R² </a:t>
            </a:r>
            <a:r>
              <a:rPr lang="zh-TW" alt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約 </a:t>
            </a:r>
            <a:r>
              <a:rPr lang="en-US" altLang="zh-TW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0.77–0.83</a:t>
            </a:r>
            <a:r>
              <a:rPr lang="zh-TW" alt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，均低於</a:t>
            </a:r>
            <a:r>
              <a:rPr lang="zh-TW" altLang="en-US" sz="1800" i="0" u="none" strike="sng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隨機漫步基準（</a:t>
            </a:r>
            <a:r>
              <a:rPr lang="en-US" altLang="zh-TW" sz="1800" i="0" u="none" strike="sng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0.999</a:t>
            </a:r>
            <a:r>
              <a:rPr lang="zh-TW" altLang="en-US" sz="1800" i="0" u="none" strike="sng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），</a:t>
            </a:r>
            <a:r>
              <a:rPr lang="zh-TW" alt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顯示價格水準之高 </a:t>
            </a:r>
            <a:r>
              <a:rPr 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R² </a:t>
            </a:r>
            <a:r>
              <a:rPr lang="zh-TW" alt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主要源自序列自相關，而非真實預測能力（</a:t>
            </a:r>
            <a:r>
              <a:rPr 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López de Prado, 2018）。</a:t>
            </a:r>
            <a:endParaRPr sz="1800" dirty="0"/>
          </a:p>
        </p:txBody>
      </p:sp>
      <p:pic>
        <p:nvPicPr>
          <p:cNvPr id="8" name="內容版面配置區 4">
            <a:extLst>
              <a:ext uri="{FF2B5EF4-FFF2-40B4-BE49-F238E27FC236}">
                <a16:creationId xmlns:a16="http://schemas.microsoft.com/office/drawing/2014/main" id="{8D1872B3-24C6-4DFE-8867-786F175C8C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334" y="362783"/>
            <a:ext cx="5455444" cy="2727722"/>
          </a:xfrm>
          <a:prstGeom prst="rect">
            <a:avLst/>
          </a:prstGeom>
        </p:spPr>
      </p:pic>
      <p:sp>
        <p:nvSpPr>
          <p:cNvPr id="2" name="Google Shape;210;p20">
            <a:extLst>
              <a:ext uri="{FF2B5EF4-FFF2-40B4-BE49-F238E27FC236}">
                <a16:creationId xmlns:a16="http://schemas.microsoft.com/office/drawing/2014/main" id="{9F3BFDD2-0E73-64E9-D6D8-BADFC9E05EA4}"/>
              </a:ext>
            </a:extLst>
          </p:cNvPr>
          <p:cNvSpPr txBox="1"/>
          <p:nvPr/>
        </p:nvSpPr>
        <p:spPr>
          <a:xfrm>
            <a:off x="1113790" y="1609397"/>
            <a:ext cx="4288712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>
                <a:solidFill>
                  <a:srgbClr val="FF0000"/>
                </a:solidFill>
                <a:sym typeface="DM Sans"/>
              </a:rPr>
              <a:t>要把</a:t>
            </a:r>
            <a:r>
              <a:rPr lang="en-US" altLang="zh-TW" dirty="0">
                <a:solidFill>
                  <a:srgbClr val="FF0000"/>
                </a:solidFill>
                <a:sym typeface="DM Sans"/>
              </a:rPr>
              <a:t>1</a:t>
            </a:r>
            <a:r>
              <a:rPr lang="zh-TW" altLang="en-US" dirty="0">
                <a:solidFill>
                  <a:srgbClr val="FF0000"/>
                </a:solidFill>
                <a:sym typeface="DM Sans"/>
              </a:rPr>
              <a:t>都拿掉</a:t>
            </a:r>
            <a:br>
              <a:rPr lang="en-US" altLang="zh-TW" dirty="0">
                <a:solidFill>
                  <a:srgbClr val="FF0000"/>
                </a:solidFill>
                <a:sym typeface="DM Sans"/>
              </a:rPr>
            </a:br>
            <a:r>
              <a:rPr lang="zh-TW" altLang="en-US" dirty="0">
                <a:solidFill>
                  <a:srgbClr val="FF0000"/>
                </a:solidFill>
                <a:sym typeface="DM Sans"/>
              </a:rPr>
              <a:t>把不同模型顏色區分開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68B6826A-3E1B-A5D6-A56B-C042856A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3D136D3F-AC91-4700-1460-B56A5A30B7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FDAB8146-B13F-F508-E83B-C868E2D652ED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迴歸結果：報酬率預測與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endParaRPr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5C940DF7-030A-DA3E-DFC4-9834AD135FCC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338;p27">
            <a:extLst>
              <a:ext uri="{FF2B5EF4-FFF2-40B4-BE49-F238E27FC236}">
                <a16:creationId xmlns:a16="http://schemas.microsoft.com/office/drawing/2014/main" id="{114178FA-8F82-E196-7E37-05BB87DD2ED2}"/>
              </a:ext>
            </a:extLst>
          </p:cNvPr>
          <p:cNvSpPr txBox="1"/>
          <p:nvPr/>
        </p:nvSpPr>
        <p:spPr>
          <a:xfrm>
            <a:off x="571500" y="5565336"/>
            <a:ext cx="10337132" cy="41549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zh-TW" altLang="zh-TW" sz="1800" dirty="0"/>
              <a:t>四模型預測次日報酬率 R² 均接近 0 或為負，呼應隨機漫步理論——次日漲跌幅難以由技術指標預測。</a:t>
            </a:r>
            <a:endParaRPr sz="18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256F9FB-99E9-8EA3-B461-63569B68EB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t="8206" r="-4376"/>
          <a:stretch>
            <a:fillRect/>
          </a:stretch>
        </p:blipFill>
        <p:spPr>
          <a:xfrm>
            <a:off x="436945" y="1905802"/>
            <a:ext cx="7031318" cy="3177232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2C145BC-CB14-3FE6-7505-C22332A732CE}"/>
              </a:ext>
            </a:extLst>
          </p:cNvPr>
          <p:cNvSpPr txBox="1"/>
          <p:nvPr/>
        </p:nvSpPr>
        <p:spPr>
          <a:xfrm>
            <a:off x="7530177" y="2716026"/>
            <a:ext cx="4224878" cy="1661993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lnSpc>
                <a:spcPct val="150000"/>
              </a:lnSpc>
              <a:defRPr sz="1600"/>
            </a:lvl1pPr>
          </a:lstStyle>
          <a:p>
            <a:r>
              <a:rPr lang="zh-TW" altLang="zh-TW" sz="1800" dirty="0"/>
              <a:t>GPT-4o-mini（小樣本 50 個交易日） R² = 0.80　MAE = 5.23　RMSE = 6.58 樣本數有限，僅作為 LLM 數值預測之潛力探索，不與傳統模型直接比較。</a:t>
            </a:r>
            <a:endParaRPr lang="zh-TW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3978728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9"/>
          <p:cNvSpPr txBox="1"/>
          <p:nvPr/>
        </p:nvSpPr>
        <p:spPr>
          <a:xfrm>
            <a:off x="571500" y="4959250"/>
            <a:ext cx="4953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低延遲保證在一般終端設備亦能順暢執行，極具商用價值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58" name="Google Shape;358;p29"/>
          <p:cNvSpPr txBox="1"/>
          <p:nvPr/>
        </p:nvSpPr>
        <p:spPr>
          <a:xfrm>
            <a:off x="1047750" y="3063775"/>
            <a:ext cx="4476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Streamlit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+ Plotly + SQLite</a:t>
            </a:r>
            <a:endParaRPr sz="1800" dirty="0"/>
          </a:p>
        </p:txBody>
      </p:sp>
      <p:sp>
        <p:nvSpPr>
          <p:cNvPr id="359" name="Google Shape;359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 txBox="1"/>
          <p:nvPr/>
        </p:nvSpPr>
        <p:spPr>
          <a:xfrm>
            <a:off x="1047750" y="3644413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GPT-3.5 / Gemini API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即時風險摘要</a:t>
            </a:r>
            <a:endParaRPr sz="1800" dirty="0"/>
          </a:p>
        </p:txBody>
      </p:sp>
      <p:sp>
        <p:nvSpPr>
          <p:cNvPr id="361" name="Google Shape;361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 txBox="1"/>
          <p:nvPr/>
        </p:nvSpPr>
        <p:spPr>
          <a:xfrm>
            <a:off x="1047750" y="4225438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平均延遲：</a:t>
            </a:r>
            <a:r>
              <a:rPr lang="en-US" sz="18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840 毫秒</a:t>
            </a:r>
            <a:endParaRPr sz="1800"/>
          </a:p>
        </p:txBody>
      </p:sp>
      <p:sp>
        <p:nvSpPr>
          <p:cNvPr id="363" name="Google Shape;363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7" name="Google Shape;367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092350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6861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9638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平台實作</a:t>
            </a:r>
            <a:endParaRPr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92D2DF1-8899-CD1A-2145-6E63CFC27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425" y="510072"/>
            <a:ext cx="6407288" cy="596465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807369"/>
            <a:ext cx="5334000" cy="25506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807369"/>
            <a:ext cx="5334000" cy="2550694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866775" y="3354288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分類任務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 (</a:t>
            </a: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漲跌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sz="2400" dirty="0"/>
          </a:p>
        </p:txBody>
      </p:sp>
      <p:sp>
        <p:nvSpPr>
          <p:cNvPr id="380" name="Google Shape;380;p30"/>
          <p:cNvSpPr txBox="1"/>
          <p:nvPr/>
        </p:nvSpPr>
        <p:spPr>
          <a:xfrm>
            <a:off x="866775" y="3935313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雖然直覺，但缺乏幅度資訊。實務上難以判斷波動大小，投資價值受限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81" name="Google Shape;381;p30"/>
          <p:cNvSpPr txBox="1"/>
          <p:nvPr/>
        </p:nvSpPr>
        <p:spPr>
          <a:xfrm>
            <a:off x="6581775" y="3354288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迴歸任務 (數值)</a:t>
            </a:r>
            <a:endParaRPr sz="2400"/>
          </a:p>
        </p:txBody>
      </p:sp>
      <p:sp>
        <p:nvSpPr>
          <p:cNvPr id="382" name="Google Shape;382;p30"/>
          <p:cNvSpPr txBox="1"/>
          <p:nvPr/>
        </p:nvSpPr>
        <p:spPr>
          <a:xfrm>
            <a:off x="6581775" y="3935313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能精確計算損益與風險比率，更符合專業投資機構之決策需求。</a:t>
            </a:r>
            <a:endParaRPr sz="1800"/>
          </a:p>
        </p:txBody>
      </p:sp>
      <p:sp>
        <p:nvSpPr>
          <p:cNvPr id="383" name="Google Shape;383;p30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討論：分類與迴歸之抉擇</a:t>
            </a:r>
            <a:endParaRPr/>
          </a:p>
        </p:txBody>
      </p:sp>
      <p:sp>
        <p:nvSpPr>
          <p:cNvPr id="384" name="Google Shape;384;p3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0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95500" y="319409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1"/>
          <p:cNvSpPr txBox="1"/>
          <p:nvPr/>
        </p:nvSpPr>
        <p:spPr>
          <a:xfrm>
            <a:off x="809625" y="3884850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無單一冠軍</a:t>
            </a:r>
            <a:endParaRPr sz="2400" dirty="0"/>
          </a:p>
        </p:txBody>
      </p:sp>
      <p:sp>
        <p:nvSpPr>
          <p:cNvPr id="395" name="Google Shape;395;p31"/>
          <p:cNvSpPr txBox="1"/>
          <p:nvPr/>
        </p:nvSpPr>
        <p:spPr>
          <a:xfrm>
            <a:off x="957262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不同市場與不同時段，最佳模型各異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396" name="Google Shape;396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57875" y="319409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1"/>
          <p:cNvSpPr txBox="1"/>
          <p:nvPr/>
        </p:nvSpPr>
        <p:spPr>
          <a:xfrm>
            <a:off x="4572000" y="3761739"/>
            <a:ext cx="3100387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價格 </a:t>
            </a:r>
            <a:r>
              <a:rPr 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R² </a:t>
            </a:r>
            <a:r>
              <a:rPr lang="zh-TW" alt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高但輸基準、報酬率 </a:t>
            </a:r>
            <a:r>
              <a:rPr 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R² </a:t>
            </a:r>
            <a:r>
              <a:rPr lang="zh-TW" alt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近 </a:t>
            </a:r>
            <a:r>
              <a:rPr lang="en-US" altLang="zh-TW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 </a:t>
            </a:r>
            <a:endParaRPr sz="2000" dirty="0"/>
          </a:p>
        </p:txBody>
      </p:sp>
      <p:sp>
        <p:nvSpPr>
          <p:cNvPr id="398" name="Google Shape;398;p31"/>
          <p:cNvSpPr txBox="1"/>
          <p:nvPr/>
        </p:nvSpPr>
        <p:spPr>
          <a:xfrm>
            <a:off x="4719637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次日走勢難預測，故分類與 </a:t>
            </a:r>
            <a:r>
              <a:rPr lang="en-US" altLang="zh-TW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為輔助</a:t>
            </a:r>
            <a:endParaRPr sz="1800" dirty="0"/>
          </a:p>
        </p:txBody>
      </p:sp>
      <p:pic>
        <p:nvPicPr>
          <p:cNvPr id="399" name="Google Shape;399;p3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0250" y="319409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31"/>
          <p:cNvSpPr txBox="1"/>
          <p:nvPr/>
        </p:nvSpPr>
        <p:spPr>
          <a:xfrm>
            <a:off x="8334375" y="3884850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LLM 定位</a:t>
            </a:r>
            <a:endParaRPr sz="2400"/>
          </a:p>
        </p:txBody>
      </p:sp>
      <p:sp>
        <p:nvSpPr>
          <p:cNvPr id="401" name="Google Shape;401;p31"/>
          <p:cNvSpPr txBox="1"/>
          <p:nvPr/>
        </p:nvSpPr>
        <p:spPr>
          <a:xfrm>
            <a:off x="8482012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適合作為「解釋型」輔助，而非純算力引擎。</a:t>
            </a:r>
            <a:endParaRPr sz="1800"/>
          </a:p>
        </p:txBody>
      </p:sp>
      <p:sp>
        <p:nvSpPr>
          <p:cNvPr id="402" name="Google Shape;402;p31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討論：模型比較關鍵發現</a:t>
            </a:r>
            <a:endParaRPr/>
          </a:p>
        </p:txBody>
      </p:sp>
      <p:sp>
        <p:nvSpPr>
          <p:cNvPr id="403" name="Google Shape;403;p31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393156"/>
            <a:ext cx="5334000" cy="2611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393156"/>
            <a:ext cx="5334000" cy="2611981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5" y="5202138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866775" y="268843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4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6581775" y="268843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40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571500" y="3338573"/>
            <a:ext cx="5334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建立跨市場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(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台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/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美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)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預測基準比較。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揭示台股受國際連動影響之預測難點。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實作 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LLM 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輔助開源平台。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6286500" y="3232443"/>
            <a:ext cx="527589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r>
              <a:rPr lang="zh-TW" altLang="en-US" dirty="0"/>
              <a:t>導入新聞情緒與總經指標分析。</a:t>
            </a:r>
          </a:p>
          <a:p>
            <a:r>
              <a:rPr lang="zh-TW" altLang="en-US" dirty="0"/>
              <a:t>開發 </a:t>
            </a:r>
            <a:r>
              <a:rPr lang="en-US" altLang="zh-TW" dirty="0"/>
              <a:t>LSTM-ARIMA </a:t>
            </a:r>
            <a:r>
              <a:rPr lang="zh-TW" altLang="en-US" dirty="0"/>
              <a:t>混合模型。</a:t>
            </a:r>
          </a:p>
          <a:p>
            <a:r>
              <a:rPr lang="zh-TW" altLang="en-US" dirty="0"/>
              <a:t>進行正式使用者 </a:t>
            </a:r>
            <a:r>
              <a:rPr lang="en-US" altLang="zh-TW" dirty="0"/>
              <a:t>SUS </a:t>
            </a:r>
            <a:r>
              <a:rPr lang="zh-TW" altLang="en-US" dirty="0"/>
              <a:t>量表研究。</a:t>
            </a:r>
            <a:endParaRPr lang="en-US" altLang="zh-TW" dirty="0"/>
          </a:p>
          <a:p>
            <a:r>
              <a:rPr lang="zh-TW" altLang="zh-TW" dirty="0"/>
              <a:t>擴大 LLM 迴歸樣本至完整測試集 </a:t>
            </a:r>
            <a:endParaRPr lang="en-US" altLang="zh-TW" dirty="0"/>
          </a:p>
          <a:p>
            <a:r>
              <a:rPr lang="zh-TW" altLang="zh-TW" dirty="0"/>
              <a:t>比較多種 LLM（Gemini、Llama、Gemma）</a:t>
            </a:r>
            <a:endParaRPr lang="zh-TW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3"/>
          <p:cNvSpPr/>
          <p:nvPr/>
        </p:nvSpPr>
        <p:spPr>
          <a:xfrm>
            <a:off x="571500" y="2458938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33"/>
          <p:cNvSpPr/>
          <p:nvPr/>
        </p:nvSpPr>
        <p:spPr>
          <a:xfrm>
            <a:off x="571500" y="3230463"/>
            <a:ext cx="1104900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33"/>
          <p:cNvSpPr/>
          <p:nvPr/>
        </p:nvSpPr>
        <p:spPr>
          <a:xfrm>
            <a:off x="571500" y="4097238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3"/>
          <p:cNvSpPr/>
          <p:nvPr/>
        </p:nvSpPr>
        <p:spPr>
          <a:xfrm>
            <a:off x="571500" y="32209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33"/>
          <p:cNvSpPr/>
          <p:nvPr/>
        </p:nvSpPr>
        <p:spPr>
          <a:xfrm>
            <a:off x="571500" y="32209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33"/>
          <p:cNvSpPr/>
          <p:nvPr/>
        </p:nvSpPr>
        <p:spPr>
          <a:xfrm>
            <a:off x="571500" y="4087713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33"/>
          <p:cNvSpPr/>
          <p:nvPr/>
        </p:nvSpPr>
        <p:spPr>
          <a:xfrm>
            <a:off x="571500" y="4087713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33"/>
          <p:cNvSpPr/>
          <p:nvPr/>
        </p:nvSpPr>
        <p:spPr>
          <a:xfrm>
            <a:off x="571500" y="48592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3"/>
          <p:cNvSpPr/>
          <p:nvPr/>
        </p:nvSpPr>
        <p:spPr>
          <a:xfrm>
            <a:off x="571500" y="48592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2" name="Google Shape;442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60181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33"/>
          <p:cNvSpPr txBox="1"/>
          <p:nvPr/>
        </p:nvSpPr>
        <p:spPr>
          <a:xfrm>
            <a:off x="1666875" y="2635150"/>
            <a:ext cx="99536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https://img.freepik.com/free-vector/global-business-background-with-stock-chart-blue-tone_53876-117483.jpg</a:t>
            </a:r>
            <a:endParaRPr/>
          </a:p>
        </p:txBody>
      </p:sp>
      <p:sp>
        <p:nvSpPr>
          <p:cNvPr id="444" name="Google Shape;444;p33"/>
          <p:cNvSpPr txBox="1"/>
          <p:nvPr/>
        </p:nvSpPr>
        <p:spPr>
          <a:xfrm>
            <a:off x="1666875" y="2844700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www.freepik.com</a:t>
            </a:r>
            <a:endParaRPr/>
          </a:p>
        </p:txBody>
      </p:sp>
      <p:pic>
        <p:nvPicPr>
          <p:cNvPr id="445" name="Google Shape;445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2096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33"/>
          <p:cNvSpPr txBox="1"/>
          <p:nvPr/>
        </p:nvSpPr>
        <p:spPr>
          <a:xfrm>
            <a:off x="1666875" y="3373338"/>
            <a:ext cx="995362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https://media.istockphoto.com/id/1179291552/vector/abstract-financial-chart-with-bulls-and-bear-in-stock-market-on-blue-colour-background.jpg?s=1024x1024&amp;w=is&amp;k=20&amp;c=69puchKZqipsWjW8mqqju9dZPS9s5BluKcPZA8Jwblg=</a:t>
            </a:r>
            <a:endParaRPr/>
          </a:p>
        </p:txBody>
      </p:sp>
      <p:sp>
        <p:nvSpPr>
          <p:cNvPr id="447" name="Google Shape;447;p33"/>
          <p:cNvSpPr txBox="1"/>
          <p:nvPr/>
        </p:nvSpPr>
        <p:spPr>
          <a:xfrm>
            <a:off x="1666875" y="3744813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www.istockphoto.com</a:t>
            </a:r>
            <a:endParaRPr/>
          </a:p>
        </p:txBody>
      </p:sp>
      <p:pic>
        <p:nvPicPr>
          <p:cNvPr id="448" name="Google Shape;448;p3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011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33"/>
          <p:cNvSpPr txBox="1"/>
          <p:nvPr/>
        </p:nvSpPr>
        <p:spPr>
          <a:xfrm>
            <a:off x="1666875" y="4273450"/>
            <a:ext cx="99536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https://miro.medium.com/1*laH0_xXEkFE0lKJu54gkFQ.png</a:t>
            </a:r>
            <a:endParaRPr/>
          </a:p>
        </p:txBody>
      </p:sp>
      <p:sp>
        <p:nvSpPr>
          <p:cNvPr id="450" name="Google Shape;450;p33"/>
          <p:cNvSpPr txBox="1"/>
          <p:nvPr/>
        </p:nvSpPr>
        <p:spPr>
          <a:xfrm>
            <a:off x="1666875" y="4483000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blog.mlreview.com</a:t>
            </a:r>
            <a:endParaRPr/>
          </a:p>
        </p:txBody>
      </p:sp>
      <p:pic>
        <p:nvPicPr>
          <p:cNvPr id="451" name="Google Shape;451;p3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5011638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33"/>
          <p:cNvSpPr txBox="1"/>
          <p:nvPr/>
        </p:nvSpPr>
        <p:spPr>
          <a:xfrm>
            <a:off x="1666875" y="5044975"/>
            <a:ext cx="99536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https://storage.googleapis.com/blink-451505.firebasestorage.app/screenshots/ai-stock-trading-prediction-alert-app-yqdydsj5.sites.blink.new-1755329598984.webp</a:t>
            </a:r>
            <a:endParaRPr/>
          </a:p>
        </p:txBody>
      </p:sp>
      <p:sp>
        <p:nvSpPr>
          <p:cNvPr id="453" name="Google Shape;453;p33"/>
          <p:cNvSpPr txBox="1"/>
          <p:nvPr/>
        </p:nvSpPr>
        <p:spPr>
          <a:xfrm>
            <a:off x="1666875" y="5254525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blink.new</a:t>
            </a:r>
            <a:endParaRPr/>
          </a:p>
        </p:txBody>
      </p:sp>
      <p:sp>
        <p:nvSpPr>
          <p:cNvPr id="454" name="Google Shape;454;p33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  <p:sp>
        <p:nvSpPr>
          <p:cNvPr id="455" name="Google Shape;455;p3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2116</Words>
  <Application>Microsoft Office PowerPoint</Application>
  <PresentationFormat>寬螢幕</PresentationFormat>
  <Paragraphs>195</Paragraphs>
  <Slides>24</Slides>
  <Notes>22</Notes>
  <HiddenSlides>1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30" baseType="lpstr">
      <vt:lpstr>DM Sans</vt:lpstr>
      <vt:lpstr>Calibri</vt:lpstr>
      <vt:lpstr>Cambria Math</vt:lpstr>
      <vt:lpstr>Merriweather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ARIMA</vt:lpstr>
      <vt:lpstr>PowerPoint 簡報</vt:lpstr>
      <vt:lpstr>Random Forest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子瑜 林</cp:lastModifiedBy>
  <cp:revision>56</cp:revision>
  <dcterms:modified xsi:type="dcterms:W3CDTF">2026-06-04T08:20:32Z</dcterms:modified>
</cp:coreProperties>
</file>