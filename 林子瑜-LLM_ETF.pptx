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8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embeddedFontLst>
    <p:embeddedFont>
      <p:font typeface="Cambria Math" panose="02040503050406030204" pitchFamily="18" charset="0"/>
      <p:regular r:id="rId24"/>
    </p:embeddedFont>
    <p:embeddedFont>
      <p:font typeface="DM Sans" pitchFamily="2" charset="0"/>
      <p:regular r:id="rId25"/>
      <p:bold r:id="rId26"/>
      <p:italic r:id="rId27"/>
      <p:boldItalic r:id="rId28"/>
    </p:embeddedFont>
    <p:embeddedFont>
      <p:font typeface="Merriweather" panose="000005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3394A8-6561-4F67-BD20-A1EB724447CB}">
  <a:tblStyle styleId="{C63394A8-6561-4F67-BD20-A1EB724447C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台美市場連動緊密，但缺乏直觀同步預測工具</a:t>
            </a:r>
            <a:endParaRPr lang="zh-TW" altLang="en-US" sz="12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跨市場數據處理複雜度高，一般投資者難以負擔</a:t>
            </a:r>
            <a:endParaRPr lang="zh-TW" altLang="en-US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TW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迴歸的歷史源頭是統計模型 ARIMA，它數學基礎穩固，但只能處理單變數的線性趨勢，無法應付多因子的非線性連動。本研究將它定位為歷史沿革，不實作，作為後續機器學習與深度學習的對照起點。</a:t>
            </a:r>
            <a:endParaRPr dirty="0"/>
          </a:p>
        </p:txBody>
      </p:sp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LLM 我用兩個。GPT-3.5 做漲跌分類，F1 大約 0.48，明顯比傳統模型差——這其實是預期的，因為 LLM 不擅長純數值分類。另一個用 Gemini 做小樣本的數值迴歸探索，兩個都是免費額度。它們的定位是輔助解釋，不是主要預測引擎</a:t>
            </a:r>
            <a:endParaRPr dirty="0"/>
          </a:p>
        </p:txBody>
      </p:sp>
      <p:sp>
        <p:nvSpPr>
          <p:cNvPr id="238" name="Google Shape;2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流程上要特別說明交叉驗證。一般 K-Fold 會打亂順序，但時間序列一打亂就會用到未來資料、造成洩漏。所以我用 TimeSeriesSplit，每次訓練集都只用測試集之前的歷史，這對金融預測非常關鍵。</a:t>
            </a:r>
            <a:endParaRPr dirty="0"/>
          </a:p>
        </p:txBody>
      </p:sp>
      <p:sp>
        <p:nvSpPr>
          <p:cNvPr id="256" name="Google Shape;2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資料是三檔 ETF：SPY、QQQ、0050，2016 到 2026 的日資料，特徵用 OHLCV 加上 MA、RSI、波動率，全部以 TimeSeriesSplit 驗證。</a:t>
            </a:r>
            <a:endParaRPr dirty="0"/>
          </a:p>
        </p:txBody>
      </p:sp>
      <p:sp>
        <p:nvSpPr>
          <p:cNvPr id="285" name="Google Shape;28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這是 SPY 的分類結果。最左邊灰色是我加的『永遠猜漲』基準，F1 是 0.736，我用紅色虛線標出來。可以看到四個模型的 F1 全部貼著這條線、甚至更低——最好的雙層 LSTM 也只有 0.733，跟基準打平。這代表在多頭期間，分類的高 F1 主要來自市場本身上漲的偏態，模型並沒有真正超越無腦策略。這就是我把分類定位成輔助、把重心放到後面迴歸和 LLM 的原因。</a:t>
            </a:r>
            <a:endParaRPr dirty="0"/>
          </a:p>
        </p:txBody>
      </p:sp>
      <p:sp>
        <p:nvSpPr>
          <p:cNvPr id="303" name="Google Shape;3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D265B3C7-2463-84DC-3480-DC40C28BE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>
            <a:extLst>
              <a:ext uri="{FF2B5EF4-FFF2-40B4-BE49-F238E27FC236}">
                <a16:creationId xmlns:a16="http://schemas.microsoft.com/office/drawing/2014/main" id="{5D9BF4EB-97F8-8C15-88BD-0B5BD5BA1D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這頁是迴歸的收尾，分兩塊看。左邊是傳統四個模型預測『報酬率』的結果，R² 全部接近 0 甚至為負，比直接猜 0% 還差——這正好驗證隨機漫步理論，次日漲跌幅本來就難預測。右邊是 LLM 的探索：GPT-4o-mini 在 50 筆小樣本上 R² 是 0.80，看起來不錯，但因為樣本太少、又跟傳統模型不是同一個驗證基準，我只把它定位成潛力探索，不做直接比較。整體來說，迴歸這部分告訴我們：價格水準預測贏不過基準、報酬率預測接近隨機，所以真正的價值在於分類輔助和 LLM 的可解釋性。</a:t>
            </a:r>
            <a:endParaRPr dirty="0"/>
          </a:p>
        </p:txBody>
      </p:sp>
      <p:sp>
        <p:nvSpPr>
          <p:cNvPr id="333" name="Google Shape;333;p15:notes">
            <a:extLst>
              <a:ext uri="{FF2B5EF4-FFF2-40B4-BE49-F238E27FC236}">
                <a16:creationId xmlns:a16="http://schemas.microsoft.com/office/drawing/2014/main" id="{B64CD026-CCE8-5E70-4609-5E0BAA084C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22278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zh-TW" altLang="zh-TW" dirty="0"/>
              <a:t>平台用 Streamlit 加 Plotly、SQLite，串接 GPT 或 Gemini 產生風險摘要，端對端延遲 840 毫秒，一般電腦、不用 GPU 就能跑。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3" name="Google Shape;3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綜合發現有三點：沒有單一冠軍模型，不同市場最佳模型不同；迴歸顯示次日走勢本質難預測；所以 LLM 定位在解釋型輔助，而不是當主要算力引擎。</a:t>
            </a:r>
            <a:endParaRPr dirty="0"/>
          </a:p>
        </p:txBody>
      </p:sp>
      <p:sp>
        <p:nvSpPr>
          <p:cNvPr id="387" name="Google Shape;38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15402" y="1571922"/>
            <a:ext cx="9561195" cy="1360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LLM-ETF：</a:t>
            </a: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基於大語言模型輔助之跨市場</a:t>
            </a:r>
            <a:r>
              <a:rPr lang="en-US" sz="28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ETF </a:t>
            </a:r>
            <a:r>
              <a:rPr lang="en-US" sz="28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趨勢預測與模型比較研究</a:t>
            </a:r>
            <a:endParaRPr sz="2800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0" y="3465314"/>
            <a:ext cx="12192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Graduate School of Information Engineering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Kun Shan University</a:t>
            </a:r>
          </a:p>
        </p:txBody>
      </p:sp>
      <p:sp>
        <p:nvSpPr>
          <p:cNvPr id="87" name="Google Shape;87;p13"/>
          <p:cNvSpPr txBox="1"/>
          <p:nvPr/>
        </p:nvSpPr>
        <p:spPr>
          <a:xfrm>
            <a:off x="-1" y="4644665"/>
            <a:ext cx="12192000" cy="190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研究生：林子瑜		 </a:t>
            </a:r>
            <a:r>
              <a:rPr 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Tzu-Yu Lin</a:t>
            </a:r>
          </a:p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指導教授：李冠榮	副教授　　　　</a:t>
            </a:r>
            <a:r>
              <a:rPr 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Kuan-Rong Lee</a:t>
            </a:r>
          </a:p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dirty="0">
                <a:solidFill>
                  <a:srgbClr val="F3F0DF"/>
                </a:solidFill>
                <a:latin typeface="DM Sans"/>
                <a:ea typeface="Calibri"/>
                <a:cs typeface="Calibri"/>
                <a:sym typeface="DM Sans"/>
              </a:rPr>
              <a:t>JUN 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303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3875" y="20303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0" y="20303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1639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3875" y="41639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0" y="41639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19312" y="2316063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83431" y="30494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前言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34304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背景、動機與研究問題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0" y="231606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4545806" y="30494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分析主題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619625" y="34304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分類問題與迴歸問題</a:t>
            </a:r>
            <a:endParaRPr dirty="0"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67875" y="231606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8308181" y="30494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模型介紹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382000" y="34304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跨世代模型架構分析</a:t>
            </a:r>
            <a:endParaRPr dirty="0"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5500" y="4449663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783431" y="51830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研究流程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57250" y="55640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數據處理與實驗設計</a:t>
            </a:r>
            <a:endParaRPr/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29312" y="444966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4545806" y="51830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實驗結果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4619625" y="55640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跨市場表現評估指標</a:t>
            </a:r>
            <a:endParaRPr/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91687" y="444966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8308181" y="51830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結論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382000" y="55640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關鍵發現與未來方向</a:t>
            </a:r>
            <a:endParaRPr dirty="0"/>
          </a:p>
        </p:txBody>
      </p:sp>
      <p:sp>
        <p:nvSpPr>
          <p:cNvPr id="117" name="Google Shape;117;p14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簡報大綱 Agenda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35327"/>
            <a:ext cx="4334870" cy="1773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83711"/>
            <a:ext cx="4334870" cy="192961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866775" y="2330601"/>
            <a:ext cx="498062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資訊不對稱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866775" y="4283467"/>
            <a:ext cx="498062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AI </a:t>
            </a:r>
            <a:r>
              <a:rPr lang="en-US" sz="195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潛力</a:t>
            </a:r>
            <a:endParaRPr dirty="0"/>
          </a:p>
        </p:txBody>
      </p:sp>
      <p:sp>
        <p:nvSpPr>
          <p:cNvPr id="136" name="Google Shape;136;p15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研究背景與動機</a:t>
            </a:r>
            <a:endParaRPr dirty="0"/>
          </a:p>
        </p:txBody>
      </p:sp>
      <p:sp>
        <p:nvSpPr>
          <p:cNvPr id="137" name="Google Shape;137;p15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29;p15">
            <a:extLst>
              <a:ext uri="{FF2B5EF4-FFF2-40B4-BE49-F238E27FC236}">
                <a16:creationId xmlns:a16="http://schemas.microsoft.com/office/drawing/2014/main" id="{65B060A5-54F5-3C86-B612-950BF19D0DA0}"/>
              </a:ext>
            </a:extLst>
          </p:cNvPr>
          <p:cNvSpPr txBox="1"/>
          <p:nvPr/>
        </p:nvSpPr>
        <p:spPr>
          <a:xfrm>
            <a:off x="809625" y="4793514"/>
            <a:ext cx="3194501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深度學習模型「黑箱」問題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 </a:t>
            </a:r>
            <a:r>
              <a:rPr lang="zh-TW" altLang="en-US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具可解釋性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E6E3EEA-9ED6-CB95-60E9-A8F4B33BD9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3104" y="2035327"/>
            <a:ext cx="6682895" cy="3319798"/>
          </a:xfrm>
          <a:prstGeom prst="rect">
            <a:avLst/>
          </a:prstGeom>
        </p:spPr>
      </p:pic>
      <p:sp>
        <p:nvSpPr>
          <p:cNvPr id="6" name="Google Shape;129;p15">
            <a:extLst>
              <a:ext uri="{FF2B5EF4-FFF2-40B4-BE49-F238E27FC236}">
                <a16:creationId xmlns:a16="http://schemas.microsoft.com/office/drawing/2014/main" id="{60DCBED5-8FB8-058F-637C-3D539110F25A}"/>
              </a:ext>
            </a:extLst>
          </p:cNvPr>
          <p:cNvSpPr txBox="1"/>
          <p:nvPr/>
        </p:nvSpPr>
        <p:spPr>
          <a:xfrm>
            <a:off x="866775" y="2805111"/>
            <a:ext cx="3245566" cy="105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缺乏直觀同步預測工具</a:t>
            </a:r>
            <a:endParaRPr lang="en-US" sz="15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跨市場數據處理複雜度高</a:t>
            </a:r>
            <a:endParaRPr lang="zh-TW" altLang="en-US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77975"/>
            <a:ext cx="32004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4914900" y="2923221"/>
            <a:ext cx="7086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效能比較：探討統計、ML、DL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與 LLM 在 ETF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預測之優劣</a:t>
            </a:r>
            <a:endParaRPr sz="2000" dirty="0"/>
          </a:p>
        </p:txBody>
      </p:sp>
      <p:sp>
        <p:nvSpPr>
          <p:cNvPr id="145" name="Google Shape;145;p16"/>
          <p:cNvSpPr/>
          <p:nvPr/>
        </p:nvSpPr>
        <p:spPr>
          <a:xfrm>
            <a:off x="4438650" y="3475136"/>
            <a:ext cx="68961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4914900" y="3553657"/>
            <a:ext cx="7086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市場差異：分析台股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(0050)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與美股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(SPY/QQQ)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之預測難度差異</a:t>
            </a:r>
            <a:endParaRPr sz="2000" dirty="0"/>
          </a:p>
        </p:txBody>
      </p:sp>
      <p:sp>
        <p:nvSpPr>
          <p:cNvPr id="147" name="Google Shape;147;p16"/>
          <p:cNvSpPr/>
          <p:nvPr/>
        </p:nvSpPr>
        <p:spPr>
          <a:xfrm>
            <a:off x="4438650" y="4105572"/>
            <a:ext cx="68961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4914900" y="4184093"/>
            <a:ext cx="7086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實作應用：建構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LLM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輔助視覺化平台，提升預測可解釋性</a:t>
            </a:r>
            <a:endParaRPr sz="2000" dirty="0"/>
          </a:p>
        </p:txBody>
      </p:sp>
      <p:sp>
        <p:nvSpPr>
          <p:cNvPr id="149" name="Google Shape;149;p16"/>
          <p:cNvSpPr/>
          <p:nvPr/>
        </p:nvSpPr>
        <p:spPr>
          <a:xfrm>
            <a:off x="4438650" y="4736008"/>
            <a:ext cx="68961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4438650" y="3475136"/>
            <a:ext cx="68961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4438650" y="4105572"/>
            <a:ext cx="68961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4438650" y="4736008"/>
            <a:ext cx="68961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38650" y="305514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38650" y="368557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38650" y="431601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研究目的與問題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4" y="3795890"/>
            <a:ext cx="4051935" cy="112889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590550" y="2354460"/>
            <a:ext cx="5600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目標與任務</a:t>
            </a:r>
            <a:endParaRPr sz="2400" dirty="0"/>
          </a:p>
        </p:txBody>
      </p:sp>
      <p:sp>
        <p:nvSpPr>
          <p:cNvPr id="165" name="Google Shape;165;p17"/>
          <p:cNvSpPr txBox="1"/>
          <p:nvPr/>
        </p:nvSpPr>
        <p:spPr>
          <a:xfrm>
            <a:off x="571500" y="2896492"/>
            <a:ext cx="5334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預測次日收盤價相對於當日是「上漲」或「下跌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」，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定義為</a:t>
            </a:r>
            <a:r>
              <a:rPr lang="en-US" sz="1800" b="1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二元分類任務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 sz="1800" dirty="0"/>
          </a:p>
        </p:txBody>
      </p:sp>
      <p:pic>
        <p:nvPicPr>
          <p:cNvPr id="168" name="Google Shape;16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125" y="3938765"/>
            <a:ext cx="3653920" cy="75049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分析主題：分類問題 (Classification)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C4606BA-515A-D20B-8E67-BD51C644A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407" y="3668549"/>
            <a:ext cx="4817243" cy="204141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CB251F2-E23F-D6CD-0E9C-E63D1AA065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3407" y="1888824"/>
            <a:ext cx="4817243" cy="15763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/>
        </p:nvSpPr>
        <p:spPr>
          <a:xfrm>
            <a:off x="571500" y="2651968"/>
            <a:ext cx="11049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目標：預測次日收盤價之「連續數值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」，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直接計算投資損益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 sz="2000" dirty="0"/>
          </a:p>
        </p:txBody>
      </p:sp>
      <p:sp>
        <p:nvSpPr>
          <p:cNvPr id="190" name="Google Shape;190;p18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分析主題：迴歸問題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(Regression)</a:t>
            </a:r>
            <a:endParaRPr dirty="0"/>
          </a:p>
        </p:txBody>
      </p:sp>
      <p:sp>
        <p:nvSpPr>
          <p:cNvPr id="191" name="Google Shape;191;p18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500B4407-A198-7B43-0ABF-4D6B4CF4F5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9543968"/>
                  </p:ext>
                </p:extLst>
              </p:nvPr>
            </p:nvGraphicFramePr>
            <p:xfrm>
              <a:off x="647700" y="3639846"/>
              <a:ext cx="9373419" cy="2260760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3124473">
                      <a:extLst>
                        <a:ext uri="{9D8B030D-6E8A-4147-A177-3AD203B41FA5}">
                          <a16:colId xmlns:a16="http://schemas.microsoft.com/office/drawing/2014/main" val="201553602"/>
                        </a:ext>
                      </a:extLst>
                    </a:gridCol>
                    <a:gridCol w="3124473">
                      <a:extLst>
                        <a:ext uri="{9D8B030D-6E8A-4147-A177-3AD203B41FA5}">
                          <a16:colId xmlns:a16="http://schemas.microsoft.com/office/drawing/2014/main" val="1569471700"/>
                        </a:ext>
                      </a:extLst>
                    </a:gridCol>
                    <a:gridCol w="3124473">
                      <a:extLst>
                        <a:ext uri="{9D8B030D-6E8A-4147-A177-3AD203B41FA5}">
                          <a16:colId xmlns:a16="http://schemas.microsoft.com/office/drawing/2014/main" val="2582999260"/>
                        </a:ext>
                      </a:extLst>
                    </a:gridCol>
                  </a:tblGrid>
                  <a:tr h="500968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TW" altLang="en-US">
                              <a:solidFill>
                                <a:srgbClr val="FFFFFF"/>
                              </a:solidFill>
                              <a:effectLst/>
                            </a:rPr>
                            <a:t>指標名稱</a:t>
                          </a:r>
                        </a:p>
                      </a:txBody>
                      <a:tcPr marL="114300" marR="114300" marT="114300" marB="114300" anchor="ctr"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TW" altLang="en-US" dirty="0">
                              <a:solidFill>
                                <a:srgbClr val="FFFFFF"/>
                              </a:solidFill>
                              <a:effectLst/>
                            </a:rPr>
                            <a:t>公式說明</a:t>
                          </a:r>
                        </a:p>
                      </a:txBody>
                      <a:tcPr marL="114300" marR="114300" marT="114300" marB="114300" anchor="ctr"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TW" altLang="en-US">
                              <a:solidFill>
                                <a:srgbClr val="FFFFFF"/>
                              </a:solidFill>
                              <a:effectLst/>
                            </a:rPr>
                            <a:t>代表意義</a:t>
                          </a:r>
                        </a:p>
                      </a:txBody>
                      <a:tcPr marL="114300" marR="114300" marT="114300" marB="114300" anchor="ctr"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356468"/>
                      </a:ext>
                    </a:extLst>
                  </a:tr>
                  <a:tr h="500968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solidFill>
                                <a:srgbClr val="1E293B"/>
                              </a:solidFill>
                              <a:effectLst/>
                            </a:rPr>
                            <a:t>MAE / MSE</a:t>
                          </a:r>
                        </a:p>
                      </a:txBody>
                      <a:tcPr marL="114300" marR="114300" marT="114300" marB="1143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ar-AE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altLang="zh-TW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TW" altLang="ar-AE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l-GR" altLang="zh-TW" i="0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ar-AE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ar-AE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ar-AE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zh-TW" altLang="ar-AE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ar-AE" altLang="zh-TW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ar-AE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ar-AE" altLang="zh-TW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zh-TW" altLang="ar-AE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zh-TW" altLang="ar-AE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ar-AE" dirty="0">
                            <a:solidFill>
                              <a:srgbClr val="1E293B"/>
                            </a:solidFill>
                            <a:effectLst/>
                          </a:endParaRPr>
                        </a:p>
                      </a:txBody>
                      <a:tcPr marL="114300" marR="114300" marT="114300" marB="1143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TW" altLang="en-US">
                              <a:solidFill>
                                <a:srgbClr val="1E293B"/>
                              </a:solidFill>
                              <a:effectLst/>
                            </a:rPr>
                            <a:t>數值預測誤差絕對量</a:t>
                          </a:r>
                        </a:p>
                      </a:txBody>
                      <a:tcPr marL="114300" marR="114300" marT="114300" marB="114300" anchor="ctr"/>
                    </a:tc>
                    <a:extLst>
                      <a:ext uri="{0D108BD9-81ED-4DB2-BD59-A6C34878D82A}">
                        <a16:rowId xmlns:a16="http://schemas.microsoft.com/office/drawing/2014/main" val="3580304090"/>
                      </a:ext>
                    </a:extLst>
                  </a:tr>
                  <a:tr h="500968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solidFill>
                                <a:srgbClr val="1E293B"/>
                              </a:solidFill>
                              <a:effectLst/>
                            </a:rPr>
                            <a:t>RMSE</a:t>
                          </a:r>
                        </a:p>
                      </a:txBody>
                      <a:tcPr marL="114300" marR="114300" marT="114300" marB="1143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ar-AE" altLang="zh-TW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b="0"/>
                                      <m:t>MSE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ar-AE" dirty="0">
                            <a:solidFill>
                              <a:srgbClr val="1E293B"/>
                            </a:solidFill>
                            <a:effectLst/>
                          </a:endParaRPr>
                        </a:p>
                      </a:txBody>
                      <a:tcPr marL="114300" marR="114300" marT="114300" marB="1143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TW" altLang="en-US">
                              <a:solidFill>
                                <a:srgbClr val="1E293B"/>
                              </a:solidFill>
                              <a:effectLst/>
                            </a:rPr>
                            <a:t>對極端誤差較敏感的指標</a:t>
                          </a:r>
                        </a:p>
                      </a:txBody>
                      <a:tcPr marL="114300" marR="114300" marT="114300" marB="114300" anchor="ctr"/>
                    </a:tc>
                    <a:extLst>
                      <a:ext uri="{0D108BD9-81ED-4DB2-BD59-A6C34878D82A}">
                        <a16:rowId xmlns:a16="http://schemas.microsoft.com/office/drawing/2014/main" val="641184465"/>
                      </a:ext>
                    </a:extLst>
                  </a:tr>
                  <a:tr h="500968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solidFill>
                                <a:srgbClr val="1E293B"/>
                              </a:solidFill>
                              <a:effectLst/>
                            </a:rPr>
                            <a:t>R² / Adj. R²</a:t>
                          </a:r>
                        </a:p>
                      </a:txBody>
                      <a:tcPr marL="114300" marR="114300" marT="114300" marB="1143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ar-AE" altLang="zh-TW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 altLang="zh-TW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ar-AE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altLang="zh-TW" b="0" i="1">
                                        <a:latin typeface="Cambria Math" panose="02040503050406030204" pitchFamily="18" charset="0"/>
                                      </a:rPr>
                                      <m:t>SSres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altLang="zh-TW" b="0" i="1">
                                        <a:latin typeface="Cambria Math" panose="02040503050406030204" pitchFamily="18" charset="0"/>
                                      </a:rPr>
                                      <m:t>SStot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ar-AE" dirty="0">
                            <a:solidFill>
                              <a:srgbClr val="1E293B"/>
                            </a:solidFill>
                            <a:effectLst/>
                          </a:endParaRPr>
                        </a:p>
                      </a:txBody>
                      <a:tcPr marL="114300" marR="114300" marT="114300" marB="1143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TW" altLang="en-US" dirty="0">
                              <a:solidFill>
                                <a:srgbClr val="1E293B"/>
                              </a:solidFill>
                              <a:effectLst/>
                            </a:rPr>
                            <a:t>模型對變異量的解釋能力</a:t>
                          </a:r>
                        </a:p>
                      </a:txBody>
                      <a:tcPr marL="114300" marR="114300" marT="114300" marB="114300" anchor="ctr"/>
                    </a:tc>
                    <a:extLst>
                      <a:ext uri="{0D108BD9-81ED-4DB2-BD59-A6C34878D82A}">
                        <a16:rowId xmlns:a16="http://schemas.microsoft.com/office/drawing/2014/main" val="36239114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500B4407-A198-7B43-0ABF-4D6B4CF4F5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9543968"/>
                  </p:ext>
                </p:extLst>
              </p:nvPr>
            </p:nvGraphicFramePr>
            <p:xfrm>
              <a:off x="647700" y="3639846"/>
              <a:ext cx="9373419" cy="2260760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3124473">
                      <a:extLst>
                        <a:ext uri="{9D8B030D-6E8A-4147-A177-3AD203B41FA5}">
                          <a16:colId xmlns:a16="http://schemas.microsoft.com/office/drawing/2014/main" val="201553602"/>
                        </a:ext>
                      </a:extLst>
                    </a:gridCol>
                    <a:gridCol w="3124473">
                      <a:extLst>
                        <a:ext uri="{9D8B030D-6E8A-4147-A177-3AD203B41FA5}">
                          <a16:colId xmlns:a16="http://schemas.microsoft.com/office/drawing/2014/main" val="1569471700"/>
                        </a:ext>
                      </a:extLst>
                    </a:gridCol>
                    <a:gridCol w="3124473">
                      <a:extLst>
                        <a:ext uri="{9D8B030D-6E8A-4147-A177-3AD203B41FA5}">
                          <a16:colId xmlns:a16="http://schemas.microsoft.com/office/drawing/2014/main" val="2582999260"/>
                        </a:ext>
                      </a:extLst>
                    </a:gridCol>
                  </a:tblGrid>
                  <a:tr h="500968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TW" altLang="en-US">
                              <a:solidFill>
                                <a:srgbClr val="FFFFFF"/>
                              </a:solidFill>
                              <a:effectLst/>
                            </a:rPr>
                            <a:t>指標名稱</a:t>
                          </a:r>
                        </a:p>
                      </a:txBody>
                      <a:tcPr marL="114300" marR="114300" marT="114300" marB="114300" anchor="ctr"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TW" altLang="en-US" dirty="0">
                              <a:solidFill>
                                <a:srgbClr val="FFFFFF"/>
                              </a:solidFill>
                              <a:effectLst/>
                            </a:rPr>
                            <a:t>公式說明</a:t>
                          </a:r>
                        </a:p>
                      </a:txBody>
                      <a:tcPr marL="114300" marR="114300" marT="114300" marB="114300" anchor="ctr"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TW" altLang="en-US">
                              <a:solidFill>
                                <a:srgbClr val="FFFFFF"/>
                              </a:solidFill>
                              <a:effectLst/>
                            </a:rPr>
                            <a:t>代表意義</a:t>
                          </a:r>
                        </a:p>
                      </a:txBody>
                      <a:tcPr marL="114300" marR="114300" marT="114300" marB="114300" anchor="ctr"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356468"/>
                      </a:ext>
                    </a:extLst>
                  </a:tr>
                  <a:tr h="629412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solidFill>
                                <a:srgbClr val="1E293B"/>
                              </a:solidFill>
                              <a:effectLst/>
                            </a:rPr>
                            <a:t>MAE / MSE</a:t>
                          </a:r>
                        </a:p>
                      </a:txBody>
                      <a:tcPr marL="114300" marR="114300" marT="114300" marB="11430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14300" marR="114300" marT="114300" marB="114300" anchor="ctr">
                        <a:blipFill>
                          <a:blip r:embed="rId3"/>
                          <a:stretch>
                            <a:fillRect l="-100391" t="-79808" r="-100586" b="-1798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TW" altLang="en-US">
                              <a:solidFill>
                                <a:srgbClr val="1E293B"/>
                              </a:solidFill>
                              <a:effectLst/>
                            </a:rPr>
                            <a:t>數值預測誤差絕對量</a:t>
                          </a:r>
                        </a:p>
                      </a:txBody>
                      <a:tcPr marL="114300" marR="114300" marT="114300" marB="114300" anchor="ctr"/>
                    </a:tc>
                    <a:extLst>
                      <a:ext uri="{0D108BD9-81ED-4DB2-BD59-A6C34878D82A}">
                        <a16:rowId xmlns:a16="http://schemas.microsoft.com/office/drawing/2014/main" val="3580304090"/>
                      </a:ext>
                    </a:extLst>
                  </a:tr>
                  <a:tr h="500968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solidFill>
                                <a:srgbClr val="1E293B"/>
                              </a:solidFill>
                              <a:effectLst/>
                            </a:rPr>
                            <a:t>RMSE</a:t>
                          </a:r>
                        </a:p>
                      </a:txBody>
                      <a:tcPr marL="114300" marR="114300" marT="114300" marB="11430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14300" marR="114300" marT="114300" marB="114300" anchor="ctr">
                        <a:blipFill>
                          <a:blip r:embed="rId3"/>
                          <a:stretch>
                            <a:fillRect l="-100391" t="-228049" r="-100586" b="-128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TW" altLang="en-US">
                              <a:solidFill>
                                <a:srgbClr val="1E293B"/>
                              </a:solidFill>
                              <a:effectLst/>
                            </a:rPr>
                            <a:t>對極端誤差較敏感的指標</a:t>
                          </a:r>
                        </a:p>
                      </a:txBody>
                      <a:tcPr marL="114300" marR="114300" marT="114300" marB="114300" anchor="ctr"/>
                    </a:tc>
                    <a:extLst>
                      <a:ext uri="{0D108BD9-81ED-4DB2-BD59-A6C34878D82A}">
                        <a16:rowId xmlns:a16="http://schemas.microsoft.com/office/drawing/2014/main" val="641184465"/>
                      </a:ext>
                    </a:extLst>
                  </a:tr>
                  <a:tr h="629412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>
                              <a:solidFill>
                                <a:srgbClr val="1E293B"/>
                              </a:solidFill>
                              <a:effectLst/>
                            </a:rPr>
                            <a:t>R² / Adj. R²</a:t>
                          </a:r>
                        </a:p>
                      </a:txBody>
                      <a:tcPr marL="114300" marR="114300" marT="114300" marB="11430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14300" marR="114300" marT="114300" marB="114300" anchor="ctr">
                        <a:blipFill>
                          <a:blip r:embed="rId3"/>
                          <a:stretch>
                            <a:fillRect l="-100391" t="-261165" r="-100586" b="-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zh-TW" altLang="en-US" dirty="0">
                              <a:solidFill>
                                <a:srgbClr val="1E293B"/>
                              </a:solidFill>
                              <a:effectLst/>
                            </a:rPr>
                            <a:t>模型對變異量的解釋能力</a:t>
                          </a:r>
                        </a:p>
                      </a:txBody>
                      <a:tcPr marL="114300" marR="114300" marT="114300" marB="114300" anchor="ctr"/>
                    </a:tc>
                    <a:extLst>
                      <a:ext uri="{0D108BD9-81ED-4DB2-BD59-A6C34878D82A}">
                        <a16:rowId xmlns:a16="http://schemas.microsoft.com/office/drawing/2014/main" val="3623911476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571500" y="3473350"/>
            <a:ext cx="521970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P,D,Q</a:t>
            </a:r>
            <a:r>
              <a:rPr lang="en-US" sz="4400" b="1" i="0" u="none" strike="noStrike" cap="none" dirty="0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(p, d, q)</a:t>
            </a:r>
            <a:endParaRPr sz="600" dirty="0"/>
          </a:p>
        </p:txBody>
      </p:sp>
      <p:sp>
        <p:nvSpPr>
          <p:cNvPr id="198" name="Google Shape;198;p19"/>
          <p:cNvSpPr txBox="1"/>
          <p:nvPr/>
        </p:nvSpPr>
        <p:spPr>
          <a:xfrm>
            <a:off x="5899785" y="2758470"/>
            <a:ext cx="5614035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基準模型 (Baseline)</a:t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捕捉單變數時間序列之線性趨勢與季節性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b="1" i="0" u="none" strike="noStrike" cap="none" dirty="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優點：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數學基礎穩固、計算快速。</a:t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b="1" i="0" u="none" strike="noStrike" cap="none" dirty="0" err="1">
                <a:solidFill>
                  <a:srgbClr val="00B050"/>
                </a:solidFill>
                <a:latin typeface="DM Sans"/>
                <a:ea typeface="DM Sans"/>
                <a:cs typeface="DM Sans"/>
                <a:sym typeface="DM Sans"/>
              </a:rPr>
              <a:t>缺點：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無法處理複雜非線性關係及多因子連動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</a:p>
          <a:p>
            <a:pPr lvl="0">
              <a:lnSpc>
                <a:spcPct val="150000"/>
              </a:lnSpc>
            </a:pPr>
            <a:r>
              <a:rPr lang="zh-TW" altLang="zh-TW" sz="1600" dirty="0">
                <a:solidFill>
                  <a:srgbClr val="FF0000"/>
                </a:solidFill>
                <a:highlight>
                  <a:srgbClr val="C0C0C0"/>
                </a:highlight>
              </a:rPr>
              <a:t>本研究僅作為歷史沿革介紹，未實際實作。</a:t>
            </a:r>
            <a:endParaRPr sz="1600" dirty="0">
              <a:solidFill>
                <a:srgbClr val="FF0000"/>
              </a:solidFill>
              <a:highlight>
                <a:srgbClr val="C0C0C0"/>
              </a:highlight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統計模型：ARIMA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689" y="1780876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1780876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689" y="4373915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17457" y="206385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1433951" y="2797277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2400" b="1">
                <a:solidFill>
                  <a:srgbClr val="002147"/>
                </a:solidFill>
                <a:latin typeface="+mj-lt"/>
                <a:ea typeface="DM Sans"/>
                <a:cs typeface="DM Sans"/>
              </a:defRPr>
            </a:lvl1pPr>
          </a:lstStyle>
          <a:p>
            <a:r>
              <a:rPr lang="en-US" dirty="0">
                <a:sym typeface="DM Sans"/>
              </a:rPr>
              <a:t>Random Forest</a:t>
            </a:r>
            <a:endParaRPr dirty="0"/>
          </a:p>
        </p:txBody>
      </p:sp>
      <p:sp>
        <p:nvSpPr>
          <p:cNvPr id="211" name="Google Shape;211;p20"/>
          <p:cNvSpPr txBox="1"/>
          <p:nvPr/>
        </p:nvSpPr>
        <p:spPr>
          <a:xfrm>
            <a:off x="1315453" y="3168752"/>
            <a:ext cx="370716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Bagging </a:t>
            </a: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架構，多棵樹平均降低變異數，穩定且不易過擬合。</a:t>
            </a:r>
            <a:endParaRPr sz="1800" dirty="0"/>
          </a:p>
        </p:txBody>
      </p:sp>
      <p:pic>
        <p:nvPicPr>
          <p:cNvPr id="212" name="Google Shape;21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93968" y="206385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6510462" y="2797277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XGBoost</a:t>
            </a:r>
            <a:endParaRPr sz="2400" dirty="0">
              <a:latin typeface="+mj-lt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508143" y="3168752"/>
            <a:ext cx="364651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Boosting </a:t>
            </a: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經典模型，含正規化項抑制過擬合，速度快、精度高。</a:t>
            </a:r>
            <a:endParaRPr sz="1800" dirty="0"/>
          </a:p>
        </p:txBody>
      </p:sp>
      <p:pic>
        <p:nvPicPr>
          <p:cNvPr id="215" name="Google Shape;21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46032" y="4656891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1510151" y="5390316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2147"/>
                </a:solidFill>
                <a:latin typeface="+mj-lt"/>
                <a:sym typeface="DM Sans"/>
              </a:rPr>
              <a:t>AdaBoost</a:t>
            </a:r>
            <a:endParaRPr sz="24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1315453" y="5761791"/>
            <a:ext cx="370716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逐輪提高前一輪誤差較大樣本的權重，串聯弱學習器。</a:t>
            </a:r>
            <a:endParaRPr sz="1800" dirty="0"/>
          </a:p>
        </p:txBody>
      </p:sp>
      <p:sp>
        <p:nvSpPr>
          <p:cNvPr id="218" name="Google Shape;218;p20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機器學習：集成迴歸模型</a:t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6254D067-F4C3-5AA7-BE00-F9A0E03556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3681" y="4373915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15;p20" descr="image.png">
            <a:extLst>
              <a:ext uri="{FF2B5EF4-FFF2-40B4-BE49-F238E27FC236}">
                <a16:creationId xmlns:a16="http://schemas.microsoft.com/office/drawing/2014/main" id="{6DB968F0-3826-C4E2-4E40-283903EB7B0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44024" y="4656891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AEFD1A7D-548B-58B3-06D8-A867F1FBADEA}"/>
              </a:ext>
            </a:extLst>
          </p:cNvPr>
          <p:cNvSpPr txBox="1"/>
          <p:nvPr/>
        </p:nvSpPr>
        <p:spPr>
          <a:xfrm>
            <a:off x="6508143" y="5390316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Gradient </a:t>
            </a:r>
            <a:r>
              <a:rPr lang="en-US" sz="2400" b="1" dirty="0">
                <a:solidFill>
                  <a:srgbClr val="002147"/>
                </a:solidFill>
                <a:latin typeface="+mj-lt"/>
                <a:sym typeface="DM Sans"/>
              </a:rPr>
              <a:t>Boosting</a:t>
            </a:r>
            <a:endParaRPr sz="24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4BE8B93D-17F6-581C-C4EB-05036289E0DE}"/>
              </a:ext>
            </a:extLst>
          </p:cNvPr>
          <p:cNvSpPr txBox="1"/>
          <p:nvPr/>
        </p:nvSpPr>
        <p:spPr>
          <a:xfrm>
            <a:off x="6508143" y="5761791"/>
            <a:ext cx="364650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沿損失函數梯度方向逐步擬合殘差，降低偏差。</a:t>
            </a:r>
            <a:endParaRPr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7209" y="2006219"/>
            <a:ext cx="6183261" cy="43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386305" y="2566580"/>
            <a:ext cx="5747795" cy="2462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LSTM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架構特性</a:t>
            </a:r>
            <a:endParaRPr lang="en-US" sz="2400" b="1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4" b="1" dirty="0">
              <a:latin typeface="DM Sans"/>
              <a:sym typeface="DM San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800" dirty="0"/>
              <a:t>透過遺忘門、輸入門與輸出門控制記憶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800" dirty="0"/>
              <a:t>擅長捕捉金融數據中的長短期依賴關係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800" b="1" dirty="0"/>
              <a:t>端到端學習：</a:t>
            </a:r>
            <a:r>
              <a:rPr lang="zh-TW" altLang="en-US" sz="1800" dirty="0"/>
              <a:t> 神經網路自動提取特徵，不需手動 </a:t>
            </a:r>
            <a:r>
              <a:rPr lang="en-US" altLang="zh-TW" sz="1800" dirty="0"/>
              <a:t>Feature Engineering</a:t>
            </a:r>
            <a:r>
              <a:rPr lang="zh-TW" altLang="en-US" sz="1800" dirty="0"/>
              <a:t>。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pic>
        <p:nvPicPr>
          <p:cNvPr id="227" name="Google Shape;22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65348" y="2110994"/>
            <a:ext cx="5940347" cy="402753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深度學習：LSTM 神經網路</a:t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01073"/>
            <a:ext cx="3524250" cy="2685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3875" y="2801073"/>
            <a:ext cx="3524250" cy="2685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0" y="2801073"/>
            <a:ext cx="3524250" cy="268532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647700" y="4022024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GPT-3.5</a:t>
            </a:r>
            <a:endParaRPr sz="2400" dirty="0"/>
          </a:p>
        </p:txBody>
      </p:sp>
      <p:sp>
        <p:nvSpPr>
          <p:cNvPr id="245" name="Google Shape;245;p22"/>
          <p:cNvSpPr txBox="1"/>
          <p:nvPr/>
        </p:nvSpPr>
        <p:spPr>
          <a:xfrm>
            <a:off x="795337" y="4494473"/>
            <a:ext cx="2952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分類任務（漲跌）</a:t>
            </a:r>
            <a:endParaRPr sz="1800" dirty="0"/>
          </a:p>
        </p:txBody>
      </p:sp>
      <p:sp>
        <p:nvSpPr>
          <p:cNvPr id="247" name="Google Shape;247;p22"/>
          <p:cNvSpPr txBox="1"/>
          <p:nvPr/>
        </p:nvSpPr>
        <p:spPr>
          <a:xfrm>
            <a:off x="4545806" y="4016275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GPT-4o-mini</a:t>
            </a:r>
            <a:endParaRPr sz="2400" dirty="0"/>
          </a:p>
        </p:txBody>
      </p:sp>
      <p:sp>
        <p:nvSpPr>
          <p:cNvPr id="248" name="Google Shape;248;p22"/>
          <p:cNvSpPr txBox="1"/>
          <p:nvPr/>
        </p:nvSpPr>
        <p:spPr>
          <a:xfrm>
            <a:off x="4693443" y="4488724"/>
            <a:ext cx="2952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小樣本數值迴歸</a:t>
            </a:r>
            <a:endParaRPr sz="1800" dirty="0"/>
          </a:p>
        </p:txBody>
      </p:sp>
      <p:pic>
        <p:nvPicPr>
          <p:cNvPr id="249" name="Google Shape;24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48698" y="3311631"/>
            <a:ext cx="566989" cy="558238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 txBox="1"/>
          <p:nvPr/>
        </p:nvSpPr>
        <p:spPr>
          <a:xfrm>
            <a:off x="8308181" y="4016275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Prompt Engineering</a:t>
            </a:r>
            <a:endParaRPr sz="2400" dirty="0"/>
          </a:p>
        </p:txBody>
      </p:sp>
      <p:sp>
        <p:nvSpPr>
          <p:cNvPr id="251" name="Google Shape;251;p22"/>
          <p:cNvSpPr txBox="1"/>
          <p:nvPr/>
        </p:nvSpPr>
        <p:spPr>
          <a:xfrm>
            <a:off x="8455818" y="4488724"/>
            <a:ext cx="2952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技術指標數值轉文字，引導模型零樣本預測</a:t>
            </a:r>
            <a:endParaRPr sz="1800" dirty="0"/>
          </a:p>
        </p:txBody>
      </p:sp>
      <p:sp>
        <p:nvSpPr>
          <p:cNvPr id="252" name="Google Shape;252;p22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大語言模型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LLM：金融輔助決策</a:t>
            </a:r>
            <a:endParaRPr dirty="0"/>
          </a:p>
        </p:txBody>
      </p:sp>
      <p:sp>
        <p:nvSpPr>
          <p:cNvPr id="253" name="Google Shape;253;p22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45;p22">
            <a:extLst>
              <a:ext uri="{FF2B5EF4-FFF2-40B4-BE49-F238E27FC236}">
                <a16:creationId xmlns:a16="http://schemas.microsoft.com/office/drawing/2014/main" id="{7FF8DCA4-76B3-479C-CFE4-23BB0B58CE0D}"/>
              </a:ext>
            </a:extLst>
          </p:cNvPr>
          <p:cNvSpPr txBox="1"/>
          <p:nvPr/>
        </p:nvSpPr>
        <p:spPr>
          <a:xfrm>
            <a:off x="547687" y="5756923"/>
            <a:ext cx="34480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0" i="0" u="none" strike="noStrike" cap="none" dirty="0">
                <a:solidFill>
                  <a:srgbClr val="FF0000"/>
                </a:solidFill>
                <a:highlight>
                  <a:srgbClr val="FFFF00"/>
                </a:highlight>
                <a:latin typeface="DM Sans"/>
                <a:ea typeface="DM Sans"/>
                <a:cs typeface="DM Sans"/>
                <a:sym typeface="DM Sans"/>
              </a:rPr>
              <a:t>F1 </a:t>
            </a:r>
            <a:r>
              <a:rPr lang="zh-TW" altLang="en-US" sz="1800" b="0" i="0" u="none" strike="noStrike" cap="none" dirty="0">
                <a:solidFill>
                  <a:srgbClr val="FF0000"/>
                </a:solidFill>
                <a:highlight>
                  <a:srgbClr val="FFFF00"/>
                </a:highlight>
                <a:latin typeface="DM Sans"/>
                <a:ea typeface="DM Sans"/>
                <a:cs typeface="DM Sans"/>
                <a:sym typeface="DM Sans"/>
              </a:rPr>
              <a:t>約 </a:t>
            </a:r>
            <a:r>
              <a:rPr lang="en-US" altLang="zh-TW" sz="1800" b="0" i="0" u="none" strike="noStrike" cap="none" dirty="0">
                <a:solidFill>
                  <a:srgbClr val="FF0000"/>
                </a:solidFill>
                <a:highlight>
                  <a:srgbClr val="FFFF00"/>
                </a:highlight>
                <a:latin typeface="DM Sans"/>
                <a:ea typeface="DM Sans"/>
                <a:cs typeface="DM Sans"/>
                <a:sym typeface="DM Sans"/>
              </a:rPr>
              <a:t>0.48</a:t>
            </a:r>
            <a:r>
              <a:rPr lang="zh-TW" altLang="en-US" sz="1800" b="0" i="0" u="none" strike="noStrike" cap="none" dirty="0">
                <a:solidFill>
                  <a:srgbClr val="FF0000"/>
                </a:solidFill>
                <a:highlight>
                  <a:srgbClr val="FFFF00"/>
                </a:highlight>
                <a:latin typeface="DM Sans"/>
                <a:ea typeface="DM Sans"/>
                <a:cs typeface="DM Sans"/>
                <a:sym typeface="DM Sans"/>
              </a:rPr>
              <a:t>，遜於傳統模型，但能提供可解釋文本</a:t>
            </a:r>
            <a:endParaRPr sz="18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6" name="圖片 5" descr="ChatGPT 人工智能標誌圖標| Premium矢量">
            <a:extLst>
              <a:ext uri="{FF2B5EF4-FFF2-40B4-BE49-F238E27FC236}">
                <a16:creationId xmlns:a16="http://schemas.microsoft.com/office/drawing/2014/main" id="{CDCB6382-6871-4FE8-F8DB-ADCD445826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D4AF37"/>
              </a:clrFrom>
              <a:clrTo>
                <a:srgbClr val="D4AF37">
                  <a:alpha val="0"/>
                </a:srgbClr>
              </a:clrTo>
            </a:clrChange>
          </a:blip>
          <a:stretch/>
        </p:blipFill>
        <p:spPr>
          <a:xfrm>
            <a:off x="1815764" y="3105612"/>
            <a:ext cx="764257" cy="764257"/>
          </a:xfrm>
          <a:prstGeom prst="rect">
            <a:avLst/>
          </a:prstGeom>
          <a:noFill/>
        </p:spPr>
      </p:pic>
      <p:pic>
        <p:nvPicPr>
          <p:cNvPr id="7" name="圖片 6" descr="Gemini for macOS：原生AI 電腦版應用程式">
            <a:extLst>
              <a:ext uri="{FF2B5EF4-FFF2-40B4-BE49-F238E27FC236}">
                <a16:creationId xmlns:a16="http://schemas.microsoft.com/office/drawing/2014/main" id="{FD830594-1296-CA10-698F-FD54B06529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235349" y="3105612"/>
            <a:ext cx="1721300" cy="8825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"/>
          <p:cNvSpPr txBox="1"/>
          <p:nvPr/>
        </p:nvSpPr>
        <p:spPr>
          <a:xfrm>
            <a:off x="455381" y="3435519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資料來源</a:t>
            </a:r>
            <a:endParaRPr sz="2400"/>
          </a:p>
        </p:txBody>
      </p:sp>
      <p:sp>
        <p:nvSpPr>
          <p:cNvPr id="260" name="Google Shape;260;p23"/>
          <p:cNvSpPr txBox="1"/>
          <p:nvPr/>
        </p:nvSpPr>
        <p:spPr>
          <a:xfrm>
            <a:off x="491290" y="4238491"/>
            <a:ext cx="143634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Yahoo Finance API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2057367" y="3435519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預處理</a:t>
            </a:r>
            <a:endParaRPr sz="2400"/>
          </a:p>
        </p:txBody>
      </p:sp>
      <p:sp>
        <p:nvSpPr>
          <p:cNvPr id="262" name="Google Shape;262;p23"/>
          <p:cNvSpPr txBox="1"/>
          <p:nvPr/>
        </p:nvSpPr>
        <p:spPr>
          <a:xfrm>
            <a:off x="2093275" y="4238491"/>
            <a:ext cx="143634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清洗、缺失值插補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3659353" y="3435519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EDA</a:t>
            </a:r>
            <a:endParaRPr sz="2400"/>
          </a:p>
        </p:txBody>
      </p:sp>
      <p:sp>
        <p:nvSpPr>
          <p:cNvPr id="264" name="Google Shape;264;p23"/>
          <p:cNvSpPr txBox="1"/>
          <p:nvPr/>
        </p:nvSpPr>
        <p:spPr>
          <a:xfrm>
            <a:off x="3565828" y="4238491"/>
            <a:ext cx="1731419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皮爾森相關分析</a:t>
            </a:r>
            <a:endParaRPr dirty="0"/>
          </a:p>
        </p:txBody>
      </p:sp>
      <p:sp>
        <p:nvSpPr>
          <p:cNvPr id="265" name="Google Shape;265;p23"/>
          <p:cNvSpPr txBox="1"/>
          <p:nvPr/>
        </p:nvSpPr>
        <p:spPr>
          <a:xfrm>
            <a:off x="5261339" y="3435519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特徵選擇</a:t>
            </a:r>
            <a:endParaRPr sz="2400"/>
          </a:p>
        </p:txBody>
      </p:sp>
      <p:sp>
        <p:nvSpPr>
          <p:cNvPr id="266" name="Google Shape;266;p23"/>
          <p:cNvSpPr txBox="1"/>
          <p:nvPr/>
        </p:nvSpPr>
        <p:spPr>
          <a:xfrm>
            <a:off x="5297247" y="4238491"/>
            <a:ext cx="143634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僅對 ML 執行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6863325" y="3435519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模型訓練</a:t>
            </a:r>
            <a:endParaRPr sz="2400"/>
          </a:p>
        </p:txBody>
      </p:sp>
      <p:sp>
        <p:nvSpPr>
          <p:cNvPr id="268" name="Google Shape;268;p23"/>
          <p:cNvSpPr txBox="1"/>
          <p:nvPr/>
        </p:nvSpPr>
        <p:spPr>
          <a:xfrm>
            <a:off x="6769496" y="4203736"/>
            <a:ext cx="173142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TimeSeriesSplit</a:t>
            </a:r>
            <a:endParaRPr dirty="0"/>
          </a:p>
        </p:txBody>
      </p:sp>
      <p:sp>
        <p:nvSpPr>
          <p:cNvPr id="269" name="Google Shape;269;p23"/>
          <p:cNvSpPr txBox="1"/>
          <p:nvPr/>
        </p:nvSpPr>
        <p:spPr>
          <a:xfrm>
            <a:off x="8465311" y="3435519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超參調教</a:t>
            </a:r>
            <a:endParaRPr sz="2400"/>
          </a:p>
        </p:txBody>
      </p:sp>
      <p:sp>
        <p:nvSpPr>
          <p:cNvPr id="270" name="Google Shape;270;p23"/>
          <p:cNvSpPr txBox="1"/>
          <p:nvPr/>
        </p:nvSpPr>
        <p:spPr>
          <a:xfrm>
            <a:off x="8537128" y="4238491"/>
            <a:ext cx="143634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網格搜尋</a:t>
            </a:r>
            <a:endParaRPr dirty="0"/>
          </a:p>
        </p:txBody>
      </p:sp>
      <p:sp>
        <p:nvSpPr>
          <p:cNvPr id="271" name="Google Shape;271;p23"/>
          <p:cNvSpPr txBox="1"/>
          <p:nvPr/>
        </p:nvSpPr>
        <p:spPr>
          <a:xfrm>
            <a:off x="10067297" y="3435519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性能評估</a:t>
            </a:r>
            <a:endParaRPr sz="2400"/>
          </a:p>
        </p:txBody>
      </p:sp>
      <p:sp>
        <p:nvSpPr>
          <p:cNvPr id="272" name="Google Shape;272;p23"/>
          <p:cNvSpPr txBox="1"/>
          <p:nvPr/>
        </p:nvSpPr>
        <p:spPr>
          <a:xfrm>
            <a:off x="10103205" y="4238491"/>
            <a:ext cx="143634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計算各項</a:t>
            </a:r>
            <a:r>
              <a:rPr lang="en-US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Metrics</a:t>
            </a:r>
            <a:endParaRPr dirty="0"/>
          </a:p>
        </p:txBody>
      </p:sp>
      <p:sp>
        <p:nvSpPr>
          <p:cNvPr id="273" name="Google Shape;273;p23"/>
          <p:cNvSpPr/>
          <p:nvPr/>
        </p:nvSpPr>
        <p:spPr>
          <a:xfrm>
            <a:off x="455381" y="2963779"/>
            <a:ext cx="11049000" cy="3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研究流程 Pipeline</a:t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1091336" y="284947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2693322" y="284947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4295307" y="284947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5897293" y="284947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7499279" y="284947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9101265" y="284947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10703251" y="284947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DEFE47-2665-0ABF-F6D1-3398B6F23B49}"/>
              </a:ext>
            </a:extLst>
          </p:cNvPr>
          <p:cNvSpPr txBox="1"/>
          <p:nvPr/>
        </p:nvSpPr>
        <p:spPr>
          <a:xfrm>
            <a:off x="5581689" y="5122439"/>
            <a:ext cx="4292379" cy="5847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TW" altLang="zh-TW" sz="1600" dirty="0">
                <a:solidFill>
                  <a:srgbClr val="FF0000"/>
                </a:solidFill>
              </a:rPr>
              <a:t>傳統 K-Fold 會打亂時間造成未來資料洩漏；TimeSeriesSplit 確保訓練集永遠早於測試集。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8" name="Google Shape;288;p24"/>
          <p:cNvGraphicFramePr/>
          <p:nvPr>
            <p:extLst>
              <p:ext uri="{D42A27DB-BD31-4B8C-83A1-F6EECF244321}">
                <p14:modId xmlns:p14="http://schemas.microsoft.com/office/powerpoint/2010/main" val="1269185860"/>
              </p:ext>
            </p:extLst>
          </p:nvPr>
        </p:nvGraphicFramePr>
        <p:xfrm>
          <a:off x="609600" y="2214586"/>
          <a:ext cx="10158302" cy="3305125"/>
        </p:xfrm>
        <a:graphic>
          <a:graphicData uri="http://schemas.openxmlformats.org/drawingml/2006/table">
            <a:tbl>
              <a:tblPr firstRow="1" bandRow="1">
                <a:noFill/>
                <a:tableStyleId>{C63394A8-6561-4F67-BD20-A1EB724447CB}</a:tableStyleId>
              </a:tblPr>
              <a:tblGrid>
                <a:gridCol w="297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1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24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類型</a:t>
                      </a:r>
                      <a:endParaRPr sz="24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細節描述</a:t>
                      </a:r>
                      <a:endParaRPr sz="24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預測標的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SPY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美股大盤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), QQQ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科技股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), 0050.TW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台股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資料期間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2016 – 2026</a:t>
                      </a:r>
                      <a:r>
                        <a:rPr lang="zh-TW" alt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（日級別資料）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原始特徵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OHLCV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開、高、低、收、量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技術指標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MA20, MA60, RSI(14),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年化波動率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(20)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驗證方式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TimeSeriesSplit時間序列交叉驗證，確保訓練集早於測試集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9" name="Google Shape;289;p24"/>
          <p:cNvSpPr/>
          <p:nvPr/>
        </p:nvSpPr>
        <p:spPr>
          <a:xfrm>
            <a:off x="797718" y="371465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797718" y="426710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797718" y="481955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797718" y="537200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797718" y="592445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實驗設計：資料集與特徵</a:t>
            </a:r>
            <a:endParaRPr/>
          </a:p>
        </p:txBody>
      </p:sp>
      <p:sp>
        <p:nvSpPr>
          <p:cNvPr id="300" name="Google Shape;300;p24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C854F3D-289B-B3B9-E6B9-432EFCFF88C4}"/>
              </a:ext>
            </a:extLst>
          </p:cNvPr>
          <p:cNvSpPr txBox="1"/>
          <p:nvPr/>
        </p:nvSpPr>
        <p:spPr>
          <a:xfrm>
            <a:off x="2229853" y="589335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dirty="0"/>
              <a:t>迴歸另採落後價（Lag1/2/5）與 MA10/MA50、波動率特徵</a:t>
            </a:r>
            <a:endParaRPr lang="zh-TW" alt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 txBox="1"/>
          <p:nvPr/>
        </p:nvSpPr>
        <p:spPr>
          <a:xfrm>
            <a:off x="609600" y="6133444"/>
            <a:ext cx="11049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zh-TW" sz="1800" b="1" dirty="0">
                <a:solidFill>
                  <a:srgbClr val="FF0000"/>
                </a:solidFill>
              </a:rPr>
              <a:t>觀察：</a:t>
            </a:r>
            <a:r>
              <a:rPr lang="zh-TW" altLang="zh-TW" sz="1800" dirty="0"/>
              <a:t>四個模型 F1 均貼近或低於 Always-Up 基準（0.736），顯示分類的高分主要來自多頭市場的上漲偏態；</a:t>
            </a:r>
            <a:endParaRPr lang="en-US" altLang="zh-TW" sz="1800" dirty="0"/>
          </a:p>
          <a:p>
            <a:pPr lvl="0"/>
            <a:r>
              <a:rPr lang="zh-TW" altLang="en-US" sz="1800" dirty="0"/>
              <a:t>　　　</a:t>
            </a:r>
            <a:r>
              <a:rPr lang="zh-TW" altLang="zh-TW" sz="1800" dirty="0"/>
              <a:t>雙向 LSTM 因引入未來資訊反而最差。</a:t>
            </a:r>
            <a:endParaRPr sz="1800" dirty="0"/>
          </a:p>
        </p:txBody>
      </p:sp>
      <p:sp>
        <p:nvSpPr>
          <p:cNvPr id="312" name="Google Shape;312;p25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分類問題結果 (SPY)</a:t>
            </a:r>
            <a:endParaRPr/>
          </a:p>
        </p:txBody>
      </p:sp>
      <p:sp>
        <p:nvSpPr>
          <p:cNvPr id="313" name="Google Shape;313;p25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2B5A617-5E5C-D89F-9C2F-CC8BD7FB2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403" y="1561822"/>
            <a:ext cx="8228919" cy="45716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716113"/>
            <a:ext cx="5334000" cy="3222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716113"/>
            <a:ext cx="5334000" cy="3222576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6"/>
          <p:cNvSpPr txBox="1"/>
          <p:nvPr/>
        </p:nvSpPr>
        <p:spPr>
          <a:xfrm>
            <a:off x="866775" y="3011388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QQQ (</a:t>
            </a: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美股科技</a:t>
            </a: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2400" dirty="0"/>
          </a:p>
        </p:txBody>
      </p:sp>
      <p:sp>
        <p:nvSpPr>
          <p:cNvPr id="322" name="Google Shape;322;p26"/>
          <p:cNvSpPr txBox="1"/>
          <p:nvPr/>
        </p:nvSpPr>
        <p:spPr>
          <a:xfrm>
            <a:off x="866775" y="3592413"/>
            <a:ext cx="47434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最佳模型：</a:t>
            </a:r>
            <a:r>
              <a:rPr lang="en-US" sz="1800" b="1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隨機森林</a:t>
            </a:r>
            <a:endParaRPr sz="1800" dirty="0"/>
          </a:p>
        </p:txBody>
      </p:sp>
      <p:sp>
        <p:nvSpPr>
          <p:cNvPr id="323" name="Google Shape;323;p26"/>
          <p:cNvSpPr txBox="1"/>
          <p:nvPr/>
        </p:nvSpPr>
        <p:spPr>
          <a:xfrm>
            <a:off x="866775" y="4087713"/>
            <a:ext cx="47434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F1-score: </a:t>
            </a:r>
            <a:r>
              <a:rPr lang="en-US" sz="180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0.732</a:t>
            </a:r>
            <a:endParaRPr sz="1800"/>
          </a:p>
        </p:txBody>
      </p:sp>
      <p:sp>
        <p:nvSpPr>
          <p:cNvPr id="324" name="Google Shape;324;p26"/>
          <p:cNvSpPr txBox="1"/>
          <p:nvPr/>
        </p:nvSpPr>
        <p:spPr>
          <a:xfrm>
            <a:off x="866775" y="4583013"/>
            <a:ext cx="4743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美股市場規律性較強，機器學習集成模型表現穩定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 sz="1800" dirty="0"/>
          </a:p>
        </p:txBody>
      </p:sp>
      <p:sp>
        <p:nvSpPr>
          <p:cNvPr id="325" name="Google Shape;325;p26"/>
          <p:cNvSpPr txBox="1"/>
          <p:nvPr/>
        </p:nvSpPr>
        <p:spPr>
          <a:xfrm>
            <a:off x="6581775" y="3011388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0050.TW (</a:t>
            </a: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台股</a:t>
            </a: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2400" dirty="0"/>
          </a:p>
        </p:txBody>
      </p:sp>
      <p:sp>
        <p:nvSpPr>
          <p:cNvPr id="326" name="Google Shape;326;p26"/>
          <p:cNvSpPr txBox="1"/>
          <p:nvPr/>
        </p:nvSpPr>
        <p:spPr>
          <a:xfrm>
            <a:off x="6581775" y="3592413"/>
            <a:ext cx="47434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最佳模型：</a:t>
            </a:r>
            <a:r>
              <a:rPr lang="en-US" sz="180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單層 LSTM</a:t>
            </a:r>
            <a:endParaRPr sz="1800"/>
          </a:p>
        </p:txBody>
      </p:sp>
      <p:sp>
        <p:nvSpPr>
          <p:cNvPr id="327" name="Google Shape;327;p26"/>
          <p:cNvSpPr txBox="1"/>
          <p:nvPr/>
        </p:nvSpPr>
        <p:spPr>
          <a:xfrm>
            <a:off x="6581775" y="4087713"/>
            <a:ext cx="47434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F1-score: </a:t>
            </a:r>
            <a:r>
              <a:rPr lang="en-US" sz="180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0.694</a:t>
            </a:r>
            <a:endParaRPr sz="1800"/>
          </a:p>
        </p:txBody>
      </p:sp>
      <p:sp>
        <p:nvSpPr>
          <p:cNvPr id="328" name="Google Shape;328;p26"/>
          <p:cNvSpPr txBox="1"/>
          <p:nvPr/>
        </p:nvSpPr>
        <p:spPr>
          <a:xfrm>
            <a:off x="6581775" y="4583013"/>
            <a:ext cx="4743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台股受盤後美股連動影響，預測難度顯著高於美股。</a:t>
            </a:r>
            <a:endParaRPr sz="1800"/>
          </a:p>
        </p:txBody>
      </p:sp>
      <p:sp>
        <p:nvSpPr>
          <p:cNvPr id="329" name="Google Shape;329;p26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分類結果：跨市場比較</a:t>
            </a:r>
            <a:endParaRPr/>
          </a:p>
        </p:txBody>
      </p:sp>
      <p:sp>
        <p:nvSpPr>
          <p:cNvPr id="330" name="Google Shape;330;p26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8F6692E-7F2B-7EBE-B31C-26558DFED881}"/>
              </a:ext>
            </a:extLst>
          </p:cNvPr>
          <p:cNvSpPr txBox="1"/>
          <p:nvPr/>
        </p:nvSpPr>
        <p:spPr>
          <a:xfrm>
            <a:off x="2576330" y="6233964"/>
            <a:ext cx="7039339" cy="343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dirty="0"/>
              <a:t>（QQQ 基準 F1 約 0.73、0050.TW 約 0.69，最佳模型與基準差距同樣有限）</a:t>
            </a:r>
            <a:endParaRPr lang="zh-TW" alt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5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迴歸結果：機器學習效能</a:t>
            </a:r>
            <a:endParaRPr dirty="0"/>
          </a:p>
        </p:txBody>
      </p:sp>
      <p:sp>
        <p:nvSpPr>
          <p:cNvPr id="340" name="Google Shape;340;p27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66A97FD-A624-E57E-5041-E402D9C0E5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840"/>
          <a:stretch>
            <a:fillRect/>
          </a:stretch>
        </p:blipFill>
        <p:spPr>
          <a:xfrm>
            <a:off x="313135" y="2341511"/>
            <a:ext cx="7754949" cy="3597177"/>
          </a:xfrm>
          <a:prstGeom prst="rect">
            <a:avLst/>
          </a:prstGeom>
        </p:spPr>
      </p:pic>
      <p:sp>
        <p:nvSpPr>
          <p:cNvPr id="7" name="Google Shape;338;p27">
            <a:extLst>
              <a:ext uri="{FF2B5EF4-FFF2-40B4-BE49-F238E27FC236}">
                <a16:creationId xmlns:a16="http://schemas.microsoft.com/office/drawing/2014/main" id="{80EC67A1-A8F3-26B8-584A-B237CAEEE9D0}"/>
              </a:ext>
            </a:extLst>
          </p:cNvPr>
          <p:cNvSpPr txBox="1"/>
          <p:nvPr/>
        </p:nvSpPr>
        <p:spPr>
          <a:xfrm>
            <a:off x="647700" y="5888920"/>
            <a:ext cx="1123116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四個集成模型 </a:t>
            </a:r>
            <a:r>
              <a:rPr lang="en-US" sz="180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R² </a:t>
            </a:r>
            <a:r>
              <a:rPr lang="zh-TW" altLang="en-US" sz="180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約 </a:t>
            </a:r>
            <a:r>
              <a:rPr lang="en-US" altLang="zh-TW" sz="180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0.77–0.83</a:t>
            </a:r>
            <a:r>
              <a:rPr lang="zh-TW" altLang="en-US" sz="180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，均低於隨機漫步基準（</a:t>
            </a:r>
            <a:r>
              <a:rPr lang="en-US" altLang="zh-TW" sz="180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0.999</a:t>
            </a:r>
            <a:r>
              <a:rPr lang="zh-TW" altLang="en-US" sz="180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），顯示價格水準之高 </a:t>
            </a:r>
            <a:r>
              <a:rPr lang="en-US" sz="180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R² </a:t>
            </a:r>
            <a:r>
              <a:rPr lang="zh-TW" altLang="en-US" sz="180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主要源自序列自相關，而非真實預測能力（</a:t>
            </a:r>
            <a:r>
              <a:rPr lang="en-US" sz="180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López de Prado, 2018）。</a:t>
            </a:r>
            <a:endParaRPr sz="1800" dirty="0"/>
          </a:p>
        </p:txBody>
      </p:sp>
      <p:pic>
        <p:nvPicPr>
          <p:cNvPr id="8" name="內容版面配置區 4">
            <a:extLst>
              <a:ext uri="{FF2B5EF4-FFF2-40B4-BE49-F238E27FC236}">
                <a16:creationId xmlns:a16="http://schemas.microsoft.com/office/drawing/2014/main" id="{8D1872B3-24C6-4DFE-8867-786F175C8C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334" y="362783"/>
            <a:ext cx="5455444" cy="272772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68B6826A-3E1B-A5D6-A56B-C042856A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7" descr="image.png">
            <a:extLst>
              <a:ext uri="{FF2B5EF4-FFF2-40B4-BE49-F238E27FC236}">
                <a16:creationId xmlns:a16="http://schemas.microsoft.com/office/drawing/2014/main" id="{3D136D3F-AC91-4700-1460-B56A5A30B7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5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FDAB8146-B13F-F508-E83B-C868E2D652ED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迴歸結果：報酬率預測與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LLM </a:t>
            </a:r>
            <a:endParaRPr dirty="0"/>
          </a:p>
        </p:txBody>
      </p:sp>
      <p:sp>
        <p:nvSpPr>
          <p:cNvPr id="340" name="Google Shape;340;p27">
            <a:extLst>
              <a:ext uri="{FF2B5EF4-FFF2-40B4-BE49-F238E27FC236}">
                <a16:creationId xmlns:a16="http://schemas.microsoft.com/office/drawing/2014/main" id="{5C940DF7-030A-DA3E-DFC4-9834AD135FCC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38;p27">
            <a:extLst>
              <a:ext uri="{FF2B5EF4-FFF2-40B4-BE49-F238E27FC236}">
                <a16:creationId xmlns:a16="http://schemas.microsoft.com/office/drawing/2014/main" id="{114178FA-8F82-E196-7E37-05BB87DD2ED2}"/>
              </a:ext>
            </a:extLst>
          </p:cNvPr>
          <p:cNvSpPr txBox="1"/>
          <p:nvPr/>
        </p:nvSpPr>
        <p:spPr>
          <a:xfrm>
            <a:off x="571500" y="5565336"/>
            <a:ext cx="10337132" cy="41549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zh-TW" altLang="zh-TW" sz="1800" dirty="0"/>
              <a:t>四模型預測次日報酬率 R² 均接近 0 或為負，呼應隨機漫步理論——次日漲跌幅難以由技術指標預測。</a:t>
            </a:r>
            <a:endParaRPr sz="18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256F9FB-99E9-8EA3-B461-63569B68EB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8206" r="-4376"/>
          <a:stretch>
            <a:fillRect/>
          </a:stretch>
        </p:blipFill>
        <p:spPr>
          <a:xfrm>
            <a:off x="436945" y="1905802"/>
            <a:ext cx="7031318" cy="3177232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22C145BC-CB14-3FE6-7505-C22332A732CE}"/>
              </a:ext>
            </a:extLst>
          </p:cNvPr>
          <p:cNvSpPr txBox="1"/>
          <p:nvPr/>
        </p:nvSpPr>
        <p:spPr>
          <a:xfrm>
            <a:off x="7530177" y="2716026"/>
            <a:ext cx="4224878" cy="166199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50000"/>
              </a:lnSpc>
              <a:defRPr sz="1600"/>
            </a:lvl1pPr>
          </a:lstStyle>
          <a:p>
            <a:r>
              <a:rPr lang="zh-TW" altLang="zh-TW" sz="1800" dirty="0"/>
              <a:t>GPT-4o-mini（小樣本 50 個交易日） R² = 0.80　MAE = 5.23　RMSE = 6.58 樣本數有限，僅作為 LLM 數值預測之潛力探索，不與傳統模型直接比較。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397872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9"/>
          <p:cNvSpPr txBox="1"/>
          <p:nvPr/>
        </p:nvSpPr>
        <p:spPr>
          <a:xfrm>
            <a:off x="571500" y="4959250"/>
            <a:ext cx="4953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低延遲保證在一般終端設備亦能順暢執行，極具商用價值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 sz="1800" dirty="0"/>
          </a:p>
        </p:txBody>
      </p:sp>
      <p:sp>
        <p:nvSpPr>
          <p:cNvPr id="358" name="Google Shape;358;p29"/>
          <p:cNvSpPr txBox="1"/>
          <p:nvPr/>
        </p:nvSpPr>
        <p:spPr>
          <a:xfrm>
            <a:off x="1047750" y="3063775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Streamlit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+ Plotly + SQLite</a:t>
            </a:r>
            <a:endParaRPr sz="1800" dirty="0"/>
          </a:p>
        </p:txBody>
      </p:sp>
      <p:sp>
        <p:nvSpPr>
          <p:cNvPr id="359" name="Google Shape;359;p29"/>
          <p:cNvSpPr/>
          <p:nvPr/>
        </p:nvSpPr>
        <p:spPr>
          <a:xfrm>
            <a:off x="571500" y="3482875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9"/>
          <p:cNvSpPr txBox="1"/>
          <p:nvPr/>
        </p:nvSpPr>
        <p:spPr>
          <a:xfrm>
            <a:off x="1047750" y="3644413"/>
            <a:ext cx="4476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GPT-3.5 / Gemini API </a:t>
            </a:r>
            <a:r>
              <a:rPr lang="zh-TW" alt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即時風險摘要</a:t>
            </a:r>
            <a:endParaRPr sz="1800" dirty="0"/>
          </a:p>
        </p:txBody>
      </p:sp>
      <p:sp>
        <p:nvSpPr>
          <p:cNvPr id="361" name="Google Shape;361;p29"/>
          <p:cNvSpPr/>
          <p:nvPr/>
        </p:nvSpPr>
        <p:spPr>
          <a:xfrm>
            <a:off x="571500" y="4063900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9"/>
          <p:cNvSpPr txBox="1"/>
          <p:nvPr/>
        </p:nvSpPr>
        <p:spPr>
          <a:xfrm>
            <a:off x="1047750" y="4225438"/>
            <a:ext cx="4476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平均延遲：</a:t>
            </a:r>
            <a:r>
              <a:rPr lang="en-US" sz="18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840 毫秒</a:t>
            </a:r>
            <a:endParaRPr sz="1800"/>
          </a:p>
        </p:txBody>
      </p:sp>
      <p:sp>
        <p:nvSpPr>
          <p:cNvPr id="363" name="Google Shape;363;p29"/>
          <p:cNvSpPr/>
          <p:nvPr/>
        </p:nvSpPr>
        <p:spPr>
          <a:xfrm>
            <a:off x="571500" y="4644925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9"/>
          <p:cNvSpPr/>
          <p:nvPr/>
        </p:nvSpPr>
        <p:spPr>
          <a:xfrm>
            <a:off x="571500" y="3482875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571500" y="4063900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9"/>
          <p:cNvSpPr/>
          <p:nvPr/>
        </p:nvSpPr>
        <p:spPr>
          <a:xfrm>
            <a:off x="571500" y="4644925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09235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6861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49638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9"/>
          <p:cNvSpPr txBox="1"/>
          <p:nvPr/>
        </p:nvSpPr>
        <p:spPr>
          <a:xfrm>
            <a:off x="809625" y="1884610"/>
            <a:ext cx="49506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LLM-ETF 平台實作</a:t>
            </a:r>
            <a:endParaRPr/>
          </a:p>
        </p:txBody>
      </p:sp>
      <p:sp>
        <p:nvSpPr>
          <p:cNvPr id="371" name="Google Shape;371;p29"/>
          <p:cNvSpPr/>
          <p:nvPr/>
        </p:nvSpPr>
        <p:spPr>
          <a:xfrm>
            <a:off x="571500" y="1884610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92D2DF1-8899-CD1A-2145-6E63CFC27C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6425" y="510072"/>
            <a:ext cx="6407288" cy="59646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07369"/>
            <a:ext cx="5334000" cy="2550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807369"/>
            <a:ext cx="5334000" cy="255069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0"/>
          <p:cNvSpPr txBox="1"/>
          <p:nvPr/>
        </p:nvSpPr>
        <p:spPr>
          <a:xfrm>
            <a:off x="866775" y="3354288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分類任務</a:t>
            </a: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漲跌</a:t>
            </a: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2400" dirty="0"/>
          </a:p>
        </p:txBody>
      </p:sp>
      <p:sp>
        <p:nvSpPr>
          <p:cNvPr id="380" name="Google Shape;380;p30"/>
          <p:cNvSpPr txBox="1"/>
          <p:nvPr/>
        </p:nvSpPr>
        <p:spPr>
          <a:xfrm>
            <a:off x="866775" y="3935313"/>
            <a:ext cx="4743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雖然直覺，但缺乏幅度資訊。實務上難以判斷波動大小，投資價值受限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 sz="1800" dirty="0"/>
          </a:p>
        </p:txBody>
      </p:sp>
      <p:sp>
        <p:nvSpPr>
          <p:cNvPr id="381" name="Google Shape;381;p30"/>
          <p:cNvSpPr txBox="1"/>
          <p:nvPr/>
        </p:nvSpPr>
        <p:spPr>
          <a:xfrm>
            <a:off x="6581775" y="3354288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迴歸任務 (數值)</a:t>
            </a:r>
            <a:endParaRPr sz="2400"/>
          </a:p>
        </p:txBody>
      </p:sp>
      <p:sp>
        <p:nvSpPr>
          <p:cNvPr id="382" name="Google Shape;382;p30"/>
          <p:cNvSpPr txBox="1"/>
          <p:nvPr/>
        </p:nvSpPr>
        <p:spPr>
          <a:xfrm>
            <a:off x="6581775" y="3935313"/>
            <a:ext cx="4743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能精確計算損益與風險比率，更符合專業投資機構之決策需求。</a:t>
            </a:r>
            <a:endParaRPr sz="1800"/>
          </a:p>
        </p:txBody>
      </p:sp>
      <p:sp>
        <p:nvSpPr>
          <p:cNvPr id="383" name="Google Shape;383;p30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討論：分類與迴歸之抉擇</a:t>
            </a:r>
            <a:endParaRPr/>
          </a:p>
        </p:txBody>
      </p:sp>
      <p:sp>
        <p:nvSpPr>
          <p:cNvPr id="384" name="Google Shape;384;p30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743200"/>
            <a:ext cx="3524250" cy="266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3875" y="2743200"/>
            <a:ext cx="3524250" cy="266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2743200"/>
            <a:ext cx="3524250" cy="266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95500" y="319409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1"/>
          <p:cNvSpPr txBox="1"/>
          <p:nvPr/>
        </p:nvSpPr>
        <p:spPr>
          <a:xfrm>
            <a:off x="809625" y="3884850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無單一冠軍</a:t>
            </a:r>
            <a:endParaRPr sz="2400" dirty="0"/>
          </a:p>
        </p:txBody>
      </p:sp>
      <p:sp>
        <p:nvSpPr>
          <p:cNvPr id="395" name="Google Shape;395;p31"/>
          <p:cNvSpPr txBox="1"/>
          <p:nvPr/>
        </p:nvSpPr>
        <p:spPr>
          <a:xfrm>
            <a:off x="957262" y="4426089"/>
            <a:ext cx="2952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不同市場與不同時段，最佳模型各異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 sz="1800" dirty="0"/>
          </a:p>
        </p:txBody>
      </p:sp>
      <p:pic>
        <p:nvPicPr>
          <p:cNvPr id="396" name="Google Shape;396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57875" y="319409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1"/>
          <p:cNvSpPr txBox="1"/>
          <p:nvPr/>
        </p:nvSpPr>
        <p:spPr>
          <a:xfrm>
            <a:off x="4572000" y="3761739"/>
            <a:ext cx="3100387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價格 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R² </a:t>
            </a:r>
            <a:r>
              <a:rPr lang="zh-TW" altLang="en-US" sz="20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高但輸基準、報酬率 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R² </a:t>
            </a:r>
            <a:r>
              <a:rPr lang="zh-TW" altLang="en-US" sz="20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近 </a:t>
            </a:r>
            <a:r>
              <a:rPr lang="en-US" altLang="zh-TW" sz="20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 </a:t>
            </a:r>
            <a:endParaRPr sz="2000" dirty="0"/>
          </a:p>
        </p:txBody>
      </p:sp>
      <p:sp>
        <p:nvSpPr>
          <p:cNvPr id="398" name="Google Shape;398;p31"/>
          <p:cNvSpPr txBox="1"/>
          <p:nvPr/>
        </p:nvSpPr>
        <p:spPr>
          <a:xfrm>
            <a:off x="4719637" y="4426089"/>
            <a:ext cx="2952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次日走勢難預測，故分類與 </a:t>
            </a:r>
            <a:r>
              <a:rPr lang="en-US" altLang="zh-TW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LLM </a:t>
            </a:r>
            <a:r>
              <a:rPr lang="zh-TW" altLang="en-US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為輔助</a:t>
            </a:r>
            <a:endParaRPr sz="1800" dirty="0"/>
          </a:p>
        </p:txBody>
      </p:sp>
      <p:pic>
        <p:nvPicPr>
          <p:cNvPr id="399" name="Google Shape;399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0" y="319409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1"/>
          <p:cNvSpPr txBox="1"/>
          <p:nvPr/>
        </p:nvSpPr>
        <p:spPr>
          <a:xfrm>
            <a:off x="8334375" y="3884850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LLM 定位</a:t>
            </a:r>
            <a:endParaRPr sz="2400"/>
          </a:p>
        </p:txBody>
      </p:sp>
      <p:sp>
        <p:nvSpPr>
          <p:cNvPr id="401" name="Google Shape;401;p31"/>
          <p:cNvSpPr txBox="1"/>
          <p:nvPr/>
        </p:nvSpPr>
        <p:spPr>
          <a:xfrm>
            <a:off x="8482012" y="4426089"/>
            <a:ext cx="2952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適合作為「解釋型」輔助，而非純算力引擎。</a:t>
            </a:r>
            <a:endParaRPr sz="1800"/>
          </a:p>
        </p:txBody>
      </p:sp>
      <p:sp>
        <p:nvSpPr>
          <p:cNvPr id="402" name="Google Shape;402;p31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討論：模型比較關鍵發現</a:t>
            </a:r>
            <a:endParaRPr/>
          </a:p>
        </p:txBody>
      </p:sp>
      <p:sp>
        <p:nvSpPr>
          <p:cNvPr id="403" name="Google Shape;403;p31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93156"/>
            <a:ext cx="5334000" cy="2611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393156"/>
            <a:ext cx="5334000" cy="2611981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2"/>
          <p:cNvSpPr txBox="1"/>
          <p:nvPr/>
        </p:nvSpPr>
        <p:spPr>
          <a:xfrm>
            <a:off x="295275" y="5202138"/>
            <a:ext cx="11601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簡報結束，敬請指導</a:t>
            </a:r>
            <a:endParaRPr sz="2400" dirty="0"/>
          </a:p>
        </p:txBody>
      </p:sp>
      <p:sp>
        <p:nvSpPr>
          <p:cNvPr id="412" name="Google Shape;412;p32"/>
          <p:cNvSpPr txBox="1"/>
          <p:nvPr/>
        </p:nvSpPr>
        <p:spPr>
          <a:xfrm>
            <a:off x="866775" y="2688431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本研究貢獻</a:t>
            </a:r>
            <a:endParaRPr sz="2400" dirty="0"/>
          </a:p>
        </p:txBody>
      </p:sp>
      <p:sp>
        <p:nvSpPr>
          <p:cNvPr id="413" name="Google Shape;413;p32"/>
          <p:cNvSpPr txBox="1"/>
          <p:nvPr/>
        </p:nvSpPr>
        <p:spPr>
          <a:xfrm>
            <a:off x="6581775" y="2688431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未來展望</a:t>
            </a:r>
            <a:endParaRPr sz="2400"/>
          </a:p>
        </p:txBody>
      </p:sp>
      <p:sp>
        <p:nvSpPr>
          <p:cNvPr id="426" name="Google Shape;426;p32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結論與未來研究方向</a:t>
            </a:r>
            <a:endParaRPr dirty="0"/>
          </a:p>
        </p:txBody>
      </p:sp>
      <p:sp>
        <p:nvSpPr>
          <p:cNvPr id="427" name="Google Shape;427;p32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90EF307-A7F2-3724-B068-BD51B5CF8A18}"/>
              </a:ext>
            </a:extLst>
          </p:cNvPr>
          <p:cNvSpPr txBox="1"/>
          <p:nvPr/>
        </p:nvSpPr>
        <p:spPr>
          <a:xfrm>
            <a:off x="571500" y="3338573"/>
            <a:ext cx="533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TW" altLang="en-US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建立跨市場</a:t>
            </a:r>
            <a:r>
              <a:rPr lang="en-US" altLang="zh-TW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(</a:t>
            </a:r>
            <a:r>
              <a:rPr lang="zh-TW" altLang="en-US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台</a:t>
            </a:r>
            <a:r>
              <a:rPr lang="en-US" altLang="zh-TW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/</a:t>
            </a:r>
            <a:r>
              <a:rPr lang="zh-TW" altLang="en-US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美</a:t>
            </a:r>
            <a:r>
              <a:rPr lang="en-US" altLang="zh-TW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)</a:t>
            </a:r>
            <a:r>
              <a:rPr lang="zh-TW" altLang="en-US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預測基準比較。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揭示台股受國際連動影響之預測難點。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實作 </a:t>
            </a:r>
            <a:r>
              <a:rPr lang="en-US" altLang="zh-TW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LLM </a:t>
            </a:r>
            <a:r>
              <a:rPr lang="zh-TW" altLang="en-US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輔助開源平台。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53F690D-E60C-6686-A658-86DCDA59AD5B}"/>
              </a:ext>
            </a:extLst>
          </p:cNvPr>
          <p:cNvSpPr txBox="1"/>
          <p:nvPr/>
        </p:nvSpPr>
        <p:spPr>
          <a:xfrm>
            <a:off x="6286500" y="3232443"/>
            <a:ext cx="527589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  <a:effectLst/>
                <a:latin typeface="DM Sans" pitchFamily="2" charset="0"/>
              </a:defRPr>
            </a:lvl1pPr>
          </a:lstStyle>
          <a:p>
            <a:r>
              <a:rPr lang="zh-TW" altLang="en-US" dirty="0"/>
              <a:t>導入新聞情緒與總經指標分析。</a:t>
            </a:r>
          </a:p>
          <a:p>
            <a:r>
              <a:rPr lang="zh-TW" altLang="en-US" dirty="0"/>
              <a:t>開發 </a:t>
            </a:r>
            <a:r>
              <a:rPr lang="en-US" altLang="zh-TW" dirty="0"/>
              <a:t>LSTM-ARIMA </a:t>
            </a:r>
            <a:r>
              <a:rPr lang="zh-TW" altLang="en-US" dirty="0"/>
              <a:t>混合模型。</a:t>
            </a:r>
          </a:p>
          <a:p>
            <a:r>
              <a:rPr lang="zh-TW" altLang="en-US" dirty="0"/>
              <a:t>進行正式使用者 </a:t>
            </a:r>
            <a:r>
              <a:rPr lang="en-US" altLang="zh-TW" dirty="0"/>
              <a:t>SUS </a:t>
            </a:r>
            <a:r>
              <a:rPr lang="zh-TW" altLang="en-US" dirty="0"/>
              <a:t>量表研究。</a:t>
            </a:r>
            <a:endParaRPr lang="en-US" altLang="zh-TW" dirty="0"/>
          </a:p>
          <a:p>
            <a:r>
              <a:rPr lang="zh-TW" altLang="zh-TW" dirty="0"/>
              <a:t>擴大 LLM 迴歸樣本至完整測試集 </a:t>
            </a:r>
            <a:endParaRPr lang="en-US" altLang="zh-TW" dirty="0"/>
          </a:p>
          <a:p>
            <a:r>
              <a:rPr lang="zh-TW" altLang="zh-TW" dirty="0"/>
              <a:t>比較多種 LLM（Gemini、Llama、Gemma）</a:t>
            </a:r>
            <a:endParaRPr lang="zh-TW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3"/>
          <p:cNvSpPr/>
          <p:nvPr/>
        </p:nvSpPr>
        <p:spPr>
          <a:xfrm>
            <a:off x="571500" y="2458938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3"/>
          <p:cNvSpPr/>
          <p:nvPr/>
        </p:nvSpPr>
        <p:spPr>
          <a:xfrm>
            <a:off x="571500" y="3230463"/>
            <a:ext cx="11049000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3"/>
          <p:cNvSpPr/>
          <p:nvPr/>
        </p:nvSpPr>
        <p:spPr>
          <a:xfrm>
            <a:off x="571500" y="4097238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3"/>
          <p:cNvSpPr/>
          <p:nvPr/>
        </p:nvSpPr>
        <p:spPr>
          <a:xfrm>
            <a:off x="571500" y="322093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3"/>
          <p:cNvSpPr/>
          <p:nvPr/>
        </p:nvSpPr>
        <p:spPr>
          <a:xfrm>
            <a:off x="571500" y="322093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3"/>
          <p:cNvSpPr/>
          <p:nvPr/>
        </p:nvSpPr>
        <p:spPr>
          <a:xfrm>
            <a:off x="571500" y="408771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3"/>
          <p:cNvSpPr/>
          <p:nvPr/>
        </p:nvSpPr>
        <p:spPr>
          <a:xfrm>
            <a:off x="571500" y="408771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3"/>
          <p:cNvSpPr/>
          <p:nvPr/>
        </p:nvSpPr>
        <p:spPr>
          <a:xfrm>
            <a:off x="571500" y="485923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3"/>
          <p:cNvSpPr/>
          <p:nvPr/>
        </p:nvSpPr>
        <p:spPr>
          <a:xfrm>
            <a:off x="571500" y="485923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2" name="Google Shape;442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60181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3"/>
          <p:cNvSpPr txBox="1"/>
          <p:nvPr/>
        </p:nvSpPr>
        <p:spPr>
          <a:xfrm>
            <a:off x="1666875" y="2635150"/>
            <a:ext cx="99536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https://img.freepik.com/free-vector/global-business-background-with-stock-chart-blue-tone_53876-117483.jpg</a:t>
            </a:r>
            <a:endParaRPr/>
          </a:p>
        </p:txBody>
      </p:sp>
      <p:sp>
        <p:nvSpPr>
          <p:cNvPr id="444" name="Google Shape;444;p33"/>
          <p:cNvSpPr txBox="1"/>
          <p:nvPr/>
        </p:nvSpPr>
        <p:spPr>
          <a:xfrm>
            <a:off x="1666875" y="2844700"/>
            <a:ext cx="99536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www.freepik.com</a:t>
            </a:r>
            <a:endParaRPr/>
          </a:p>
        </p:txBody>
      </p:sp>
      <p:pic>
        <p:nvPicPr>
          <p:cNvPr id="445" name="Google Shape;445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2096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3"/>
          <p:cNvSpPr txBox="1"/>
          <p:nvPr/>
        </p:nvSpPr>
        <p:spPr>
          <a:xfrm>
            <a:off x="1666875" y="3373338"/>
            <a:ext cx="99536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https://media.istockphoto.com/id/1179291552/vector/abstract-financial-chart-with-bulls-and-bear-in-stock-market-on-blue-colour-background.jpg?s=1024x1024&amp;w=is&amp;k=20&amp;c=69puchKZqipsWjW8mqqju9dZPS9s5BluKcPZA8Jwblg=</a:t>
            </a:r>
            <a:endParaRPr/>
          </a:p>
        </p:txBody>
      </p:sp>
      <p:sp>
        <p:nvSpPr>
          <p:cNvPr id="447" name="Google Shape;447;p33"/>
          <p:cNvSpPr txBox="1"/>
          <p:nvPr/>
        </p:nvSpPr>
        <p:spPr>
          <a:xfrm>
            <a:off x="1666875" y="3744813"/>
            <a:ext cx="99536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www.istockphoto.com</a:t>
            </a:r>
            <a:endParaRPr/>
          </a:p>
        </p:txBody>
      </p:sp>
      <p:pic>
        <p:nvPicPr>
          <p:cNvPr id="448" name="Google Shape;448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4011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3"/>
          <p:cNvSpPr txBox="1"/>
          <p:nvPr/>
        </p:nvSpPr>
        <p:spPr>
          <a:xfrm>
            <a:off x="1666875" y="4273450"/>
            <a:ext cx="99536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https://miro.medium.com/1*laH0_xXEkFE0lKJu54gkFQ.png</a:t>
            </a:r>
            <a:endParaRPr/>
          </a:p>
        </p:txBody>
      </p:sp>
      <p:sp>
        <p:nvSpPr>
          <p:cNvPr id="450" name="Google Shape;450;p33"/>
          <p:cNvSpPr txBox="1"/>
          <p:nvPr/>
        </p:nvSpPr>
        <p:spPr>
          <a:xfrm>
            <a:off x="1666875" y="4483000"/>
            <a:ext cx="99536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blog.mlreview.com</a:t>
            </a:r>
            <a:endParaRPr/>
          </a:p>
        </p:txBody>
      </p:sp>
      <p:pic>
        <p:nvPicPr>
          <p:cNvPr id="451" name="Google Shape;451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01163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3"/>
          <p:cNvSpPr txBox="1"/>
          <p:nvPr/>
        </p:nvSpPr>
        <p:spPr>
          <a:xfrm>
            <a:off x="1666875" y="5044975"/>
            <a:ext cx="99536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https://storage.googleapis.com/blink-451505.firebasestorage.app/screenshots/ai-stock-trading-prediction-alert-app-yqdydsj5.sites.blink.new-1755329598984.webp</a:t>
            </a:r>
            <a:endParaRPr/>
          </a:p>
        </p:txBody>
      </p:sp>
      <p:sp>
        <p:nvSpPr>
          <p:cNvPr id="453" name="Google Shape;453;p33"/>
          <p:cNvSpPr txBox="1"/>
          <p:nvPr/>
        </p:nvSpPr>
        <p:spPr>
          <a:xfrm>
            <a:off x="1666875" y="5254525"/>
            <a:ext cx="99536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blink.new</a:t>
            </a:r>
            <a:endParaRPr/>
          </a:p>
        </p:txBody>
      </p:sp>
      <p:sp>
        <p:nvSpPr>
          <p:cNvPr id="454" name="Google Shape;454;p33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455" name="Google Shape;455;p33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1905</Words>
  <Application>Microsoft Office PowerPoint</Application>
  <PresentationFormat>寬螢幕</PresentationFormat>
  <Paragraphs>172</Paragraphs>
  <Slides>21</Slides>
  <Notes>21</Notes>
  <HiddenSlides>1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7" baseType="lpstr">
      <vt:lpstr>DM Sans</vt:lpstr>
      <vt:lpstr>Cambria Math</vt:lpstr>
      <vt:lpstr>Merriweather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子瑜 林</cp:lastModifiedBy>
  <cp:revision>45</cp:revision>
  <dcterms:modified xsi:type="dcterms:W3CDTF">2026-06-03T08:26:09Z</dcterms:modified>
</cp:coreProperties>
</file>